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6" r:id="rId2"/>
    <p:sldId id="257" r:id="rId3"/>
    <p:sldId id="305" r:id="rId4"/>
    <p:sldId id="304" r:id="rId5"/>
    <p:sldId id="258" r:id="rId6"/>
    <p:sldId id="259" r:id="rId7"/>
    <p:sldId id="260" r:id="rId8"/>
    <p:sldId id="261" r:id="rId9"/>
    <p:sldId id="262" r:id="rId10"/>
    <p:sldId id="263" r:id="rId11"/>
    <p:sldId id="306" r:id="rId12"/>
    <p:sldId id="264" r:id="rId13"/>
    <p:sldId id="265" r:id="rId14"/>
    <p:sldId id="266" r:id="rId15"/>
    <p:sldId id="267" r:id="rId16"/>
    <p:sldId id="268" r:id="rId17"/>
    <p:sldId id="269" r:id="rId18"/>
    <p:sldId id="307" r:id="rId19"/>
    <p:sldId id="270" r:id="rId20"/>
    <p:sldId id="271" r:id="rId21"/>
    <p:sldId id="272" r:id="rId22"/>
    <p:sldId id="284" r:id="rId23"/>
    <p:sldId id="285" r:id="rId24"/>
    <p:sldId id="286" r:id="rId25"/>
    <p:sldId id="287" r:id="rId26"/>
    <p:sldId id="308" r:id="rId27"/>
    <p:sldId id="273" r:id="rId28"/>
    <p:sldId id="274" r:id="rId29"/>
    <p:sldId id="275" r:id="rId30"/>
    <p:sldId id="276" r:id="rId31"/>
    <p:sldId id="277" r:id="rId32"/>
    <p:sldId id="278" r:id="rId33"/>
    <p:sldId id="279" r:id="rId34"/>
    <p:sldId id="309" r:id="rId35"/>
    <p:sldId id="280" r:id="rId36"/>
    <p:sldId id="281" r:id="rId37"/>
    <p:sldId id="282" r:id="rId38"/>
    <p:sldId id="283" r:id="rId39"/>
    <p:sldId id="310" r:id="rId40"/>
    <p:sldId id="288" r:id="rId41"/>
    <p:sldId id="289" r:id="rId42"/>
    <p:sldId id="290" r:id="rId43"/>
    <p:sldId id="291" r:id="rId44"/>
    <p:sldId id="311" r:id="rId45"/>
    <p:sldId id="292" r:id="rId46"/>
    <p:sldId id="293" r:id="rId47"/>
    <p:sldId id="294" r:id="rId48"/>
    <p:sldId id="295" r:id="rId49"/>
    <p:sldId id="296" r:id="rId50"/>
    <p:sldId id="297"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35" r:id="rId78"/>
    <p:sldId id="336" r:id="rId77"/>
    <p:sldId id="337" r:id="rId76"/>
    <p:sldId id="338" r:id="rId75"/>
    <p:sldId id="339" r:id="rId86"/>
    <p:sldId id="340" r:id="rId87"/>
    <p:sldId id="341" r:id="rId88"/>
    <p:sldId id="342" r:id="rId89"/>
    <p:sldId id="324" r:id="rId64"/>
    <p:sldId id="325" r:id="rId65"/>
    <p:sldId id="326" r:id="rId66"/>
    <p:sldId id="327" r:id="rId67"/>
    <p:sldId id="328" r:id="rId68"/>
    <p:sldId id="329" r:id="rId69"/>
    <p:sldId id="330" r:id="rId70"/>
    <p:sldId id="331" r:id="rId71"/>
    <p:sldId id="332" r:id="rId72"/>
    <p:sldId id="333" r:id="rId73"/>
    <p:sldId id="334" r:id="rId7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 목차" id="{5C761302-BF7F-4900-B147-922BAA26D8B4}">
          <p14:sldIdLst>
            <p14:sldId id="256"/>
            <p14:sldId id="257"/>
            <p14:sldId id="305"/>
            <p14:sldId id="304"/>
            <p14:sldId id="258"/>
            <p14:sldId id="259"/>
            <p14:sldId id="260"/>
            <p14:sldId id="261"/>
            <p14:sldId id="262"/>
            <p14:sldId id="263"/>
            <p14:sldId id="306"/>
            <p14:sldId id="264"/>
            <p14:sldId id="265"/>
            <p14:sldId id="266"/>
            <p14:sldId id="267"/>
            <p14:sldId id="268"/>
            <p14:sldId id="269"/>
            <p14:sldId id="307"/>
            <p14:sldId id="270"/>
            <p14:sldId id="271"/>
            <p14:sldId id="272"/>
            <p14:sldId id="284"/>
            <p14:sldId id="285"/>
            <p14:sldId id="286"/>
            <p14:sldId id="287"/>
            <p14:sldId id="308"/>
            <p14:sldId id="273"/>
            <p14:sldId id="274"/>
            <p14:sldId id="275"/>
            <p14:sldId id="276"/>
            <p14:sldId id="277"/>
            <p14:sldId id="278"/>
            <p14:sldId id="279"/>
            <p14:sldId id="309"/>
            <p14:sldId id="280"/>
            <p14:sldId id="281"/>
            <p14:sldId id="282"/>
            <p14:sldId id="283"/>
            <p14:sldId id="310"/>
            <p14:sldId id="288"/>
            <p14:sldId id="289"/>
            <p14:sldId id="290"/>
            <p14:sldId id="291"/>
            <p14:sldId id="311"/>
            <p14:sldId id="292"/>
            <p14:sldId id="293"/>
            <p14:sldId id="294"/>
            <p14:sldId id="295"/>
            <p14:sldId id="296"/>
            <p14:sldId id="297"/>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5" d="100"/>
          <a:sy n="135" d="100"/>
        </p:scale>
        <p:origin x="1723"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71.xml"/><Relationship Id="rId65" Type="http://schemas.openxmlformats.org/officeDocument/2006/relationships/slide" Target="slides/slide72.xml"/><Relationship Id="rId66" Type="http://schemas.openxmlformats.org/officeDocument/2006/relationships/slide" Target="slides/slide73.xml"/><Relationship Id="rId67" Type="http://schemas.openxmlformats.org/officeDocument/2006/relationships/slide" Target="slides/slide74.xml"/><Relationship Id="rId68" Type="http://schemas.openxmlformats.org/officeDocument/2006/relationships/slide" Target="slides/slide75.xml"/><Relationship Id="rId69" Type="http://schemas.openxmlformats.org/officeDocument/2006/relationships/slide" Target="slides/slide76.xml"/><Relationship Id="rId70" Type="http://schemas.openxmlformats.org/officeDocument/2006/relationships/slide" Target="slides/slide77.xml"/><Relationship Id="rId71" Type="http://schemas.openxmlformats.org/officeDocument/2006/relationships/slide" Target="slides/slide78.xml"/><Relationship Id="rId72" Type="http://schemas.openxmlformats.org/officeDocument/2006/relationships/slide" Target="slides/slide79.xml"/><Relationship Id="rId73" Type="http://schemas.openxmlformats.org/officeDocument/2006/relationships/slide" Target="slides/slide80.xml"/><Relationship Id="rId74" Type="http://schemas.openxmlformats.org/officeDocument/2006/relationships/slide" Target="slides/slide81.xml"/><Relationship Id="rId75" Type="http://schemas.openxmlformats.org/officeDocument/2006/relationships/slide" Target="slides/slide66.xml"/><Relationship Id="rId76" Type="http://schemas.openxmlformats.org/officeDocument/2006/relationships/slide" Target="slides/slide65.xml"/><Relationship Id="rId77" Type="http://schemas.openxmlformats.org/officeDocument/2006/relationships/slide" Target="slides/slide64.xml"/><Relationship Id="rId78" Type="http://schemas.openxmlformats.org/officeDocument/2006/relationships/slide" Target="slides/slide63.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microsoft.com/office/2016/11/relationships/changesInfo" Target="changesInfos/changesInfo1.xml"/><Relationship Id="rId86" Type="http://schemas.openxmlformats.org/officeDocument/2006/relationships/slide" Target="slides/slide67.xml"/><Relationship Id="rId87" Type="http://schemas.openxmlformats.org/officeDocument/2006/relationships/slide" Target="slides/slide68.xml"/><Relationship Id="rId88" Type="http://schemas.openxmlformats.org/officeDocument/2006/relationships/slide" Target="slides/slide69.xml"/><Relationship Id="rId89" Type="http://schemas.openxmlformats.org/officeDocument/2006/relationships/slide" Target="slides/slide7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G KIM" userId="e18339b243075a65" providerId="LiveId" clId="{6FCE25D8-7D4E-42A9-9067-7DCB0B8C4245}"/>
    <pc:docChg chg="custSel addSld modSld">
      <pc:chgData name="DG KIM" userId="e18339b243075a65" providerId="LiveId" clId="{6FCE25D8-7D4E-42A9-9067-7DCB0B8C4245}" dt="2026-08-10T06:06:16.464" v="51" actId="20577"/>
      <pc:docMkLst>
        <pc:docMk/>
      </pc:docMkLst>
      <pc:sldChg chg="modNotes">
        <pc:chgData name="DG KIM" userId="e18339b243075a65" providerId="LiveId" clId="{6FCE25D8-7D4E-42A9-9067-7DCB0B8C4245}" dt="2026-08-10T06:06:16.464" v="51" actId="20577"/>
        <pc:sldMkLst>
          <pc:docMk/>
          <pc:sldMk cId="0" sldId="273"/>
        </pc:sldMkLst>
      </pc:sldChg>
      <pc:sldChg chg="modNotes">
        <pc:chgData name="DG KIM" userId="e18339b243075a65" providerId="LiveId" clId="{6FCE25D8-7D4E-42A9-9067-7DCB0B8C4245}" dt="2026-08-08T22:18:37.923" v="4" actId="20577"/>
        <pc:sldMkLst>
          <pc:docMk/>
          <pc:sldMk cId="0" sldId="284"/>
        </pc:sldMkLst>
      </pc:sldChg>
      <pc:sldChg chg="modNotes">
        <pc:chgData name="DG KIM" userId="e18339b243075a65" providerId="LiveId" clId="{6FCE25D8-7D4E-42A9-9067-7DCB0B8C4245}" dt="2026-08-08T22:18:54.245" v="5" actId="20577"/>
        <pc:sldMkLst>
          <pc:docMk/>
          <pc:sldMk cId="0" sldId="285"/>
        </pc:sldMkLst>
      </pc:sldChg>
      <pc:sldChg chg="modNotes">
        <pc:chgData name="DG KIM" userId="e18339b243075a65" providerId="LiveId" clId="{6FCE25D8-7D4E-42A9-9067-7DCB0B8C4245}" dt="2026-08-08T22:19:11.224" v="6" actId="20577"/>
        <pc:sldMkLst>
          <pc:docMk/>
          <pc:sldMk cId="0" sldId="286"/>
        </pc:sldMkLst>
      </pc:sldChg>
      <pc:sldChg chg="modNotes">
        <pc:chgData name="DG KIM" userId="e18339b243075a65" providerId="LiveId" clId="{6FCE25D8-7D4E-42A9-9067-7DCB0B8C4245}" dt="2026-08-08T22:19:28.768" v="7" actId="20577"/>
        <pc:sldMkLst>
          <pc:docMk/>
          <pc:sldMk cId="0" sldId="287"/>
        </pc:sldMkLst>
      </pc:sldChg>
      <pc:sldChg chg="modNotes">
        <pc:chgData name="DG KIM" userId="e18339b243075a65" providerId="LiveId" clId="{6FCE25D8-7D4E-42A9-9067-7DCB0B8C4245}" dt="2026-08-08T22:20:18.329" v="11" actId="20577"/>
        <pc:sldMkLst>
          <pc:docMk/>
          <pc:sldMk cId="0" sldId="288"/>
        </pc:sldMkLst>
      </pc:sldChg>
      <pc:sldChg chg="modNotes">
        <pc:chgData name="DG KIM" userId="e18339b243075a65" providerId="LiveId" clId="{6FCE25D8-7D4E-42A9-9067-7DCB0B8C4245}" dt="2026-08-08T22:20:36.895" v="12" actId="20577"/>
        <pc:sldMkLst>
          <pc:docMk/>
          <pc:sldMk cId="0" sldId="289"/>
        </pc:sldMkLst>
      </pc:sldChg>
      <pc:sldChg chg="modNotes">
        <pc:chgData name="DG KIM" userId="e18339b243075a65" providerId="LiveId" clId="{6FCE25D8-7D4E-42A9-9067-7DCB0B8C4245}" dt="2026-08-08T22:20:54.727" v="13" actId="20577"/>
        <pc:sldMkLst>
          <pc:docMk/>
          <pc:sldMk cId="0" sldId="290"/>
        </pc:sldMkLst>
      </pc:sldChg>
      <pc:sldChg chg="modNotes">
        <pc:chgData name="DG KIM" userId="e18339b243075a65" providerId="LiveId" clId="{6FCE25D8-7D4E-42A9-9067-7DCB0B8C4245}" dt="2026-08-08T22:21:13.094" v="14" actId="20577"/>
        <pc:sldMkLst>
          <pc:docMk/>
          <pc:sldMk cId="0" sldId="291"/>
        </pc:sldMkLst>
      </pc:sldChg>
      <pc:sldChg chg="modNotes">
        <pc:chgData name="DG KIM" userId="e18339b243075a65" providerId="LiveId" clId="{6FCE25D8-7D4E-42A9-9067-7DCB0B8C4245}" dt="2026-08-08T22:21:42.226" v="16" actId="20577"/>
        <pc:sldMkLst>
          <pc:docMk/>
          <pc:sldMk cId="0" sldId="292"/>
        </pc:sldMkLst>
      </pc:sldChg>
      <pc:sldChg chg="modNotes">
        <pc:chgData name="DG KIM" userId="e18339b243075a65" providerId="LiveId" clId="{6FCE25D8-7D4E-42A9-9067-7DCB0B8C4245}" dt="2026-08-08T22:21:59.116" v="17" actId="20577"/>
        <pc:sldMkLst>
          <pc:docMk/>
          <pc:sldMk cId="0" sldId="293"/>
        </pc:sldMkLst>
      </pc:sldChg>
      <pc:sldChg chg="modNotes">
        <pc:chgData name="DG KIM" userId="e18339b243075a65" providerId="LiveId" clId="{6FCE25D8-7D4E-42A9-9067-7DCB0B8C4245}" dt="2026-08-08T22:22:16.770" v="18" actId="20577"/>
        <pc:sldMkLst>
          <pc:docMk/>
          <pc:sldMk cId="0" sldId="294"/>
        </pc:sldMkLst>
      </pc:sldChg>
      <pc:sldChg chg="modNotes">
        <pc:chgData name="DG KIM" userId="e18339b243075a65" providerId="LiveId" clId="{6FCE25D8-7D4E-42A9-9067-7DCB0B8C4245}" dt="2026-08-08T22:22:35.204" v="19" actId="20577"/>
        <pc:sldMkLst>
          <pc:docMk/>
          <pc:sldMk cId="0" sldId="295"/>
        </pc:sldMkLst>
      </pc:sldChg>
      <pc:sldChg chg="modNotes">
        <pc:chgData name="DG KIM" userId="e18339b243075a65" providerId="LiveId" clId="{6FCE25D8-7D4E-42A9-9067-7DCB0B8C4245}" dt="2026-08-08T22:22:54.583" v="20" actId="20577"/>
        <pc:sldMkLst>
          <pc:docMk/>
          <pc:sldMk cId="0" sldId="296"/>
        </pc:sldMkLst>
      </pc:sldChg>
      <pc:sldChg chg="modNotes">
        <pc:chgData name="DG KIM" userId="e18339b243075a65" providerId="LiveId" clId="{6FCE25D8-7D4E-42A9-9067-7DCB0B8C4245}" dt="2026-08-08T22:23:14.233" v="21" actId="20577"/>
        <pc:sldMkLst>
          <pc:docMk/>
          <pc:sldMk cId="0" sldId="297"/>
        </pc:sldMkLst>
      </pc:sldChg>
      <pc:sldChg chg="modNotes">
        <pc:chgData name="DG KIM" userId="e18339b243075a65" providerId="LiveId" clId="{6FCE25D8-7D4E-42A9-9067-7DCB0B8C4245}" dt="2026-08-08T22:17:49.954" v="1" actId="20577"/>
        <pc:sldMkLst>
          <pc:docMk/>
          <pc:sldMk cId="3618287715" sldId="304"/>
        </pc:sldMkLst>
      </pc:sldChg>
      <pc:sldChg chg="modNotes">
        <pc:chgData name="DG KIM" userId="e18339b243075a65" providerId="LiveId" clId="{6FCE25D8-7D4E-42A9-9067-7DCB0B8C4245}" dt="2026-08-08T22:17:42.361" v="0" actId="20577"/>
        <pc:sldMkLst>
          <pc:docMk/>
          <pc:sldMk cId="3532911949" sldId="305"/>
        </pc:sldMkLst>
      </pc:sldChg>
      <pc:sldChg chg="modNotes">
        <pc:chgData name="DG KIM" userId="e18339b243075a65" providerId="LiveId" clId="{6FCE25D8-7D4E-42A9-9067-7DCB0B8C4245}" dt="2026-08-08T22:18:00.164" v="2" actId="20577"/>
        <pc:sldMkLst>
          <pc:docMk/>
          <pc:sldMk cId="2747021934" sldId="306"/>
        </pc:sldMkLst>
      </pc:sldChg>
      <pc:sldChg chg="modNotes">
        <pc:chgData name="DG KIM" userId="e18339b243075a65" providerId="LiveId" clId="{6FCE25D8-7D4E-42A9-9067-7DCB0B8C4245}" dt="2026-08-08T22:18:20.992" v="3" actId="20577"/>
        <pc:sldMkLst>
          <pc:docMk/>
          <pc:sldMk cId="698628896" sldId="307"/>
        </pc:sldMkLst>
      </pc:sldChg>
      <pc:sldChg chg="modNotes">
        <pc:chgData name="DG KIM" userId="e18339b243075a65" providerId="LiveId" clId="{6FCE25D8-7D4E-42A9-9067-7DCB0B8C4245}" dt="2026-08-08T22:19:39.396" v="8" actId="20577"/>
        <pc:sldMkLst>
          <pc:docMk/>
          <pc:sldMk cId="1047616173" sldId="308"/>
        </pc:sldMkLst>
      </pc:sldChg>
      <pc:sldChg chg="modNotes">
        <pc:chgData name="DG KIM" userId="e18339b243075a65" providerId="LiveId" clId="{6FCE25D8-7D4E-42A9-9067-7DCB0B8C4245}" dt="2026-08-08T22:19:49.819" v="9" actId="20577"/>
        <pc:sldMkLst>
          <pc:docMk/>
          <pc:sldMk cId="3211010692" sldId="309"/>
        </pc:sldMkLst>
      </pc:sldChg>
      <pc:sldChg chg="modNotes">
        <pc:chgData name="DG KIM" userId="e18339b243075a65" providerId="LiveId" clId="{6FCE25D8-7D4E-42A9-9067-7DCB0B8C4245}" dt="2026-08-08T22:20:00.470" v="10" actId="20577"/>
        <pc:sldMkLst>
          <pc:docMk/>
          <pc:sldMk cId="4089368461" sldId="310"/>
        </pc:sldMkLst>
      </pc:sldChg>
      <pc:sldChg chg="modNotes">
        <pc:chgData name="DG KIM" userId="e18339b243075a65" providerId="LiveId" clId="{6FCE25D8-7D4E-42A9-9067-7DCB0B8C4245}" dt="2026-08-08T22:21:23.940" v="15" actId="20577"/>
        <pc:sldMkLst>
          <pc:docMk/>
          <pc:sldMk cId="1874879736" sldId="311"/>
        </pc:sldMkLst>
      </pc:sldChg>
      <pc:sldChg chg="modNotes">
        <pc:chgData name="DG KIM" userId="e18339b243075a65" providerId="LiveId" clId="{6FCE25D8-7D4E-42A9-9067-7DCB0B8C4245}" dt="2026-08-09T01:19:47.421" v="22" actId="20577"/>
        <pc:sldMkLst>
          <pc:docMk/>
          <pc:sldMk cId="0" sldId="312"/>
        </pc:sldMkLst>
      </pc:sldChg>
      <pc:sldChg chg="modNotes">
        <pc:chgData name="DG KIM" userId="e18339b243075a65" providerId="LiveId" clId="{6FCE25D8-7D4E-42A9-9067-7DCB0B8C4245}" dt="2026-08-09T01:20:01.124" v="23" actId="20577"/>
        <pc:sldMkLst>
          <pc:docMk/>
          <pc:sldMk cId="0" sldId="313"/>
        </pc:sldMkLst>
      </pc:sldChg>
      <pc:sldChg chg="modNotes">
        <pc:chgData name="DG KIM" userId="e18339b243075a65" providerId="LiveId" clId="{6FCE25D8-7D4E-42A9-9067-7DCB0B8C4245}" dt="2026-08-10T06:05:50.755" v="50" actId="20577"/>
        <pc:sldMkLst>
          <pc:docMk/>
          <pc:sldMk cId="0" sldId="314"/>
        </pc:sldMkLst>
      </pc:sldChg>
      <pc:sldChg chg="modNotes">
        <pc:chgData name="DG KIM" userId="e18339b243075a65" providerId="LiveId" clId="{6FCE25D8-7D4E-42A9-9067-7DCB0B8C4245}" dt="2026-08-10T06:05:35.831" v="49" actId="20577"/>
        <pc:sldMkLst>
          <pc:docMk/>
          <pc:sldMk cId="0" sldId="315"/>
        </pc:sldMkLst>
      </pc:sldChg>
      <pc:sldChg chg="modNotes">
        <pc:chgData name="DG KIM" userId="e18339b243075a65" providerId="LiveId" clId="{6FCE25D8-7D4E-42A9-9067-7DCB0B8C4245}" dt="2026-08-09T01:20:47.857" v="26" actId="20577"/>
        <pc:sldMkLst>
          <pc:docMk/>
          <pc:sldMk cId="0" sldId="316"/>
        </pc:sldMkLst>
      </pc:sldChg>
      <pc:sldChg chg="modNotes">
        <pc:chgData name="DG KIM" userId="e18339b243075a65" providerId="LiveId" clId="{6FCE25D8-7D4E-42A9-9067-7DCB0B8C4245}" dt="2026-08-09T01:20:59.380" v="27" actId="20577"/>
        <pc:sldMkLst>
          <pc:docMk/>
          <pc:sldMk cId="0" sldId="317"/>
        </pc:sldMkLst>
      </pc:sldChg>
      <pc:sldChg chg="modNotes">
        <pc:chgData name="DG KIM" userId="e18339b243075a65" providerId="LiveId" clId="{6FCE25D8-7D4E-42A9-9067-7DCB0B8C4245}" dt="2026-08-09T01:21:12.375" v="28" actId="20577"/>
        <pc:sldMkLst>
          <pc:docMk/>
          <pc:sldMk cId="0" sldId="318"/>
        </pc:sldMkLst>
      </pc:sldChg>
      <pc:sldChg chg="modNotes">
        <pc:chgData name="DG KIM" userId="e18339b243075a65" providerId="LiveId" clId="{6FCE25D8-7D4E-42A9-9067-7DCB0B8C4245}" dt="2026-08-09T01:21:25.313" v="29" actId="20577"/>
        <pc:sldMkLst>
          <pc:docMk/>
          <pc:sldMk cId="0" sldId="319"/>
        </pc:sldMkLst>
      </pc:sldChg>
      <pc:sldChg chg="modNotes">
        <pc:chgData name="DG KIM" userId="e18339b243075a65" providerId="LiveId" clId="{6FCE25D8-7D4E-42A9-9067-7DCB0B8C4245}" dt="2026-08-09T01:21:36.599" v="30" actId="20577"/>
        <pc:sldMkLst>
          <pc:docMk/>
          <pc:sldMk cId="0" sldId="320"/>
        </pc:sldMkLst>
      </pc:sldChg>
      <pc:sldChg chg="modNotes">
        <pc:chgData name="DG KIM" userId="e18339b243075a65" providerId="LiveId" clId="{6FCE25D8-7D4E-42A9-9067-7DCB0B8C4245}" dt="2026-08-09T01:21:47.843" v="31" actId="20577"/>
        <pc:sldMkLst>
          <pc:docMk/>
          <pc:sldMk cId="0" sldId="321"/>
        </pc:sldMkLst>
      </pc:sldChg>
      <pc:sldChg chg="modNotes">
        <pc:chgData name="DG KIM" userId="e18339b243075a65" providerId="LiveId" clId="{6FCE25D8-7D4E-42A9-9067-7DCB0B8C4245}" dt="2026-08-09T01:22:00.883" v="32" actId="20577"/>
        <pc:sldMkLst>
          <pc:docMk/>
          <pc:sldMk cId="0" sldId="322"/>
        </pc:sldMkLst>
      </pc:sldChg>
      <pc:sldChg chg="modNotes">
        <pc:chgData name="DG KIM" userId="e18339b243075a65" providerId="LiveId" clId="{6FCE25D8-7D4E-42A9-9067-7DCB0B8C4245}" dt="2026-08-09T01:22:15.060" v="33" actId="20577"/>
        <pc:sldMkLst>
          <pc:docMk/>
          <pc:sldMk cId="0" sldId="323"/>
        </pc:sldMkLst>
      </pc:sldChg>
      <pc:sldChg chg="modNotes">
        <pc:chgData name="DG KIM" userId="e18339b243075a65" providerId="LiveId" clId="{6FCE25D8-7D4E-42A9-9067-7DCB0B8C4245}" dt="2026-08-09T01:45:35.423" v="34" actId="20577"/>
        <pc:sldMkLst>
          <pc:docMk/>
          <pc:sldMk cId="0" sldId="324"/>
        </pc:sldMkLst>
      </pc:sldChg>
      <pc:sldChg chg="modNotes">
        <pc:chgData name="DG KIM" userId="e18339b243075a65" providerId="LiveId" clId="{6FCE25D8-7D4E-42A9-9067-7DCB0B8C4245}" dt="2026-08-09T01:45:51.935" v="35" actId="20577"/>
        <pc:sldMkLst>
          <pc:docMk/>
          <pc:sldMk cId="0" sldId="325"/>
        </pc:sldMkLst>
      </pc:sldChg>
      <pc:sldChg chg="modNotes">
        <pc:chgData name="DG KIM" userId="e18339b243075a65" providerId="LiveId" clId="{6FCE25D8-7D4E-42A9-9067-7DCB0B8C4245}" dt="2026-08-09T01:46:18.234" v="36" actId="20577"/>
        <pc:sldMkLst>
          <pc:docMk/>
          <pc:sldMk cId="0" sldId="326"/>
        </pc:sldMkLst>
      </pc:sldChg>
      <pc:sldChg chg="modNotes">
        <pc:chgData name="DG KIM" userId="e18339b243075a65" providerId="LiveId" clId="{6FCE25D8-7D4E-42A9-9067-7DCB0B8C4245}" dt="2026-08-09T01:46:33.731" v="37" actId="20577"/>
        <pc:sldMkLst>
          <pc:docMk/>
          <pc:sldMk cId="0" sldId="327"/>
        </pc:sldMkLst>
      </pc:sldChg>
      <pc:sldChg chg="modNotes">
        <pc:chgData name="DG KIM" userId="e18339b243075a65" providerId="LiveId" clId="{6FCE25D8-7D4E-42A9-9067-7DCB0B8C4245}" dt="2026-08-09T01:46:49.661" v="38" actId="20577"/>
        <pc:sldMkLst>
          <pc:docMk/>
          <pc:sldMk cId="0" sldId="328"/>
        </pc:sldMkLst>
      </pc:sldChg>
      <pc:sldChg chg="modNotes">
        <pc:chgData name="DG KIM" userId="e18339b243075a65" providerId="LiveId" clId="{6FCE25D8-7D4E-42A9-9067-7DCB0B8C4245}" dt="2026-08-09T01:47:06.262" v="39" actId="20577"/>
        <pc:sldMkLst>
          <pc:docMk/>
          <pc:sldMk cId="0" sldId="329"/>
        </pc:sldMkLst>
      </pc:sldChg>
      <pc:sldChg chg="modNotes">
        <pc:chgData name="DG KIM" userId="e18339b243075a65" providerId="LiveId" clId="{6FCE25D8-7D4E-42A9-9067-7DCB0B8C4245}" dt="2026-08-09T03:22:49.979" v="40" actId="20577"/>
        <pc:sldMkLst>
          <pc:docMk/>
          <pc:sldMk cId="0" sldId="330"/>
        </pc:sldMkLst>
      </pc:sldChg>
      <pc:sldChg chg="modNotes">
        <pc:chgData name="DG KIM" userId="e18339b243075a65" providerId="LiveId" clId="{6FCE25D8-7D4E-42A9-9067-7DCB0B8C4245}" dt="2026-08-09T03:23:04.603" v="41" actId="20577"/>
        <pc:sldMkLst>
          <pc:docMk/>
          <pc:sldMk cId="0" sldId="331"/>
        </pc:sldMkLst>
      </pc:sldChg>
      <pc:sldChg chg="modNotes">
        <pc:chgData name="DG KIM" userId="e18339b243075a65" providerId="LiveId" clId="{6FCE25D8-7D4E-42A9-9067-7DCB0B8C4245}" dt="2026-08-09T03:23:20.282" v="42" actId="20577"/>
        <pc:sldMkLst>
          <pc:docMk/>
          <pc:sldMk cId="0" sldId="332"/>
        </pc:sldMkLst>
      </pc:sldChg>
      <pc:sldChg chg="modNotes">
        <pc:chgData name="DG KIM" userId="e18339b243075a65" providerId="LiveId" clId="{6FCE25D8-7D4E-42A9-9067-7DCB0B8C4245}" dt="2026-08-09T03:23:34.431" v="43" actId="20577"/>
        <pc:sldMkLst>
          <pc:docMk/>
          <pc:sldMk cId="0" sldId="333"/>
        </pc:sldMkLst>
      </pc:sldChg>
      <pc:sldChg chg="modNotes">
        <pc:chgData name="DG KIM" userId="e18339b243075a65" providerId="LiveId" clId="{6FCE25D8-7D4E-42A9-9067-7DCB0B8C4245}" dt="2026-08-09T03:23:49.410" v="44" actId="20577"/>
        <pc:sldMkLst>
          <pc:docMk/>
          <pc:sldMk cId="0" sldId="334"/>
        </pc:sldMkLst>
      </pc:sldChg>
      <pc:sldChg chg="add">
        <pc:chgData name="DG KIM" userId="e18339b243075a65" providerId="LiveId" clId="{6FCE25D8-7D4E-42A9-9067-7DCB0B8C4245}" dt="2026-08-10T02:22:01.134" v="45"/>
        <pc:sldMkLst>
          <pc:docMk/>
          <pc:sldMk cId="2779683792" sldId="335"/>
        </pc:sldMkLst>
      </pc:sldChg>
      <pc:sldChg chg="add">
        <pc:chgData name="DG KIM" userId="e18339b243075a65" providerId="LiveId" clId="{6FCE25D8-7D4E-42A9-9067-7DCB0B8C4245}" dt="2026-08-10T02:22:01.176" v="46"/>
        <pc:sldMkLst>
          <pc:docMk/>
          <pc:sldMk cId="3294965742" sldId="336"/>
        </pc:sldMkLst>
      </pc:sldChg>
      <pc:sldChg chg="add">
        <pc:chgData name="DG KIM" userId="e18339b243075a65" providerId="LiveId" clId="{6FCE25D8-7D4E-42A9-9067-7DCB0B8C4245}" dt="2026-08-10T02:22:01.197" v="47"/>
        <pc:sldMkLst>
          <pc:docMk/>
          <pc:sldMk cId="1794162243" sldId="337"/>
        </pc:sldMkLst>
      </pc:sldChg>
      <pc:sldChg chg="add">
        <pc:chgData name="DG KIM" userId="e18339b243075a65" providerId="LiveId" clId="{6FCE25D8-7D4E-42A9-9067-7DCB0B8C4245}" dt="2026-08-10T02:22:01.219" v="48"/>
        <pc:sldMkLst>
          <pc:docMk/>
          <pc:sldMk cId="945514681" sldId="33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515126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 후 시작합니다.
"오늘은 아무것도 모르는 상태에서 시작합니다. 컴퓨터를 잘 다루지 못해도 괜찮습니다. 오늘 끝나면 여러분 컴퓨터에 Claude가 설치되어 있고, 첫 대화를 나눠보신 상태가 됩니다."
미리 말씀드릴 것: 설치 과정에 함정이 두 군데 있습니다. 오늘 그 두 군데를 같이 넘어갑니다. 혼자 하면 열에 아홉은 여기서 막힙니다.
날짜와 발표자 이름을 채워넣고 발표하세요.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목표를 소리 내어 읽어주세요.
강조할 점: 오늘은 진도를 많이 나가는 날이 아닙니다. 설치 하나만 제대로 끝내도 성공입니다.
"설치가 오늘의 8할"이라는 말은 과장이 아닙니다. 실제로 설치에서 막히면 다음 주에 아무것도 못 합니다. 그래서 오늘은 천천히 갑니다.
예상 질문: "이거 어려운가요?" → "단계는 다섯 개인데, 그중 두 개만 조심하면 됩니다. 그 두 개를 오늘 같이 넘습니다."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이 장은 </a:t>
            </a:r>
            <a:r>
              <a:rPr lang="en-US" altLang="ko-KR"/>
              <a:t>30</a:t>
            </a:r>
            <a:r>
              <a:rPr lang="ko-KR" altLang="en-US"/>
              <a:t>초면 됩니다</a:t>
            </a:r>
            <a:r>
              <a:rPr lang="en-US" altLang="ko-KR"/>
              <a:t>. </a:t>
            </a:r>
            <a:r>
              <a:rPr lang="ko-KR" altLang="en-US"/>
              <a:t>길게 설명하지 마세요</a:t>
            </a:r>
            <a:r>
              <a:rPr lang="en-US" altLang="ko-KR"/>
              <a:t>.
</a:t>
            </a:r>
            <a:r>
              <a:rPr lang="ko-KR" altLang="en-US"/>
              <a:t>말할 것 </a:t>
            </a:r>
            <a:r>
              <a:rPr lang="en-US" altLang="ko-KR"/>
              <a:t>— "</a:t>
            </a:r>
            <a:r>
              <a:rPr lang="ko-KR" altLang="en-US"/>
              <a:t>오늘 일곱 묶음을 봅니다</a:t>
            </a:r>
            <a:r>
              <a:rPr lang="en-US" altLang="ko-KR"/>
              <a:t>. </a:t>
            </a:r>
            <a:r>
              <a:rPr lang="ko-KR" altLang="en-US"/>
              <a:t>그런데 시간의 </a:t>
            </a:r>
            <a:r>
              <a:rPr lang="en-US" altLang="ko-KR"/>
              <a:t>8</a:t>
            </a:r>
            <a:r>
              <a:rPr lang="ko-KR" altLang="en-US"/>
              <a:t>할은 </a:t>
            </a:r>
            <a:r>
              <a:rPr lang="en-US" altLang="ko-KR"/>
              <a:t>1</a:t>
            </a:r>
            <a:r>
              <a:rPr lang="ko-KR" altLang="en-US"/>
              <a:t>번과 </a:t>
            </a:r>
            <a:r>
              <a:rPr lang="en-US" altLang="ko-KR"/>
              <a:t>2</a:t>
            </a:r>
            <a:r>
              <a:rPr lang="ko-KR" altLang="en-US"/>
              <a:t>번</a:t>
            </a:r>
            <a:r>
              <a:rPr lang="en-US" altLang="ko-KR"/>
              <a:t>, </a:t>
            </a:r>
            <a:r>
              <a:rPr lang="ko-KR" altLang="en-US"/>
              <a:t>설치까지입니다</a:t>
            </a:r>
            <a:r>
              <a:rPr lang="en-US" altLang="ko-KR"/>
              <a:t>. </a:t>
            </a:r>
            <a:r>
              <a:rPr lang="ko-KR" altLang="en-US"/>
              <a:t>뒤쪽은 </a:t>
            </a:r>
            <a:r>
              <a:rPr lang="en-US" altLang="ko-KR"/>
              <a:t>'</a:t>
            </a:r>
            <a:r>
              <a:rPr lang="ko-KR" altLang="en-US"/>
              <a:t>이런 게 있다</a:t>
            </a:r>
            <a:r>
              <a:rPr lang="en-US" altLang="ko-KR"/>
              <a:t>'</a:t>
            </a:r>
            <a:r>
              <a:rPr lang="ko-KR" altLang="en-US"/>
              <a:t>만 알고 가시면 됩니다</a:t>
            </a:r>
            <a:r>
              <a:rPr lang="en-US" altLang="ko-KR"/>
              <a:t>."
★ </a:t>
            </a:r>
            <a:r>
              <a:rPr lang="ko-KR" altLang="en-US"/>
              <a:t>여기서 안심을 주는 게 목적입니다</a:t>
            </a:r>
            <a:r>
              <a:rPr lang="en-US" altLang="ko-KR"/>
              <a:t>. </a:t>
            </a:r>
            <a:r>
              <a:rPr lang="ko-KR" altLang="en-US"/>
              <a:t>목차가 일곱 개나 되면 </a:t>
            </a:r>
            <a:r>
              <a:rPr lang="en-US" altLang="ko-KR"/>
              <a:t>"</a:t>
            </a:r>
            <a:r>
              <a:rPr lang="ko-KR" altLang="en-US"/>
              <a:t>오늘 이걸 다 배워야 하나</a:t>
            </a:r>
            <a:r>
              <a:rPr lang="en-US" altLang="ko-KR"/>
              <a:t>" </a:t>
            </a:r>
            <a:r>
              <a:rPr lang="ko-KR" altLang="en-US"/>
              <a:t>하고 겁먹습니다</a:t>
            </a:r>
            <a:r>
              <a:rPr lang="en-US" altLang="ko-KR"/>
              <a:t>. </a:t>
            </a:r>
            <a:r>
              <a:rPr lang="ko-KR" altLang="en-US"/>
              <a:t>뒤쪽 </a:t>
            </a:r>
            <a:r>
              <a:rPr lang="en-US" altLang="ko-KR"/>
              <a:t>5·6·7</a:t>
            </a:r>
            <a:r>
              <a:rPr lang="ko-KR" altLang="en-US"/>
              <a:t>번은 맛보기라고 미리 못 박아 두세요</a:t>
            </a:r>
            <a:r>
              <a:rPr lang="en-US" altLang="ko-KR"/>
              <a:t>.
</a:t>
            </a:r>
            <a:r>
              <a:rPr lang="ko-KR" altLang="en-US"/>
              <a:t>페이지 번호</a:t>
            </a:r>
            <a:r>
              <a:rPr lang="en-US" altLang="ko-KR"/>
              <a:t>(p.4·11·18·26·34·39·44)</a:t>
            </a:r>
            <a:r>
              <a:rPr lang="ko-KR" altLang="en-US"/>
              <a:t>를 짚어주면 유인물로 받았을 때 되찾기 쉽습니다</a:t>
            </a:r>
            <a:r>
              <a:rPr lang="en-US" altLang="ko-KR"/>
              <a:t>.
</a:t>
            </a:r>
            <a:r>
              <a:rPr lang="ko-KR" altLang="en-US"/>
              <a:t>예상 질문 </a:t>
            </a:r>
            <a:r>
              <a:rPr lang="en-US" altLang="ko-KR"/>
              <a:t>— "</a:t>
            </a:r>
            <a:r>
              <a:rPr lang="ko-KR" altLang="en-US"/>
              <a:t>오늘 다 못 끝내면요</a:t>
            </a:r>
            <a:r>
              <a:rPr lang="en-US" altLang="ko-KR"/>
              <a:t>?" → "</a:t>
            </a:r>
            <a:r>
              <a:rPr lang="ko-KR" altLang="en-US"/>
              <a:t>설치까지만 되면 오늘은 성공입니다</a:t>
            </a:r>
            <a:r>
              <a:rPr lang="en-US" altLang="ko-KR"/>
              <a:t>. </a:t>
            </a:r>
            <a:r>
              <a:rPr lang="ko-KR" altLang="en-US"/>
              <a:t>나머지는 자료를 보고 혼자 따라오실 수 있게 만들어 두었습니다</a:t>
            </a:r>
            <a:r>
              <a:rPr lang="en-US" altLang="ko-KR"/>
              <a:t>."</a:t>
            </a:r>
            <a:endParaRPr lang="ko-KR" altLang="en-US"/>
          </a:p>
        </p:txBody>
      </p:sp>
    </p:spTree>
    <p:extLst>
      <p:ext uri="{BB962C8B-B14F-4D97-AF65-F5344CB8AC3E}">
        <p14:creationId xmlns:p14="http://schemas.microsoft.com/office/powerpoint/2010/main" val="3664378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섹션 표지입니다</a:t>
            </a:r>
            <a:r>
              <a:rPr lang="en-US" altLang="ko-KR"/>
              <a:t>. 10~15</a:t>
            </a:r>
            <a:r>
              <a:rPr lang="ko-KR" altLang="en-US"/>
              <a:t>초만 쓰고 넘어가세요</a:t>
            </a:r>
            <a:r>
              <a:rPr lang="en-US" altLang="ko-KR"/>
              <a:t>. </a:t>
            </a:r>
            <a:r>
              <a:rPr lang="ko-KR" altLang="en-US"/>
              <a:t>여기서 내용을 미리 설명하면 뒤에서 같은 말을 두 번 하게 됩니다</a:t>
            </a:r>
            <a:r>
              <a:rPr lang="en-US" altLang="ko-KR"/>
              <a:t>.
</a:t>
            </a:r>
            <a:r>
              <a:rPr lang="ko-KR" altLang="en-US"/>
              <a:t>말할 것 </a:t>
            </a:r>
            <a:r>
              <a:rPr lang="en-US" altLang="ko-KR"/>
              <a:t>— "</a:t>
            </a:r>
            <a:r>
              <a:rPr lang="ko-KR" altLang="en-US"/>
              <a:t>먼저 </a:t>
            </a:r>
            <a:r>
              <a:rPr lang="en-US" altLang="ko-KR"/>
              <a:t>Claude</a:t>
            </a:r>
            <a:r>
              <a:rPr lang="ko-KR" altLang="en-US"/>
              <a:t>가 무엇인지</a:t>
            </a:r>
            <a:r>
              <a:rPr lang="en-US" altLang="ko-KR"/>
              <a:t>, </a:t>
            </a:r>
            <a:r>
              <a:rPr lang="ko-KR" altLang="en-US"/>
              <a:t>웹이랑 앱이 어떻게 다른지부터 봅니다</a:t>
            </a:r>
            <a:r>
              <a:rPr lang="en-US" altLang="ko-KR"/>
              <a:t>. </a:t>
            </a:r>
            <a:r>
              <a:rPr lang="ko-KR" altLang="en-US"/>
              <a:t>요금제 이야기도 여기서 끝냅니다</a:t>
            </a:r>
            <a:r>
              <a:rPr lang="en-US" altLang="ko-KR"/>
              <a:t>."
★ </a:t>
            </a:r>
            <a:r>
              <a:rPr lang="ko-KR" altLang="en-US"/>
              <a:t>이 섹션의 목적은 </a:t>
            </a:r>
            <a:r>
              <a:rPr lang="en-US" altLang="ko-KR"/>
              <a:t>'</a:t>
            </a:r>
            <a:r>
              <a:rPr lang="ko-KR" altLang="en-US"/>
              <a:t>설치할 마음이 들게 하는 것</a:t>
            </a:r>
            <a:r>
              <a:rPr lang="en-US" altLang="ko-KR"/>
              <a:t>'</a:t>
            </a:r>
            <a:r>
              <a:rPr lang="ko-KR" altLang="en-US"/>
              <a:t>입니다</a:t>
            </a:r>
            <a:r>
              <a:rPr lang="en-US" altLang="ko-KR"/>
              <a:t>. </a:t>
            </a:r>
            <a:r>
              <a:rPr lang="ko-KR" altLang="en-US"/>
              <a:t>기능 설명이 아닙니다</a:t>
            </a:r>
            <a:r>
              <a:rPr lang="en-US" altLang="ko-KR"/>
              <a:t>.
</a:t>
            </a:r>
            <a:r>
              <a:rPr lang="ko-KR" altLang="en-US"/>
              <a:t>뒤에 나오는 사용 한도</a:t>
            </a:r>
            <a:r>
              <a:rPr lang="en-US" altLang="ko-KR"/>
              <a:t>(p.10) </a:t>
            </a:r>
            <a:r>
              <a:rPr lang="ko-KR" altLang="en-US"/>
              <a:t>이야기는 미리 꺼내지 마세요</a:t>
            </a:r>
            <a:r>
              <a:rPr lang="en-US" altLang="ko-KR"/>
              <a:t>. </a:t>
            </a:r>
            <a:r>
              <a:rPr lang="ko-KR" altLang="en-US"/>
              <a:t>그 자리에서 놀라야 기억에 남습니다</a:t>
            </a:r>
            <a:r>
              <a:rPr lang="en-US" altLang="ko-KR"/>
              <a:t>.</a:t>
            </a:r>
            <a:endParaRPr lang="ko-KR" altLang="en-US"/>
          </a:p>
        </p:txBody>
      </p:sp>
    </p:spTree>
    <p:extLst>
      <p:ext uri="{BB962C8B-B14F-4D97-AF65-F5344CB8AC3E}">
        <p14:creationId xmlns:p14="http://schemas.microsoft.com/office/powerpoint/2010/main" val="1520138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메시지 한 줄: "웹은 대화만, 앱은 내 컴퓨터까지."
수강생 중에 이미 웹으로 써본 분이 있을 수 있습니다. 그분들께는 "웹에서 되던 건 앱에서도 다 됩니다. 앱은 거기에 더 얹는 겁니다"라고 안심시켜 주세요.
오른쪽 네 번째 항목(다른 프로그램과 연결)은 뒤쪽 MCP 섹션(p.34~) 예고입니다. 지금은 자세히 설명하지 마세요.
예상 질문: "둘 다 써도 되나요?" → "됩니다. 같은 계정이면 대화 기록도 같이 보입니다."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슬라이드의 목적은 동기 부여입니다. 설치가 귀찮다고 느끼기 전에 "할 만한 이유"를 주는 겁니다.
가능하면 여기서 실물을 잠깐 보여주세요. 미리 만들어둔 엑셀 결과물 하나를 띄우고 "이걸 Claude가 만들었습니다"라고 하면 분위기가 달라집니다.
2번을 말할 때: "복사해서 붙여넣는 게 아니라, 진짜 파일이 폴더에 생깁니다"를 강조하세요. 이게 웹과 가장 큰 차이입니다.
주의: 여기서 3번(MCP)을 자세히 설명하려 들면 시간이 다 갑니다. 예고만 하고 넘어가세요.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가격은 달러입니다. 원화로 얼마인지 물어보실 겁니다. 미리 환율을 계산해 두세요.
중요: 가격은 바뀝니다. 발표 당일 아침에 anthropic.com/pricing 에서 한 번 확인하고 들어가세요. 슬라이드와 실제가 다르면 신뢰를 잃습니다.
Pro를 굵게 표시한 이유는 다음 장에서 설명합니다. 여기서는 표만 읽고 넘어가세요.
예상 질문: "무료로는 안 되나요?" → "오늘 설치하고 대화하는 데까지는 무료로 됩니다. 파일 작업을 본격적으로 할 때부터 필요합니다. 다음 장에서 정리해 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장의 목적은 부담을 덜어주는 겁니다.
"오늘 당장 20달러를 내야 하나" 걱정하는 분이 반드시 있습니다. 그 걱정을 여기서 없애야 뒤에 집중합니다.
강조: "오늘은 무료로도 끝까지 됩니다. 결제는 파일 작업을 시작하기 전에만 하시면 됩니다."
3행(내 파일 다루기)이 이 교육의 갈림길입니다. 손가락으로 짚어주세요.
예상 질문: "결제하고 마음에 안 들면요?" → 환불 정책은 제가 확답드리기 어렵습니다. 공식 고객센터 안내를 확인해서 답하세요. 모르면 "확인해서 알려드리겠습니다"가 맞습니다.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결론을 명확히 주세요. 초보자는 선택지가 많으면 아무것도 못 고릅니다.
"Pro 하나만 기억하세요. 나머지는 잊으셔도 됩니다."
"처음부터 크게 지르지 마세요"는 진심으로 말해주세요. Max를 결제하고 안 쓰는 분이 실제로 많습니다. 강사가 이 말을 해주면 신뢰가 올라갑니다.
연 결제는 할인이 되지만, 처음 쓰는 분께 1년 약정을 권하지 마세요. 한 달 써보고 정하는 게 맞습니다.
예상 질문: "강사님은 뭘 쓰세요?" → 솔직하게 답하되, "저는 매일 업무로 쓰니까 그렇고, 처음에는 Pro면 충분합니다"라고 덧붙이세요.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이 슬라이드를 안 하면 수강생이 반드시 놀랍니다. "돈 냈는데 왜 안 되냐"는 항의가 나옵니다.
먼저 안심시키세요. "고장 아닙니다. 잠시 쉬었다 하시면 됩니다."
공식 문서 원문 근거 — "Your session-based usage limit will reset every five hours."
3번이 실무적으로 가장 중요합니다. 사용량은 메시지 길이뿐 아니라 **지금 대화의 전체 길이**에 비례합니다. 원문: "...including the length of files you attach, the length of your current conversation, and the model or feature you use."
쉽게 설명하는 법: "대화를 이어갈 때마다 Claude는 앞에서 나눈 이야기를 처음부터 다시 읽습니다. 대화가 길어질수록 매번 읽는 양이 늘어납니다."
그래서 결론은 하나입니다 — 주제가 바뀌면 새 대화. 이건 앞으로 대화를 관리하는 요령과도 이어집니다.
첨부 파일도 사용량을 먹습니다. 큰 PDF를 여러 개 올리면 금방 닳습니다. 이건 파일 작업을 다룰 때 다시 짚으세요.
예상 질문: "한도가 정확히 몇 개인가요?" → 공개된 숫자가 없습니다. 메시지 길이·파일·모델에 따라 달라집니다. "정해진 개수가 아니라 분량 기준"이라고 답하세요.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섹션 표지입니다</a:t>
            </a:r>
            <a:r>
              <a:rPr lang="en-US" altLang="ko-KR"/>
              <a:t>. 10~15</a:t>
            </a:r>
            <a:r>
              <a:rPr lang="ko-KR" altLang="en-US"/>
              <a:t>초</a:t>
            </a:r>
            <a:r>
              <a:rPr lang="en-US" altLang="ko-KR"/>
              <a:t>.
</a:t>
            </a:r>
            <a:r>
              <a:rPr lang="ko-KR" altLang="en-US"/>
              <a:t>말할 것 </a:t>
            </a:r>
            <a:r>
              <a:rPr lang="en-US" altLang="ko-KR"/>
              <a:t>— "</a:t>
            </a:r>
            <a:r>
              <a:rPr lang="ko-KR" altLang="en-US"/>
              <a:t>이제 실제로 깝니다</a:t>
            </a:r>
            <a:r>
              <a:rPr lang="en-US" altLang="ko-KR"/>
              <a:t>. </a:t>
            </a:r>
            <a:r>
              <a:rPr lang="ko-KR" altLang="en-US"/>
              <a:t>여기부터는 화면을 같이 보면서 갑니다</a:t>
            </a:r>
            <a:r>
              <a:rPr lang="en-US" altLang="ko-KR"/>
              <a:t>. </a:t>
            </a:r>
            <a:r>
              <a:rPr lang="ko-KR" altLang="en-US"/>
              <a:t>저를 따라오지 마시고</a:t>
            </a:r>
            <a:r>
              <a:rPr lang="en-US" altLang="ko-KR"/>
              <a:t>, </a:t>
            </a:r>
            <a:r>
              <a:rPr lang="ko-KR" altLang="en-US"/>
              <a:t>저보다 먼저 누르지도 마세요</a:t>
            </a:r>
            <a:r>
              <a:rPr lang="en-US" altLang="ko-KR"/>
              <a:t>."
★ </a:t>
            </a:r>
            <a:r>
              <a:rPr lang="ko-KR" altLang="en-US"/>
              <a:t>실습 시작 지점입니다</a:t>
            </a:r>
            <a:r>
              <a:rPr lang="en-US" altLang="ko-KR"/>
              <a:t>. </a:t>
            </a:r>
            <a:r>
              <a:rPr lang="ko-KR" altLang="en-US"/>
              <a:t>시작 전에 두 가지를 미리 공지하세요</a:t>
            </a:r>
            <a:r>
              <a:rPr lang="en-US" altLang="ko-KR"/>
              <a:t>.
1) </a:t>
            </a:r>
            <a:r>
              <a:rPr lang="ko-KR" altLang="en-US"/>
              <a:t>막히면 손을 드시라고</a:t>
            </a:r>
            <a:r>
              <a:rPr lang="en-US" altLang="ko-KR"/>
              <a:t>. </a:t>
            </a:r>
            <a:r>
              <a:rPr lang="ko-KR" altLang="en-US"/>
              <a:t>혼자 되돌리려다 더 꼬입니다</a:t>
            </a:r>
            <a:r>
              <a:rPr lang="en-US" altLang="ko-KR"/>
              <a:t>.
2) </a:t>
            </a:r>
            <a:r>
              <a:rPr lang="ko-KR" altLang="en-US"/>
              <a:t>화면이 어두워지는 창</a:t>
            </a:r>
            <a:r>
              <a:rPr lang="en-US" altLang="ko-KR"/>
              <a:t>(p.15)</a:t>
            </a:r>
            <a:r>
              <a:rPr lang="ko-KR" altLang="en-US"/>
              <a:t>과 재시작</a:t>
            </a:r>
            <a:r>
              <a:rPr lang="en-US" altLang="ko-KR"/>
              <a:t>(p.16)</a:t>
            </a:r>
            <a:r>
              <a:rPr lang="ko-KR" altLang="en-US"/>
              <a:t>에서 반드시 멈춰 세울 거라고</a:t>
            </a:r>
            <a:r>
              <a:rPr lang="en-US" altLang="ko-KR"/>
              <a:t>.
</a:t>
            </a:r>
            <a:r>
              <a:rPr lang="ko-KR" altLang="en-US"/>
              <a:t>이 섹션에 오늘 시간의 절반 이상이 들어갑니다</a:t>
            </a:r>
            <a:r>
              <a:rPr lang="en-US" altLang="ko-KR"/>
              <a:t>. </a:t>
            </a:r>
            <a:r>
              <a:rPr lang="ko-KR" altLang="en-US"/>
              <a:t>앞을 빨리 끝내야 여기서 여유가 생깁니다</a:t>
            </a:r>
            <a:r>
              <a:rPr lang="en-US" altLang="ko-KR"/>
              <a:t>.</a:t>
            </a:r>
            <a:endParaRPr lang="ko-KR" altLang="en-US"/>
          </a:p>
        </p:txBody>
      </p:sp>
    </p:spTree>
    <p:extLst>
      <p:ext uri="{BB962C8B-B14F-4D97-AF65-F5344CB8AC3E}">
        <p14:creationId xmlns:p14="http://schemas.microsoft.com/office/powerpoint/2010/main" val="1520138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가입은 대부분 문제없이 넘어갑니다. 다만 두 가지를 미리 말해주세요.
첫째, 구글 계정으로 가입하는 게 제일 빠릅니다. 비밀번호를 새로 만들 필요가 없습니다.
둘째, 여기서는 카드 정보를 넣지 않습니다. "벌써 결제하는 건가?" 걱정하는 분이 있습니다.
인증 메일이 스팸함으로 가는 경우가 있습니다. 안 온다는 분이 나오면 스팸함부터 보게 하세요.
회사 메일보다 개인 메일을 권하세요. 회사 메일은 보안 정책으로 외부 메일이 막히는 경우가 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"주소창이지 검색창이 아니다"를 반드시 짚어주세요. 초보자가 가장 많이 헷갈리는 부분입니다.
검색창에 치면 검색 결과가 나오고, 거기서 엉뚱한 사이트로 들어가는 사고가 납니다. 가짜 다운로드 사이트도 있으니 주의가 필요합니다.
화면에 주소창을 손으로 짚어가며 보여주세요.
미리 이 주소를 채팅방이나 문자로 뿌려두면 오타 사고를 줄일 수 있습니다. 추천합니다.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시간이 걸립니다. 기다리는 동안 할 이야기를 준비해 두세요.
추천: 이 시간에 수강생들이 각자 어떤 업무에 쓰고 싶은지 이야기하게 하면 좋습니다.
받은 파일을 못 찾는 분이 나옵니다. 브라우저 오른쪽 위 화살표 아이콘을 누르면 최근 받은 파일이 보인다고 알려주세요. 또는 파일 탐색기의 "다운로드" 폴더입니다.
인터넷이 느린 분이 있으면 전체를 기다리지 말고, 먼저 끝난 분들에게 다음 단계를 미리 보여주면서 진행하세요.</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오늘 가장 중요한 슬라이드입니다. 천천히 두 번 말하세요.
화면이 갑자기 어두워지면 놀라서 "아니요"를 누르는 분이 실제로 많습니다. 무슨 바이러스인 줄 압니다.
"화면이 어두워지는 건 정상입니다. 윈도우가 확인차 물어보는 겁니다. 예를 누르세요."
이 창을 미리 화면에 띄워놓고 설명하면 가장 좋습니다. 스크린샷을 꼭 준비하세요.
"아니요"를 눌러버린 분이 나오면: 설치 파일을 다시 실행하면 됩니다. 당황하지 마시라고 안심시키세요.
★ 중요: 여기서 "예"를 누르면 파일 작업(Cowork)에 필요한 윈도우 기능까지 설치기가 알아서 준비합니다. 그래서 이 한 번의 클릭이 뒤의 파일 작업 전체를 좌우합니다.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차이를 아는 사람이 거의 없습니다. 여기서 놀라는 분이 많습니다.
"껐다 켜는 거랑 다시 시작이 다릅니다"라고 하면 "어? 같은 거 아니에요?"라는 반응이 나옵니다. 그 반응이 나와야 기억에 남습니다.
이유를 간단히: "윈도우가 빨리 켜지라고 이전 상태를 저장해 둡니다. 그래서 껐다 켜면 이전 상태 그대로 돌아옵니다. 다시 시작은 완전히 새로 시작합니다."
공식 문서 원문 근거: "Restart the machine using Restart, not shut down and power on. With Windows Fast Startup enabled, a shutdown cycle can leave the virtualization services uninitialized."
여기까지가 설치의 끝입니다. 다시 시작한 뒤 Claude를 열어 로그인하면 완료입니다.
교육 시간에 실제로 재시작하면 시간이 많이 갑니다. 쉬는 시간에 맞춰 넣으시는 걸 권합니다.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이 슬라이드는 설치 절차가 아닙니다. 넘어가면서 "이런 게 있다"만 알려주고, 실제로 시키지 마세요.
공식 문서 확인 결과: 개인이 설치 프로그램으로 깔면서 UAC에 "예"를 누르면 이 기능이 자동으로 준비됩니다. 원문 — "For individual installations with full feature support including Claude Cowork, administrator privileges are required."
즉 4단계에서 "예"만 잘 눌렀으면 여기 올 일이 없습니다. 검은 창을 여는 건 예외 상황입니다.
실제로 막힌 수강생이 나오면 그때 이 화면으로 돌아오세요. 전체를 세우지 말고, 이름을 적어뒀다가 쉬는 시간에 따로 봐주세요. 파일 작업을 시작하기 전까지만 해결하면 됩니다.
"Missing HCS services" 오류 메시지는 그대로 읽어주지 마세요. "파일 기능이 안 켜지면" 정도로 충분합니다.
오래된 PC는 BIOS에서 가상화가 꺼져 있을 수 있습니다. 그 경우는 이 명령으로도 안 되니, 따로 시간을 잡으세요.</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섹션 표지입니다</a:t>
            </a:r>
            <a:r>
              <a:rPr lang="en-US" altLang="ko-KR"/>
              <a:t>. 10~15</a:t>
            </a:r>
            <a:r>
              <a:rPr lang="ko-KR" altLang="en-US"/>
              <a:t>초</a:t>
            </a:r>
            <a:r>
              <a:rPr lang="en-US" altLang="ko-KR"/>
              <a:t>.
</a:t>
            </a:r>
            <a:r>
              <a:rPr lang="ko-KR" altLang="en-US"/>
              <a:t>말할 것 </a:t>
            </a:r>
            <a:r>
              <a:rPr lang="en-US" altLang="ko-KR"/>
              <a:t>— "</a:t>
            </a:r>
            <a:r>
              <a:rPr lang="ko-KR" altLang="en-US"/>
              <a:t>앱은 깔았습니다</a:t>
            </a:r>
            <a:r>
              <a:rPr lang="en-US" altLang="ko-KR"/>
              <a:t>. </a:t>
            </a:r>
            <a:r>
              <a:rPr lang="ko-KR" altLang="en-US"/>
              <a:t>그런데 앱만 깔면 반쪽입니다</a:t>
            </a:r>
            <a:r>
              <a:rPr lang="en-US" altLang="ko-KR"/>
              <a:t>. Claude</a:t>
            </a:r>
            <a:r>
              <a:rPr lang="ko-KR" altLang="en-US"/>
              <a:t>가 바깥 프로그램을 부리려면 미리 깔아둬야 하는 게 있습니다</a:t>
            </a:r>
            <a:r>
              <a:rPr lang="en-US" altLang="ko-KR"/>
              <a:t>."
★ </a:t>
            </a:r>
            <a:r>
              <a:rPr lang="ko-KR" altLang="en-US"/>
              <a:t>이 섹션에서 수강생이 가장 많이 이탈합니다</a:t>
            </a:r>
            <a:r>
              <a:rPr lang="en-US" altLang="ko-KR"/>
              <a:t>. </a:t>
            </a:r>
            <a:r>
              <a:rPr lang="ko-KR" altLang="en-US"/>
              <a:t>이유는 두 가지입니다</a:t>
            </a:r>
            <a:r>
              <a:rPr lang="en-US" altLang="ko-KR"/>
              <a:t>.
1) </a:t>
            </a:r>
            <a:r>
              <a:rPr lang="ko-KR" altLang="en-US"/>
              <a:t>검은 창</a:t>
            </a:r>
            <a:r>
              <a:rPr lang="en-US" altLang="ko-KR"/>
              <a:t>(PowerShell)</a:t>
            </a:r>
            <a:r>
              <a:rPr lang="ko-KR" altLang="en-US"/>
              <a:t>이 나옵니다</a:t>
            </a:r>
            <a:r>
              <a:rPr lang="en-US" altLang="ko-KR"/>
              <a:t>. </a:t>
            </a:r>
            <a:r>
              <a:rPr lang="ko-KR" altLang="en-US"/>
              <a:t>여기서 겁먹습니다</a:t>
            </a:r>
            <a:r>
              <a:rPr lang="en-US" altLang="ko-KR"/>
              <a:t>.
2) "</a:t>
            </a:r>
            <a:r>
              <a:rPr lang="ko-KR" altLang="en-US"/>
              <a:t>나는 개발자가 아닌데 왜 이런 걸</a:t>
            </a:r>
            <a:r>
              <a:rPr lang="en-US" altLang="ko-KR"/>
              <a:t>"</a:t>
            </a:r>
            <a:r>
              <a:rPr lang="ko-KR" altLang="en-US"/>
              <a:t>이라는 생각이 듭니다</a:t>
            </a:r>
            <a:r>
              <a:rPr lang="en-US" altLang="ko-KR"/>
              <a:t>.
</a:t>
            </a:r>
            <a:r>
              <a:rPr lang="ko-KR" altLang="en-US"/>
              <a:t>그래서 시작할 때 이렇게 못 박으세요 </a:t>
            </a:r>
            <a:r>
              <a:rPr lang="en-US" altLang="ko-KR"/>
              <a:t>— "</a:t>
            </a:r>
            <a:r>
              <a:rPr lang="ko-KR" altLang="en-US"/>
              <a:t>오늘 검은 창은 딱 한 줄만 씁니다</a:t>
            </a:r>
            <a:r>
              <a:rPr lang="en-US" altLang="ko-KR"/>
              <a:t>. </a:t>
            </a:r>
            <a:r>
              <a:rPr lang="ko-KR" altLang="en-US"/>
              <a:t>그 한 줄도 복사해서 붙여넣기만 하면 됩니다</a:t>
            </a:r>
            <a:r>
              <a:rPr lang="en-US" altLang="ko-KR"/>
              <a:t>. </a:t>
            </a:r>
            <a:r>
              <a:rPr lang="ko-KR" altLang="en-US"/>
              <a:t>외울 것도</a:t>
            </a:r>
            <a:r>
              <a:rPr lang="en-US" altLang="ko-KR"/>
              <a:t>, </a:t>
            </a:r>
            <a:r>
              <a:rPr lang="ko-KR" altLang="en-US"/>
              <a:t>이해할 것도 없습니다</a:t>
            </a:r>
            <a:r>
              <a:rPr lang="en-US" altLang="ko-KR"/>
              <a:t>."
</a:t>
            </a:r>
            <a:r>
              <a:rPr lang="ko-KR" altLang="en-US"/>
              <a:t>예상 질문 </a:t>
            </a:r>
            <a:r>
              <a:rPr lang="en-US" altLang="ko-KR"/>
              <a:t>— "</a:t>
            </a:r>
            <a:r>
              <a:rPr lang="ko-KR" altLang="en-US"/>
              <a:t>나중에 깔아도 되나요</a:t>
            </a:r>
            <a:r>
              <a:rPr lang="en-US" altLang="ko-KR"/>
              <a:t>?" → "</a:t>
            </a:r>
            <a:r>
              <a:rPr lang="ko-KR" altLang="en-US"/>
              <a:t>됩니다</a:t>
            </a:r>
            <a:r>
              <a:rPr lang="en-US" altLang="ko-KR"/>
              <a:t>. </a:t>
            </a:r>
            <a:r>
              <a:rPr lang="ko-KR" altLang="en-US"/>
              <a:t>다만 </a:t>
            </a:r>
            <a:r>
              <a:rPr lang="en-US" altLang="ko-KR"/>
              <a:t>MCP</a:t>
            </a:r>
            <a:r>
              <a:rPr lang="ko-KR" altLang="en-US"/>
              <a:t>를 붙이려는 날 반드시 다시 이 자리로 돌아옵니다</a:t>
            </a:r>
            <a:r>
              <a:rPr lang="en-US" altLang="ko-KR"/>
              <a:t>. </a:t>
            </a:r>
            <a:r>
              <a:rPr lang="ko-KR" altLang="en-US"/>
              <a:t>오늘 해두는 게 낫습니다</a:t>
            </a:r>
            <a:r>
              <a:rPr lang="en-US" altLang="ko-KR"/>
              <a:t>."</a:t>
            </a:r>
            <a:endParaRPr lang="ko-KR" altLang="en-US"/>
          </a:p>
        </p:txBody>
      </p:sp>
    </p:spTree>
    <p:extLst>
      <p:ext uri="{BB962C8B-B14F-4D97-AF65-F5344CB8AC3E}">
        <p14:creationId xmlns:p14="http://schemas.microsoft.com/office/powerpoint/2010/main" val="1520138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이 슬라이드의 메시지: "미룰수록 손해입니다."
강사 본인의 경험을 꼭 이야기해 주세요. "저는 이걸 몰라서 프로그램이 안 깔려 동작을 안 하고, 회원가입을 안 해서 데이터를 못 읽고, 한참을 헤맸습니다."
이 한마디가 슬라이드 열 장보다 설득력 있습니다.
2번(미리 해두세요)이 오늘의 핵심입니다. 설치 자체는 각 5분이면 끝나고 전부 무료입니다. 그런데 MCP 붙이는 날 몰아서 하면 20명이 동시에 막힙니다.
3번은 왜 미루는지 이유를 설명해 주세요. "어떤 데이터를 쓸지 정해야 어떤 키를 신청할지 정해집니다. 미리 아무거나 신청하면 나중에 뭐가 뭔지 몰라 더 헤맵니다."
예상 질문: "2번 안 하면 못 따라가나요?" → "MCP 붙이는 날 같이 하면 됩니다. 다만 그날 시간이 빠듯해집니다."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흔한 오해를 먼저 깨주세요. "Claude 쓰려고 오피스를 새로 사야 하나요?" → 아닙니다. 이미 있으면 그걸 쓰면 됩니다.
대부분의 직장인은 회사 PC에 오피스가 있습니다. 손을 들게 해서 확인하고, 없는 분에게만 나머지를 설명하세요.
리브레오피스는 무료지만 화면이 낯설고 서식이 조금씩 깨집니다. "비용을 안 쓰고 싶다면" 정도로 소개하되 강하게 권하지는 마세요.
구글 문서는 설치가 필요 없어서 가장 부담이 적습니다. 구글 계정만 있으면 됩니다.
한글(HWP)은 경매·공매 서류가 한글 파일로 오는 경우에만 필요합니다. 주식만 하실 분은 완전히 무시하셔도 됩니다.
주의: 여기서 오피스 사용법을 설명하지 마세요. 파일을 여는 프로그램이 있느냐만 확인하면 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이 슬라이드가 대표님이 겪은 고생을 수강생에게 물려주지 않는 장치입니다.
Node.js를 "꼭"으로 표시한 이유: 나중에 붙일 연결 도구 대부분이 Node.js로 돌아갑니다. 이게 없으면 설정을 아무리 맞춰도 안 붙습니다. 그런데 오류 메시지가 불친절해서 원인을 찾기 어렵습니다.
주의해서 말할 것: Claude 앱 안에도 Node.js가 들어 있습니다. 하지만 그건 확장 프로그램 전용이고, 설정 파일 방식에는 시스템에 깔린 Node.js가 필요합니다. 수강생에게는 여기까지 설명하지 말고 "그냥 깔아두세요"로 넘기세요.
LTS 버튼을 강조하세요. Current(최신) 버튼을 누르면 불안정한 버전을 받게 됩니다. 초록색 LTS만 보라고 두 번 말해주세요.
설치 중 체크박스가 여럿 나오는데 전부 기본값 그대로 두면 됩니다. 여기서 뭘 건드리다 꼬입니다.
VS Code는 설정 파일(JSON) 편집용입니다. 메모장으로도 되지만 쉼표 하나 빠뜨린 걸 못 찾습니다. VS Code는 빨간 줄로 알려줍니다.
Git·Chrome은 선택입니다. 시간 없으면 건너뛰세요.</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왜 이걸 깔아야 하는지</a:t>
            </a:r>
            <a:r>
              <a:rPr lang="en-US" altLang="ko-KR"/>
              <a:t>"</a:t>
            </a:r>
            <a:r>
              <a:rPr lang="ko-KR" altLang="en-US"/>
              <a:t>를 납득시키는 것입니다</a:t>
            </a:r>
            <a:r>
              <a:rPr lang="en-US" altLang="ko-KR"/>
              <a:t>. </a:t>
            </a:r>
            <a:r>
              <a:rPr lang="ko-KR" altLang="en-US"/>
              <a:t>납득이 안 되면 다음 장에서 손이 안 움직입니다</a:t>
            </a:r>
            <a:r>
              <a:rPr lang="en-US" altLang="ko-KR"/>
              <a:t>.
</a:t>
            </a:r>
            <a:r>
              <a:rPr lang="ko-KR" altLang="en-US"/>
              <a:t>비유 먼저 </a:t>
            </a:r>
            <a:r>
              <a:rPr lang="en-US" altLang="ko-KR"/>
              <a:t>— "MCP</a:t>
            </a:r>
            <a:r>
              <a:rPr lang="ko-KR" altLang="en-US"/>
              <a:t>는 남이 만들어 준 도구입니다</a:t>
            </a:r>
            <a:r>
              <a:rPr lang="en-US" altLang="ko-KR"/>
              <a:t>. </a:t>
            </a:r>
            <a:r>
              <a:rPr lang="ko-KR" altLang="en-US"/>
              <a:t>그 도구를 만든 재료가 두 가지예요</a:t>
            </a:r>
            <a:r>
              <a:rPr lang="en-US" altLang="ko-KR"/>
              <a:t>. </a:t>
            </a:r>
            <a:r>
              <a:rPr lang="ko-KR" altLang="en-US"/>
              <a:t>자바스크립트로 만든 것</a:t>
            </a:r>
            <a:r>
              <a:rPr lang="en-US" altLang="ko-KR"/>
              <a:t>, </a:t>
            </a:r>
            <a:r>
              <a:rPr lang="ko-KR" altLang="en-US"/>
              <a:t>파이썬으로 만든 것</a:t>
            </a:r>
            <a:r>
              <a:rPr lang="en-US" altLang="ko-KR"/>
              <a:t>. Node.js</a:t>
            </a:r>
            <a:r>
              <a:rPr lang="ko-KR" altLang="en-US"/>
              <a:t>는 앞의 것을</a:t>
            </a:r>
            <a:r>
              <a:rPr lang="en-US" altLang="ko-KR"/>
              <a:t>, uv</a:t>
            </a:r>
            <a:r>
              <a:rPr lang="ko-KR" altLang="en-US"/>
              <a:t>는 뒤의 것을 실행해 주는 엔진입니다</a:t>
            </a:r>
            <a:r>
              <a:rPr lang="en-US" altLang="ko-KR"/>
              <a:t>. </a:t>
            </a:r>
            <a:r>
              <a:rPr lang="ko-KR" altLang="en-US"/>
              <a:t>엔진이 없으면 도구가 아예 시동이 안 걸립니다</a:t>
            </a:r>
            <a:r>
              <a:rPr lang="en-US" altLang="ko-KR"/>
              <a:t>."
★ </a:t>
            </a:r>
            <a:r>
              <a:rPr lang="ko-KR" altLang="en-US"/>
              <a:t>왼쪽 </a:t>
            </a:r>
            <a:r>
              <a:rPr lang="en-US" altLang="ko-KR"/>
              <a:t>npx / </a:t>
            </a:r>
            <a:r>
              <a:rPr lang="ko-KR" altLang="en-US"/>
              <a:t>오른쪽 </a:t>
            </a:r>
            <a:r>
              <a:rPr lang="en-US" altLang="ko-KR"/>
              <a:t>uvx·uv</a:t>
            </a:r>
            <a:r>
              <a:rPr lang="ko-KR" altLang="en-US"/>
              <a:t>를 손가락으로 짚어주세요</a:t>
            </a:r>
            <a:r>
              <a:rPr lang="en-US" altLang="ko-KR"/>
              <a:t>. </a:t>
            </a:r>
            <a:r>
              <a:rPr lang="ko-KR" altLang="en-US"/>
              <a:t>나중에 설정 파일을 열었을 때 이 단어가 눈에 들어와야 합니다</a:t>
            </a:r>
            <a:r>
              <a:rPr lang="en-US" altLang="ko-KR"/>
              <a:t>. "</a:t>
            </a:r>
            <a:r>
              <a:rPr lang="ko-KR" altLang="en-US"/>
              <a:t>설정 파일에서 </a:t>
            </a:r>
            <a:r>
              <a:rPr lang="en-US" altLang="ko-KR"/>
              <a:t>npx</a:t>
            </a:r>
            <a:r>
              <a:rPr lang="ko-KR" altLang="en-US"/>
              <a:t>라고 적힌 줄이 보이면 </a:t>
            </a:r>
            <a:r>
              <a:rPr lang="en-US" altLang="ko-KR"/>
              <a:t>Node.js</a:t>
            </a:r>
            <a:r>
              <a:rPr lang="ko-KR" altLang="en-US"/>
              <a:t>가 필요하다는 뜻입니다</a:t>
            </a:r>
            <a:r>
              <a:rPr lang="en-US" altLang="ko-KR"/>
              <a:t>."
</a:t>
            </a:r>
            <a:r>
              <a:rPr lang="ko-KR" altLang="en-US"/>
              <a:t>말할 것 </a:t>
            </a:r>
            <a:r>
              <a:rPr lang="en-US" altLang="ko-KR"/>
              <a:t>— "</a:t>
            </a:r>
            <a:r>
              <a:rPr lang="ko-KR" altLang="en-US"/>
              <a:t>설정 파일을 아무리 정확하게 붙여넣어도</a:t>
            </a:r>
            <a:r>
              <a:rPr lang="en-US" altLang="ko-KR"/>
              <a:t>, </a:t>
            </a:r>
            <a:r>
              <a:rPr lang="ko-KR" altLang="en-US"/>
              <a:t>이 둘이 없으면 하나도 안 뜹니다</a:t>
            </a:r>
            <a:r>
              <a:rPr lang="en-US" altLang="ko-KR"/>
              <a:t>. </a:t>
            </a:r>
            <a:r>
              <a:rPr lang="ko-KR" altLang="en-US"/>
              <a:t>순서가 반대면 헛수고예요</a:t>
            </a:r>
            <a:r>
              <a:rPr lang="en-US" altLang="ko-KR"/>
              <a:t>. </a:t>
            </a:r>
            <a:r>
              <a:rPr lang="ko-KR" altLang="en-US"/>
              <a:t>깔고 → 붙여넣기입니다</a:t>
            </a:r>
            <a:r>
              <a:rPr lang="en-US" altLang="ko-KR"/>
              <a:t>."
</a:t>
            </a:r>
            <a:r>
              <a:rPr lang="ko-KR" altLang="en-US"/>
              <a:t>예상 질문
</a:t>
            </a:r>
            <a:r>
              <a:rPr lang="en-US" altLang="ko-KR"/>
              <a:t>- "</a:t>
            </a:r>
            <a:r>
              <a:rPr lang="ko-KR" altLang="en-US"/>
              <a:t>둘 중 하나만 깔면 안 되나요</a:t>
            </a:r>
            <a:r>
              <a:rPr lang="en-US" altLang="ko-KR"/>
              <a:t>?" → "</a:t>
            </a:r>
            <a:r>
              <a:rPr lang="ko-KR" altLang="en-US"/>
              <a:t>쓰려는 </a:t>
            </a:r>
            <a:r>
              <a:rPr lang="en-US" altLang="ko-KR"/>
              <a:t>MCP</a:t>
            </a:r>
            <a:r>
              <a:rPr lang="ko-KR" altLang="en-US"/>
              <a:t>가 어느 쪽인지에 따라 다릅니다</a:t>
            </a:r>
            <a:r>
              <a:rPr lang="en-US" altLang="ko-KR"/>
              <a:t>. </a:t>
            </a:r>
            <a:r>
              <a:rPr lang="ko-KR" altLang="en-US"/>
              <a:t>이 교육의 실습 설정 파일은 양쪽이 섞여 있어서 둘 다 필요합니다</a:t>
            </a:r>
            <a:r>
              <a:rPr lang="en-US" altLang="ko-KR"/>
              <a:t>."
- "</a:t>
            </a:r>
            <a:r>
              <a:rPr lang="ko-KR" altLang="en-US"/>
              <a:t>컴퓨터가 느려지지 않나요</a:t>
            </a:r>
            <a:r>
              <a:rPr lang="en-US" altLang="ko-KR"/>
              <a:t>?" → "</a:t>
            </a:r>
            <a:r>
              <a:rPr lang="ko-KR" altLang="en-US"/>
              <a:t>평소에는 아무 일도 하지 않습니다</a:t>
            </a:r>
            <a:r>
              <a:rPr lang="en-US" altLang="ko-KR"/>
              <a:t>. Claude</a:t>
            </a:r>
            <a:r>
              <a:rPr lang="ko-KR" altLang="en-US"/>
              <a:t>가 부를 때만 잠깐 돕니다</a:t>
            </a:r>
            <a:r>
              <a:rPr lang="en-US" altLang="ko-KR"/>
              <a:t>."
- "</a:t>
            </a:r>
            <a:r>
              <a:rPr lang="ko-KR" altLang="en-US"/>
              <a:t>이미 깔려 있는지 어떻게 아나요</a:t>
            </a:r>
            <a:r>
              <a:rPr lang="en-US" altLang="ko-KR"/>
              <a:t>?" → </a:t>
            </a:r>
            <a:r>
              <a:rPr lang="ko-KR" altLang="en-US"/>
              <a:t>다음 장 확인 명령</a:t>
            </a:r>
            <a:r>
              <a:rPr lang="en-US" altLang="ko-KR"/>
              <a:t>(node -v / uv --version)</a:t>
            </a:r>
            <a:r>
              <a:rPr lang="ko-KR" altLang="en-US"/>
              <a:t>으로 넘어가면 됩니다</a:t>
            </a:r>
            <a:r>
              <a:rPr lang="en-US" altLang="ko-KR"/>
              <a:t>.
</a:t>
            </a:r>
            <a:r>
              <a:rPr lang="ko-KR" altLang="en-US"/>
              <a:t>참고 </a:t>
            </a:r>
            <a:r>
              <a:rPr lang="en-US" altLang="ko-KR"/>
              <a:t>— </a:t>
            </a:r>
            <a:r>
              <a:rPr lang="ko-KR" altLang="en-US"/>
              <a:t>확장 프로그램</a:t>
            </a:r>
            <a:r>
              <a:rPr lang="en-US" altLang="ko-KR"/>
              <a:t>(</a:t>
            </a:r>
            <a:r>
              <a:rPr lang="ko-KR" altLang="en-US"/>
              <a:t>원클릭 설치</a:t>
            </a:r>
            <a:r>
              <a:rPr lang="en-US" altLang="ko-KR"/>
              <a:t>) </a:t>
            </a:r>
            <a:r>
              <a:rPr lang="ko-KR" altLang="en-US"/>
              <a:t>방식만 쓸 경우에는 사정이 다를 수 있습니다</a:t>
            </a:r>
            <a:r>
              <a:rPr lang="en-US" altLang="ko-KR"/>
              <a:t>. </a:t>
            </a:r>
            <a:r>
              <a:rPr lang="ko-KR" altLang="en-US"/>
              <a:t>다만 이 교육은 설정 파일 직접 편집 방식으로 진행하므로</a:t>
            </a:r>
            <a:r>
              <a:rPr lang="en-US" altLang="ko-KR"/>
              <a:t>, </a:t>
            </a:r>
            <a:r>
              <a:rPr lang="ko-KR" altLang="en-US"/>
              <a:t>우리 실습 기준에서는 둘 다 필수입니다</a:t>
            </a:r>
            <a:r>
              <a:rPr lang="en-US" altLang="ko-KR"/>
              <a:t>. </a:t>
            </a:r>
            <a:r>
              <a:rPr lang="ko-KR" altLang="en-US"/>
              <a:t>질문이 나오면 이 선까지만 답하세요</a:t>
            </a:r>
            <a:r>
              <a:rPr lang="en-US" altLang="ko-KR"/>
              <a:t>.</a:t>
            </a:r>
            <a:endParaRPr lang="ko-KR" altLang="en-US"/>
          </a:p>
        </p:txBody>
      </p:sp>
    </p:spTree>
    <p:extLst>
      <p:ext uri="{BB962C8B-B14F-4D97-AF65-F5344CB8AC3E}">
        <p14:creationId xmlns:p14="http://schemas.microsoft.com/office/powerpoint/2010/main" val="5202717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오늘 검은 창이 처음 나오는 장면입니다</a:t>
            </a:r>
            <a:r>
              <a:rPr lang="en-US" altLang="ko-KR"/>
              <a:t>. </a:t>
            </a:r>
            <a:r>
              <a:rPr lang="ko-KR" altLang="en-US"/>
              <a:t>여기서 분위기가 갈립니다</a:t>
            </a:r>
            <a:r>
              <a:rPr lang="en-US" altLang="ko-KR"/>
              <a:t>.
</a:t>
            </a:r>
            <a:r>
              <a:rPr lang="ko-KR" altLang="en-US"/>
              <a:t>먼저 안심시키세요 </a:t>
            </a:r>
            <a:r>
              <a:rPr lang="en-US" altLang="ko-KR"/>
              <a:t>— "</a:t>
            </a:r>
            <a:r>
              <a:rPr lang="ko-KR" altLang="en-US"/>
              <a:t>지금부터 검은 창이 뜹니다</a:t>
            </a:r>
            <a:r>
              <a:rPr lang="en-US" altLang="ko-KR"/>
              <a:t>. </a:t>
            </a:r>
            <a:r>
              <a:rPr lang="ko-KR" altLang="en-US"/>
              <a:t>해커 영화에 나오는 그 창 맞습니다</a:t>
            </a:r>
            <a:r>
              <a:rPr lang="en-US" altLang="ko-KR"/>
              <a:t>. </a:t>
            </a:r>
            <a:r>
              <a:rPr lang="ko-KR" altLang="en-US"/>
              <a:t>그런데 오늘 여기서 할 일은 딱 하나</a:t>
            </a:r>
            <a:r>
              <a:rPr lang="en-US" altLang="ko-KR"/>
              <a:t>, </a:t>
            </a:r>
            <a:r>
              <a:rPr lang="ko-KR" altLang="en-US"/>
              <a:t>붙여넣고 엔터입니다</a:t>
            </a:r>
            <a:r>
              <a:rPr lang="en-US" altLang="ko-KR"/>
              <a:t>."
</a:t>
            </a:r>
            <a:r>
              <a:rPr lang="ko-KR" altLang="en-US"/>
              <a:t>진행 순서 </a:t>
            </a:r>
            <a:r>
              <a:rPr lang="en-US" altLang="ko-KR"/>
              <a:t>(</a:t>
            </a:r>
            <a:r>
              <a:rPr lang="ko-KR" altLang="en-US"/>
              <a:t>수강생 화면을 확인하며 한 단계씩</a:t>
            </a:r>
            <a:r>
              <a:rPr lang="en-US" altLang="ko-KR"/>
              <a:t>)
1) </a:t>
            </a:r>
            <a:r>
              <a:rPr lang="ko-KR" altLang="en-US"/>
              <a:t>시작 메뉴에 </a:t>
            </a:r>
            <a:r>
              <a:rPr lang="en-US" altLang="ko-KR"/>
              <a:t>powershell </a:t>
            </a:r>
            <a:r>
              <a:rPr lang="ko-KR" altLang="en-US"/>
              <a:t>입력 → 실행</a:t>
            </a:r>
            <a:r>
              <a:rPr lang="en-US" altLang="ko-KR"/>
              <a:t>. "PS C:\\Users\\</a:t>
            </a:r>
            <a:r>
              <a:rPr lang="ko-KR" altLang="en-US"/>
              <a:t>내이름</a:t>
            </a:r>
            <a:r>
              <a:rPr lang="en-US" altLang="ko-KR"/>
              <a:t>&gt;" </a:t>
            </a:r>
            <a:r>
              <a:rPr lang="ko-KR" altLang="en-US"/>
              <a:t>이 보이면 제대로 연 것입니다</a:t>
            </a:r>
            <a:r>
              <a:rPr lang="en-US" altLang="ko-KR"/>
              <a:t>. </a:t>
            </a:r>
            <a:r>
              <a:rPr lang="ko-KR" altLang="en-US"/>
              <a:t>이 확인을 건너뛰지 마세요</a:t>
            </a:r>
            <a:r>
              <a:rPr lang="en-US" altLang="ko-KR"/>
              <a:t>. </a:t>
            </a:r>
            <a:r>
              <a:rPr lang="ko-KR" altLang="en-US"/>
              <a:t>엉뚱한 창을 연 사람이 꼭 나옵니다</a:t>
            </a:r>
            <a:r>
              <a:rPr lang="en-US" altLang="ko-KR"/>
              <a:t>.
2) GitHub </a:t>
            </a:r>
            <a:r>
              <a:rPr lang="ko-KR" altLang="en-US"/>
              <a:t>자료의 복사 버튼으로 명령 한 줄 복사 → 창에 붙여넣기 → 엔터</a:t>
            </a:r>
            <a:r>
              <a:rPr lang="en-US" altLang="ko-KR"/>
              <a:t>.
3) </a:t>
            </a:r>
            <a:r>
              <a:rPr lang="ko-KR" altLang="en-US"/>
              <a:t>설치가 끝나면 창을 닫고 새 창을 엽니다</a:t>
            </a:r>
            <a:r>
              <a:rPr lang="en-US" altLang="ko-KR"/>
              <a:t>. ★ </a:t>
            </a:r>
            <a:r>
              <a:rPr lang="ko-KR" altLang="en-US"/>
              <a:t>이 단계를 빠뜨리면 다음 장의 첫 번째 오류가 그대로 재현됩니다</a:t>
            </a:r>
            <a:r>
              <a:rPr lang="en-US" altLang="ko-KR"/>
              <a:t>.
4) </a:t>
            </a:r>
            <a:r>
              <a:rPr lang="ko-KR" altLang="en-US"/>
              <a:t>새 창에서 </a:t>
            </a:r>
            <a:r>
              <a:rPr lang="en-US" altLang="ko-KR"/>
              <a:t>node -v / uv --version. </a:t>
            </a:r>
            <a:r>
              <a:rPr lang="ko-KR" altLang="en-US"/>
              <a:t>버전 번호가 나오면 성공</a:t>
            </a:r>
            <a:r>
              <a:rPr lang="en-US" altLang="ko-KR"/>
              <a:t>.
★ </a:t>
            </a:r>
            <a:r>
              <a:rPr lang="ko-KR" altLang="en-US"/>
              <a:t>절대 하지 말라고 할 것 </a:t>
            </a:r>
            <a:r>
              <a:rPr lang="en-US" altLang="ko-KR"/>
              <a:t>— </a:t>
            </a:r>
            <a:r>
              <a:rPr lang="ko-KR" altLang="en-US"/>
              <a:t>손으로 받아 적기</a:t>
            </a:r>
            <a:r>
              <a:rPr lang="en-US" altLang="ko-KR"/>
              <a:t>. </a:t>
            </a:r>
            <a:r>
              <a:rPr lang="ko-KR" altLang="en-US"/>
              <a:t>따옴표 하나</a:t>
            </a:r>
            <a:r>
              <a:rPr lang="en-US" altLang="ko-KR"/>
              <a:t>, </a:t>
            </a:r>
            <a:r>
              <a:rPr lang="ko-KR" altLang="en-US"/>
              <a:t>대소문자 하나에서 막힙니다</a:t>
            </a:r>
            <a:r>
              <a:rPr lang="en-US" altLang="ko-KR"/>
              <a:t>. </a:t>
            </a:r>
            <a:r>
              <a:rPr lang="ko-KR" altLang="en-US"/>
              <a:t>반드시 복사 버튼을 쓰게 하세요</a:t>
            </a:r>
            <a:r>
              <a:rPr lang="en-US" altLang="ko-KR"/>
              <a:t>.
★ </a:t>
            </a:r>
            <a:r>
              <a:rPr lang="ko-KR" altLang="en-US"/>
              <a:t>붙여넣기가 안 되는 사람이 나옵니다</a:t>
            </a:r>
            <a:r>
              <a:rPr lang="en-US" altLang="ko-KR"/>
              <a:t>. PowerShell</a:t>
            </a:r>
            <a:r>
              <a:rPr lang="ko-KR" altLang="en-US"/>
              <a:t>에서는 마우스 오른쪽 클릭으로도 붙습니다</a:t>
            </a:r>
            <a:r>
              <a:rPr lang="en-US" altLang="ko-KR"/>
              <a:t>. </a:t>
            </a:r>
            <a:r>
              <a:rPr lang="ko-KR" altLang="en-US"/>
              <a:t>이것도 미리 알려주세요</a:t>
            </a:r>
            <a:r>
              <a:rPr lang="en-US" altLang="ko-KR"/>
              <a:t>.
</a:t>
            </a:r>
            <a:r>
              <a:rPr lang="ko-KR" altLang="en-US"/>
              <a:t>예상 질문
</a:t>
            </a:r>
            <a:r>
              <a:rPr lang="en-US" altLang="ko-KR"/>
              <a:t>- "Node.js</a:t>
            </a:r>
            <a:r>
              <a:rPr lang="ko-KR" altLang="en-US"/>
              <a:t>는 어디서 깔아요</a:t>
            </a:r>
            <a:r>
              <a:rPr lang="en-US" altLang="ko-KR"/>
              <a:t>?" → uv</a:t>
            </a:r>
            <a:r>
              <a:rPr lang="ko-KR" altLang="en-US"/>
              <a:t>와 달리 </a:t>
            </a:r>
            <a:r>
              <a:rPr lang="en-US" altLang="ko-KR"/>
              <a:t>Node.js</a:t>
            </a:r>
            <a:r>
              <a:rPr lang="ko-KR" altLang="en-US"/>
              <a:t>는 설치 파일을 받아서 깝니다</a:t>
            </a:r>
            <a:r>
              <a:rPr lang="en-US" altLang="ko-KR"/>
              <a:t>. GitHub </a:t>
            </a:r>
            <a:r>
              <a:rPr lang="ko-KR" altLang="en-US"/>
              <a:t>자료의 사전준비 문서에 순서가 있습니다</a:t>
            </a:r>
            <a:r>
              <a:rPr lang="en-US" altLang="ko-KR"/>
              <a:t>.
- "</a:t>
            </a:r>
            <a:r>
              <a:rPr lang="ko-KR" altLang="en-US"/>
              <a:t>이거 지워도 되나요</a:t>
            </a:r>
            <a:r>
              <a:rPr lang="en-US" altLang="ko-KR"/>
              <a:t>?" → "MCP</a:t>
            </a:r>
            <a:r>
              <a:rPr lang="ko-KR" altLang="en-US"/>
              <a:t>를 안 쓰실 거면 지워도 됩니다</a:t>
            </a:r>
            <a:r>
              <a:rPr lang="en-US" altLang="ko-KR"/>
              <a:t>. </a:t>
            </a:r>
            <a:r>
              <a:rPr lang="ko-KR" altLang="en-US"/>
              <a:t>다른 프로그램에 해를 주지는 않습니다</a:t>
            </a:r>
            <a:r>
              <a:rPr lang="en-US" altLang="ko-KR"/>
              <a:t>."
</a:t>
            </a:r>
            <a:r>
              <a:rPr lang="ko-KR" altLang="en-US"/>
              <a:t>화면에 뜬 버전 번호는 시점에 따라 다릅니다</a:t>
            </a:r>
            <a:r>
              <a:rPr lang="en-US" altLang="ko-KR"/>
              <a:t>. </a:t>
            </a:r>
            <a:r>
              <a:rPr lang="ko-KR" altLang="en-US"/>
              <a:t>슬라이드의 번호와 달라도 정상이라고 미리 말해주세요</a:t>
            </a:r>
            <a:r>
              <a:rPr lang="en-US" altLang="ko-KR"/>
              <a:t>.</a:t>
            </a:r>
            <a:endParaRPr lang="ko-KR" altLang="en-US"/>
          </a:p>
        </p:txBody>
      </p:sp>
    </p:spTree>
    <p:extLst>
      <p:ext uri="{BB962C8B-B14F-4D97-AF65-F5344CB8AC3E}">
        <p14:creationId xmlns:p14="http://schemas.microsoft.com/office/powerpoint/2010/main" val="17823337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장은 </a:t>
            </a:r>
            <a:r>
              <a:rPr lang="en-US" altLang="ko-KR"/>
              <a:t>'</a:t>
            </a:r>
            <a:r>
              <a:rPr lang="ko-KR" altLang="en-US"/>
              <a:t>미리 예고</a:t>
            </a:r>
            <a:r>
              <a:rPr lang="en-US" altLang="ko-KR"/>
              <a:t>'</a:t>
            </a:r>
            <a:r>
              <a:rPr lang="ko-KR" altLang="en-US"/>
              <a:t>가 목적입니다</a:t>
            </a:r>
            <a:r>
              <a:rPr lang="en-US" altLang="ko-KR"/>
              <a:t>. </a:t>
            </a:r>
            <a:r>
              <a:rPr lang="ko-KR" altLang="en-US"/>
              <a:t>오류가 난 뒤에 보여주면 늦습니다</a:t>
            </a:r>
            <a:r>
              <a:rPr lang="en-US" altLang="ko-KR"/>
              <a:t>. </a:t>
            </a:r>
            <a:r>
              <a:rPr lang="ko-KR" altLang="en-US"/>
              <a:t>앞 장 실습 직후 바로 넘어오세요</a:t>
            </a:r>
            <a:r>
              <a:rPr lang="en-US" altLang="ko-KR"/>
              <a:t>.
</a:t>
            </a:r>
            <a:r>
              <a:rPr lang="ko-KR" altLang="en-US"/>
              <a:t>첫 마디 </a:t>
            </a:r>
            <a:r>
              <a:rPr lang="en-US" altLang="ko-KR"/>
              <a:t>— "</a:t>
            </a:r>
            <a:r>
              <a:rPr lang="ko-KR" altLang="en-US"/>
              <a:t>지금부터 세 가지 중 하나가 뜬 분이 계실 겁니다</a:t>
            </a:r>
            <a:r>
              <a:rPr lang="en-US" altLang="ko-KR"/>
              <a:t>. </a:t>
            </a:r>
            <a:r>
              <a:rPr lang="ko-KR" altLang="en-US"/>
              <a:t>셋 다 고장이 아닙니다</a:t>
            </a:r>
            <a:r>
              <a:rPr lang="en-US" altLang="ko-KR"/>
              <a:t>. </a:t>
            </a:r>
            <a:r>
              <a:rPr lang="ko-KR" altLang="en-US"/>
              <a:t>이미 답이 정해져 있는 것들입니다</a:t>
            </a:r>
            <a:r>
              <a:rPr lang="en-US" altLang="ko-KR"/>
              <a:t>."
① uv </a:t>
            </a:r>
            <a:r>
              <a:rPr lang="ko-KR" altLang="en-US"/>
              <a:t>를 찾을 수 없습니다
가장 흔합니다</a:t>
            </a:r>
            <a:r>
              <a:rPr lang="en-US" altLang="ko-KR"/>
              <a:t>. </a:t>
            </a:r>
            <a:r>
              <a:rPr lang="ko-KR" altLang="en-US"/>
              <a:t>설치는 됐는데 열려 있던 창이 옛날 경로를 기억하고 있는 겁니다</a:t>
            </a:r>
            <a:r>
              <a:rPr lang="en-US" altLang="ko-KR"/>
              <a:t>.
</a:t>
            </a:r>
            <a:r>
              <a:rPr lang="ko-KR" altLang="en-US"/>
              <a:t>비유 </a:t>
            </a:r>
            <a:r>
              <a:rPr lang="en-US" altLang="ko-KR"/>
              <a:t>— "</a:t>
            </a:r>
            <a:r>
              <a:rPr lang="ko-KR" altLang="en-US"/>
              <a:t>이사 갔는데 옛 주소로 편지를 보내는 상황입니다</a:t>
            </a:r>
            <a:r>
              <a:rPr lang="en-US" altLang="ko-KR"/>
              <a:t>."
→ </a:t>
            </a:r>
            <a:r>
              <a:rPr lang="ko-KR" altLang="en-US"/>
              <a:t>창을 닫고 새로 엽니다</a:t>
            </a:r>
            <a:r>
              <a:rPr lang="en-US" altLang="ko-KR"/>
              <a:t>. </a:t>
            </a:r>
            <a:r>
              <a:rPr lang="ko-KR" altLang="en-US"/>
              <a:t>그래도 안 되면 컴퓨터를 다시 시작합니다</a:t>
            </a:r>
            <a:r>
              <a:rPr lang="en-US" altLang="ko-KR"/>
              <a:t>.
② </a:t>
            </a:r>
            <a:r>
              <a:rPr lang="ko-KR" altLang="en-US"/>
              <a:t>다른 프로세스에서 사용 중
놀라는 분이 많은데 오히려 좋은 신호입니다</a:t>
            </a:r>
            <a:r>
              <a:rPr lang="en-US" altLang="ko-KR"/>
              <a:t>. </a:t>
            </a:r>
            <a:r>
              <a:rPr lang="ko-KR" altLang="en-US"/>
              <a:t>이미 깔려 있다는 뜻입니다</a:t>
            </a:r>
            <a:r>
              <a:rPr lang="en-US" altLang="ko-KR"/>
              <a:t>.
→ </a:t>
            </a:r>
            <a:r>
              <a:rPr lang="ko-KR" altLang="en-US"/>
              <a:t>그대로 두시면 됩니다</a:t>
            </a:r>
            <a:r>
              <a:rPr lang="en-US" altLang="ko-KR"/>
              <a:t>.
③ &gt;&gt; </a:t>
            </a:r>
            <a:r>
              <a:rPr lang="ko-KR" altLang="en-US"/>
              <a:t>만 계속 나옵니다
명령어를 중간까지만 붙여넣은 겁니다</a:t>
            </a:r>
            <a:r>
              <a:rPr lang="en-US" altLang="ko-KR"/>
              <a:t>. PowerShell</a:t>
            </a:r>
            <a:r>
              <a:rPr lang="ko-KR" altLang="en-US"/>
              <a:t>이 </a:t>
            </a:r>
            <a:r>
              <a:rPr lang="en-US" altLang="ko-KR"/>
              <a:t>"</a:t>
            </a:r>
            <a:r>
              <a:rPr lang="ko-KR" altLang="en-US"/>
              <a:t>나머지 마저 쓰세요</a:t>
            </a:r>
            <a:r>
              <a:rPr lang="en-US" altLang="ko-KR"/>
              <a:t>" </a:t>
            </a:r>
            <a:r>
              <a:rPr lang="ko-KR" altLang="en-US"/>
              <a:t>하고 기다리는 상태입니다</a:t>
            </a:r>
            <a:r>
              <a:rPr lang="en-US" altLang="ko-KR"/>
              <a:t>.
→ Ctrl + C </a:t>
            </a:r>
            <a:r>
              <a:rPr lang="ko-KR" altLang="en-US"/>
              <a:t>로 빠져나온 뒤 처음부터 끝까지 다시 붙여넣습니다</a:t>
            </a:r>
            <a:r>
              <a:rPr lang="en-US" altLang="ko-KR"/>
              <a:t>.
★ Ctrl + C </a:t>
            </a:r>
            <a:r>
              <a:rPr lang="ko-KR" altLang="en-US"/>
              <a:t>를 화면에서 직접 눌러 보여주세요</a:t>
            </a:r>
            <a:r>
              <a:rPr lang="en-US" altLang="ko-KR"/>
              <a:t>. </a:t>
            </a:r>
            <a:r>
              <a:rPr lang="ko-KR" altLang="en-US"/>
              <a:t>말로만 하면 못 찾습니다</a:t>
            </a:r>
            <a:r>
              <a:rPr lang="en-US" altLang="ko-KR"/>
              <a:t>.
★★ </a:t>
            </a:r>
            <a:r>
              <a:rPr lang="ko-KR" altLang="en-US"/>
              <a:t>맨 아래 줄이 오늘 가장 자주 쓰게 될 처방입니다 </a:t>
            </a:r>
            <a:r>
              <a:rPr lang="en-US" altLang="ko-KR"/>
              <a:t>— Node.js</a:t>
            </a:r>
            <a:r>
              <a:rPr lang="ko-KR" altLang="en-US"/>
              <a:t>나 </a:t>
            </a:r>
            <a:r>
              <a:rPr lang="en-US" altLang="ko-KR"/>
              <a:t>uv</a:t>
            </a:r>
            <a:r>
              <a:rPr lang="ko-KR" altLang="en-US"/>
              <a:t>를 새로 깔았으면 </a:t>
            </a:r>
            <a:r>
              <a:rPr lang="en-US" altLang="ko-KR"/>
              <a:t>Claude </a:t>
            </a:r>
            <a:r>
              <a:rPr lang="ko-KR" altLang="en-US"/>
              <a:t>데스크탑을 완전히 종료했다 켜야 합니다</a:t>
            </a:r>
            <a:r>
              <a:rPr lang="en-US" altLang="ko-KR"/>
              <a:t>. </a:t>
            </a:r>
            <a:r>
              <a:rPr lang="ko-KR" altLang="en-US"/>
              <a:t>창의 </a:t>
            </a:r>
            <a:r>
              <a:rPr lang="en-US" altLang="ko-KR"/>
              <a:t>X</a:t>
            </a:r>
            <a:r>
              <a:rPr lang="ko-KR" altLang="en-US"/>
              <a:t>만 눌러서는 안 됩니다</a:t>
            </a:r>
            <a:r>
              <a:rPr lang="en-US" altLang="ko-KR"/>
              <a:t>. </a:t>
            </a:r>
            <a:r>
              <a:rPr lang="ko-KR" altLang="en-US"/>
              <a:t>작업표시줄 오른쪽 아래 트레이 아이콘까지 종료해야 합니다</a:t>
            </a:r>
            <a:r>
              <a:rPr lang="en-US" altLang="ko-KR"/>
              <a:t>.
→ </a:t>
            </a:r>
            <a:r>
              <a:rPr lang="ko-KR" altLang="en-US"/>
              <a:t>화면에서 트레이 아이콘 위치를 직접 짚어주세요</a:t>
            </a:r>
            <a:r>
              <a:rPr lang="en-US" altLang="ko-KR"/>
              <a:t>. </a:t>
            </a:r>
            <a:r>
              <a:rPr lang="ko-KR" altLang="en-US"/>
              <a:t>여기서 못 찾는 분이 반드시 나옵니다</a:t>
            </a:r>
            <a:r>
              <a:rPr lang="en-US" altLang="ko-KR"/>
              <a:t>.
</a:t>
            </a:r>
            <a:r>
              <a:rPr lang="ko-KR" altLang="en-US"/>
              <a:t>예상 질문 </a:t>
            </a:r>
            <a:r>
              <a:rPr lang="en-US" altLang="ko-KR"/>
              <a:t>— "</a:t>
            </a:r>
            <a:r>
              <a:rPr lang="ko-KR" altLang="en-US"/>
              <a:t>화면 문구가 슬라이드랑 조금 달라요</a:t>
            </a:r>
            <a:r>
              <a:rPr lang="en-US" altLang="ko-KR"/>
              <a:t>." → "</a:t>
            </a:r>
            <a:r>
              <a:rPr lang="ko-KR" altLang="en-US"/>
              <a:t>윈도우 버전에 따라 문장이 다릅니다</a:t>
            </a:r>
            <a:r>
              <a:rPr lang="en-US" altLang="ko-KR"/>
              <a:t>. </a:t>
            </a:r>
            <a:r>
              <a:rPr lang="ko-KR" altLang="en-US"/>
              <a:t>핵심 단어만 같으면 같은 증상입니다</a:t>
            </a:r>
            <a:r>
              <a:rPr lang="en-US" altLang="ko-KR"/>
              <a:t>."</a:t>
            </a:r>
            <a:endParaRPr lang="ko-KR" altLang="en-US"/>
          </a:p>
        </p:txBody>
      </p:sp>
    </p:spTree>
    <p:extLst>
      <p:ext uri="{BB962C8B-B14F-4D97-AF65-F5344CB8AC3E}">
        <p14:creationId xmlns:p14="http://schemas.microsoft.com/office/powerpoint/2010/main" val="1160947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오늘 못 따라와도 집에 가서 할 수 있다</a:t>
            </a:r>
            <a:r>
              <a:rPr lang="en-US" altLang="ko-KR"/>
              <a:t>"</a:t>
            </a:r>
            <a:r>
              <a:rPr lang="ko-KR" altLang="en-US"/>
              <a:t>는 안전망을 주는 것입니다</a:t>
            </a:r>
            <a:r>
              <a:rPr lang="en-US" altLang="ko-KR"/>
              <a:t>. </a:t>
            </a:r>
            <a:r>
              <a:rPr lang="ko-KR" altLang="en-US"/>
              <a:t>여기서 마음이 놓여야 뒤쪽 진도를 편하게 나갈 수 있습니다</a:t>
            </a:r>
            <a:r>
              <a:rPr lang="en-US" altLang="ko-KR"/>
              <a:t>.
</a:t>
            </a:r>
            <a:r>
              <a:rPr lang="ko-KR" altLang="en-US"/>
              <a:t>첫 마디 </a:t>
            </a:r>
            <a:r>
              <a:rPr lang="en-US" altLang="ko-KR"/>
              <a:t>— "</a:t>
            </a:r>
            <a:r>
              <a:rPr lang="ko-KR" altLang="en-US"/>
              <a:t>방금 한 것 외우지 마세요</a:t>
            </a:r>
            <a:r>
              <a:rPr lang="en-US" altLang="ko-KR"/>
              <a:t>. </a:t>
            </a:r>
            <a:r>
              <a:rPr lang="ko-KR" altLang="en-US"/>
              <a:t>필요할 때 여기 열어서 복사하면 됩니다</a:t>
            </a:r>
            <a:r>
              <a:rPr lang="en-US" altLang="ko-KR"/>
              <a:t>."
★ </a:t>
            </a:r>
            <a:r>
              <a:rPr lang="ko-KR" altLang="en-US"/>
              <a:t>화면에서 실제로 주소를 열어 보여주세요</a:t>
            </a:r>
            <a:r>
              <a:rPr lang="en-US" altLang="ko-KR"/>
              <a:t>. </a:t>
            </a:r>
            <a:r>
              <a:rPr lang="ko-KR" altLang="en-US"/>
              <a:t>말로만 하면 아무도 안 갑니다</a:t>
            </a:r>
            <a:r>
              <a:rPr lang="en-US" altLang="ko-KR"/>
              <a:t>. </a:t>
            </a:r>
            <a:r>
              <a:rPr lang="ko-KR" altLang="en-US"/>
              <a:t>열어서 파일 세 개가 실제로 있는 것을 보여주는 데 </a:t>
            </a:r>
            <a:r>
              <a:rPr lang="en-US" altLang="ko-KR"/>
              <a:t>1</a:t>
            </a:r>
            <a:r>
              <a:rPr lang="ko-KR" altLang="en-US"/>
              <a:t>분이면 됩니다</a:t>
            </a:r>
            <a:r>
              <a:rPr lang="en-US" altLang="ko-KR"/>
              <a:t>.
</a:t>
            </a:r>
            <a:r>
              <a:rPr lang="ko-KR" altLang="en-US"/>
              <a:t>세 파일을 이렇게 소개하세요
</a:t>
            </a:r>
            <a:r>
              <a:rPr lang="en-US" altLang="ko-KR"/>
              <a:t>- </a:t>
            </a:r>
            <a:r>
              <a:rPr lang="ko-KR" altLang="en-US"/>
              <a:t>사전준비</a:t>
            </a:r>
            <a:r>
              <a:rPr lang="en-US" altLang="ko-KR"/>
              <a:t>_</a:t>
            </a:r>
            <a:r>
              <a:rPr lang="ko-KR" altLang="en-US"/>
              <a:t>설치</a:t>
            </a:r>
            <a:r>
              <a:rPr lang="en-US" altLang="ko-KR"/>
              <a:t>.md — </a:t>
            </a:r>
            <a:r>
              <a:rPr lang="ko-KR" altLang="en-US"/>
              <a:t>오늘 한 것을 그대로 다시 밟을 수 있는 문서</a:t>
            </a:r>
            <a:r>
              <a:rPr lang="en-US" altLang="ko-KR"/>
              <a:t>. </a:t>
            </a:r>
            <a:r>
              <a:rPr lang="ko-KR" altLang="en-US"/>
              <a:t>안 될 때 대처법까지 있습니다</a:t>
            </a:r>
            <a:r>
              <a:rPr lang="en-US" altLang="ko-KR"/>
              <a:t>.
- claude_desktop_config_</a:t>
            </a:r>
            <a:r>
              <a:rPr lang="ko-KR" altLang="en-US"/>
              <a:t>실습용</a:t>
            </a:r>
            <a:r>
              <a:rPr lang="en-US" altLang="ko-KR"/>
              <a:t>.jsonc — MCP </a:t>
            </a:r>
            <a:r>
              <a:rPr lang="ko-KR" altLang="en-US"/>
              <a:t>설정 파일 원본</a:t>
            </a:r>
            <a:r>
              <a:rPr lang="en-US" altLang="ko-KR"/>
              <a:t>. </a:t>
            </a:r>
            <a:r>
              <a:rPr lang="ko-KR" altLang="en-US"/>
              <a:t>어디에 넣는지</a:t>
            </a:r>
            <a:r>
              <a:rPr lang="en-US" altLang="ko-KR"/>
              <a:t>, API </a:t>
            </a:r>
            <a:r>
              <a:rPr lang="ko-KR" altLang="en-US"/>
              <a:t>키를 어디서 받는지까지 적혀 있습니다</a:t>
            </a:r>
            <a:r>
              <a:rPr lang="en-US" altLang="ko-KR"/>
              <a:t>.
- </a:t>
            </a:r>
            <a:r>
              <a:rPr lang="ko-KR" altLang="en-US"/>
              <a:t>개인설정</a:t>
            </a:r>
            <a:r>
              <a:rPr lang="en-US" altLang="ko-KR"/>
              <a:t>_A · B · C — </a:t>
            </a:r>
            <a:r>
              <a:rPr lang="ko-KR" altLang="en-US"/>
              <a:t>관심 분야별 완성본입니다</a:t>
            </a:r>
            <a:r>
              <a:rPr lang="en-US" altLang="ko-KR"/>
              <a:t>. </a:t>
            </a:r>
            <a:r>
              <a:rPr lang="ko-KR" altLang="en-US"/>
              <a:t>조립하실 필요 없이 통째로 붙여넣으면 됩니다</a:t>
            </a:r>
            <a:r>
              <a:rPr lang="en-US" altLang="ko-KR"/>
              <a:t>. A</a:t>
            </a:r>
            <a:r>
              <a:rPr lang="ko-KR" altLang="en-US"/>
              <a:t>는 주식</a:t>
            </a:r>
            <a:r>
              <a:rPr lang="en-US" altLang="ko-KR"/>
              <a:t>, B</a:t>
            </a:r>
            <a:r>
              <a:rPr lang="ko-KR" altLang="en-US"/>
              <a:t>는 경매</a:t>
            </a:r>
            <a:r>
              <a:rPr lang="en-US" altLang="ko-KR"/>
              <a:t>·</a:t>
            </a:r>
            <a:r>
              <a:rPr lang="ko-KR" altLang="en-US"/>
              <a:t>공매</a:t>
            </a:r>
            <a:r>
              <a:rPr lang="en-US" altLang="ko-KR"/>
              <a:t>, C</a:t>
            </a:r>
            <a:r>
              <a:rPr lang="ko-KR" altLang="en-US"/>
              <a:t>는 둘 다입니다</a:t>
            </a:r>
            <a:r>
              <a:rPr lang="en-US" altLang="ko-KR"/>
              <a:t>.
★ </a:t>
            </a:r>
            <a:r>
              <a:rPr lang="ko-KR" altLang="en-US"/>
              <a:t>복사 버튼 위치를 직접 짚어주세요</a:t>
            </a:r>
            <a:r>
              <a:rPr lang="en-US" altLang="ko-KR"/>
              <a:t>. </a:t>
            </a:r>
            <a:r>
              <a:rPr lang="ko-KR" altLang="en-US"/>
              <a:t>회색 상자 오른쪽 위입니다</a:t>
            </a:r>
            <a:r>
              <a:rPr lang="en-US" altLang="ko-KR"/>
              <a:t>. </a:t>
            </a:r>
            <a:r>
              <a:rPr lang="ko-KR" altLang="en-US"/>
              <a:t>이걸 알면 오타로 막히는 일이 사라집니다</a:t>
            </a:r>
            <a:r>
              <a:rPr lang="en-US" altLang="ko-KR"/>
              <a:t>.
★ </a:t>
            </a:r>
            <a:r>
              <a:rPr lang="ko-KR" altLang="en-US"/>
              <a:t>주소는 받아 적게 하지 말고</a:t>
            </a:r>
            <a:r>
              <a:rPr lang="en-US" altLang="ko-KR"/>
              <a:t>, </a:t>
            </a:r>
            <a:r>
              <a:rPr lang="ko-KR" altLang="en-US"/>
              <a:t>채팅</a:t>
            </a:r>
            <a:r>
              <a:rPr lang="en-US" altLang="ko-KR"/>
              <a:t>·</a:t>
            </a:r>
            <a:r>
              <a:rPr lang="ko-KR" altLang="en-US"/>
              <a:t>메신저로 링크를 한 번 뿌리세요</a:t>
            </a:r>
            <a:r>
              <a:rPr lang="en-US" altLang="ko-KR"/>
              <a:t>. </a:t>
            </a:r>
            <a:r>
              <a:rPr lang="ko-KR" altLang="en-US"/>
              <a:t>다만 파일 자체를 뿌리지는 마세요</a:t>
            </a:r>
            <a:r>
              <a:rPr lang="en-US" altLang="ko-KR"/>
              <a:t>. </a:t>
            </a:r>
            <a:r>
              <a:rPr lang="ko-KR" altLang="en-US"/>
              <a:t>자료는 계속 갱신되므로 버전이 갈립니다</a:t>
            </a:r>
            <a:r>
              <a:rPr lang="en-US" altLang="ko-KR"/>
              <a:t>.
</a:t>
            </a:r>
            <a:r>
              <a:rPr lang="ko-KR" altLang="en-US"/>
              <a:t>예상 질문
</a:t>
            </a:r>
            <a:r>
              <a:rPr lang="en-US" altLang="ko-KR"/>
              <a:t>- "GitHub </a:t>
            </a:r>
            <a:r>
              <a:rPr lang="ko-KR" altLang="en-US"/>
              <a:t>가입해야 하나요</a:t>
            </a:r>
            <a:r>
              <a:rPr lang="en-US" altLang="ko-KR"/>
              <a:t>?" → "</a:t>
            </a:r>
            <a:r>
              <a:rPr lang="ko-KR" altLang="en-US"/>
              <a:t>안 하셔도 보고 복사할 수 있습니다</a:t>
            </a:r>
            <a:r>
              <a:rPr lang="en-US" altLang="ko-KR"/>
              <a:t>."
- "</a:t>
            </a:r>
            <a:r>
              <a:rPr lang="ko-KR" altLang="en-US"/>
              <a:t>내용이 바뀌나요</a:t>
            </a:r>
            <a:r>
              <a:rPr lang="en-US" altLang="ko-KR"/>
              <a:t>?" → "</a:t>
            </a:r>
            <a:r>
              <a:rPr lang="ko-KR" altLang="en-US"/>
              <a:t>바뀝니다</a:t>
            </a:r>
            <a:r>
              <a:rPr lang="en-US" altLang="ko-KR"/>
              <a:t>. </a:t>
            </a:r>
            <a:r>
              <a:rPr lang="ko-KR" altLang="en-US"/>
              <a:t>그래서 파일로 나눠 드리지 않고 주소로 드립니다</a:t>
            </a:r>
            <a:r>
              <a:rPr lang="en-US" altLang="ko-KR"/>
              <a:t>. </a:t>
            </a:r>
            <a:r>
              <a:rPr lang="ko-KR" altLang="en-US"/>
              <a:t>항상 최신을 보시게 됩니다</a:t>
            </a:r>
            <a:r>
              <a:rPr lang="en-US" altLang="ko-KR"/>
              <a:t>."</a:t>
            </a:r>
            <a:endParaRPr lang="ko-KR" altLang="en-US"/>
          </a:p>
        </p:txBody>
      </p:sp>
    </p:spTree>
    <p:extLst>
      <p:ext uri="{BB962C8B-B14F-4D97-AF65-F5344CB8AC3E}">
        <p14:creationId xmlns:p14="http://schemas.microsoft.com/office/powerpoint/2010/main" val="12556583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섹션 표지입니다</a:t>
            </a:r>
            <a:r>
              <a:rPr lang="en-US" altLang="ko-KR"/>
              <a:t>. 10~15</a:t>
            </a:r>
            <a:r>
              <a:rPr lang="ko-KR" altLang="en-US"/>
              <a:t>초</a:t>
            </a:r>
            <a:r>
              <a:rPr lang="en-US" altLang="ko-KR"/>
              <a:t>.
</a:t>
            </a:r>
            <a:r>
              <a:rPr lang="ko-KR" altLang="en-US"/>
              <a:t>말할 것 </a:t>
            </a:r>
            <a:r>
              <a:rPr lang="en-US" altLang="ko-KR"/>
              <a:t>— "</a:t>
            </a:r>
            <a:r>
              <a:rPr lang="ko-KR" altLang="en-US"/>
              <a:t>설치가 끝났습니다</a:t>
            </a:r>
            <a:r>
              <a:rPr lang="en-US" altLang="ko-KR"/>
              <a:t>. </a:t>
            </a:r>
            <a:r>
              <a:rPr lang="ko-KR" altLang="en-US"/>
              <a:t>이제 </a:t>
            </a:r>
            <a:r>
              <a:rPr lang="en-US" altLang="ko-KR"/>
              <a:t>Claude</a:t>
            </a:r>
            <a:r>
              <a:rPr lang="ko-KR" altLang="en-US"/>
              <a:t>에게 손과 발을 붙여줄 차례입니다</a:t>
            </a:r>
            <a:r>
              <a:rPr lang="en-US" altLang="ko-KR"/>
              <a:t>. </a:t>
            </a:r>
            <a:r>
              <a:rPr lang="ko-KR" altLang="en-US"/>
              <a:t>그 전에 가입할 곳이 몇 군데 있습니다</a:t>
            </a:r>
            <a:r>
              <a:rPr lang="en-US" altLang="ko-KR"/>
              <a:t>."
★ </a:t>
            </a:r>
            <a:r>
              <a:rPr lang="ko-KR" altLang="en-US"/>
              <a:t>여기서 분위기를 한 번 환기하세요</a:t>
            </a:r>
            <a:r>
              <a:rPr lang="en-US" altLang="ko-KR"/>
              <a:t>. </a:t>
            </a:r>
            <a:r>
              <a:rPr lang="ko-KR" altLang="en-US"/>
              <a:t>앞 섹션</a:t>
            </a:r>
            <a:r>
              <a:rPr lang="en-US" altLang="ko-KR"/>
              <a:t>(</a:t>
            </a:r>
            <a:r>
              <a:rPr lang="ko-KR" altLang="en-US"/>
              <a:t>검은 창</a:t>
            </a:r>
            <a:r>
              <a:rPr lang="en-US" altLang="ko-KR"/>
              <a:t>)</a:t>
            </a:r>
            <a:r>
              <a:rPr lang="ko-KR" altLang="en-US"/>
              <a:t>에서 지친 분들이 있습니다</a:t>
            </a:r>
            <a:r>
              <a:rPr lang="en-US" altLang="ko-KR"/>
              <a:t>. "</a:t>
            </a:r>
            <a:r>
              <a:rPr lang="ko-KR" altLang="en-US"/>
              <a:t>검은 창은 끝났습니다</a:t>
            </a:r>
            <a:r>
              <a:rPr lang="en-US" altLang="ko-KR"/>
              <a:t>. </a:t>
            </a:r>
            <a:r>
              <a:rPr lang="ko-KR" altLang="en-US"/>
              <a:t>여기서부터는 다시 클릭입니다</a:t>
            </a:r>
            <a:r>
              <a:rPr lang="en-US" altLang="ko-KR"/>
              <a:t>."
★ </a:t>
            </a:r>
            <a:r>
              <a:rPr lang="ko-KR" altLang="en-US"/>
              <a:t>이 섹션에서 가장 중요한 장은 두 개입니다</a:t>
            </a:r>
            <a:r>
              <a:rPr lang="en-US" altLang="ko-KR"/>
              <a:t>.
- p.32 </a:t>
            </a:r>
            <a:r>
              <a:rPr lang="ko-KR" altLang="en-US"/>
              <a:t>보안 </a:t>
            </a:r>
            <a:r>
              <a:rPr lang="en-US" altLang="ko-KR"/>
              <a:t>— </a:t>
            </a:r>
            <a:r>
              <a:rPr lang="ko-KR" altLang="en-US"/>
              <a:t>대화창에 넣으면 안 되는 것</a:t>
            </a:r>
            <a:r>
              <a:rPr lang="en-US" altLang="ko-KR"/>
              <a:t>. </a:t>
            </a:r>
            <a:r>
              <a:rPr lang="ko-KR" altLang="en-US"/>
              <a:t>오늘 수업에서 실제로 피해가 날 수 있는 항목입니다</a:t>
            </a:r>
            <a:r>
              <a:rPr lang="en-US" altLang="ko-KR"/>
              <a:t>.
- p.33 </a:t>
            </a:r>
            <a:r>
              <a:rPr lang="ko-KR" altLang="en-US"/>
              <a:t>적용 범위 </a:t>
            </a:r>
            <a:r>
              <a:rPr lang="en-US" altLang="ko-KR"/>
              <a:t>— "</a:t>
            </a:r>
            <a:r>
              <a:rPr lang="ko-KR" altLang="en-US"/>
              <a:t>지침을 썼는데 왜 안 먹히죠</a:t>
            </a:r>
            <a:r>
              <a:rPr lang="en-US" altLang="ko-KR"/>
              <a:t>"</a:t>
            </a:r>
            <a:r>
              <a:rPr lang="ko-KR" altLang="en-US"/>
              <a:t>를 막는 장입니다</a:t>
            </a:r>
            <a:r>
              <a:rPr lang="en-US" altLang="ko-KR"/>
              <a:t>.
</a:t>
            </a:r>
            <a:r>
              <a:rPr lang="ko-KR" altLang="en-US"/>
              <a:t>시간이 모자라면 </a:t>
            </a:r>
            <a:r>
              <a:rPr lang="en-US" altLang="ko-KR"/>
              <a:t>p.28(</a:t>
            </a:r>
            <a:r>
              <a:rPr lang="ko-KR" altLang="en-US"/>
              <a:t>추가 가입</a:t>
            </a:r>
            <a:r>
              <a:rPr lang="en-US" altLang="ko-KR"/>
              <a:t>)</a:t>
            </a:r>
            <a:r>
              <a:rPr lang="ko-KR" altLang="en-US"/>
              <a:t>을 줄이고 이 둘은 반드시 하세요</a:t>
            </a:r>
            <a:r>
              <a:rPr lang="en-US" altLang="ko-KR"/>
              <a:t>.
</a:t>
            </a:r>
            <a:r>
              <a:rPr lang="ko-KR" altLang="en-US"/>
              <a:t>가입은 각자 속도가 다릅니다</a:t>
            </a:r>
            <a:r>
              <a:rPr lang="en-US" altLang="ko-KR"/>
              <a:t>. </a:t>
            </a:r>
            <a:r>
              <a:rPr lang="ko-KR" altLang="en-US"/>
              <a:t>인증 메일을 기다리는 시간이 생기니</a:t>
            </a:r>
            <a:r>
              <a:rPr lang="en-US" altLang="ko-KR"/>
              <a:t>, </a:t>
            </a:r>
            <a:r>
              <a:rPr lang="ko-KR" altLang="en-US"/>
              <a:t>그 사이에 할 이야기를 준비해 두세요</a:t>
            </a:r>
            <a:r>
              <a:rPr lang="en-US" altLang="ko-KR"/>
              <a:t>.</a:t>
            </a:r>
            <a:endParaRPr lang="ko-KR" altLang="en-US"/>
          </a:p>
        </p:txBody>
      </p:sp>
    </p:spTree>
    <p:extLst>
      <p:ext uri="{BB962C8B-B14F-4D97-AF65-F5344CB8AC3E}">
        <p14:creationId xmlns:p14="http://schemas.microsoft.com/office/powerpoint/2010/main" val="15201382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 대표님이 겪은 </a:t>
            </a:r>
            <a:r>
              <a:rPr lang="en-US" altLang="ko-KR"/>
              <a:t>"</a:t>
            </a:r>
            <a:r>
              <a:rPr lang="ko-KR" altLang="en-US"/>
              <a:t>회원가입을 안 해서 못 읽었던</a:t>
            </a:r>
            <a:r>
              <a:rPr lang="en-US" altLang="ko-KR"/>
              <a:t>" </a:t>
            </a:r>
            <a:r>
              <a:rPr lang="ko-KR" altLang="en-US"/>
              <a:t>문제를 여기서 막습니다</a:t>
            </a:r>
            <a:r>
              <a:rPr lang="en-US" altLang="ko-KR"/>
              <a:t>.
★★ </a:t>
            </a:r>
            <a:r>
              <a:rPr lang="ko-KR" altLang="en-US"/>
              <a:t>카카오가 왜 목록에 있는지 반드시 설명하세요</a:t>
            </a:r>
            <a:r>
              <a:rPr lang="en-US" altLang="ko-KR"/>
              <a:t>.
</a:t>
            </a:r>
            <a:r>
              <a:rPr lang="ko-KR" altLang="en-US"/>
              <a:t>마지막 실습에서 쓸 주식 시세는 </a:t>
            </a:r>
            <a:r>
              <a:rPr lang="en-US" altLang="ko-KR"/>
              <a:t>PlayMCP </a:t>
            </a:r>
            <a:r>
              <a:rPr lang="ko-KR" altLang="en-US"/>
              <a:t>라는 카카오 서비스를 거쳐서 옵니다</a:t>
            </a:r>
            <a:r>
              <a:rPr lang="en-US" altLang="ko-KR"/>
              <a:t>. PlayMCP </a:t>
            </a:r>
            <a:r>
              <a:rPr lang="ko-KR" altLang="en-US"/>
              <a:t>에 카카오 계정으로 로그인해야 도구함을 만들 수 있습니다</a:t>
            </a:r>
            <a:r>
              <a:rPr lang="en-US" altLang="ko-KR"/>
              <a:t>. </a:t>
            </a:r>
            <a:r>
              <a:rPr lang="ko-KR" altLang="en-US"/>
              <a:t>카카오 계정은 대부분 이미 갖고 계시니 새로 만들 일은 거의 없습니다</a:t>
            </a:r>
            <a:r>
              <a:rPr lang="en-US" altLang="ko-KR"/>
              <a:t>.
★★ </a:t>
            </a:r>
            <a:r>
              <a:rPr lang="ko-KR" altLang="en-US"/>
              <a:t>공공데이터포털 함정 두 가지를 반드시 알려주세요</a:t>
            </a:r>
            <a:r>
              <a:rPr lang="en-US" altLang="ko-KR"/>
              <a:t>.
</a:t>
            </a:r>
            <a:r>
              <a:rPr lang="ko-KR" altLang="en-US"/>
              <a:t>첫째</a:t>
            </a:r>
            <a:r>
              <a:rPr lang="en-US" altLang="ko-KR"/>
              <a:t>, </a:t>
            </a:r>
            <a:r>
              <a:rPr lang="ko-KR" altLang="en-US"/>
              <a:t>인증키가 **일반 인증키</a:t>
            </a:r>
            <a:r>
              <a:rPr lang="en-US" altLang="ko-KR"/>
              <a:t>(Encoding)</a:t>
            </a:r>
            <a:r>
              <a:rPr lang="ko-KR" altLang="en-US"/>
              <a:t>와 </a:t>
            </a:r>
            <a:r>
              <a:rPr lang="en-US" altLang="ko-KR"/>
              <a:t>(Decoding) </a:t>
            </a:r>
            <a:r>
              <a:rPr lang="ko-KR" altLang="en-US"/>
              <a:t>두 가지**로 발급됩니다</a:t>
            </a:r>
            <a:r>
              <a:rPr lang="en-US" altLang="ko-KR"/>
              <a:t>. </a:t>
            </a:r>
            <a:r>
              <a:rPr lang="ko-KR" altLang="en-US"/>
              <a:t>어느 쪽을 써야 할지 몰라 </a:t>
            </a:r>
            <a:r>
              <a:rPr lang="en-US" altLang="ko-KR"/>
              <a:t>401 </a:t>
            </a:r>
            <a:r>
              <a:rPr lang="ko-KR" altLang="en-US"/>
              <a:t>오류가 나는 게 가장 흔한 사고입니다</a:t>
            </a:r>
            <a:r>
              <a:rPr lang="en-US" altLang="ko-KR"/>
              <a:t>. </a:t>
            </a:r>
            <a:r>
              <a:rPr lang="ko-KR" altLang="en-US"/>
              <a:t>둘 다 복사해두라고 하세요</a:t>
            </a:r>
            <a:r>
              <a:rPr lang="en-US" altLang="ko-KR"/>
              <a:t>.
</a:t>
            </a:r>
            <a:r>
              <a:rPr lang="ko-KR" altLang="en-US"/>
              <a:t>둘째</a:t>
            </a:r>
            <a:r>
              <a:rPr lang="en-US" altLang="ko-KR"/>
              <a:t>, **API </a:t>
            </a:r>
            <a:r>
              <a:rPr lang="ko-KR" altLang="en-US"/>
              <a:t>하나당 활용신청을 따로** 해야 합니다</a:t>
            </a:r>
            <a:r>
              <a:rPr lang="en-US" altLang="ko-KR"/>
              <a:t>. </a:t>
            </a:r>
            <a:r>
              <a:rPr lang="ko-KR" altLang="en-US"/>
              <a:t>실거래가</a:t>
            </a:r>
            <a:r>
              <a:rPr lang="en-US" altLang="ko-KR"/>
              <a:t>·</a:t>
            </a:r>
            <a:r>
              <a:rPr lang="ko-KR" altLang="en-US"/>
              <a:t>온비드</a:t>
            </a:r>
            <a:r>
              <a:rPr lang="en-US" altLang="ko-KR"/>
              <a:t>·</a:t>
            </a:r>
            <a:r>
              <a:rPr lang="ko-KR" altLang="en-US"/>
              <a:t>건축물대장을 쓰려면 세 번 신청해야 합니다</a:t>
            </a:r>
            <a:r>
              <a:rPr lang="en-US" altLang="ko-KR"/>
              <a:t>. "</a:t>
            </a:r>
            <a:r>
              <a:rPr lang="ko-KR" altLang="en-US"/>
              <a:t>신청했는데 왜 안 되냐</a:t>
            </a:r>
            <a:r>
              <a:rPr lang="en-US" altLang="ko-KR"/>
              <a:t>"</a:t>
            </a:r>
            <a:r>
              <a:rPr lang="ko-KR" altLang="en-US"/>
              <a:t>의 절반이 이겁니다</a:t>
            </a:r>
            <a:r>
              <a:rPr lang="en-US" altLang="ko-KR"/>
              <a:t>.
</a:t>
            </a:r>
            <a:r>
              <a:rPr lang="ko-KR" altLang="en-US"/>
              <a:t>셋째</a:t>
            </a:r>
            <a:r>
              <a:rPr lang="en-US" altLang="ko-KR"/>
              <a:t>, </a:t>
            </a:r>
            <a:r>
              <a:rPr lang="ko-KR" altLang="en-US"/>
              <a:t>활용신청 승인은 대부분 </a:t>
            </a:r>
            <a:r>
              <a:rPr lang="en-US" altLang="ko-KR"/>
              <a:t>10</a:t>
            </a:r>
            <a:r>
              <a:rPr lang="ko-KR" altLang="en-US"/>
              <a:t>분 안에 납니다 </a:t>
            </a:r>
            <a:r>
              <a:rPr lang="en-US" altLang="ko-KR"/>
              <a:t>(</a:t>
            </a:r>
            <a:r>
              <a:rPr lang="ko-KR" altLang="en-US"/>
              <a:t>강사 직접 확인</a:t>
            </a:r>
            <a:r>
              <a:rPr lang="en-US" altLang="ko-KR"/>
              <a:t>, 2026-08-09). </a:t>
            </a:r>
            <a:r>
              <a:rPr lang="ko-KR" altLang="en-US"/>
              <a:t>다만 자료에 따라 더 걸리는 것도 있으니</a:t>
            </a:r>
            <a:r>
              <a:rPr lang="en-US" altLang="ko-KR"/>
              <a:t>, </a:t>
            </a:r>
            <a:r>
              <a:rPr lang="ko-KR" altLang="en-US"/>
              <a:t>수업 당일 아침에 몰아서 신청하지 말고 하루 전에는 해두라고 안내하세요</a:t>
            </a:r>
            <a:r>
              <a:rPr lang="en-US" altLang="ko-KR"/>
              <a:t>.
</a:t>
            </a:r>
            <a:r>
              <a:rPr lang="ko-KR" altLang="en-US"/>
              <a:t>공공데이터포털은 본인인증이 필요하고 내국인만 가입됩니다</a:t>
            </a:r>
            <a:r>
              <a:rPr lang="en-US" altLang="ko-KR"/>
              <a:t>.
★ Firecrawl </a:t>
            </a:r>
            <a:r>
              <a:rPr lang="ko-KR" altLang="en-US"/>
              <a:t>주의 </a:t>
            </a:r>
            <a:r>
              <a:rPr lang="en-US" altLang="ko-KR"/>
              <a:t>— </a:t>
            </a:r>
            <a:r>
              <a:rPr lang="ko-KR" altLang="en-US"/>
              <a:t>무료 </a:t>
            </a:r>
            <a:r>
              <a:rPr lang="en-US" altLang="ko-KR"/>
              <a:t>1,000 </a:t>
            </a:r>
            <a:r>
              <a:rPr lang="ko-KR" altLang="en-US"/>
              <a:t>크레딧은 매달 초기화되고 이월되지 않습니다</a:t>
            </a:r>
            <a:r>
              <a:rPr lang="en-US" altLang="ko-KR"/>
              <a:t>. </a:t>
            </a:r>
            <a:r>
              <a:rPr lang="ko-KR" altLang="en-US"/>
              <a:t>그리고 요청이 실패해도 크레딧이 깎입니다</a:t>
            </a:r>
            <a:r>
              <a:rPr lang="en-US" altLang="ko-KR"/>
              <a:t>. </a:t>
            </a:r>
            <a:r>
              <a:rPr lang="ko-KR" altLang="en-US"/>
              <a:t>수업에서는 </a:t>
            </a:r>
            <a:r>
              <a:rPr lang="en-US" altLang="ko-KR"/>
              <a:t>'</a:t>
            </a:r>
            <a:r>
              <a:rPr lang="ko-KR" altLang="en-US"/>
              <a:t>한 페이지씩만 가져오기</a:t>
            </a:r>
            <a:r>
              <a:rPr lang="en-US" altLang="ko-KR"/>
              <a:t>'</a:t>
            </a:r>
            <a:r>
              <a:rPr lang="ko-KR" altLang="en-US"/>
              <a:t>로 제한하고</a:t>
            </a:r>
            <a:r>
              <a:rPr lang="en-US" altLang="ko-KR"/>
              <a:t>, </a:t>
            </a:r>
            <a:r>
              <a:rPr lang="ko-KR" altLang="en-US"/>
              <a:t>사이트 전체를 훑는 기능</a:t>
            </a:r>
            <a:r>
              <a:rPr lang="en-US" altLang="ko-KR"/>
              <a:t>(crawl)</a:t>
            </a:r>
            <a:r>
              <a:rPr lang="ko-KR" altLang="en-US"/>
              <a:t>은 쓰지 말라고 하세요</a:t>
            </a:r>
            <a:r>
              <a:rPr lang="en-US" altLang="ko-KR"/>
              <a:t>.
★ </a:t>
            </a:r>
            <a:r>
              <a:rPr lang="ko-KR" altLang="en-US"/>
              <a:t>반대로 가입이 전혀 필요 없는 것도 많습니다</a:t>
            </a:r>
            <a:r>
              <a:rPr lang="en-US" altLang="ko-KR"/>
              <a:t>. </a:t>
            </a:r>
            <a:r>
              <a:rPr lang="ko-KR" altLang="en-US"/>
              <a:t>유튜브 자막 가져오기</a:t>
            </a:r>
            <a:r>
              <a:rPr lang="en-US" altLang="ko-KR"/>
              <a:t>, </a:t>
            </a:r>
            <a:r>
              <a:rPr lang="ko-KR" altLang="en-US"/>
              <a:t>웹 브라우저 자동화</a:t>
            </a:r>
            <a:r>
              <a:rPr lang="en-US" altLang="ko-KR"/>
              <a:t>, </a:t>
            </a:r>
            <a:r>
              <a:rPr lang="ko-KR" altLang="en-US"/>
              <a:t>문서 형식 변환 같은 것들은 계정 없이 바로 됩니다</a:t>
            </a:r>
            <a:r>
              <a:rPr lang="en-US" altLang="ko-KR"/>
              <a:t>. "MCP = </a:t>
            </a:r>
            <a:r>
              <a:rPr lang="ko-KR" altLang="en-US"/>
              <a:t>무조건 회원가입</a:t>
            </a:r>
            <a:r>
              <a:rPr lang="en-US" altLang="ko-KR"/>
              <a:t>"</a:t>
            </a:r>
            <a:r>
              <a:rPr lang="ko-KR" altLang="en-US"/>
              <a:t>이라고 오해하지 않게 한마디 해주세요</a:t>
            </a:r>
            <a:r>
              <a:rPr lang="en-US" altLang="ko-KR"/>
              <a:t>.
GitHub: </a:t>
            </a:r>
            <a:r>
              <a:rPr lang="ko-KR" altLang="en-US"/>
              <a:t>공개된 파일을 내려받는 것만이면 계정 없이도 됩니다</a:t>
            </a:r>
            <a:r>
              <a:rPr lang="en-US" altLang="ko-KR"/>
              <a:t>. </a:t>
            </a:r>
            <a:r>
              <a:rPr lang="ko-KR" altLang="en-US"/>
              <a:t>다만 토큰이 필요한 순간이 오고</a:t>
            </a:r>
            <a:r>
              <a:rPr lang="en-US" altLang="ko-KR"/>
              <a:t>, </a:t>
            </a:r>
            <a:r>
              <a:rPr lang="ko-KR" altLang="en-US"/>
              <a:t>그때 가서 만들면 흐름이 끊깁니다</a:t>
            </a:r>
            <a:r>
              <a:rPr lang="en-US" altLang="ko-KR"/>
              <a:t>. </a:t>
            </a:r>
            <a:r>
              <a:rPr lang="ko-KR" altLang="en-US"/>
              <a:t>미리 만들어두라고 하세요</a:t>
            </a:r>
            <a:r>
              <a:rPr lang="en-US" altLang="ko-KR"/>
              <a:t>.
</a:t>
            </a:r>
            <a:r>
              <a:rPr lang="ko-KR" altLang="en-US"/>
              <a:t>한국투자증권</a:t>
            </a:r>
            <a:r>
              <a:rPr lang="en-US" altLang="ko-KR"/>
              <a:t>: </a:t>
            </a:r>
            <a:r>
              <a:rPr lang="ko-KR" altLang="en-US"/>
              <a:t>증권 계좌가 있어야 </a:t>
            </a:r>
            <a:r>
              <a:rPr lang="en-US" altLang="ko-KR"/>
              <a:t>API </a:t>
            </a:r>
            <a:r>
              <a:rPr lang="ko-KR" altLang="en-US"/>
              <a:t>신청이 됩니다</a:t>
            </a:r>
            <a:r>
              <a:rPr lang="en-US" altLang="ko-KR"/>
              <a:t>. </a:t>
            </a:r>
            <a:r>
              <a:rPr lang="ko-KR" altLang="en-US"/>
              <a:t>계좌 없는 분은 여기서 막히니 미리 말해두세요</a:t>
            </a:r>
            <a:r>
              <a:rPr lang="en-US" altLang="ko-KR"/>
              <a:t>.
★ </a:t>
            </a:r>
            <a:r>
              <a:rPr lang="ko-KR" altLang="en-US"/>
              <a:t>검은 박스를 반드시 읽어주세요</a:t>
            </a:r>
            <a:r>
              <a:rPr lang="en-US" altLang="ko-KR"/>
              <a:t>. "</a:t>
            </a:r>
            <a:r>
              <a:rPr lang="ko-KR" altLang="en-US"/>
              <a:t>오늘은 가입까지만</a:t>
            </a:r>
            <a:r>
              <a:rPr lang="en-US" altLang="ko-KR"/>
              <a:t>."
★ </a:t>
            </a:r>
            <a:r>
              <a:rPr lang="ko-KR" altLang="en-US"/>
              <a:t>표에 ★ 가 붙은 다섯 곳이 필수입니다</a:t>
            </a:r>
            <a:r>
              <a:rPr lang="en-US" altLang="ko-KR"/>
              <a:t>. </a:t>
            </a:r>
            <a:r>
              <a:rPr lang="ko-KR" altLang="en-US"/>
              <a:t>나머지 둘</a:t>
            </a:r>
            <a:r>
              <a:rPr lang="en-US" altLang="ko-KR"/>
              <a:t>(Claude·</a:t>
            </a:r>
            <a:r>
              <a:rPr lang="ko-KR" altLang="en-US"/>
              <a:t>구글</a:t>
            </a:r>
            <a:r>
              <a:rPr lang="en-US" altLang="ko-KR"/>
              <a:t>)</a:t>
            </a:r>
            <a:r>
              <a:rPr lang="ko-KR" altLang="en-US"/>
              <a:t>은 이미 갖고 계실 겁니다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강사가 반드시 짚어야 할 것 세 가지입니다.
1) 국가법령정보의 인증키(OC)는 별도 문자열이 아니라 **가입한 이메일의 @ 앞부분**입니다. hong@gmail.com 이면 OC는 hong 입니다. 학생들이 "키가 어디 있냐"고 반드시 헤맵니다. 이 한 줄을 칠판에 적어두세요.
2) V-World는 인증키 신청서에 "사용할 웹사이트 도메인"을 적게 되어 있습니다. 개인 학습자는 넣을 도메인이 없어 막힙니다. **localhost 라고 적으라고** 미리 알려주세요. 다르게 적으면 나중에 INCORRECT_KEY 오류가 납니다. 그리고 V-World는 본인인증이 필요합니다.
3) OpenDART 신청 폼에 "API 사용환경 / 사용용도 / 확인 URL"이 필수입니다. "학습용, 개인 PC, URL은 공란"으로 넣으라고 안내하세요.
★ 아래 검은 박스가 오늘 가장 중요한 정보입니다.
네이버: 2026년 7월 31일부로 개발자센터에서 검색 API 신규 신청이 막혔습니다. 옛 블로그를 보고 따라 하면 교실 전체가 멈춥니다. 대체 경로(네이버 클라우드 플랫폼)는 클라우드 콘솔이라 초보자에게 너무 복잡하고, 유료 전환도 예고된 상태입니다. 이번 기수는 빼는 게 맞습니다.
증권사 API: 실제 증권계좌가 있어야 하고, 키 하나로 실거래 주문이 나갑니다. 계좌개설부터 4단계라 수업 시간 안에 끝나지도 않습니다. 심화 과정으로 분리하고, 하더라도 모의투자 계좌로만 하세요.
OpenDART는 개인회원 즉시 발급이라 가장 마찰이 적습니다. 시간이 없으면 이것 하나만 시켜도 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커넥터를 어렵게 설명하지 마세요. 한 문장이면 됩니다. "내가 이미 쓰는 서비스를 Claude에 붙이는 것."
예시 세 개는 수강생 업무에 맞게 바꾸셔도 됩니다. 본인 이야기가 나오면 반응이 다릅니다.
★ 오른쪽 검은 박스가 이 슬라이드의 핵심입니다. "내 메일을 다 보는 거냐"는 걱정이 반드시 나옵니다.
공식 문서 원문: "Claude inherits each person's permissions from the connected service." 내 계정 권한 그대로입니다. 못 보던 건 여전히 못 봅니다.
무료 플랜에서도 된다는 점을 꼭 짚어주세요. 앞에서 결제 이야기를 했기 때문에 "또 돈 드는 건가" 생각합니다.
예상 질문: "안 쓰면 어떻게 해요?" → "언제든 연결 해제됩니다. 다음 장에서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구분을 한 번 잡아두면 뒤의 MCP 섹션이 훨씬 수월합니다. 안 잡아두면 계속 헷갈립니다.
맨 아래 한 줄만 기억시키세요. "인터넷 너머면 커넥터, 내 컴퓨터 안이면 확장 프로그램."
왼쪽을 검게 강조한 이유: 오늘 해볼 것이 커넥터이기 때문입니다.
공식 문서 근거 — 원격 커넥터는 웹·모바일·Cowork·데스크탑·Claude Code 모든 곳에서 쓰이고, 데스크탑 확장은 데스크탑과 Claude Code에서만 쓰입니다.
실전 예: 지메일은 인터넷 너머에 있으니 커넥터. 내 컴퓨터의 엑셀 파일을 다루는 도구는 확장 프로그램입니다.
예상 질문: "MCP가 뭔가요?" → "두 가지를 묶어 부르는 기술 이름입니다. 지금은 몰라도 됩니다."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실습으로 진행하세요. 구글 드라이브나 지메일 하나만 붙여보면 충분합니다.
4번 단계가 중요합니다. 권한 화면을 읽지 않고 넘기는 습관이 위험합니다. 공식 문서도 경고합니다 — "you're granting Claude permission to access and potentially modify data within that service."
"읽기만"인지 "쓰기도"인지 보라고 알려주세요. 메일을 보낼 수 있는 권한까지 주는 커넥터도 있습니다.
대화에서 켜고 끄는 법을 꼭 보여주세요. 연결해둔 것이 전부 항상 켜져 있는 게 아니라, 대화마다 골라 쓰는 구조입니다. 이걸 모르면 "연결했는데 왜 안 써요?"라는 질문이 나옵니다.
실무 팁(관심 있는 분에게만): 커넥터를 10개 넘게 붙이면 대화가 무거워집니다. 그때는 필요할 때만 불러오는 설정으로 바꾸면 됩니다.
마무리 한마디: "안 쓰는 건 해제하세요. 계정을 남에게 열어둔 채로 두는 것과 같습니다."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강사 본인의 실수담을 이야기해 주세요. 그게 가장 강력합니다.
예시로 쓸 만한 이야기 — "저는 설정 파일을 통째로 붙여넣었다가 증권사 앱키와 계좌번호가 대화창에 그대로 올라간 적이 있습니다. 결국 키를 전부 재발급했습니다."
실제로 초보자가 가장 많이 하는 실수 세 가지입니다.
1) 오류가 나면 설정 파일이나 로그를 통째로 복사해 붙여넣습니다. 거기 키가 다 들어 있습니다.
2) 계약서나 등기부를 그대로 올립니다. 채무자·임차인 실명이 들어 있습니다.
3) "이거 어떻게 하는지 알려줘" 하면서 회사 내부 문서를 통째로 첨부합니다.
대응법도 같이 알려주세요 — 이름은 A씨·B사로 바꾸고, 키는 지우고, 숫자만 남기면 대부분 그대로 물어볼 수 있습니다. 분석 품질은 거의 안 떨어집니다.
아래 회색 박스의 판단 기준 한 줄이 이 슬라이드의 핵심입니다. 외우기 쉽게 두 번 말해주세요.
주의: 겁을 주는 게 목적이 아닙니다. "조심하면 얼마든지 쓸 수 있다"는 쪽으로 마무리하세요. 오른쪽 칸을 짚으면서 "이런 건 마음껏 하셔도 됩니다"로 끝내면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이 한 장의 목적: "지침을 분명히 썼는데 왜 안 먹히죠?"를 막는 것입니다. 엉뚱한 곳에 써서 그렇습니다.
처음 듣는 수강생에게는 이 표를 다 설명하지 마세요. 위쪽 다섯 줄(개인 설정 ~ 프로젝트 지식)만 짚고 넘어가면 됩니다. 나머지는 커넥터 섹션과 프로젝트 섹션에서 다시 나옵니다.
★★ 슬라이드에 쓰면 안 되는 것 — 흔히 도는 말인데 전부 근거가 없습니다.
1) "Cowork는 CLAUDE.md를 읽는다" → 공식 문서 어디에도 없습니다. Cowork에는 Global instructions와 Folder instructions가 따로 있습니다. 그래서 표에 물음표로 뒀습니다. 블로그·유튜브에서 반복되는 주장이지만 Anthropic 문서로 뒷받침되지 않습니다.
2) "CLAUDE.md는 200줄까지만" → 권장치일 뿐입니다. 원문: "CLAUDE.md files are loaded in full regardless of length." 하드 제한은 auto memory의 MEMORY.md에만 적용됩니다.
3) "개인 설정이 Claude Code에도 적용된다" → 문서상 근거가 없습니다. Claude Code의 대응물은 디스크의 ~/.claude/CLAUDE.md 입니다.
4) "Cowork에서도 메모리가 쌓인다" → 프로젝트 안에서만입니다. 원문: "Memory ... is not currently available for Cowork" / "Within Cowork, memory is supported in projects only."
★ CLAUDE.md 보충 (Claude Code 이야기를 할 때)
디스크에 두는 지침 파일입니다. Claude Code가 시작할 때 자동으로 읽습니다. Windows 기준 읽는 순서는 넓은 범위부터입니다.
1. C:\Program Files\ClaudeCode\CLAUDE.md (조직 정책)
2. C:\Users\&lt;사용자명&gt;\.claude\CLAUDE.md (내 전체)
3. .\CLAUDE.md 또는 .\.claude\CLAUDE.md (이 프로젝트)
4. .\CLAUDE.local.md (나만, 공유 안 함)
덮어쓰기가 아니라 누적입니다. 원문: "All discovered files are concatenated into context rather than overriding each other."
Claude Code에서 /init 을 치면 프로젝트를 훑어 루트에 CLAUDE.md를 만들어 줍니다. 이미 있으면 덮어쓰지 않고 개선안을 제안합니다.
@경로/파일.md 형식으로 다른 파일을 끌어올 수 있습니다. 최대 4단계까지 연쇄됩니다. 다만 시작할 때 전부 로드되므로 대화 분량을 아끼지는 못합니다.
★ 조건부 칸 설명 (질문 나오면)
- 원격 커넥터 / Claude Code: claude.ai 구독 계정으로 로그인했을 때만 자동으로 딸려옵니다. API 키로 쓰면 안 옵니다.
- 로컬 MCP: 채팅은 데스크탑 앱에서만, Cowork는 로컬 세션에서만, Claude Code는 명령어 창(CLI)에서는 안 되고 데스크탑 앱의 Code 탭에서만 됩니다.
- 스킬: Cowork는 내 PC의 ~/.claude/skills/ 를 읽지 않습니다. 계정에 저장된 것만 씁니다. 이걸 모르면 "분명 만들었는데 왜 없냐"가 됩니다.
★ 발표 전 확인
개인 설정 필드의 실제 이름을 화면에서 확인하세요. 공식 문서는 Instructions for Claude 인데 한글 UI는 다를 수 있고, 라벨은 자주 바뀝니다.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섹션 표지입니다</a:t>
            </a:r>
            <a:r>
              <a:rPr lang="en-US" altLang="ko-KR"/>
              <a:t>. 10~15</a:t>
            </a:r>
            <a:r>
              <a:rPr lang="ko-KR" altLang="en-US"/>
              <a:t>초</a:t>
            </a:r>
            <a:r>
              <a:rPr lang="en-US" altLang="ko-KR"/>
              <a:t>.
</a:t>
            </a:r>
            <a:r>
              <a:rPr lang="ko-KR" altLang="en-US"/>
              <a:t>말할 것 </a:t>
            </a:r>
            <a:r>
              <a:rPr lang="en-US" altLang="ko-KR"/>
              <a:t>— "</a:t>
            </a:r>
            <a:r>
              <a:rPr lang="ko-KR" altLang="en-US"/>
              <a:t>방금 커넥터를 붙여봤습니다</a:t>
            </a:r>
            <a:r>
              <a:rPr lang="en-US" altLang="ko-KR"/>
              <a:t>. </a:t>
            </a:r>
            <a:r>
              <a:rPr lang="ko-KR" altLang="en-US"/>
              <a:t>그 바닥에 깔린 규격이 </a:t>
            </a:r>
            <a:r>
              <a:rPr lang="en-US" altLang="ko-KR"/>
              <a:t>MCP</a:t>
            </a:r>
            <a:r>
              <a:rPr lang="ko-KR" altLang="en-US"/>
              <a:t>입니다</a:t>
            </a:r>
            <a:r>
              <a:rPr lang="en-US" altLang="ko-KR"/>
              <a:t>. </a:t>
            </a:r>
            <a:r>
              <a:rPr lang="ko-KR" altLang="en-US"/>
              <a:t>그리고 그걸 쓰려면 열쇠가 하나 필요한데 그게 </a:t>
            </a:r>
            <a:r>
              <a:rPr lang="en-US" altLang="ko-KR"/>
              <a:t>API </a:t>
            </a:r>
            <a:r>
              <a:rPr lang="ko-KR" altLang="en-US"/>
              <a:t>키입니다</a:t>
            </a:r>
            <a:r>
              <a:rPr lang="en-US" altLang="ko-KR"/>
              <a:t>."
★ </a:t>
            </a:r>
            <a:r>
              <a:rPr lang="ko-KR" altLang="en-US"/>
              <a:t>여기부터는 </a:t>
            </a:r>
            <a:r>
              <a:rPr lang="en-US" altLang="ko-KR"/>
              <a:t>'</a:t>
            </a:r>
            <a:r>
              <a:rPr lang="ko-KR" altLang="en-US"/>
              <a:t>맛보기</a:t>
            </a:r>
            <a:r>
              <a:rPr lang="en-US" altLang="ko-KR"/>
              <a:t>' </a:t>
            </a:r>
            <a:r>
              <a:rPr lang="ko-KR" altLang="en-US"/>
              <a:t>구간이라고 미리 선을 그으세요 </a:t>
            </a:r>
            <a:r>
              <a:rPr lang="en-US" altLang="ko-KR"/>
              <a:t>— "</a:t>
            </a:r>
            <a:r>
              <a:rPr lang="ko-KR" altLang="en-US"/>
              <a:t>여기서부터는 오늘 다 하실 필요 없습니다</a:t>
            </a:r>
            <a:r>
              <a:rPr lang="en-US" altLang="ko-KR"/>
              <a:t>. '</a:t>
            </a:r>
            <a:r>
              <a:rPr lang="ko-KR" altLang="en-US"/>
              <a:t>이런 게 있구나</a:t>
            </a:r>
            <a:r>
              <a:rPr lang="en-US" altLang="ko-KR"/>
              <a:t>'</a:t>
            </a:r>
            <a:r>
              <a:rPr lang="ko-KR" altLang="en-US"/>
              <a:t>만 남기시면 됩니다</a:t>
            </a:r>
            <a:r>
              <a:rPr lang="en-US" altLang="ko-KR"/>
              <a:t>."
★ </a:t>
            </a:r>
            <a:r>
              <a:rPr lang="ko-KR" altLang="en-US"/>
              <a:t>다만 </a:t>
            </a:r>
            <a:r>
              <a:rPr lang="en-US" altLang="ko-KR"/>
              <a:t>p.37(API </a:t>
            </a:r>
            <a:r>
              <a:rPr lang="ko-KR" altLang="en-US"/>
              <a:t>키</a:t>
            </a:r>
            <a:r>
              <a:rPr lang="en-US" altLang="ko-KR"/>
              <a:t>)</a:t>
            </a:r>
            <a:r>
              <a:rPr lang="ko-KR" altLang="en-US"/>
              <a:t>만은 예외입니다</a:t>
            </a:r>
            <a:r>
              <a:rPr lang="en-US" altLang="ko-KR"/>
              <a:t>. </a:t>
            </a:r>
            <a:r>
              <a:rPr lang="ko-KR" altLang="en-US"/>
              <a:t>오늘 수업에서 돈이 나갈 수 있는 유일한 항목이라 시간을 넉넉히 쓰세요</a:t>
            </a:r>
            <a:r>
              <a:rPr lang="en-US" altLang="ko-KR"/>
              <a:t>. </a:t>
            </a:r>
            <a:r>
              <a:rPr lang="ko-KR" altLang="en-US"/>
              <a:t>나머지는 빠르게 넘겨도 됩니다</a:t>
            </a:r>
            <a:r>
              <a:rPr lang="en-US" altLang="ko-KR"/>
              <a:t>.
</a:t>
            </a:r>
            <a:r>
              <a:rPr lang="ko-KR" altLang="en-US"/>
              <a:t>용어를 두려워하는 분이 있습니다</a:t>
            </a:r>
            <a:r>
              <a:rPr lang="en-US" altLang="ko-KR"/>
              <a:t>. </a:t>
            </a:r>
            <a:r>
              <a:rPr lang="ko-KR" altLang="en-US"/>
              <a:t>첫 마디로 눌러주세요 </a:t>
            </a:r>
            <a:r>
              <a:rPr lang="en-US" altLang="ko-KR"/>
              <a:t>— "MCP, API </a:t>
            </a:r>
            <a:r>
              <a:rPr lang="ko-KR" altLang="en-US"/>
              <a:t>다 영어 약자라 무섭게 들리는데</a:t>
            </a:r>
            <a:r>
              <a:rPr lang="en-US" altLang="ko-KR"/>
              <a:t>, </a:t>
            </a:r>
            <a:r>
              <a:rPr lang="ko-KR" altLang="en-US"/>
              <a:t>뜻은 콘센트랑 열쇠입니다</a:t>
            </a:r>
            <a:r>
              <a:rPr lang="en-US" altLang="ko-KR"/>
              <a:t>. </a:t>
            </a:r>
            <a:r>
              <a:rPr lang="ko-KR" altLang="en-US"/>
              <a:t>그게 전부입니다</a:t>
            </a:r>
            <a:r>
              <a:rPr lang="en-US" altLang="ko-KR"/>
              <a:t>."</a:t>
            </a:r>
            <a:endParaRPr lang="ko-KR" altLang="en-US"/>
          </a:p>
        </p:txBody>
      </p:sp>
    </p:spTree>
    <p:extLst>
      <p:ext uri="{BB962C8B-B14F-4D97-AF65-F5344CB8AC3E}">
        <p14:creationId xmlns:p14="http://schemas.microsoft.com/office/powerpoint/2010/main" val="15201382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이 장의 목적: MCP를 '기술'이 아니라 '구멍 규격'으로 이해시키는 것입니다.
USB-C 비유는 제가 지어낸 게 아니라 MCP 공식 문서가 쓰는 비유입니다. 원문: "Think of MCP like a USB-C port for AI applications." 그대로 써도 됩니다.
비유를 먼저 던지고 정의는 나중에 하세요. 순서를 바꾸면 첫 문장에서 절반이 놓칩니다.
★ 이렇게 말해 보세요
"지금까지 여러분이 쓴 Claude는 말은 잘하는데 손이 없었습니다. 파일을 못 열고, 검색도 못 하고, 엑셀도 직접 못 봅니다. MCP는 거기에 손발을 달아주는 규격입니다."
★ MCP는 세 가지를 연결합니다 (공식 문서 기준)
1) 데이터 — 내 파일, 데이터베이스
2) 도구 — 검색 엔진, 계산기
3) 작업 흐름 — 정해진 절차
★ 예상 질문
Q. "커넥터"랑 뭐가 다른가요?
A. 같은 것을 가리키는 다른 이름으로 보시면 됩니다. 화면에서는 커넥터, 기술 문서에서는 MCP 서버라고 부릅니다. 지금은 구분하지 않아도 됩니다.
Q. Claude만 쓰는 건가요?
A. 아닙니다. 공개 표준이라 ChatGPT, VS Code, Cursor 같은 다른 도구도 씁니다. 한 번 만들면 여러 곳에서 씁니다.
Q. 프로그램을 깔아야 하나요?
A. 대부분은 아닙니다. 다음 장에서 다룹니다.
★ 주의
여기서 설치 방법으로 넘어가지 마세요. 이 장은 '무엇인지'만 잡고 끝냅니다. 방법은 다음 장입니다.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이 장의 목적: "MCP는 개발자만 쓰는 것"이라는 오해를 깨는 것. 이제는 대부분 버튼 하나입니다.
★ [확정 2026-08-06] Node.js를 따로 깔지 않아도 됩니다
Claude Desktop 안에 Node.js 환경이 들어 있습니다. 출처: support.claude.com/en/articles/10949351 (Developer FAQ). 예전 자료에는 "Node.js부터 설치하라"고 나오는데 지금은 아닙니다. 이것 때문에 MCP 붙이기 난이도가 크게 낮아졌습니다.
★ 순서를 지키세요
1) Browse extensions 목록부터 봅니다
2) 거기 없을 때만 설정 파일을 엽니다
반대로 하면 고생만 합니다.
★ 설정 파일 경로 (수강생마다 다름)
- 일반 설치본: %APPDATA%\Claude\claude_desktop_config.json
- Microsoft Store 버전: C:\Users\&lt;이름&gt;\AppData\Local\Packages\Claude_pzs8sxrjxfjjc\LocalCache\Roaming\Claude\
어느 쪽인지 먼저 확인하게 하세요. 엉뚱한 파일을 고치면 아무 일도 안 일어납니다.
★ 확장 프로그램은 저장 위치가 다릅니다
원클릭으로 설치한 확장은 설정 파일에 기록되지 않습니다. Store 버전이어도 %APPDATA%\Claude\ 아래 별도 폴더에 들어갑니다. 그래서 설정 파일만 백업하면 확장은 하나도 안 담깁니다. 백업 이야기할 때 꼭 짚어주세요.
★ 비용 이야기를 빼지 마세요
수강생은 눈에 보이는 게 없으니 무조건 많이 붙이려 합니다. "안 써도 자리를 차지한다"는 걸 지금 말해두지 않으면, 나중에 "왜 이렇게 금방 한도가 차죠?"라는 질문이 돌아옵니다.
★ 예상 질문
Q. 한 번 붙이면 계속 켜져 있나요?
A. 네. 그래서 안 쓰는 건 끄라고 하는 겁니다.
Q. 붙였는데 도구가 안 보여요.
A. 새 대화를 여셨나요? 기존 대화에는 안 붙습니다. 그다음은 Claude 완전 종료 후 재실행입니다.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이 장의 목적: 오늘 수업에서 금전 피해로 이어질 수 있는 유일한 항목입니다. 시간을 넉넉히 쓰세요.
★ API를 먼저 쉽게 설명하기
식당 주문서라고 생각하면 됩니다. 손님이 주방에 직접 들어가지 않습니다. 정해진 양식으로 주문을 넣으면 음식이 나옵니다. API가 그 주문 창구이고, API 키는 "이 손님은 결제된 회원"임을 보여주는 카드입니다.
★ 왜 위험한가
키는 비밀번호와 같은데 비밀번호처럼 안 보입니다. 그냥 긴 글자 뭉치라 수강생은 대수롭지 않게 여깁니다. 그런데 그 한 줄이면 남이 내 계정으로 요금을 쓰고, 증권 API라면 계좌 정보까지 닿습니다.
★ 실제 사고 (익명화해서 전달하세요)
어떤 사용자가 AI에게 도움을 받으려고 설정 파일 전체를 대화창에 붙여넣었습니다. 그 안에 증권사 실계좌 키까지 들어 있었습니다. AI가 "수정본을 드리겠다"며 그 내용을 세 번이나 화면에 다시 출력했습니다. 사람 이름이나 회사는 절대 말하지 마세요.
교훈은 두 가지입니다.
1) 붙여넣는 순간 이미 노출입니다. 대화 기록에 남습니다.
2) AI는 도우려다 그것을 다시 뱉을 수 있습니다.
★ 새면 어떻게 하나
지우는 것으로는 안 됩니다. 해당 서비스에서 키를 폐기하고 새로 발급받아야 합니다. 이걸 재발급이라고 합니다.
★ 이렇게 시키면 안전합니다
"설정 파일에서 kis 서버 부분만, 키 값은 ○○○로 가리고 보여줘"
★ 예상 질문
Q. 무료 API도 키가 필요한가요?
A. 대부분 필요합니다. 무료라도 얼마나 쓰는지 세야 하니까요.
Q. 스크린샷은 괜찮나요?
A. 아닙니다. 글자가 보이면 똑같습니다. 캡처 전에 가리세요.</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이 장의 목적: MCP와 API를 같은 것으로 여기는 오해를 끊는 것입니다. 이 둘을 헷갈리면 MCP 실습에서 반드시 막힙니다.
★ 한 문장으로
"MCP는 길을 놓는 것이고, API 키는 그 길 끝의 문을 여는 열쇠입니다. 길을 놨다고 문이 열리지는 않습니다."
★ 왜 이 질문이 나오나
원클릭으로 확장을 설치하면 화면에 API 키를 넣으라는 칸이 뜹니다. 수강생은 "방금 설치했는데 또 뭘 넣으라는 거지?"라고 멈춥니다. 여기서 절반이 포기합니다. 미리 말해두면 안 막힙니다.
★ 키가 필요 없는 경우도 있습니다
내 컴퓨터의 파일을 읽는 것처럼 바깥 서비스를 안 쓰는 MCP는 키가 필요 없습니다. "바깥 회사의 자료를 가져오는가"가 기준입니다.
★ 세 규칙을 읽고 넘어가지 말고 하나씩 짚으세요
1) 붙이지 않기 — 붙여넣는 순간 대화 기록에 남습니다
2) 가리고 보여주기 — "kis 부분만, 키는 ○○○로 가려서 보여줘"라고 시키면 됩니다
3) 재발급 — 대화를 지워도 이미 나간 것은 돌아오지 않습니다. 해당 서비스에서 폐기하고 새로 받으세요
★ 실습 전 당부
나중에 각자 키를 발급받게 됩니다. 그때 화면 공유나 캡처를 조심하라고 지금 미리 말해두세요. 강의실에서 화면을 띄운 채 키를 붙여넣는 사고가 흔합니다.
★ 예상 질문
Q. 키를 어디에 적어두나요?
A. 대화창 말고, 비밀번호 관리 프로그램이나 본인만 보는 파일에 두세요. 회사 공유 폴더는 안 됩니다.
Q. 무료 서비스도 위험한가요?
A. 요금이 안 나가도 내 이름으로 남이 쓰는 것은 같습니다. 한도가 차면 정작 내가 못 씁니다.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섹션 표지입니다</a:t>
            </a:r>
            <a:r>
              <a:rPr lang="en-US" altLang="ko-KR"/>
              <a:t>. 10~15</a:t>
            </a:r>
            <a:r>
              <a:rPr lang="ko-KR" altLang="en-US"/>
              <a:t>초</a:t>
            </a:r>
            <a:r>
              <a:rPr lang="en-US" altLang="ko-KR"/>
              <a:t>.
</a:t>
            </a:r>
            <a:r>
              <a:rPr lang="ko-KR" altLang="en-US"/>
              <a:t>말할 것 </a:t>
            </a:r>
            <a:r>
              <a:rPr lang="en-US" altLang="ko-KR"/>
              <a:t>— "MCP</a:t>
            </a:r>
            <a:r>
              <a:rPr lang="ko-KR" altLang="en-US"/>
              <a:t>가 손과 발이라면</a:t>
            </a:r>
            <a:r>
              <a:rPr lang="en-US" altLang="ko-KR"/>
              <a:t>, </a:t>
            </a:r>
            <a:r>
              <a:rPr lang="ko-KR" altLang="en-US"/>
              <a:t>스킬은 그 손발을 어떻게 움직일지 적어둔 매뉴얼입니다</a:t>
            </a:r>
            <a:r>
              <a:rPr lang="en-US" altLang="ko-KR"/>
              <a:t>."
★ </a:t>
            </a:r>
            <a:r>
              <a:rPr lang="ko-KR" altLang="en-US"/>
              <a:t>앞 섹션에서 </a:t>
            </a:r>
            <a:r>
              <a:rPr lang="en-US" altLang="ko-KR"/>
              <a:t>"MCP</a:t>
            </a:r>
            <a:r>
              <a:rPr lang="ko-KR" altLang="en-US"/>
              <a:t>는 많이 붙이면 대화가 무거워진다</a:t>
            </a:r>
            <a:r>
              <a:rPr lang="en-US" altLang="ko-KR"/>
              <a:t>"</a:t>
            </a:r>
            <a:r>
              <a:rPr lang="ko-KR" altLang="en-US"/>
              <a:t>고 배웠습니다</a:t>
            </a:r>
            <a:r>
              <a:rPr lang="en-US" altLang="ko-KR"/>
              <a:t>. </a:t>
            </a:r>
            <a:r>
              <a:rPr lang="ko-KR" altLang="en-US"/>
              <a:t>스킬은 정반대라는 점이 이 섹션의 핵심입니다</a:t>
            </a:r>
            <a:r>
              <a:rPr lang="en-US" altLang="ko-KR"/>
              <a:t>. </a:t>
            </a:r>
            <a:r>
              <a:rPr lang="ko-KR" altLang="en-US"/>
              <a:t>미리 한 문장으로 예고해 두세요 </a:t>
            </a:r>
            <a:r>
              <a:rPr lang="en-US" altLang="ko-KR"/>
              <a:t>— "</a:t>
            </a:r>
            <a:r>
              <a:rPr lang="ko-KR" altLang="en-US"/>
              <a:t>이건 많이 넣어도 괜찮습니다</a:t>
            </a:r>
            <a:r>
              <a:rPr lang="en-US" altLang="ko-KR"/>
              <a:t>. </a:t>
            </a:r>
            <a:r>
              <a:rPr lang="ko-KR" altLang="en-US"/>
              <a:t>이유는 곧 나옵니다</a:t>
            </a:r>
            <a:r>
              <a:rPr lang="en-US" altLang="ko-KR"/>
              <a:t>."
★ </a:t>
            </a:r>
            <a:r>
              <a:rPr lang="ko-KR" altLang="en-US"/>
              <a:t>이 섹션의 도착점은 </a:t>
            </a:r>
            <a:r>
              <a:rPr lang="en-US" altLang="ko-KR"/>
              <a:t>p.43</a:t>
            </a:r>
            <a:r>
              <a:rPr lang="ko-KR" altLang="en-US"/>
              <a:t>입니다</a:t>
            </a:r>
            <a:r>
              <a:rPr lang="en-US" altLang="ko-KR"/>
              <a:t>. </a:t>
            </a:r>
            <a:r>
              <a:rPr lang="ko-KR" altLang="en-US"/>
              <a:t>파일 하나를 끌어다 놓으면 여덟 개가 한꺼번에 깔립니다</a:t>
            </a:r>
            <a:r>
              <a:rPr lang="en-US" altLang="ko-KR"/>
              <a:t>. </a:t>
            </a:r>
            <a:r>
              <a:rPr lang="ko-KR" altLang="en-US"/>
              <a:t>거기까지 간다고 미리 말해두면 앞의 개념 설명을 참고 들어줍니다</a:t>
            </a:r>
            <a:r>
              <a:rPr lang="en-US" altLang="ko-KR"/>
              <a:t>.
</a:t>
            </a:r>
            <a:r>
              <a:rPr lang="ko-KR" altLang="en-US"/>
              <a:t>시간이 없으면 </a:t>
            </a:r>
            <a:r>
              <a:rPr lang="en-US" altLang="ko-KR"/>
              <a:t>p.41</a:t>
            </a:r>
            <a:r>
              <a:rPr lang="ko-KR" altLang="en-US"/>
              <a:t>을 줄이고 </a:t>
            </a:r>
            <a:r>
              <a:rPr lang="en-US" altLang="ko-KR"/>
              <a:t>p.40 → p.42 → p.43 </a:t>
            </a:r>
            <a:r>
              <a:rPr lang="ko-KR" altLang="en-US"/>
              <a:t>순으로 가세요</a:t>
            </a:r>
            <a:r>
              <a:rPr lang="en-US" altLang="ko-KR"/>
              <a:t>. </a:t>
            </a:r>
            <a:r>
              <a:rPr lang="ko-KR" altLang="en-US"/>
              <a:t>개념보다 실물을 보여주는 게 빠릅니다</a:t>
            </a:r>
            <a:r>
              <a:rPr lang="en-US" altLang="ko-KR"/>
              <a:t>.</a:t>
            </a:r>
            <a:endParaRPr lang="ko-KR" altLang="en-US"/>
          </a:p>
        </p:txBody>
      </p:sp>
    </p:spTree>
    <p:extLst>
      <p:ext uri="{BB962C8B-B14F-4D97-AF65-F5344CB8AC3E}">
        <p14:creationId xmlns:p14="http://schemas.microsoft.com/office/powerpoint/2010/main" val="15201382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스킬을 </a:t>
            </a:r>
            <a:r>
              <a:rPr lang="en-US" altLang="ko-KR"/>
              <a:t>'</a:t>
            </a:r>
            <a:r>
              <a:rPr lang="ko-KR" altLang="en-US"/>
              <a:t>프로그램</a:t>
            </a:r>
            <a:r>
              <a:rPr lang="en-US" altLang="ko-KR"/>
              <a:t>'</a:t>
            </a:r>
            <a:r>
              <a:rPr lang="ko-KR" altLang="en-US"/>
              <a:t>이 아니라 </a:t>
            </a:r>
            <a:r>
              <a:rPr lang="en-US" altLang="ko-KR"/>
              <a:t>'</a:t>
            </a:r>
            <a:r>
              <a:rPr lang="ko-KR" altLang="en-US"/>
              <a:t>서랍 속 매뉴얼</a:t>
            </a:r>
            <a:r>
              <a:rPr lang="en-US" altLang="ko-KR"/>
              <a:t>'</a:t>
            </a:r>
            <a:r>
              <a:rPr lang="ko-KR" altLang="en-US"/>
              <a:t>로 이해시키는 것입니다</a:t>
            </a:r>
            <a:r>
              <a:rPr lang="en-US" altLang="ko-KR"/>
              <a:t>.
</a:t>
            </a:r>
            <a:r>
              <a:rPr lang="ko-KR" altLang="en-US"/>
              <a:t>비유 먼저</a:t>
            </a:r>
            <a:r>
              <a:rPr lang="en-US" altLang="ko-KR"/>
              <a:t>, </a:t>
            </a:r>
            <a:r>
              <a:rPr lang="ko-KR" altLang="en-US"/>
              <a:t>정의는 나중 </a:t>
            </a:r>
            <a:r>
              <a:rPr lang="en-US" altLang="ko-KR"/>
              <a:t>— "</a:t>
            </a:r>
            <a:r>
              <a:rPr lang="ko-KR" altLang="en-US"/>
              <a:t>신입 직원이 왔습니다</a:t>
            </a:r>
            <a:r>
              <a:rPr lang="en-US" altLang="ko-KR"/>
              <a:t>. </a:t>
            </a:r>
            <a:r>
              <a:rPr lang="ko-KR" altLang="en-US"/>
              <a:t>일이 생길 때마다 처음부터 설명하기는 번거롭죠</a:t>
            </a:r>
            <a:r>
              <a:rPr lang="en-US" altLang="ko-KR"/>
              <a:t>. </a:t>
            </a:r>
            <a:r>
              <a:rPr lang="ko-KR" altLang="en-US"/>
              <a:t>그래서 업무 매뉴얼을 만들어 서랍에 넣어둡니다</a:t>
            </a:r>
            <a:r>
              <a:rPr lang="en-US" altLang="ko-KR"/>
              <a:t>. </a:t>
            </a:r>
            <a:r>
              <a:rPr lang="ko-KR" altLang="en-US"/>
              <a:t>그 일이 생기면 꺼내서 적힌 대로 하면 됩니다</a:t>
            </a:r>
            <a:r>
              <a:rPr lang="en-US" altLang="ko-KR"/>
              <a:t>. </a:t>
            </a:r>
            <a:r>
              <a:rPr lang="ko-KR" altLang="en-US"/>
              <a:t>스킬이 딱 그겁니다</a:t>
            </a:r>
            <a:r>
              <a:rPr lang="en-US" altLang="ko-KR"/>
              <a:t>."
★ 3</a:t>
            </a:r>
            <a:r>
              <a:rPr lang="ko-KR" altLang="en-US"/>
              <a:t>단계 구조를 손으로 짚으며 읽어주세요</a:t>
            </a:r>
            <a:r>
              <a:rPr lang="en-US" altLang="ko-KR"/>
              <a:t>. </a:t>
            </a:r>
            <a:r>
              <a:rPr lang="ko-KR" altLang="en-US"/>
              <a:t>이 순서가 이 장의 전부입니다</a:t>
            </a:r>
            <a:r>
              <a:rPr lang="en-US" altLang="ko-KR"/>
              <a:t>.
1) </a:t>
            </a:r>
            <a:r>
              <a:rPr lang="ko-KR" altLang="en-US"/>
              <a:t>평소 </a:t>
            </a:r>
            <a:r>
              <a:rPr lang="en-US" altLang="ko-KR"/>
              <a:t>— </a:t>
            </a:r>
            <a:r>
              <a:rPr lang="ko-KR" altLang="en-US"/>
              <a:t>제목과 설명 한 줄만 봅니다</a:t>
            </a:r>
            <a:r>
              <a:rPr lang="en-US" altLang="ko-KR"/>
              <a:t>. </a:t>
            </a:r>
            <a:r>
              <a:rPr lang="ko-KR" altLang="en-US"/>
              <a:t>그래서 여러 개 넣어도 대화가 무거워지지 않습니다</a:t>
            </a:r>
            <a:r>
              <a:rPr lang="en-US" altLang="ko-KR"/>
              <a:t>.
2) </a:t>
            </a:r>
            <a:r>
              <a:rPr lang="ko-KR" altLang="en-US"/>
              <a:t>그 일이 생기면 </a:t>
            </a:r>
            <a:r>
              <a:rPr lang="en-US" altLang="ko-KR"/>
              <a:t>— </a:t>
            </a:r>
            <a:r>
              <a:rPr lang="ko-KR" altLang="en-US"/>
              <a:t>본문을 펴서 읽습니다</a:t>
            </a:r>
            <a:r>
              <a:rPr lang="en-US" altLang="ko-KR"/>
              <a:t>. </a:t>
            </a:r>
            <a:r>
              <a:rPr lang="ko-KR" altLang="en-US"/>
              <a:t>내가 </a:t>
            </a:r>
            <a:r>
              <a:rPr lang="en-US" altLang="ko-KR"/>
              <a:t>"</a:t>
            </a:r>
            <a:r>
              <a:rPr lang="ko-KR" altLang="en-US"/>
              <a:t>스킬 써줘</a:t>
            </a:r>
            <a:r>
              <a:rPr lang="en-US" altLang="ko-KR"/>
              <a:t>"</a:t>
            </a:r>
            <a:r>
              <a:rPr lang="ko-KR" altLang="en-US"/>
              <a:t>라고 하지 않아도 </a:t>
            </a:r>
            <a:r>
              <a:rPr lang="en-US" altLang="ko-KR"/>
              <a:t>Claude</a:t>
            </a:r>
            <a:r>
              <a:rPr lang="ko-KR" altLang="en-US"/>
              <a:t>가 알아서 판단합니다</a:t>
            </a:r>
            <a:r>
              <a:rPr lang="en-US" altLang="ko-KR"/>
              <a:t>.
3) </a:t>
            </a:r>
            <a:r>
              <a:rPr lang="ko-KR" altLang="en-US"/>
              <a:t>더 필요하면 </a:t>
            </a:r>
            <a:r>
              <a:rPr lang="en-US" altLang="ko-KR"/>
              <a:t>— </a:t>
            </a:r>
            <a:r>
              <a:rPr lang="ko-KR" altLang="en-US"/>
              <a:t>첨부된 자료</a:t>
            </a:r>
            <a:r>
              <a:rPr lang="en-US" altLang="ko-KR"/>
              <a:t>·</a:t>
            </a:r>
            <a:r>
              <a:rPr lang="ko-KR" altLang="en-US"/>
              <a:t>양식까지 꺼냅니다</a:t>
            </a:r>
            <a:r>
              <a:rPr lang="en-US" altLang="ko-KR"/>
              <a:t>. </a:t>
            </a:r>
            <a:r>
              <a:rPr lang="ko-KR" altLang="en-US"/>
              <a:t>쓰지 않은 자료는 한 글자도 읽지 않습니다</a:t>
            </a:r>
            <a:r>
              <a:rPr lang="en-US" altLang="ko-KR"/>
              <a:t>.
★ </a:t>
            </a:r>
            <a:r>
              <a:rPr lang="ko-KR" altLang="en-US"/>
              <a:t>여기서 </a:t>
            </a:r>
            <a:r>
              <a:rPr lang="en-US" altLang="ko-KR"/>
              <a:t>MCP</a:t>
            </a:r>
            <a:r>
              <a:rPr lang="ko-KR" altLang="en-US"/>
              <a:t>와 대비를 한 번 걸어주세요 </a:t>
            </a:r>
            <a:r>
              <a:rPr lang="en-US" altLang="ko-KR"/>
              <a:t>— "MCP</a:t>
            </a:r>
            <a:r>
              <a:rPr lang="ko-KR" altLang="en-US"/>
              <a:t>는 붙여두기만 해도 자리를 차지합니다</a:t>
            </a:r>
            <a:r>
              <a:rPr lang="en-US" altLang="ko-KR"/>
              <a:t>. </a:t>
            </a:r>
            <a:r>
              <a:rPr lang="ko-KR" altLang="en-US"/>
              <a:t>스킬은 안 쓰면 거의 자리를 안 씁니다</a:t>
            </a:r>
            <a:r>
              <a:rPr lang="en-US" altLang="ko-KR"/>
              <a:t>. </a:t>
            </a:r>
            <a:r>
              <a:rPr lang="ko-KR" altLang="en-US"/>
              <a:t>그래서 </a:t>
            </a:r>
            <a:r>
              <a:rPr lang="en-US" altLang="ko-KR"/>
              <a:t>MCP</a:t>
            </a:r>
            <a:r>
              <a:rPr lang="ko-KR" altLang="en-US"/>
              <a:t>는 골라서</a:t>
            </a:r>
            <a:r>
              <a:rPr lang="en-US" altLang="ko-KR"/>
              <a:t>, </a:t>
            </a:r>
            <a:r>
              <a:rPr lang="ko-KR" altLang="en-US"/>
              <a:t>스킬은 넉넉히입니다</a:t>
            </a:r>
            <a:r>
              <a:rPr lang="en-US" altLang="ko-KR"/>
              <a:t>."
★ </a:t>
            </a:r>
            <a:r>
              <a:rPr lang="ko-KR" altLang="en-US"/>
              <a:t>맨 아래 한 줄이 결론입니다 </a:t>
            </a:r>
            <a:r>
              <a:rPr lang="en-US" altLang="ko-KR"/>
              <a:t>— </a:t>
            </a:r>
            <a:r>
              <a:rPr lang="ko-KR" altLang="en-US"/>
              <a:t>스킬은 폴더 하나 </a:t>
            </a:r>
            <a:r>
              <a:rPr lang="en-US" altLang="ko-KR"/>
              <a:t>+ SKILL.md </a:t>
            </a:r>
            <a:r>
              <a:rPr lang="ko-KR" altLang="en-US"/>
              <a:t>한 장</a:t>
            </a:r>
            <a:r>
              <a:rPr lang="en-US" altLang="ko-KR"/>
              <a:t>. </a:t>
            </a:r>
            <a:r>
              <a:rPr lang="ko-KR" altLang="en-US"/>
              <a:t>맨 위에 </a:t>
            </a:r>
            <a:r>
              <a:rPr lang="en-US" altLang="ko-KR"/>
              <a:t>"</a:t>
            </a:r>
            <a:r>
              <a:rPr lang="ko-KR" altLang="en-US"/>
              <a:t>무슨 일을 하는 스킬인지</a:t>
            </a:r>
            <a:r>
              <a:rPr lang="en-US" altLang="ko-KR"/>
              <a:t>, </a:t>
            </a:r>
            <a:r>
              <a:rPr lang="ko-KR" altLang="en-US"/>
              <a:t>언제 쓰는지</a:t>
            </a:r>
            <a:r>
              <a:rPr lang="en-US" altLang="ko-KR"/>
              <a:t>"</a:t>
            </a:r>
            <a:r>
              <a:rPr lang="ko-KR" altLang="en-US"/>
              <a:t>만 적으면 됩니다</a:t>
            </a:r>
            <a:r>
              <a:rPr lang="en-US" altLang="ko-KR"/>
              <a:t>. "</a:t>
            </a:r>
            <a:r>
              <a:rPr lang="ko-KR" altLang="en-US"/>
              <a:t>프로그래밍이 아니라 글쓰기</a:t>
            </a:r>
            <a:r>
              <a:rPr lang="en-US" altLang="ko-KR"/>
              <a:t>"</a:t>
            </a:r>
            <a:r>
              <a:rPr lang="ko-KR" altLang="en-US"/>
              <a:t>라고 못 박아 주세요</a:t>
            </a:r>
            <a:r>
              <a:rPr lang="en-US" altLang="ko-KR"/>
              <a:t>.
</a:t>
            </a:r>
            <a:r>
              <a:rPr lang="ko-KR" altLang="en-US"/>
              <a:t>예상 질문
</a:t>
            </a:r>
            <a:r>
              <a:rPr lang="en-US" altLang="ko-KR"/>
              <a:t>- "</a:t>
            </a:r>
            <a:r>
              <a:rPr lang="ko-KR" altLang="en-US"/>
              <a:t>제가 직접 만들 수 있나요</a:t>
            </a:r>
            <a:r>
              <a:rPr lang="en-US" altLang="ko-KR"/>
              <a:t>?" → "</a:t>
            </a:r>
            <a:r>
              <a:rPr lang="ko-KR" altLang="en-US"/>
              <a:t>만들 수 있습니다</a:t>
            </a:r>
            <a:r>
              <a:rPr lang="en-US" altLang="ko-KR"/>
              <a:t>. </a:t>
            </a:r>
            <a:r>
              <a:rPr lang="ko-KR" altLang="en-US"/>
              <a:t>다만 오늘은 만들지 않고</a:t>
            </a:r>
            <a:r>
              <a:rPr lang="en-US" altLang="ko-KR"/>
              <a:t>, </a:t>
            </a:r>
            <a:r>
              <a:rPr lang="ko-KR" altLang="en-US"/>
              <a:t>만들어진 것을 쓰는 데까지만 갑니다</a:t>
            </a:r>
            <a:r>
              <a:rPr lang="en-US" altLang="ko-KR"/>
              <a:t>."
- "</a:t>
            </a:r>
            <a:r>
              <a:rPr lang="ko-KR" altLang="en-US"/>
              <a:t>몇 개까지 넣을 수 있나요</a:t>
            </a:r>
            <a:r>
              <a:rPr lang="en-US" altLang="ko-KR"/>
              <a:t>?" → "</a:t>
            </a:r>
            <a:r>
              <a:rPr lang="ko-KR" altLang="en-US"/>
              <a:t>개수보다 설명이 겹치지 않는 게 중요합니다</a:t>
            </a:r>
            <a:r>
              <a:rPr lang="en-US" altLang="ko-KR"/>
              <a:t>. </a:t>
            </a:r>
            <a:r>
              <a:rPr lang="ko-KR" altLang="en-US"/>
              <a:t>비슷한 스킬이 둘이면 </a:t>
            </a:r>
            <a:r>
              <a:rPr lang="en-US" altLang="ko-KR"/>
              <a:t>Claude</a:t>
            </a:r>
            <a:r>
              <a:rPr lang="ko-KR" altLang="en-US"/>
              <a:t>가 헷갈립니다</a:t>
            </a:r>
            <a:r>
              <a:rPr lang="en-US" altLang="ko-KR"/>
              <a:t>."
- "MCP</a:t>
            </a:r>
            <a:r>
              <a:rPr lang="ko-KR" altLang="en-US"/>
              <a:t>랑 뭐가 다른가요</a:t>
            </a:r>
            <a:r>
              <a:rPr lang="en-US" altLang="ko-KR"/>
              <a:t>?" → </a:t>
            </a:r>
            <a:r>
              <a:rPr lang="ko-KR" altLang="en-US"/>
              <a:t>다음 장 아래쪽 </a:t>
            </a:r>
            <a:r>
              <a:rPr lang="en-US" altLang="ko-KR"/>
              <a:t>3</a:t>
            </a:r>
            <a:r>
              <a:rPr lang="ko-KR" altLang="en-US"/>
              <a:t>분할 표</a:t>
            </a:r>
            <a:r>
              <a:rPr lang="en-US" altLang="ko-KR"/>
              <a:t>(</a:t>
            </a:r>
            <a:r>
              <a:rPr lang="ko-KR" altLang="en-US"/>
              <a:t>개인 설정 </a:t>
            </a:r>
            <a:r>
              <a:rPr lang="en-US" altLang="ko-KR"/>
              <a:t>/ </a:t>
            </a:r>
            <a:r>
              <a:rPr lang="ko-KR" altLang="en-US"/>
              <a:t>스킬 </a:t>
            </a:r>
            <a:r>
              <a:rPr lang="en-US" altLang="ko-KR"/>
              <a:t>/ MCP)</a:t>
            </a:r>
            <a:r>
              <a:rPr lang="ko-KR" altLang="en-US"/>
              <a:t>로 넘기세요</a:t>
            </a:r>
            <a:r>
              <a:rPr lang="en-US" altLang="ko-KR"/>
              <a:t>.</a:t>
            </a:r>
            <a:endParaRPr lang="ko-KR" altLang="en-US"/>
          </a:p>
        </p:txBody>
      </p:sp>
    </p:spTree>
    <p:extLst>
      <p:ext uri="{BB962C8B-B14F-4D97-AF65-F5344CB8AC3E}">
        <p14:creationId xmlns:p14="http://schemas.microsoft.com/office/powerpoint/2010/main" val="41095367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굳이 스킬까지 만들어야 하나</a:t>
            </a:r>
            <a:r>
              <a:rPr lang="en-US" altLang="ko-KR"/>
              <a:t>"</a:t>
            </a:r>
            <a:r>
              <a:rPr lang="ko-KR" altLang="en-US"/>
              <a:t>를 눌러주는 것입니다</a:t>
            </a:r>
            <a:r>
              <a:rPr lang="en-US" altLang="ko-KR"/>
              <a:t>. </a:t>
            </a:r>
            <a:r>
              <a:rPr lang="ko-KR" altLang="en-US"/>
              <a:t>앞 장이 </a:t>
            </a:r>
            <a:r>
              <a:rPr lang="en-US" altLang="ko-KR"/>
              <a:t>'</a:t>
            </a:r>
            <a:r>
              <a:rPr lang="ko-KR" altLang="en-US"/>
              <a:t>무엇</a:t>
            </a:r>
            <a:r>
              <a:rPr lang="en-US" altLang="ko-KR"/>
              <a:t>'</a:t>
            </a:r>
            <a:r>
              <a:rPr lang="ko-KR" altLang="en-US"/>
              <a:t>이면 이 장은 </a:t>
            </a:r>
            <a:r>
              <a:rPr lang="en-US" altLang="ko-KR"/>
              <a:t>'</a:t>
            </a:r>
            <a:r>
              <a:rPr lang="ko-KR" altLang="en-US"/>
              <a:t>왜</a:t>
            </a:r>
            <a:r>
              <a:rPr lang="en-US" altLang="ko-KR"/>
              <a:t>'</a:t>
            </a:r>
            <a:r>
              <a:rPr lang="ko-KR" altLang="en-US"/>
              <a:t>입니다</a:t>
            </a:r>
            <a:r>
              <a:rPr lang="en-US" altLang="ko-KR"/>
              <a:t>.
</a:t>
            </a:r>
            <a:r>
              <a:rPr lang="ko-KR" altLang="en-US"/>
              <a:t>세 가지를 각각 한 문장으로만 짚으세요</a:t>
            </a:r>
            <a:r>
              <a:rPr lang="en-US" altLang="ko-KR"/>
              <a:t>. </a:t>
            </a:r>
            <a:r>
              <a:rPr lang="ko-KR" altLang="en-US"/>
              <a:t>길어지면 지루해집니다</a:t>
            </a:r>
            <a:r>
              <a:rPr lang="en-US" altLang="ko-KR"/>
              <a:t>.
1) </a:t>
            </a:r>
            <a:r>
              <a:rPr lang="ko-KR" altLang="en-US"/>
              <a:t>매번 설명하지 않아도 됩니다 </a:t>
            </a:r>
            <a:r>
              <a:rPr lang="en-US" altLang="ko-KR"/>
              <a:t>— "</a:t>
            </a:r>
            <a:r>
              <a:rPr lang="ko-KR" altLang="en-US"/>
              <a:t>지난번처럼 해줘</a:t>
            </a:r>
            <a:r>
              <a:rPr lang="en-US" altLang="ko-KR"/>
              <a:t>"</a:t>
            </a:r>
            <a:r>
              <a:rPr lang="ko-KR" altLang="en-US"/>
              <a:t>가 실제로 통합니다</a:t>
            </a:r>
            <a:r>
              <a:rPr lang="en-US" altLang="ko-KR"/>
              <a:t>.
2) </a:t>
            </a:r>
            <a:r>
              <a:rPr lang="ko-KR" altLang="en-US"/>
              <a:t>결과가 매번 같아집니다 </a:t>
            </a:r>
            <a:r>
              <a:rPr lang="en-US" altLang="ko-KR"/>
              <a:t>— </a:t>
            </a:r>
            <a:r>
              <a:rPr lang="ko-KR" altLang="en-US"/>
              <a:t>오늘 한 것과 다음 달에 한 것의 품질이 같습니다</a:t>
            </a:r>
            <a:r>
              <a:rPr lang="en-US" altLang="ko-KR"/>
              <a:t>. ★ </a:t>
            </a:r>
            <a:r>
              <a:rPr lang="ko-KR" altLang="en-US"/>
              <a:t>혼자 쓸 때보다 여럿이 쓸 때 이게 크게 옵니다</a:t>
            </a:r>
            <a:r>
              <a:rPr lang="en-US" altLang="ko-KR"/>
              <a:t>.
3) </a:t>
            </a:r>
            <a:r>
              <a:rPr lang="ko-KR" altLang="en-US"/>
              <a:t>대화가 가벼워집니다 </a:t>
            </a:r>
            <a:r>
              <a:rPr lang="en-US" altLang="ko-KR"/>
              <a:t>— MCP</a:t>
            </a:r>
            <a:r>
              <a:rPr lang="ko-KR" altLang="en-US"/>
              <a:t>와 정반대입니다</a:t>
            </a:r>
            <a:r>
              <a:rPr lang="en-US" altLang="ko-KR"/>
              <a:t>. </a:t>
            </a:r>
            <a:r>
              <a:rPr lang="ko-KR" altLang="en-US"/>
              <a:t>많이 넣어도 괜찮습니다</a:t>
            </a:r>
            <a:r>
              <a:rPr lang="en-US" altLang="ko-KR"/>
              <a:t>.
★★ </a:t>
            </a:r>
            <a:r>
              <a:rPr lang="ko-KR" altLang="en-US"/>
              <a:t>이 장의 진짜 핵심은 아래쪽 </a:t>
            </a:r>
            <a:r>
              <a:rPr lang="en-US" altLang="ko-KR"/>
              <a:t>3</a:t>
            </a:r>
            <a:r>
              <a:rPr lang="ko-KR" altLang="en-US"/>
              <a:t>분할 표입니다</a:t>
            </a:r>
            <a:r>
              <a:rPr lang="en-US" altLang="ko-KR"/>
              <a:t>. </a:t>
            </a:r>
            <a:r>
              <a:rPr lang="ko-KR" altLang="en-US"/>
              <a:t>여기에 시간을 더 쓰세요</a:t>
            </a:r>
            <a:r>
              <a:rPr lang="en-US" altLang="ko-KR"/>
              <a:t>.
- </a:t>
            </a:r>
            <a:r>
              <a:rPr lang="ko-KR" altLang="en-US"/>
              <a:t>개인 설정 </a:t>
            </a:r>
            <a:r>
              <a:rPr lang="en-US" altLang="ko-KR"/>
              <a:t>= </a:t>
            </a:r>
            <a:r>
              <a:rPr lang="ko-KR" altLang="en-US"/>
              <a:t>내가 누구인가 → 항상 읽습니다
</a:t>
            </a:r>
            <a:r>
              <a:rPr lang="en-US" altLang="ko-KR"/>
              <a:t>- </a:t>
            </a:r>
            <a:r>
              <a:rPr lang="ko-KR" altLang="en-US"/>
              <a:t>스킬 </a:t>
            </a:r>
            <a:r>
              <a:rPr lang="en-US" altLang="ko-KR"/>
              <a:t>= </a:t>
            </a:r>
            <a:r>
              <a:rPr lang="ko-KR" altLang="en-US"/>
              <a:t>이 일을 어떻게 하는가 → 그 일이 생길 때만 읽습니다
</a:t>
            </a:r>
            <a:r>
              <a:rPr lang="en-US" altLang="ko-KR"/>
              <a:t>- MCP = </a:t>
            </a:r>
            <a:r>
              <a:rPr lang="ko-KR" altLang="en-US"/>
              <a:t>무엇을 만질 수 있는가 → 손과 발이 됩니다
외우게 하는 법 </a:t>
            </a:r>
            <a:r>
              <a:rPr lang="en-US" altLang="ko-KR"/>
              <a:t>— "</a:t>
            </a:r>
            <a:r>
              <a:rPr lang="ko-KR" altLang="en-US"/>
              <a:t>나 </a:t>
            </a:r>
            <a:r>
              <a:rPr lang="en-US" altLang="ko-KR"/>
              <a:t>/ </a:t>
            </a:r>
            <a:r>
              <a:rPr lang="ko-KR" altLang="en-US"/>
              <a:t>방법 </a:t>
            </a:r>
            <a:r>
              <a:rPr lang="en-US" altLang="ko-KR"/>
              <a:t>/ </a:t>
            </a:r>
            <a:r>
              <a:rPr lang="ko-KR" altLang="en-US"/>
              <a:t>손발</a:t>
            </a:r>
            <a:r>
              <a:rPr lang="en-US" altLang="ko-KR"/>
              <a:t>" </a:t>
            </a:r>
            <a:r>
              <a:rPr lang="ko-KR" altLang="en-US"/>
              <a:t>세 단어로 줄여서 두 번 말하게 하세요</a:t>
            </a:r>
            <a:r>
              <a:rPr lang="en-US" altLang="ko-KR"/>
              <a:t>. </a:t>
            </a:r>
            <a:r>
              <a:rPr lang="ko-KR" altLang="en-US"/>
              <a:t>이 구분이 잡히면 뒤의 프로젝트</a:t>
            </a:r>
            <a:r>
              <a:rPr lang="en-US" altLang="ko-KR"/>
              <a:t>(p.46)</a:t>
            </a:r>
            <a:r>
              <a:rPr lang="ko-KR" altLang="en-US"/>
              <a:t>에서 네 번째 칸을 붙이기만 하면 됩니다</a:t>
            </a:r>
            <a:r>
              <a:rPr lang="en-US" altLang="ko-KR"/>
              <a:t>.
★ </a:t>
            </a:r>
            <a:r>
              <a:rPr lang="ko-KR" altLang="en-US"/>
              <a:t>실제 사례를 하나 드세요</a:t>
            </a:r>
            <a:r>
              <a:rPr lang="en-US" altLang="ko-KR"/>
              <a:t>. </a:t>
            </a:r>
            <a:r>
              <a:rPr lang="ko-KR" altLang="en-US"/>
              <a:t>강사 본인이 쓰는 스킬 중 반복 업무 하나면 충분합니다</a:t>
            </a:r>
            <a:r>
              <a:rPr lang="en-US" altLang="ko-KR"/>
              <a:t>. </a:t>
            </a:r>
            <a:r>
              <a:rPr lang="ko-KR" altLang="en-US"/>
              <a:t>추상적으로 두면 안 와닿습니다</a:t>
            </a:r>
            <a:r>
              <a:rPr lang="en-US" altLang="ko-KR"/>
              <a:t>.
</a:t>
            </a:r>
            <a:r>
              <a:rPr lang="ko-KR" altLang="en-US"/>
              <a:t>예상 질문
</a:t>
            </a:r>
            <a:r>
              <a:rPr lang="en-US" altLang="ko-KR"/>
              <a:t>- "</a:t>
            </a:r>
            <a:r>
              <a:rPr lang="ko-KR" altLang="en-US"/>
              <a:t>개인 설정에 다 쓰면 안 되나요</a:t>
            </a:r>
            <a:r>
              <a:rPr lang="en-US" altLang="ko-KR"/>
              <a:t>?" → "</a:t>
            </a:r>
            <a:r>
              <a:rPr lang="ko-KR" altLang="en-US"/>
              <a:t>쓸 수는 있는데 모든 대화에 매번 얹힙니다</a:t>
            </a:r>
            <a:r>
              <a:rPr lang="en-US" altLang="ko-KR"/>
              <a:t>. </a:t>
            </a:r>
            <a:r>
              <a:rPr lang="ko-KR" altLang="en-US"/>
              <a:t>길수록 손해예요</a:t>
            </a:r>
            <a:r>
              <a:rPr lang="en-US" altLang="ko-KR"/>
              <a:t>. </a:t>
            </a:r>
            <a:r>
              <a:rPr lang="ko-KR" altLang="en-US"/>
              <a:t>그래서 </a:t>
            </a:r>
            <a:r>
              <a:rPr lang="en-US" altLang="ko-KR"/>
              <a:t>'</a:t>
            </a:r>
            <a:r>
              <a:rPr lang="ko-KR" altLang="en-US"/>
              <a:t>늘 필요한 것</a:t>
            </a:r>
            <a:r>
              <a:rPr lang="en-US" altLang="ko-KR"/>
              <a:t>'</a:t>
            </a:r>
            <a:r>
              <a:rPr lang="ko-KR" altLang="en-US"/>
              <a:t>만 개인 설정에 둡니다</a:t>
            </a:r>
            <a:r>
              <a:rPr lang="en-US" altLang="ko-KR"/>
              <a:t>."
- "</a:t>
            </a:r>
            <a:r>
              <a:rPr lang="ko-KR" altLang="en-US"/>
              <a:t>스킬이 안 켜지면요</a:t>
            </a:r>
            <a:r>
              <a:rPr lang="en-US" altLang="ko-KR"/>
              <a:t>?" → "</a:t>
            </a:r>
            <a:r>
              <a:rPr lang="ko-KR" altLang="en-US"/>
              <a:t>설명 줄에 그 상황의 말투가 안 적혀 있어서 그렇습니다</a:t>
            </a:r>
            <a:r>
              <a:rPr lang="en-US" altLang="ko-KR"/>
              <a:t>. '</a:t>
            </a:r>
            <a:r>
              <a:rPr lang="ko-KR" altLang="en-US"/>
              <a:t>이럴 때 쓴다</a:t>
            </a:r>
            <a:r>
              <a:rPr lang="en-US" altLang="ko-KR"/>
              <a:t>'</a:t>
            </a:r>
            <a:r>
              <a:rPr lang="ko-KR" altLang="en-US"/>
              <a:t>를 구체적으로 적을수록 잘 켜집니다</a:t>
            </a:r>
            <a:r>
              <a:rPr lang="en-US" altLang="ko-KR"/>
              <a:t>."
</a:t>
            </a:r>
            <a:r>
              <a:rPr lang="ko-KR" altLang="en-US"/>
              <a:t>하단 각주 한 줄은 반드시 읽어주세요 </a:t>
            </a:r>
            <a:r>
              <a:rPr lang="en-US" altLang="ko-KR"/>
              <a:t>— </a:t>
            </a:r>
            <a:r>
              <a:rPr lang="ko-KR" altLang="en-US"/>
              <a:t>스킬은 신뢰할 수 있는 출처의 것만 설치합니다</a:t>
            </a:r>
            <a:r>
              <a:rPr lang="en-US" altLang="ko-KR"/>
              <a:t>.</a:t>
            </a:r>
            <a:endParaRPr lang="ko-KR" altLang="en-US"/>
          </a:p>
        </p:txBody>
      </p:sp>
    </p:spTree>
    <p:extLst>
      <p:ext uri="{BB962C8B-B14F-4D97-AF65-F5344CB8AC3E}">
        <p14:creationId xmlns:p14="http://schemas.microsoft.com/office/powerpoint/2010/main" val="29396615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앞의 두 장이 말로 한 설명이었다면</a:t>
            </a:r>
            <a:r>
              <a:rPr lang="en-US" altLang="ko-KR"/>
              <a:t>, </a:t>
            </a:r>
            <a:r>
              <a:rPr lang="ko-KR" altLang="en-US"/>
              <a:t>여기는 실물을 보여주는 자리입니다</a:t>
            </a:r>
            <a:r>
              <a:rPr lang="en-US" altLang="ko-KR"/>
              <a:t>. </a:t>
            </a:r>
            <a:r>
              <a:rPr lang="ko-KR" altLang="en-US"/>
              <a:t>여기서 </a:t>
            </a:r>
            <a:r>
              <a:rPr lang="en-US" altLang="ko-KR"/>
              <a:t>"</a:t>
            </a:r>
            <a:r>
              <a:rPr lang="ko-KR" altLang="en-US"/>
              <a:t>아</a:t>
            </a:r>
            <a:r>
              <a:rPr lang="en-US" altLang="ko-KR"/>
              <a:t>, </a:t>
            </a:r>
            <a:r>
              <a:rPr lang="ko-KR" altLang="en-US"/>
              <a:t>저건 나도 쓰겠다</a:t>
            </a:r>
            <a:r>
              <a:rPr lang="en-US" altLang="ko-KR"/>
              <a:t>"</a:t>
            </a:r>
            <a:r>
              <a:rPr lang="ko-KR" altLang="en-US"/>
              <a:t>가 나와야 합니다</a:t>
            </a:r>
            <a:r>
              <a:rPr lang="en-US" altLang="ko-KR"/>
              <a:t>.
★ </a:t>
            </a:r>
            <a:r>
              <a:rPr lang="ko-KR" altLang="en-US"/>
              <a:t>왜 하필 이 스킬을 예시로 골랐는지 말해주세요 </a:t>
            </a:r>
            <a:r>
              <a:rPr lang="en-US" altLang="ko-KR"/>
              <a:t>— "</a:t>
            </a:r>
            <a:r>
              <a:rPr lang="ko-KR" altLang="en-US"/>
              <a:t>오늘 수업이 끝나고 여러분이 가장 많이 겪을 문제가 </a:t>
            </a:r>
            <a:r>
              <a:rPr lang="en-US" altLang="ko-KR"/>
              <a:t>'MCP</a:t>
            </a:r>
            <a:r>
              <a:rPr lang="ko-KR" altLang="en-US"/>
              <a:t>가 안 붙는다</a:t>
            </a:r>
            <a:r>
              <a:rPr lang="en-US" altLang="ko-KR"/>
              <a:t>'</a:t>
            </a:r>
            <a:r>
              <a:rPr lang="ko-KR" altLang="en-US"/>
              <a:t>입니다</a:t>
            </a:r>
            <a:r>
              <a:rPr lang="en-US" altLang="ko-KR"/>
              <a:t>. </a:t>
            </a:r>
            <a:r>
              <a:rPr lang="ko-KR" altLang="en-US"/>
              <a:t>그때 쓰라고 만든 스킬입니다</a:t>
            </a:r>
            <a:r>
              <a:rPr lang="en-US" altLang="ko-KR"/>
              <a:t>." </a:t>
            </a:r>
            <a:r>
              <a:rPr lang="ko-KR" altLang="en-US"/>
              <a:t>남의 일이 아니라 본인 일이 됩니다</a:t>
            </a:r>
            <a:r>
              <a:rPr lang="en-US" altLang="ko-KR"/>
              <a:t>.
★ </a:t>
            </a:r>
            <a:r>
              <a:rPr lang="ko-KR" altLang="en-US"/>
              <a:t>왼쪽 세 마디를 그대로 읽어주세요</a:t>
            </a:r>
            <a:r>
              <a:rPr lang="en-US" altLang="ko-KR"/>
              <a:t>. </a:t>
            </a:r>
            <a:r>
              <a:rPr lang="ko-KR" altLang="en-US"/>
              <a:t>전문 용어가 아니라 평소 말투라는 게 요점입니다</a:t>
            </a:r>
            <a:r>
              <a:rPr lang="en-US" altLang="ko-KR"/>
              <a:t>.
"MCP</a:t>
            </a:r>
            <a:r>
              <a:rPr lang="ko-KR" altLang="en-US"/>
              <a:t>가 안 붙어요</a:t>
            </a:r>
            <a:r>
              <a:rPr lang="en-US" altLang="ko-KR"/>
              <a:t>" / "Server disconnected </a:t>
            </a:r>
            <a:r>
              <a:rPr lang="ko-KR" altLang="en-US"/>
              <a:t>떠요</a:t>
            </a:r>
            <a:r>
              <a:rPr lang="en-US" altLang="ko-KR"/>
              <a:t>" / "</a:t>
            </a:r>
            <a:r>
              <a:rPr lang="ko-KR" altLang="en-US"/>
              <a:t>확장 프로그램 설치가 안 돼요</a:t>
            </a:r>
            <a:r>
              <a:rPr lang="en-US" altLang="ko-KR"/>
              <a:t>"
→ "</a:t>
            </a:r>
            <a:r>
              <a:rPr lang="ko-KR" altLang="en-US"/>
              <a:t>이렇게만 말하면 됩니다</a:t>
            </a:r>
            <a:r>
              <a:rPr lang="en-US" altLang="ko-KR"/>
              <a:t>. '</a:t>
            </a:r>
            <a:r>
              <a:rPr lang="ko-KR" altLang="en-US"/>
              <a:t>스킬 실행해줘</a:t>
            </a:r>
            <a:r>
              <a:rPr lang="en-US" altLang="ko-KR"/>
              <a:t>' </a:t>
            </a:r>
            <a:r>
              <a:rPr lang="ko-KR" altLang="en-US"/>
              <a:t>같은 말은 필요 없습니다</a:t>
            </a:r>
            <a:r>
              <a:rPr lang="en-US" altLang="ko-KR"/>
              <a:t>. Claude</a:t>
            </a:r>
            <a:r>
              <a:rPr lang="ko-KR" altLang="en-US"/>
              <a:t>가 알아서 꺼냅니다</a:t>
            </a:r>
            <a:r>
              <a:rPr lang="en-US" altLang="ko-KR"/>
              <a:t>."
★ </a:t>
            </a:r>
            <a:r>
              <a:rPr lang="ko-KR" altLang="en-US"/>
              <a:t>오른쪽 폴더 구조를 보여주며 </a:t>
            </a:r>
            <a:r>
              <a:rPr lang="en-US" altLang="ko-KR"/>
              <a:t>— "</a:t>
            </a:r>
            <a:r>
              <a:rPr lang="ko-KR" altLang="en-US"/>
              <a:t>스킬 안에 든 게 이게 전부입니다</a:t>
            </a:r>
            <a:r>
              <a:rPr lang="en-US" altLang="ko-KR"/>
              <a:t>. </a:t>
            </a:r>
            <a:r>
              <a:rPr lang="ko-KR" altLang="en-US"/>
              <a:t>설명서 한 장</a:t>
            </a:r>
            <a:r>
              <a:rPr lang="en-US" altLang="ko-KR"/>
              <a:t>, </a:t>
            </a:r>
            <a:r>
              <a:rPr lang="ko-KR" altLang="en-US"/>
              <a:t>자주 겪는 오류 목록 한 장</a:t>
            </a:r>
            <a:r>
              <a:rPr lang="en-US" altLang="ko-KR"/>
              <a:t>. </a:t>
            </a:r>
            <a:r>
              <a:rPr lang="ko-KR" altLang="en-US"/>
              <a:t>프로그램이 아니라 글입니다</a:t>
            </a:r>
            <a:r>
              <a:rPr lang="en-US" altLang="ko-KR"/>
              <a:t>."
</a:t>
            </a:r>
            <a:r>
              <a:rPr lang="ko-KR" altLang="en-US"/>
              <a:t>하는 일 </a:t>
            </a:r>
            <a:r>
              <a:rPr lang="en-US" altLang="ko-KR"/>
              <a:t>3</a:t>
            </a:r>
            <a:r>
              <a:rPr lang="ko-KR" altLang="en-US"/>
              <a:t>단계는 빠르게 </a:t>
            </a:r>
            <a:r>
              <a:rPr lang="en-US" altLang="ko-KR"/>
              <a:t>— </a:t>
            </a:r>
            <a:r>
              <a:rPr lang="ko-KR" altLang="en-US"/>
              <a:t>죽은 서버 훑기 → 겪어본 오류 문구와 대조 → 무엇을 고칠지까지</a:t>
            </a:r>
            <a:r>
              <a:rPr lang="en-US" altLang="ko-KR"/>
              <a:t>.
★★ "</a:t>
            </a:r>
            <a:r>
              <a:rPr lang="ko-KR" altLang="en-US"/>
              <a:t>설정 파일을 통째로 읽지 않습니다</a:t>
            </a:r>
            <a:r>
              <a:rPr lang="en-US" altLang="ko-KR"/>
              <a:t>. </a:t>
            </a:r>
            <a:r>
              <a:rPr lang="ko-KR" altLang="en-US"/>
              <a:t>필요한 줄만 봅니다</a:t>
            </a:r>
            <a:r>
              <a:rPr lang="en-US" altLang="ko-KR"/>
              <a:t>." </a:t>
            </a:r>
            <a:r>
              <a:rPr lang="ko-KR" altLang="en-US"/>
              <a:t>이 줄은 그냥 넘기지 마세요</a:t>
            </a:r>
            <a:r>
              <a:rPr lang="en-US" altLang="ko-KR"/>
              <a:t>. </a:t>
            </a:r>
            <a:r>
              <a:rPr lang="ko-KR" altLang="en-US"/>
              <a:t>설정 파일에는 </a:t>
            </a:r>
            <a:r>
              <a:rPr lang="en-US" altLang="ko-KR"/>
              <a:t>API </a:t>
            </a:r>
            <a:r>
              <a:rPr lang="ko-KR" altLang="en-US"/>
              <a:t>키가 들어 있습니다</a:t>
            </a:r>
            <a:r>
              <a:rPr lang="en-US" altLang="ko-KR"/>
              <a:t>. </a:t>
            </a:r>
            <a:r>
              <a:rPr lang="ko-KR" altLang="en-US"/>
              <a:t>앞의 보안 장</a:t>
            </a:r>
            <a:r>
              <a:rPr lang="en-US" altLang="ko-KR"/>
              <a:t>(p.32)</a:t>
            </a:r>
            <a:r>
              <a:rPr lang="ko-KR" altLang="en-US"/>
              <a:t>과 이어서 짚어주면 신뢰가 올라갑니다</a:t>
            </a:r>
            <a:r>
              <a:rPr lang="en-US" altLang="ko-KR"/>
              <a:t>.
</a:t>
            </a:r>
            <a:r>
              <a:rPr lang="ko-KR" altLang="en-US"/>
              <a:t>설치 방법 </a:t>
            </a:r>
            <a:r>
              <a:rPr lang="en-US" altLang="ko-KR"/>
              <a:t>— .skill </a:t>
            </a:r>
            <a:r>
              <a:rPr lang="ko-KR" altLang="en-US"/>
              <a:t>파일을 채팅창에 끌어다 놓고 저장 한 번</a:t>
            </a:r>
            <a:r>
              <a:rPr lang="en-US" altLang="ko-KR"/>
              <a:t>. </a:t>
            </a:r>
            <a:r>
              <a:rPr lang="ko-KR" altLang="en-US"/>
              <a:t>새 대화부터 적용됩니다</a:t>
            </a:r>
            <a:r>
              <a:rPr lang="en-US" altLang="ko-KR"/>
              <a:t>. ★ '</a:t>
            </a:r>
            <a:r>
              <a:rPr lang="ko-KR" altLang="en-US"/>
              <a:t>새 대화부터</a:t>
            </a:r>
            <a:r>
              <a:rPr lang="en-US" altLang="ko-KR"/>
              <a:t>'</a:t>
            </a:r>
            <a:r>
              <a:rPr lang="ko-KR" altLang="en-US"/>
              <a:t>가 중요합니다</a:t>
            </a:r>
            <a:r>
              <a:rPr lang="en-US" altLang="ko-KR"/>
              <a:t>. </a:t>
            </a:r>
            <a:r>
              <a:rPr lang="ko-KR" altLang="en-US"/>
              <a:t>열려 있던 대화에서는 안 켜집니다</a:t>
            </a:r>
            <a:r>
              <a:rPr lang="en-US" altLang="ko-KR"/>
              <a:t>. </a:t>
            </a:r>
            <a:r>
              <a:rPr lang="ko-KR" altLang="en-US"/>
              <a:t>여기서 </a:t>
            </a:r>
            <a:r>
              <a:rPr lang="en-US" altLang="ko-KR"/>
              <a:t>"</a:t>
            </a:r>
            <a:r>
              <a:rPr lang="ko-KR" altLang="en-US"/>
              <a:t>안 되는데요</a:t>
            </a:r>
            <a:r>
              <a:rPr lang="en-US" altLang="ko-KR"/>
              <a:t>"</a:t>
            </a:r>
            <a:r>
              <a:rPr lang="ko-KR" altLang="en-US"/>
              <a:t>가 나옵니다</a:t>
            </a:r>
            <a:r>
              <a:rPr lang="en-US" altLang="ko-KR"/>
              <a:t>.
</a:t>
            </a:r>
            <a:r>
              <a:rPr lang="ko-KR" altLang="en-US"/>
              <a:t>예상 질문 </a:t>
            </a:r>
            <a:r>
              <a:rPr lang="en-US" altLang="ko-KR"/>
              <a:t>— "</a:t>
            </a:r>
            <a:r>
              <a:rPr lang="ko-KR" altLang="en-US"/>
              <a:t>이거 어디서 받나요</a:t>
            </a:r>
            <a:r>
              <a:rPr lang="en-US" altLang="ko-KR"/>
              <a:t>?" → </a:t>
            </a:r>
            <a:r>
              <a:rPr lang="ko-KR" altLang="en-US"/>
              <a:t>다음 장</a:t>
            </a:r>
            <a:r>
              <a:rPr lang="en-US" altLang="ko-KR"/>
              <a:t>(p.43)</a:t>
            </a:r>
            <a:r>
              <a:rPr lang="ko-KR" altLang="en-US"/>
              <a:t>에서 여덟 개를 한꺼번에 받는다고 넘기세요</a:t>
            </a:r>
            <a:r>
              <a:rPr lang="en-US" altLang="ko-KR"/>
              <a:t>.</a:t>
            </a:r>
            <a:endParaRPr lang="ko-KR" altLang="en-US"/>
          </a:p>
        </p:txBody>
      </p:sp>
    </p:spTree>
    <p:extLst>
      <p:ext uri="{BB962C8B-B14F-4D97-AF65-F5344CB8AC3E}">
        <p14:creationId xmlns:p14="http://schemas.microsoft.com/office/powerpoint/2010/main" val="21608684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장은 실습입니다</a:t>
            </a:r>
            <a:r>
              <a:rPr lang="en-US" altLang="ko-KR"/>
              <a:t>. </a:t>
            </a:r>
            <a:r>
              <a:rPr lang="ko-KR" altLang="en-US"/>
              <a:t>설명 말고 같이 하세요</a:t>
            </a:r>
            <a:r>
              <a:rPr lang="en-US" altLang="ko-KR"/>
              <a:t>. 2~3</a:t>
            </a:r>
            <a:r>
              <a:rPr lang="ko-KR" altLang="en-US"/>
              <a:t>분이면 끝납니다</a:t>
            </a:r>
            <a:r>
              <a:rPr lang="en-US" altLang="ko-KR"/>
              <a:t>.
</a:t>
            </a:r>
            <a:r>
              <a:rPr lang="ko-KR" altLang="en-US"/>
              <a:t>순서
</a:t>
            </a:r>
            <a:r>
              <a:rPr lang="en-US" altLang="ko-KR"/>
              <a:t>1) GitHub </a:t>
            </a:r>
            <a:r>
              <a:rPr lang="ko-KR" altLang="en-US"/>
              <a:t>주소를 엽니다 </a:t>
            </a:r>
            <a:r>
              <a:rPr lang="en-US" altLang="ko-KR"/>
              <a:t>(p.25</a:t>
            </a:r>
            <a:r>
              <a:rPr lang="ko-KR" altLang="en-US"/>
              <a:t>에서 이미 열어본 곳과 같은 곳입니다</a:t>
            </a:r>
            <a:r>
              <a:rPr lang="en-US" altLang="ko-KR"/>
              <a:t>).
2) claude-guide-kr.plugin </a:t>
            </a:r>
            <a:r>
              <a:rPr lang="ko-KR" altLang="en-US"/>
              <a:t>파일 하나를 내려받습니다</a:t>
            </a:r>
            <a:r>
              <a:rPr lang="en-US" altLang="ko-KR"/>
              <a:t>.
3) </a:t>
            </a:r>
            <a:r>
              <a:rPr lang="ko-KR" altLang="en-US"/>
              <a:t>채팅창에 끌어다 놓고 저장을 누릅니다</a:t>
            </a:r>
            <a:r>
              <a:rPr lang="en-US" altLang="ko-KR"/>
              <a:t>.
4) </a:t>
            </a:r>
            <a:r>
              <a:rPr lang="ko-KR" altLang="en-US"/>
              <a:t>새 대화를 하나 열어 확인합니다</a:t>
            </a:r>
            <a:r>
              <a:rPr lang="en-US" altLang="ko-KR"/>
              <a:t>. ★ </a:t>
            </a:r>
            <a:r>
              <a:rPr lang="ko-KR" altLang="en-US"/>
              <a:t>열려 있던 대화에서는 안 켜집니다</a:t>
            </a:r>
            <a:r>
              <a:rPr lang="en-US" altLang="ko-KR"/>
              <a:t>.
★ "</a:t>
            </a:r>
            <a:r>
              <a:rPr lang="ko-KR" altLang="en-US"/>
              <a:t>여덟 개를 하나씩 넣지 않아도 된다</a:t>
            </a:r>
            <a:r>
              <a:rPr lang="en-US" altLang="ko-KR"/>
              <a:t>"</a:t>
            </a:r>
            <a:r>
              <a:rPr lang="ko-KR" altLang="en-US"/>
              <a:t>가 이 장의 전부입니다</a:t>
            </a:r>
            <a:r>
              <a:rPr lang="en-US" altLang="ko-KR"/>
              <a:t>. </a:t>
            </a:r>
            <a:r>
              <a:rPr lang="ko-KR" altLang="en-US"/>
              <a:t>개별 스킬 설명에 시간을 쓰지 마세요</a:t>
            </a:r>
            <a:r>
              <a:rPr lang="en-US" altLang="ko-KR"/>
              <a:t>. </a:t>
            </a:r>
            <a:r>
              <a:rPr lang="ko-KR" altLang="en-US"/>
              <a:t>이름만 훑고 넘어갑니다</a:t>
            </a:r>
            <a:r>
              <a:rPr lang="en-US" altLang="ko-KR"/>
              <a:t>.
</a:t>
            </a:r>
            <a:r>
              <a:rPr lang="ko-KR" altLang="en-US"/>
              <a:t>분야별로 이렇게만 짚으세요
</a:t>
            </a:r>
            <a:r>
              <a:rPr lang="en-US" altLang="ko-KR"/>
              <a:t>- </a:t>
            </a:r>
            <a:r>
              <a:rPr lang="ko-KR" altLang="en-US"/>
              <a:t>어디에나 셋 </a:t>
            </a:r>
            <a:r>
              <a:rPr lang="en-US" altLang="ko-KR"/>
              <a:t>— MCP </a:t>
            </a:r>
            <a:r>
              <a:rPr lang="ko-KR" altLang="en-US"/>
              <a:t>진단 </a:t>
            </a:r>
            <a:r>
              <a:rPr lang="en-US" altLang="ko-KR"/>
              <a:t>/ </a:t>
            </a:r>
            <a:r>
              <a:rPr lang="ko-KR" altLang="en-US"/>
              <a:t>금액 표기 </a:t>
            </a:r>
            <a:r>
              <a:rPr lang="en-US" altLang="ko-KR"/>
              <a:t>/ </a:t>
            </a:r>
            <a:r>
              <a:rPr lang="ko-KR" altLang="en-US"/>
              <a:t>대시보드 갱신</a:t>
            </a:r>
            <a:r>
              <a:rPr lang="en-US" altLang="ko-KR"/>
              <a:t>. </a:t>
            </a:r>
            <a:r>
              <a:rPr lang="ko-KR" altLang="en-US"/>
              <a:t>관심 분야와 무관하게 전원에게 쓸모가 있습니다</a:t>
            </a:r>
            <a:r>
              <a:rPr lang="en-US" altLang="ko-KR"/>
              <a:t>.
- </a:t>
            </a:r>
            <a:r>
              <a:rPr lang="ko-KR" altLang="en-US"/>
              <a:t>경매</a:t>
            </a:r>
            <a:r>
              <a:rPr lang="en-US" altLang="ko-KR"/>
              <a:t>·</a:t>
            </a:r>
            <a:r>
              <a:rPr lang="ko-KR" altLang="en-US"/>
              <a:t>부동산 셋 </a:t>
            </a:r>
            <a:r>
              <a:rPr lang="en-US" altLang="ko-KR"/>
              <a:t>— </a:t>
            </a:r>
            <a:r>
              <a:rPr lang="ko-KR" altLang="en-US"/>
              <a:t>물건 분석 </a:t>
            </a:r>
            <a:r>
              <a:rPr lang="en-US" altLang="ko-KR"/>
              <a:t>/ </a:t>
            </a:r>
            <a:r>
              <a:rPr lang="ko-KR" altLang="en-US"/>
              <a:t>입지</a:t>
            </a:r>
            <a:r>
              <a:rPr lang="en-US" altLang="ko-KR"/>
              <a:t>·</a:t>
            </a:r>
            <a:r>
              <a:rPr lang="ko-KR" altLang="en-US"/>
              <a:t>상권 조사 </a:t>
            </a:r>
            <a:r>
              <a:rPr lang="en-US" altLang="ko-KR"/>
              <a:t>/ </a:t>
            </a:r>
            <a:r>
              <a:rPr lang="ko-KR" altLang="en-US"/>
              <a:t>온비드 조회
</a:t>
            </a:r>
            <a:r>
              <a:rPr lang="en-US" altLang="ko-KR"/>
              <a:t>- </a:t>
            </a:r>
            <a:r>
              <a:rPr lang="ko-KR" altLang="en-US"/>
              <a:t>주식 둘 </a:t>
            </a:r>
            <a:r>
              <a:rPr lang="en-US" altLang="ko-KR"/>
              <a:t>— </a:t>
            </a:r>
            <a:r>
              <a:rPr lang="ko-KR" altLang="en-US"/>
              <a:t>종목 </a:t>
            </a:r>
            <a:r>
              <a:rPr lang="en-US" altLang="ko-KR"/>
              <a:t>1</a:t>
            </a:r>
            <a:r>
              <a:rPr lang="ko-KR" altLang="en-US"/>
              <a:t>차 점검 </a:t>
            </a:r>
            <a:r>
              <a:rPr lang="en-US" altLang="ko-KR"/>
              <a:t>/ </a:t>
            </a:r>
            <a:r>
              <a:rPr lang="ko-KR" altLang="en-US"/>
              <a:t>세금 산정
★ 관심 분야가 갈리는 자리입니다</a:t>
            </a:r>
            <a:r>
              <a:rPr lang="en-US" altLang="ko-KR"/>
              <a:t>. "</a:t>
            </a:r>
            <a:r>
              <a:rPr lang="ko-KR" altLang="en-US"/>
              <a:t>내 분야가 아닌 스킬은 어차피 안 켜집니다</a:t>
            </a:r>
            <a:r>
              <a:rPr lang="en-US" altLang="ko-KR"/>
              <a:t>. </a:t>
            </a:r>
            <a:r>
              <a:rPr lang="ko-KR" altLang="en-US"/>
              <a:t>지우실 필요 없습니다</a:t>
            </a:r>
            <a:r>
              <a:rPr lang="en-US" altLang="ko-KR"/>
              <a:t>."</a:t>
            </a:r>
            <a:r>
              <a:rPr lang="ko-KR" altLang="en-US"/>
              <a:t>라고 미리 말해주면 질문이 줄어듭니다</a:t>
            </a:r>
            <a:r>
              <a:rPr lang="en-US" altLang="ko-KR"/>
              <a:t>.
★★ </a:t>
            </a:r>
            <a:r>
              <a:rPr lang="ko-KR" altLang="en-US"/>
              <a:t>아래 두 줄을 반드시 소리 내어 읽으세요</a:t>
            </a:r>
            <a:r>
              <a:rPr lang="en-US" altLang="ko-KR"/>
              <a:t>. </a:t>
            </a:r>
            <a:r>
              <a:rPr lang="ko-KR" altLang="en-US"/>
              <a:t>넘기지 마십시오</a:t>
            </a:r>
            <a:r>
              <a:rPr lang="en-US" altLang="ko-KR"/>
              <a:t>.
- "</a:t>
            </a:r>
            <a:r>
              <a:rPr lang="ko-KR" altLang="en-US"/>
              <a:t>낙찰가 계수와 </a:t>
            </a:r>
            <a:r>
              <a:rPr lang="en-US" altLang="ko-KR"/>
              <a:t>NPL </a:t>
            </a:r>
            <a:r>
              <a:rPr lang="ko-KR" altLang="en-US"/>
              <a:t>매입 분석은 들어 있지 않습니다</a:t>
            </a:r>
            <a:r>
              <a:rPr lang="en-US" altLang="ko-KR"/>
              <a:t>. </a:t>
            </a:r>
            <a:r>
              <a:rPr lang="ko-KR" altLang="en-US"/>
              <a:t>공개 데이터와 법령만 씁니다</a:t>
            </a:r>
            <a:r>
              <a:rPr lang="en-US" altLang="ko-KR"/>
              <a:t>."
- "</a:t>
            </a:r>
            <a:r>
              <a:rPr lang="ko-KR" altLang="en-US"/>
              <a:t>스킬은 자료를 정리하고 위험을 드러낼 뿐</a:t>
            </a:r>
            <a:r>
              <a:rPr lang="en-US" altLang="ko-KR"/>
              <a:t>, </a:t>
            </a:r>
            <a:r>
              <a:rPr lang="ko-KR" altLang="en-US"/>
              <a:t>투자를 권유하지 않습니다</a:t>
            </a:r>
            <a:r>
              <a:rPr lang="en-US" altLang="ko-KR"/>
              <a:t>."
→ </a:t>
            </a:r>
            <a:r>
              <a:rPr lang="ko-KR" altLang="en-US"/>
              <a:t>여기서 </a:t>
            </a:r>
            <a:r>
              <a:rPr lang="en-US" altLang="ko-KR"/>
              <a:t>"</a:t>
            </a:r>
            <a:r>
              <a:rPr lang="ko-KR" altLang="en-US"/>
              <a:t>이거 쓰면 돈 벌 수 있나요</a:t>
            </a:r>
            <a:r>
              <a:rPr lang="en-US" altLang="ko-KR"/>
              <a:t>" </a:t>
            </a:r>
            <a:r>
              <a:rPr lang="ko-KR" altLang="en-US"/>
              <a:t>같은 질문이 반드시 나옵니다</a:t>
            </a:r>
            <a:r>
              <a:rPr lang="en-US" altLang="ko-KR"/>
              <a:t>. </a:t>
            </a:r>
            <a:r>
              <a:rPr lang="ko-KR" altLang="en-US"/>
              <a:t>미리 선을 그어두면 뒤가 편합니다</a:t>
            </a:r>
            <a:r>
              <a:rPr lang="en-US" altLang="ko-KR"/>
              <a:t>. </a:t>
            </a:r>
            <a:r>
              <a:rPr lang="ko-KR" altLang="en-US"/>
              <a:t>판단과 그 결과는 본인 책임이라고 분명히 하세요</a:t>
            </a:r>
            <a:r>
              <a:rPr lang="en-US" altLang="ko-KR"/>
              <a:t>.
</a:t>
            </a:r>
            <a:r>
              <a:rPr lang="ko-KR" altLang="en-US"/>
              <a:t>예상 질문
</a:t>
            </a:r>
            <a:r>
              <a:rPr lang="en-US" altLang="ko-KR"/>
              <a:t>- "</a:t>
            </a:r>
            <a:r>
              <a:rPr lang="ko-KR" altLang="en-US"/>
              <a:t>스킬이 켜졌는지 어떻게 알아요</a:t>
            </a:r>
            <a:r>
              <a:rPr lang="en-US" altLang="ko-KR"/>
              <a:t>?" → </a:t>
            </a:r>
            <a:r>
              <a:rPr lang="ko-KR" altLang="en-US"/>
              <a:t>새 대화에서 해당 상황의 말을 한마디 던져 보게 하세요</a:t>
            </a:r>
            <a:r>
              <a:rPr lang="en-US" altLang="ko-KR"/>
              <a:t>. </a:t>
            </a:r>
            <a:r>
              <a:rPr lang="ko-KR" altLang="en-US"/>
              <a:t>실제로 켜지는 걸 보는 게 가장 빠릅니다</a:t>
            </a:r>
            <a:r>
              <a:rPr lang="en-US" altLang="ko-KR"/>
              <a:t>.
- "</a:t>
            </a:r>
            <a:r>
              <a:rPr lang="ko-KR" altLang="en-US"/>
              <a:t>나중에 지울 수 있나요</a:t>
            </a:r>
            <a:r>
              <a:rPr lang="en-US" altLang="ko-KR"/>
              <a:t>?" → </a:t>
            </a:r>
            <a:r>
              <a:rPr lang="ko-KR" altLang="en-US"/>
              <a:t>설치한 것은 지울 수 있습니다</a:t>
            </a:r>
            <a:r>
              <a:rPr lang="en-US" altLang="ko-KR"/>
              <a:t>.</a:t>
            </a:r>
            <a:endParaRPr lang="ko-KR" altLang="en-US"/>
          </a:p>
        </p:txBody>
      </p:sp>
    </p:spTree>
    <p:extLst>
      <p:ext uri="{BB962C8B-B14F-4D97-AF65-F5344CB8AC3E}">
        <p14:creationId xmlns:p14="http://schemas.microsoft.com/office/powerpoint/2010/main" val="16426761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섹션 표지입니다</a:t>
            </a:r>
            <a:r>
              <a:rPr lang="en-US" altLang="ko-KR"/>
              <a:t>. 10~15</a:t>
            </a:r>
            <a:r>
              <a:rPr lang="ko-KR" altLang="en-US"/>
              <a:t>초</a:t>
            </a:r>
            <a:r>
              <a:rPr lang="en-US" altLang="ko-KR"/>
              <a:t>.
</a:t>
            </a:r>
            <a:r>
              <a:rPr lang="ko-KR" altLang="en-US"/>
              <a:t>말할 것 </a:t>
            </a:r>
            <a:r>
              <a:rPr lang="en-US" altLang="ko-KR"/>
              <a:t>— "</a:t>
            </a:r>
            <a:r>
              <a:rPr lang="ko-KR" altLang="en-US"/>
              <a:t>마지막입니다</a:t>
            </a:r>
            <a:r>
              <a:rPr lang="en-US" altLang="ko-KR"/>
              <a:t>. </a:t>
            </a:r>
            <a:r>
              <a:rPr lang="ko-KR" altLang="en-US"/>
              <a:t>앞에서 배운 것들을 </a:t>
            </a:r>
            <a:r>
              <a:rPr lang="en-US" altLang="ko-KR"/>
              <a:t>'</a:t>
            </a:r>
            <a:r>
              <a:rPr lang="ko-KR" altLang="en-US"/>
              <a:t>어디에 담아 두고 어떻게 반복시킬 것인가</a:t>
            </a:r>
            <a:r>
              <a:rPr lang="en-US" altLang="ko-KR"/>
              <a:t>'</a:t>
            </a:r>
            <a:r>
              <a:rPr lang="ko-KR" altLang="en-US"/>
              <a:t>를 봅니다</a:t>
            </a:r>
            <a:r>
              <a:rPr lang="en-US" altLang="ko-KR"/>
              <a:t>."
★ </a:t>
            </a:r>
            <a:r>
              <a:rPr lang="ko-KR" altLang="en-US"/>
              <a:t>마지막 섹션이라 집중력이 떨어지는 구간입니다</a:t>
            </a:r>
            <a:r>
              <a:rPr lang="en-US" altLang="ko-KR"/>
              <a:t>. </a:t>
            </a:r>
            <a:r>
              <a:rPr lang="ko-KR" altLang="en-US"/>
              <a:t>도착점을 먼저 말해주세요 </a:t>
            </a:r>
            <a:r>
              <a:rPr lang="en-US" altLang="ko-KR"/>
              <a:t>— "</a:t>
            </a:r>
            <a:r>
              <a:rPr lang="ko-KR" altLang="en-US"/>
              <a:t>세 개만 보고 끝납니다</a:t>
            </a:r>
            <a:r>
              <a:rPr lang="en-US" altLang="ko-KR"/>
              <a:t>. </a:t>
            </a:r>
            <a:r>
              <a:rPr lang="ko-KR" altLang="en-US"/>
              <a:t>전용 책상</a:t>
            </a:r>
            <a:r>
              <a:rPr lang="en-US" altLang="ko-KR"/>
              <a:t>, </a:t>
            </a:r>
            <a:r>
              <a:rPr lang="ko-KR" altLang="en-US"/>
              <a:t>남는 결과물</a:t>
            </a:r>
            <a:r>
              <a:rPr lang="en-US" altLang="ko-KR"/>
              <a:t>, </a:t>
            </a:r>
            <a:r>
              <a:rPr lang="ko-KR" altLang="en-US"/>
              <a:t>알아서 반복</a:t>
            </a:r>
            <a:r>
              <a:rPr lang="en-US" altLang="ko-KR"/>
              <a:t>."
★ </a:t>
            </a:r>
            <a:r>
              <a:rPr lang="ko-KR" altLang="en-US"/>
              <a:t>세 가지 중 오늘 당장 쓸 수 있는 건 프로젝트</a:t>
            </a:r>
            <a:r>
              <a:rPr lang="en-US" altLang="ko-KR"/>
              <a:t>(p.45~46)</a:t>
            </a:r>
            <a:r>
              <a:rPr lang="ko-KR" altLang="en-US"/>
              <a:t>입니다</a:t>
            </a:r>
            <a:r>
              <a:rPr lang="en-US" altLang="ko-KR"/>
              <a:t>. </a:t>
            </a:r>
            <a:r>
              <a:rPr lang="ko-KR" altLang="en-US"/>
              <a:t>아티팩트와 예정됨은 </a:t>
            </a:r>
            <a:r>
              <a:rPr lang="en-US" altLang="ko-KR"/>
              <a:t>"</a:t>
            </a:r>
            <a:r>
              <a:rPr lang="ko-KR" altLang="en-US"/>
              <a:t>이런 게 있다</a:t>
            </a:r>
            <a:r>
              <a:rPr lang="en-US" altLang="ko-KR"/>
              <a:t>"</a:t>
            </a:r>
            <a:r>
              <a:rPr lang="ko-KR" altLang="en-US"/>
              <a:t>만 남기면 충분합니다</a:t>
            </a:r>
            <a:r>
              <a:rPr lang="en-US" altLang="ko-KR"/>
              <a:t>. </a:t>
            </a:r>
            <a:r>
              <a:rPr lang="ko-KR" altLang="en-US"/>
              <a:t>시간이 모자라면 뒤쪽부터 줄이세요</a:t>
            </a:r>
            <a:r>
              <a:rPr lang="en-US" altLang="ko-KR"/>
              <a:t>.
</a:t>
            </a:r>
            <a:r>
              <a:rPr lang="ko-KR" altLang="en-US"/>
              <a:t>요금제 관련 안내를 미리 한 번 하세요 </a:t>
            </a:r>
            <a:r>
              <a:rPr lang="en-US" altLang="ko-KR"/>
              <a:t>— </a:t>
            </a:r>
            <a:r>
              <a:rPr lang="ko-KR" altLang="en-US"/>
              <a:t>이 섹션에는 유료 플랜에서만 되는 기능이 섞여 있습니다</a:t>
            </a:r>
            <a:r>
              <a:rPr lang="en-US" altLang="ko-KR"/>
              <a:t>. </a:t>
            </a:r>
            <a:r>
              <a:rPr lang="ko-KR" altLang="en-US"/>
              <a:t>각 슬라이드에서 그때그때 짚습니다</a:t>
            </a:r>
            <a:r>
              <a:rPr lang="en-US" altLang="ko-KR"/>
              <a:t>.</a:t>
            </a:r>
            <a:endParaRPr lang="ko-KR" altLang="en-US"/>
          </a:p>
        </p:txBody>
      </p:sp>
    </p:spTree>
    <p:extLst>
      <p:ext uri="{BB962C8B-B14F-4D97-AF65-F5344CB8AC3E}">
        <p14:creationId xmlns:p14="http://schemas.microsoft.com/office/powerpoint/2010/main" val="15201382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프로젝트를 </a:t>
            </a:r>
            <a:r>
              <a:rPr lang="en-US" altLang="ko-KR"/>
              <a:t>'</a:t>
            </a:r>
            <a:r>
              <a:rPr lang="ko-KR" altLang="en-US"/>
              <a:t>폴더</a:t>
            </a:r>
            <a:r>
              <a:rPr lang="en-US" altLang="ko-KR"/>
              <a:t>'</a:t>
            </a:r>
            <a:r>
              <a:rPr lang="ko-KR" altLang="en-US"/>
              <a:t>가 아니라 </a:t>
            </a:r>
            <a:r>
              <a:rPr lang="en-US" altLang="ko-KR"/>
              <a:t>'</a:t>
            </a:r>
            <a:r>
              <a:rPr lang="ko-KR" altLang="en-US"/>
              <a:t>전용 책상</a:t>
            </a:r>
            <a:r>
              <a:rPr lang="en-US" altLang="ko-KR"/>
              <a:t>'</a:t>
            </a:r>
            <a:r>
              <a:rPr lang="ko-KR" altLang="en-US"/>
              <a:t>으로 이해시키는 것입니다</a:t>
            </a:r>
            <a:r>
              <a:rPr lang="en-US" altLang="ko-KR"/>
              <a:t>.
</a:t>
            </a:r>
            <a:r>
              <a:rPr lang="ko-KR" altLang="en-US"/>
              <a:t>비유 먼저 </a:t>
            </a:r>
            <a:r>
              <a:rPr lang="en-US" altLang="ko-KR"/>
              <a:t>— "</a:t>
            </a:r>
            <a:r>
              <a:rPr lang="ko-KR" altLang="en-US"/>
              <a:t>책상이 하나뿐이면 경매 서류 위에 주식 자료가 겹쳐 쌓입니다</a:t>
            </a:r>
            <a:r>
              <a:rPr lang="en-US" altLang="ko-KR"/>
              <a:t>. </a:t>
            </a:r>
            <a:r>
              <a:rPr lang="ko-KR" altLang="en-US"/>
              <a:t>일마다 책상을 따로 두면</a:t>
            </a:r>
            <a:r>
              <a:rPr lang="en-US" altLang="ko-KR"/>
              <a:t>, </a:t>
            </a:r>
            <a:r>
              <a:rPr lang="ko-KR" altLang="en-US"/>
              <a:t>앉는 순간 그 일에 필요한 게 이미 펼쳐져 있습니다</a:t>
            </a:r>
            <a:r>
              <a:rPr lang="en-US" altLang="ko-KR"/>
              <a:t>. </a:t>
            </a:r>
            <a:r>
              <a:rPr lang="ko-KR" altLang="en-US"/>
              <a:t>프로젝트가 그겁니다</a:t>
            </a:r>
            <a:r>
              <a:rPr lang="en-US" altLang="ko-KR"/>
              <a:t>."
</a:t>
            </a:r>
            <a:r>
              <a:rPr lang="ko-KR" altLang="en-US"/>
              <a:t>담기는 세 가지를 손으로 짚으며
</a:t>
            </a:r>
            <a:r>
              <a:rPr lang="en-US" altLang="ko-KR"/>
              <a:t>1) </a:t>
            </a:r>
            <a:r>
              <a:rPr lang="ko-KR" altLang="en-US"/>
              <a:t>프로젝트 지침 </a:t>
            </a:r>
            <a:r>
              <a:rPr lang="en-US" altLang="ko-KR"/>
              <a:t>— </a:t>
            </a:r>
            <a:r>
              <a:rPr lang="ko-KR" altLang="en-US"/>
              <a:t>이 안에서 지킬 규칙</a:t>
            </a:r>
            <a:r>
              <a:rPr lang="en-US" altLang="ko-KR"/>
              <a:t>. </a:t>
            </a:r>
            <a:r>
              <a:rPr lang="ko-KR" altLang="en-US"/>
              <a:t>예시가 슬라이드에 있습니다</a:t>
            </a:r>
            <a:r>
              <a:rPr lang="en-US" altLang="ko-KR"/>
              <a:t>. </a:t>
            </a:r>
            <a:r>
              <a:rPr lang="ko-KR" altLang="en-US"/>
              <a:t>금액은 원 단위 콤마로 </a:t>
            </a:r>
            <a:r>
              <a:rPr lang="en-US" altLang="ko-KR"/>
              <a:t>/ </a:t>
            </a:r>
            <a:r>
              <a:rPr lang="ko-KR" altLang="en-US"/>
              <a:t>결론을 먼저 </a:t>
            </a:r>
            <a:r>
              <a:rPr lang="en-US" altLang="ko-KR"/>
              <a:t>/ </a:t>
            </a:r>
            <a:r>
              <a:rPr lang="ko-KR" altLang="en-US"/>
              <a:t>리스크를 빠뜨리지 말 것</a:t>
            </a:r>
            <a:r>
              <a:rPr lang="en-US" altLang="ko-KR"/>
              <a:t>.
   ★ </a:t>
            </a:r>
            <a:r>
              <a:rPr lang="ko-KR" altLang="en-US"/>
              <a:t>여기서 개인 설정과의 차이를 한 번 못 박으세요 </a:t>
            </a:r>
            <a:r>
              <a:rPr lang="en-US" altLang="ko-KR"/>
              <a:t>— "</a:t>
            </a:r>
            <a:r>
              <a:rPr lang="ko-KR" altLang="en-US"/>
              <a:t>개인 설정은 어디서나 항상</a:t>
            </a:r>
            <a:r>
              <a:rPr lang="en-US" altLang="ko-KR"/>
              <a:t>, </a:t>
            </a:r>
            <a:r>
              <a:rPr lang="ko-KR" altLang="en-US"/>
              <a:t>프로젝트 지침은 그 책상에 앉았을 때만</a:t>
            </a:r>
            <a:r>
              <a:rPr lang="en-US" altLang="ko-KR"/>
              <a:t>."
2) </a:t>
            </a:r>
            <a:r>
              <a:rPr lang="ko-KR" altLang="en-US"/>
              <a:t>프로젝트 지식 </a:t>
            </a:r>
            <a:r>
              <a:rPr lang="en-US" altLang="ko-KR"/>
              <a:t>— </a:t>
            </a:r>
            <a:r>
              <a:rPr lang="ko-KR" altLang="en-US"/>
              <a:t>매번 올리지 않아도 되는 자료</a:t>
            </a:r>
            <a:r>
              <a:rPr lang="en-US" altLang="ko-KR"/>
              <a:t>. </a:t>
            </a:r>
            <a:r>
              <a:rPr lang="ko-KR" altLang="en-US"/>
              <a:t>양식</a:t>
            </a:r>
            <a:r>
              <a:rPr lang="en-US" altLang="ko-KR"/>
              <a:t>·</a:t>
            </a:r>
            <a:r>
              <a:rPr lang="ko-KR" altLang="en-US"/>
              <a:t>기준표</a:t>
            </a:r>
            <a:r>
              <a:rPr lang="en-US" altLang="ko-KR"/>
              <a:t>·</a:t>
            </a:r>
            <a:r>
              <a:rPr lang="ko-KR" altLang="en-US"/>
              <a:t>체크리스트</a:t>
            </a:r>
            <a:r>
              <a:rPr lang="en-US" altLang="ko-KR"/>
              <a:t>.
   ★ </a:t>
            </a:r>
            <a:r>
              <a:rPr lang="ko-KR" altLang="en-US"/>
              <a:t>이게 프로젝트를 만드는 가장 큰 이유입니다</a:t>
            </a:r>
            <a:r>
              <a:rPr lang="en-US" altLang="ko-KR"/>
              <a:t>. "</a:t>
            </a:r>
            <a:r>
              <a:rPr lang="ko-KR" altLang="en-US"/>
              <a:t>같은 파일을 매번 첨부하고 계시다면 그건 프로젝트에 넣어야 할 자료입니다</a:t>
            </a:r>
            <a:r>
              <a:rPr lang="en-US" altLang="ko-KR"/>
              <a:t>."
3) </a:t>
            </a:r>
            <a:r>
              <a:rPr lang="ko-KR" altLang="en-US"/>
              <a:t>대화 이력 </a:t>
            </a:r>
            <a:r>
              <a:rPr lang="en-US" altLang="ko-KR"/>
              <a:t>— "</a:t>
            </a:r>
            <a:r>
              <a:rPr lang="ko-KR" altLang="en-US"/>
              <a:t>지난주에 본 그 물건</a:t>
            </a:r>
            <a:r>
              <a:rPr lang="en-US" altLang="ko-KR"/>
              <a:t>"</a:t>
            </a:r>
            <a:r>
              <a:rPr lang="ko-KR" altLang="en-US"/>
              <a:t>을 되찾기 쉬워집니다</a:t>
            </a:r>
            <a:r>
              <a:rPr lang="en-US" altLang="ko-KR"/>
              <a:t>.
★ </a:t>
            </a:r>
            <a:r>
              <a:rPr lang="ko-KR" altLang="en-US"/>
              <a:t>만드는 곳을 화면에서 직접 보여주세요</a:t>
            </a:r>
            <a:r>
              <a:rPr lang="en-US" altLang="ko-KR"/>
              <a:t>. </a:t>
            </a:r>
            <a:r>
              <a:rPr lang="ko-KR" altLang="en-US"/>
              <a:t>좌측 사이드바 </a:t>
            </a:r>
            <a:r>
              <a:rPr lang="en-US" altLang="ko-KR"/>
              <a:t>&gt; </a:t>
            </a:r>
            <a:r>
              <a:rPr lang="ko-KR" altLang="en-US"/>
              <a:t>프로젝트 </a:t>
            </a:r>
            <a:r>
              <a:rPr lang="en-US" altLang="ko-KR"/>
              <a:t>&gt; </a:t>
            </a:r>
            <a:r>
              <a:rPr lang="ko-KR" altLang="en-US"/>
              <a:t>새 프로젝트</a:t>
            </a:r>
            <a:r>
              <a:rPr lang="en-US" altLang="ko-KR"/>
              <a:t>. </a:t>
            </a:r>
            <a:r>
              <a:rPr lang="ko-KR" altLang="en-US"/>
              <a:t>말로만 하면 못 찾습니다</a:t>
            </a:r>
            <a:r>
              <a:rPr lang="en-US" altLang="ko-KR"/>
              <a:t>.
★ </a:t>
            </a:r>
            <a:r>
              <a:rPr lang="ko-KR" altLang="en-US"/>
              <a:t>나누는 기준을 물어보실 겁니다</a:t>
            </a:r>
            <a:r>
              <a:rPr lang="en-US" altLang="ko-KR"/>
              <a:t>. </a:t>
            </a:r>
            <a:r>
              <a:rPr lang="ko-KR" altLang="en-US"/>
              <a:t>이렇게 답하세요 </a:t>
            </a:r>
            <a:r>
              <a:rPr lang="en-US" altLang="ko-KR"/>
              <a:t>— "</a:t>
            </a:r>
            <a:r>
              <a:rPr lang="ko-KR" altLang="en-US"/>
              <a:t>업무 단위로 나누세요</a:t>
            </a:r>
            <a:r>
              <a:rPr lang="en-US" altLang="ko-KR"/>
              <a:t>. '</a:t>
            </a:r>
            <a:r>
              <a:rPr lang="ko-KR" altLang="en-US"/>
              <a:t>경매용</a:t>
            </a:r>
            <a:r>
              <a:rPr lang="en-US" altLang="ko-KR"/>
              <a:t>', '</a:t>
            </a:r>
            <a:r>
              <a:rPr lang="ko-KR" altLang="en-US"/>
              <a:t>주식용</a:t>
            </a:r>
            <a:r>
              <a:rPr lang="en-US" altLang="ko-KR"/>
              <a:t>'</a:t>
            </a:r>
            <a:r>
              <a:rPr lang="ko-KR" altLang="en-US"/>
              <a:t>처럼요</a:t>
            </a:r>
            <a:r>
              <a:rPr lang="en-US" altLang="ko-KR"/>
              <a:t>. </a:t>
            </a:r>
            <a:r>
              <a:rPr lang="ko-KR" altLang="en-US"/>
              <a:t>너무 잘게 쪼개면 어디에 넣었는지 못 찾습니다</a:t>
            </a:r>
            <a:r>
              <a:rPr lang="en-US" altLang="ko-KR"/>
              <a:t>."
</a:t>
            </a:r>
            <a:r>
              <a:rPr lang="ko-KR" altLang="en-US"/>
              <a:t>예상 질문
</a:t>
            </a:r>
            <a:r>
              <a:rPr lang="en-US" altLang="ko-KR"/>
              <a:t>- "</a:t>
            </a:r>
            <a:r>
              <a:rPr lang="ko-KR" altLang="en-US"/>
              <a:t>몇 개까지 만들 수 있나요</a:t>
            </a:r>
            <a:r>
              <a:rPr lang="en-US" altLang="ko-KR"/>
              <a:t>?" → </a:t>
            </a:r>
            <a:r>
              <a:rPr lang="ko-KR" altLang="en-US"/>
              <a:t>요금제에 따라 다릅니다</a:t>
            </a:r>
            <a:r>
              <a:rPr lang="en-US" altLang="ko-KR"/>
              <a:t>. </a:t>
            </a:r>
            <a:r>
              <a:rPr lang="ko-KR" altLang="en-US"/>
              <a:t>정확한 수치는 공식 안내를 확인하겠다고 하고 넘어가세요</a:t>
            </a:r>
            <a:r>
              <a:rPr lang="en-US" altLang="ko-KR"/>
              <a:t>. </a:t>
            </a:r>
            <a:r>
              <a:rPr lang="ko-KR" altLang="en-US"/>
              <a:t>어림짐작으로 답하지 마십시오</a:t>
            </a:r>
            <a:r>
              <a:rPr lang="en-US" altLang="ko-KR"/>
              <a:t>.
- "</a:t>
            </a:r>
            <a:r>
              <a:rPr lang="ko-KR" altLang="en-US"/>
              <a:t>프로젝트 지침이랑 개인 설정을 둘 다 쓰면 어느 게 이기나요</a:t>
            </a:r>
            <a:r>
              <a:rPr lang="en-US" altLang="ko-KR"/>
              <a:t>?" → p.33 </a:t>
            </a:r>
            <a:r>
              <a:rPr lang="ko-KR" altLang="en-US"/>
              <a:t>적용 범위 슬라이드로 되돌아가 짚어주세요</a:t>
            </a:r>
            <a:r>
              <a:rPr lang="en-US" altLang="ko-KR"/>
              <a:t>.
</a:t>
            </a:r>
            <a:r>
              <a:rPr lang="ko-KR" altLang="en-US"/>
              <a:t>하단 각주 </a:t>
            </a:r>
            <a:r>
              <a:rPr lang="en-US" altLang="ko-KR"/>
              <a:t>— </a:t>
            </a:r>
            <a:r>
              <a:rPr lang="ko-KR" altLang="en-US"/>
              <a:t>프로젝트 지침</a:t>
            </a:r>
            <a:r>
              <a:rPr lang="en-US" altLang="ko-KR"/>
              <a:t>·</a:t>
            </a:r>
            <a:r>
              <a:rPr lang="ko-KR" altLang="en-US"/>
              <a:t>지식은 채팅과 </a:t>
            </a:r>
            <a:r>
              <a:rPr lang="en-US" altLang="ko-KR"/>
              <a:t>Cowork</a:t>
            </a:r>
            <a:r>
              <a:rPr lang="ko-KR" altLang="en-US"/>
              <a:t>에 적용됩니다</a:t>
            </a:r>
            <a:r>
              <a:rPr lang="en-US" altLang="ko-KR"/>
              <a:t>. </a:t>
            </a:r>
            <a:r>
              <a:rPr lang="ko-KR" altLang="en-US"/>
              <a:t>버전에 따라 메뉴 위치가 다를 수 있습니다</a:t>
            </a:r>
            <a:r>
              <a:rPr lang="en-US" altLang="ko-KR"/>
              <a:t>.</a:t>
            </a:r>
            <a:endParaRPr lang="ko-KR" altLang="en-US"/>
          </a:p>
        </p:txBody>
      </p:sp>
    </p:spTree>
    <p:extLst>
      <p:ext uri="{BB962C8B-B14F-4D97-AF65-F5344CB8AC3E}">
        <p14:creationId xmlns:p14="http://schemas.microsoft.com/office/powerpoint/2010/main" val="3774341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스킬이랑 프로젝트</a:t>
            </a:r>
            <a:r>
              <a:rPr lang="en-US" altLang="ko-KR"/>
              <a:t>, </a:t>
            </a:r>
            <a:r>
              <a:rPr lang="ko-KR" altLang="en-US"/>
              <a:t>결국 같은 거 아닌가요</a:t>
            </a:r>
            <a:r>
              <a:rPr lang="en-US" altLang="ko-KR"/>
              <a:t>?"</a:t>
            </a:r>
            <a:r>
              <a:rPr lang="ko-KR" altLang="en-US"/>
              <a:t>를 끊는 것입니다</a:t>
            </a:r>
            <a:r>
              <a:rPr lang="en-US" altLang="ko-KR"/>
              <a:t>. </a:t>
            </a:r>
            <a:r>
              <a:rPr lang="ko-KR" altLang="en-US"/>
              <a:t>이 질문은 반드시 나옵니다</a:t>
            </a:r>
            <a:r>
              <a:rPr lang="en-US" altLang="ko-KR"/>
              <a:t>.
</a:t>
            </a:r>
            <a:r>
              <a:rPr lang="ko-KR" altLang="en-US"/>
              <a:t>한 문장으로 먼저 </a:t>
            </a:r>
            <a:r>
              <a:rPr lang="en-US" altLang="ko-KR"/>
              <a:t>— "</a:t>
            </a:r>
            <a:r>
              <a:rPr lang="ko-KR" altLang="en-US"/>
              <a:t>스킬은 </a:t>
            </a:r>
            <a:r>
              <a:rPr lang="en-US" altLang="ko-KR"/>
              <a:t>'</a:t>
            </a:r>
            <a:r>
              <a:rPr lang="ko-KR" altLang="en-US"/>
              <a:t>방법</a:t>
            </a:r>
            <a:r>
              <a:rPr lang="en-US" altLang="ko-KR"/>
              <a:t>'</a:t>
            </a:r>
            <a:r>
              <a:rPr lang="ko-KR" altLang="en-US"/>
              <a:t>을 담고</a:t>
            </a:r>
            <a:r>
              <a:rPr lang="en-US" altLang="ko-KR"/>
              <a:t>, </a:t>
            </a:r>
            <a:r>
              <a:rPr lang="ko-KR" altLang="en-US"/>
              <a:t>프로젝트는 </a:t>
            </a:r>
            <a:r>
              <a:rPr lang="en-US" altLang="ko-KR"/>
              <a:t>'</a:t>
            </a:r>
            <a:r>
              <a:rPr lang="ko-KR" altLang="en-US"/>
              <a:t>자료와 맥락</a:t>
            </a:r>
            <a:r>
              <a:rPr lang="en-US" altLang="ko-KR"/>
              <a:t>'</a:t>
            </a:r>
            <a:r>
              <a:rPr lang="ko-KR" altLang="en-US"/>
              <a:t>을 담습니다</a:t>
            </a:r>
            <a:r>
              <a:rPr lang="en-US" altLang="ko-KR"/>
              <a:t>."
</a:t>
            </a:r>
            <a:r>
              <a:rPr lang="ko-KR" altLang="en-US"/>
              <a:t>네 가지를 각각 짧게</a:t>
            </a:r>
            <a:r>
              <a:rPr lang="en-US" altLang="ko-KR"/>
              <a:t>. 1</a:t>
            </a:r>
            <a:r>
              <a:rPr lang="ko-KR" altLang="en-US"/>
              <a:t>과 </a:t>
            </a:r>
            <a:r>
              <a:rPr lang="en-US" altLang="ko-KR"/>
              <a:t>4</a:t>
            </a:r>
            <a:r>
              <a:rPr lang="ko-KR" altLang="en-US"/>
              <a:t>에 시간을 더 쓰세요</a:t>
            </a:r>
            <a:r>
              <a:rPr lang="en-US" altLang="ko-KR"/>
              <a:t>.
1) </a:t>
            </a:r>
            <a:r>
              <a:rPr lang="ko-KR" altLang="en-US"/>
              <a:t>내 자료를 담을 수 있다 </a:t>
            </a:r>
            <a:r>
              <a:rPr lang="en-US" altLang="ko-KR"/>
              <a:t>— </a:t>
            </a:r>
            <a:r>
              <a:rPr lang="ko-KR" altLang="en-US"/>
              <a:t>스킬은 절차를 담지만 내 자료는 담지 못합니다</a:t>
            </a:r>
            <a:r>
              <a:rPr lang="en-US" altLang="ko-KR"/>
              <a:t>. ★ </a:t>
            </a:r>
            <a:r>
              <a:rPr lang="ko-KR" altLang="en-US"/>
              <a:t>가장 실용적인 차이입니다</a:t>
            </a:r>
            <a:r>
              <a:rPr lang="en-US" altLang="ko-KR"/>
              <a:t>.
2) </a:t>
            </a:r>
            <a:r>
              <a:rPr lang="ko-KR" altLang="en-US"/>
              <a:t>대화가 한곳에 쌓인다 </a:t>
            </a:r>
            <a:r>
              <a:rPr lang="en-US" altLang="ko-KR"/>
              <a:t>— "</a:t>
            </a:r>
            <a:r>
              <a:rPr lang="ko-KR" altLang="en-US"/>
              <a:t>지난번 그 건</a:t>
            </a:r>
            <a:r>
              <a:rPr lang="en-US" altLang="ko-KR"/>
              <a:t>"</a:t>
            </a:r>
            <a:r>
              <a:rPr lang="ko-KR" altLang="en-US"/>
              <a:t>을 프로젝트에서 찾습니다</a:t>
            </a:r>
            <a:r>
              <a:rPr lang="en-US" altLang="ko-KR"/>
              <a:t>.
3) </a:t>
            </a:r>
            <a:r>
              <a:rPr lang="ko-KR" altLang="en-US"/>
              <a:t>조건 없이 늘 켜져 있다 </a:t>
            </a:r>
            <a:r>
              <a:rPr lang="en-US" altLang="ko-KR"/>
              <a:t>— </a:t>
            </a:r>
            <a:r>
              <a:rPr lang="ko-KR" altLang="en-US"/>
              <a:t>스킬은 발동 조건에 맞아야 켜지지만</a:t>
            </a:r>
            <a:r>
              <a:rPr lang="en-US" altLang="ko-KR"/>
              <a:t>, </a:t>
            </a:r>
            <a:r>
              <a:rPr lang="ko-KR" altLang="en-US"/>
              <a:t>프로젝트 지침은 그 안에서 항상 적용됩니다</a:t>
            </a:r>
            <a:r>
              <a:rPr lang="en-US" altLang="ko-KR"/>
              <a:t>.
4) </a:t>
            </a:r>
            <a:r>
              <a:rPr lang="ko-KR" altLang="en-US"/>
              <a:t>일과 일이 섞이지 않는다 </a:t>
            </a:r>
            <a:r>
              <a:rPr lang="en-US" altLang="ko-KR"/>
              <a:t>— ★ </a:t>
            </a:r>
            <a:r>
              <a:rPr lang="ko-KR" altLang="en-US"/>
              <a:t>여기서 예를 드세요</a:t>
            </a:r>
            <a:r>
              <a:rPr lang="en-US" altLang="ko-KR"/>
              <a:t>. "</a:t>
            </a:r>
            <a:r>
              <a:rPr lang="ko-KR" altLang="en-US"/>
              <a:t>개인 설정에 경매 규칙을 잔뜩 써두면</a:t>
            </a:r>
            <a:r>
              <a:rPr lang="en-US" altLang="ko-KR"/>
              <a:t>, </a:t>
            </a:r>
            <a:r>
              <a:rPr lang="ko-KR" altLang="en-US"/>
              <a:t>주식 이야기를 할 때도 그 규칙이 따라옵니다</a:t>
            </a:r>
            <a:r>
              <a:rPr lang="en-US" altLang="ko-KR"/>
              <a:t>. </a:t>
            </a:r>
            <a:r>
              <a:rPr lang="ko-KR" altLang="en-US"/>
              <a:t>프로젝트로 나누면 서로 간섭하지 않습니다</a:t>
            </a:r>
            <a:r>
              <a:rPr lang="en-US" altLang="ko-KR"/>
              <a:t>."
★★ </a:t>
            </a:r>
            <a:r>
              <a:rPr lang="ko-KR" altLang="en-US"/>
              <a:t>아래 </a:t>
            </a:r>
            <a:r>
              <a:rPr lang="en-US" altLang="ko-KR"/>
              <a:t>4</a:t>
            </a:r>
            <a:r>
              <a:rPr lang="ko-KR" altLang="en-US"/>
              <a:t>분할 표가 이 교육 전체의 정리표입니다</a:t>
            </a:r>
            <a:r>
              <a:rPr lang="en-US" altLang="ko-KR"/>
              <a:t>. </a:t>
            </a:r>
            <a:r>
              <a:rPr lang="ko-KR" altLang="en-US"/>
              <a:t>앞</a:t>
            </a:r>
            <a:r>
              <a:rPr lang="en-US" altLang="ko-KR"/>
              <a:t>(p.41)</a:t>
            </a:r>
            <a:r>
              <a:rPr lang="ko-KR" altLang="en-US"/>
              <a:t>에서 셋을 배웠고 여기서 넷이 됩니다</a:t>
            </a:r>
            <a:r>
              <a:rPr lang="en-US" altLang="ko-KR"/>
              <a:t>. </a:t>
            </a:r>
            <a:r>
              <a:rPr lang="ko-KR" altLang="en-US"/>
              <a:t>천천히 읽어주세요</a:t>
            </a:r>
            <a:r>
              <a:rPr lang="en-US" altLang="ko-KR"/>
              <a:t>.
- </a:t>
            </a:r>
            <a:r>
              <a:rPr lang="ko-KR" altLang="en-US"/>
              <a:t>개인 설정 </a:t>
            </a:r>
            <a:r>
              <a:rPr lang="en-US" altLang="ko-KR"/>
              <a:t>= </a:t>
            </a:r>
            <a:r>
              <a:rPr lang="ko-KR" altLang="en-US"/>
              <a:t>나는 누구인가 → 어디서나 항상
</a:t>
            </a:r>
            <a:r>
              <a:rPr lang="en-US" altLang="ko-KR"/>
              <a:t>- </a:t>
            </a:r>
            <a:r>
              <a:rPr lang="ko-KR" altLang="en-US"/>
              <a:t>프로젝트 </a:t>
            </a:r>
            <a:r>
              <a:rPr lang="en-US" altLang="ko-KR"/>
              <a:t>= </a:t>
            </a:r>
            <a:r>
              <a:rPr lang="ko-KR" altLang="en-US"/>
              <a:t>이 일의 배경과 자료 → 그 프로젝트 안에서 항상
</a:t>
            </a:r>
            <a:r>
              <a:rPr lang="en-US" altLang="ko-KR"/>
              <a:t>- </a:t>
            </a:r>
            <a:r>
              <a:rPr lang="ko-KR" altLang="en-US"/>
              <a:t>스킬 </a:t>
            </a:r>
            <a:r>
              <a:rPr lang="en-US" altLang="ko-KR"/>
              <a:t>= </a:t>
            </a:r>
            <a:r>
              <a:rPr lang="ko-KR" altLang="en-US"/>
              <a:t>이 일을 어떻게 하는가 → 그 일이 생길 때만
</a:t>
            </a:r>
            <a:r>
              <a:rPr lang="en-US" altLang="ko-KR"/>
              <a:t>- MCP = </a:t>
            </a:r>
            <a:r>
              <a:rPr lang="ko-KR" altLang="en-US"/>
              <a:t>무엇을 만질 수 있는가 → 손과 발이 된다
★ 맨 아래 한 줄이 결론입니다 </a:t>
            </a:r>
            <a:r>
              <a:rPr lang="en-US" altLang="ko-KR"/>
              <a:t>— "</a:t>
            </a:r>
            <a:r>
              <a:rPr lang="ko-KR" altLang="en-US"/>
              <a:t>넷은 경쟁 관계가 아닙니다</a:t>
            </a:r>
            <a:r>
              <a:rPr lang="en-US" altLang="ko-KR"/>
              <a:t>. </a:t>
            </a:r>
            <a:r>
              <a:rPr lang="ko-KR" altLang="en-US"/>
              <a:t>프로젝트 안에서 스킬이 돌고</a:t>
            </a:r>
            <a:r>
              <a:rPr lang="en-US" altLang="ko-KR"/>
              <a:t>, </a:t>
            </a:r>
            <a:r>
              <a:rPr lang="ko-KR" altLang="en-US"/>
              <a:t>스킬이 </a:t>
            </a:r>
            <a:r>
              <a:rPr lang="en-US" altLang="ko-KR"/>
              <a:t>MCP</a:t>
            </a:r>
            <a:r>
              <a:rPr lang="ko-KR" altLang="en-US"/>
              <a:t>를 씁니다</a:t>
            </a:r>
            <a:r>
              <a:rPr lang="en-US" altLang="ko-KR"/>
              <a:t>." </a:t>
            </a:r>
            <a:r>
              <a:rPr lang="ko-KR" altLang="en-US"/>
              <a:t>겹겹이 쌓이는 구조라는 걸 손동작으로 보여주면 잘 들어옵니다</a:t>
            </a:r>
            <a:r>
              <a:rPr lang="en-US" altLang="ko-KR"/>
              <a:t>.
</a:t>
            </a:r>
            <a:r>
              <a:rPr lang="ko-KR" altLang="en-US"/>
              <a:t>예상 질문 </a:t>
            </a:r>
            <a:r>
              <a:rPr lang="en-US" altLang="ko-KR"/>
              <a:t>— "</a:t>
            </a:r>
            <a:r>
              <a:rPr lang="ko-KR" altLang="en-US"/>
              <a:t>그럼 저는 뭐부터 만들어야 하나요</a:t>
            </a:r>
            <a:r>
              <a:rPr lang="en-US" altLang="ko-KR"/>
              <a:t>?" → "</a:t>
            </a:r>
            <a:r>
              <a:rPr lang="ko-KR" altLang="en-US"/>
              <a:t>프로젝트 하나부터 만드세요</a:t>
            </a:r>
            <a:r>
              <a:rPr lang="en-US" altLang="ko-KR"/>
              <a:t>. </a:t>
            </a:r>
            <a:r>
              <a:rPr lang="ko-KR" altLang="en-US"/>
              <a:t>지침 세 줄이면 충분합니다</a:t>
            </a:r>
            <a:r>
              <a:rPr lang="en-US" altLang="ko-KR"/>
              <a:t>. </a:t>
            </a:r>
            <a:r>
              <a:rPr lang="ko-KR" altLang="en-US"/>
              <a:t>스킬은 그 다음입니다</a:t>
            </a:r>
            <a:r>
              <a:rPr lang="en-US" altLang="ko-KR"/>
              <a:t>."</a:t>
            </a:r>
            <a:endParaRPr lang="ko-KR" altLang="en-US"/>
          </a:p>
        </p:txBody>
      </p:sp>
    </p:spTree>
    <p:extLst>
      <p:ext uri="{BB962C8B-B14F-4D97-AF65-F5344CB8AC3E}">
        <p14:creationId xmlns:p14="http://schemas.microsoft.com/office/powerpoint/2010/main" val="42697296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아티팩트를 </a:t>
            </a:r>
            <a:r>
              <a:rPr lang="en-US" altLang="ko-KR"/>
              <a:t>'</a:t>
            </a:r>
            <a:r>
              <a:rPr lang="ko-KR" altLang="en-US"/>
              <a:t>기능</a:t>
            </a:r>
            <a:r>
              <a:rPr lang="en-US" altLang="ko-KR"/>
              <a:t>'</a:t>
            </a:r>
            <a:r>
              <a:rPr lang="ko-KR" altLang="en-US"/>
              <a:t>이 아니라 </a:t>
            </a:r>
            <a:r>
              <a:rPr lang="en-US" altLang="ko-KR"/>
              <a:t>'</a:t>
            </a:r>
            <a:r>
              <a:rPr lang="ko-KR" altLang="en-US"/>
              <a:t>옆에 뜨는 결과물 창</a:t>
            </a:r>
            <a:r>
              <a:rPr lang="en-US" altLang="ko-KR"/>
              <a:t>'</a:t>
            </a:r>
            <a:r>
              <a:rPr lang="ko-KR" altLang="en-US"/>
              <a:t>으로 보여주는 것입니다</a:t>
            </a:r>
            <a:r>
              <a:rPr lang="en-US" altLang="ko-KR"/>
              <a:t>. </a:t>
            </a:r>
            <a:r>
              <a:rPr lang="ko-KR" altLang="en-US"/>
              <a:t>설명보다 한 번 만들어 보여주는 게 빠릅니다</a:t>
            </a:r>
            <a:r>
              <a:rPr lang="en-US" altLang="ko-KR"/>
              <a:t>.
★★ </a:t>
            </a:r>
            <a:r>
              <a:rPr lang="ko-KR" altLang="en-US"/>
              <a:t>시작하기 전에 반드시 이것부터 </a:t>
            </a:r>
            <a:r>
              <a:rPr lang="en-US" altLang="ko-KR"/>
              <a:t>— </a:t>
            </a:r>
            <a:r>
              <a:rPr lang="ko-KR" altLang="en-US"/>
              <a:t>설정 </a:t>
            </a:r>
            <a:r>
              <a:rPr lang="en-US" altLang="ko-KR"/>
              <a:t>&gt; Capabilities &gt; </a:t>
            </a:r>
            <a:r>
              <a:rPr lang="ko-KR" altLang="en-US"/>
              <a:t>코드 실행 및 파일 생성</a:t>
            </a:r>
            <a:r>
              <a:rPr lang="en-US" altLang="ko-KR"/>
              <a:t>. </a:t>
            </a:r>
            <a:r>
              <a:rPr lang="ko-KR" altLang="en-US"/>
              <a:t>꺼져 있으면 아티팩트가 아예 나오지 않습니다</a:t>
            </a:r>
            <a:r>
              <a:rPr lang="en-US" altLang="ko-KR"/>
              <a:t>. </a:t>
            </a:r>
            <a:r>
              <a:rPr lang="ko-KR" altLang="en-US"/>
              <a:t>화면에서 켜는 것을 같이 하세요</a:t>
            </a:r>
            <a:r>
              <a:rPr lang="en-US" altLang="ko-KR"/>
              <a:t>. </a:t>
            </a:r>
            <a:r>
              <a:rPr lang="ko-KR" altLang="en-US"/>
              <a:t>이걸 건너뛰면 뒤에서 전원이 </a:t>
            </a:r>
            <a:r>
              <a:rPr lang="en-US" altLang="ko-KR"/>
              <a:t>"</a:t>
            </a:r>
            <a:r>
              <a:rPr lang="ko-KR" altLang="en-US"/>
              <a:t>저는 안 나오는데요</a:t>
            </a:r>
            <a:r>
              <a:rPr lang="en-US" altLang="ko-KR"/>
              <a:t>"</a:t>
            </a:r>
            <a:r>
              <a:rPr lang="ko-KR" altLang="en-US"/>
              <a:t>가 됩니다</a:t>
            </a:r>
            <a:r>
              <a:rPr lang="en-US" altLang="ko-KR"/>
              <a:t>.
</a:t>
            </a:r>
            <a:r>
              <a:rPr lang="ko-KR" altLang="en-US"/>
              <a:t>첫 마디 </a:t>
            </a:r>
            <a:r>
              <a:rPr lang="en-US" altLang="ko-KR"/>
              <a:t>— "</a:t>
            </a:r>
            <a:r>
              <a:rPr lang="ko-KR" altLang="en-US"/>
              <a:t>대화는 위로 흘러갑니다</a:t>
            </a:r>
            <a:r>
              <a:rPr lang="en-US" altLang="ko-KR"/>
              <a:t>. </a:t>
            </a:r>
            <a:r>
              <a:rPr lang="ko-KR" altLang="en-US"/>
              <a:t>어제 받은 표를 다시 찾으려면 스크롤을 한참 올려야 하죠</a:t>
            </a:r>
            <a:r>
              <a:rPr lang="en-US" altLang="ko-KR"/>
              <a:t>. </a:t>
            </a:r>
            <a:r>
              <a:rPr lang="ko-KR" altLang="en-US"/>
              <a:t>아티팩트는 그걸 옆 창으로 빼줍니다</a:t>
            </a:r>
            <a:r>
              <a:rPr lang="en-US" altLang="ko-KR"/>
              <a:t>."
★ </a:t>
            </a:r>
            <a:r>
              <a:rPr lang="ko-KR" altLang="en-US"/>
              <a:t>즉석 시연을 권합니다</a:t>
            </a:r>
            <a:r>
              <a:rPr lang="en-US" altLang="ko-KR"/>
              <a:t>. "</a:t>
            </a:r>
            <a:r>
              <a:rPr lang="ko-KR" altLang="en-US"/>
              <a:t>간단한 표 하나 만들어줘</a:t>
            </a:r>
            <a:r>
              <a:rPr lang="en-US" altLang="ko-KR"/>
              <a:t>" </a:t>
            </a:r>
            <a:r>
              <a:rPr lang="ko-KR" altLang="en-US"/>
              <a:t>정도면 옆에 창이 뜹니다</a:t>
            </a:r>
            <a:r>
              <a:rPr lang="en-US" altLang="ko-KR"/>
              <a:t>. 15</a:t>
            </a:r>
            <a:r>
              <a:rPr lang="ko-KR" altLang="en-US"/>
              <a:t>줄이 넘고</a:t>
            </a:r>
            <a:r>
              <a:rPr lang="en-US" altLang="ko-KR"/>
              <a:t>, </a:t>
            </a:r>
            <a:r>
              <a:rPr lang="ko-KR" altLang="en-US"/>
              <a:t>따로 떼어 써도 말이 되고</a:t>
            </a:r>
            <a:r>
              <a:rPr lang="en-US" altLang="ko-KR"/>
              <a:t>, </a:t>
            </a:r>
            <a:r>
              <a:rPr lang="ko-KR" altLang="en-US"/>
              <a:t>나중에 다시 볼 만하면 자동으로 만들어집니다</a:t>
            </a:r>
            <a:r>
              <a:rPr lang="en-US" altLang="ko-KR"/>
              <a:t>. </a:t>
            </a:r>
            <a:r>
              <a:rPr lang="ko-KR" altLang="en-US"/>
              <a:t>내가 요청하지 않아도 판단해서 만든다는 점을 짚으세요</a:t>
            </a:r>
            <a:r>
              <a:rPr lang="en-US" altLang="ko-KR"/>
              <a:t>.
</a:t>
            </a:r>
            <a:r>
              <a:rPr lang="ko-KR" altLang="en-US"/>
              <a:t>쓰는 법 세 가지는 빠르게
</a:t>
            </a:r>
            <a:r>
              <a:rPr lang="en-US" altLang="ko-KR"/>
              <a:t>1) </a:t>
            </a:r>
            <a:r>
              <a:rPr lang="ko-KR" altLang="en-US"/>
              <a:t>버전을 넘나든다 </a:t>
            </a:r>
            <a:r>
              <a:rPr lang="en-US" altLang="ko-KR"/>
              <a:t>— </a:t>
            </a:r>
            <a:r>
              <a:rPr lang="ko-KR" altLang="en-US"/>
              <a:t>이전 버전으로 되돌릴 수 있습니다</a:t>
            </a:r>
            <a:r>
              <a:rPr lang="en-US" altLang="ko-KR"/>
              <a:t>.
2) </a:t>
            </a:r>
            <a:r>
              <a:rPr lang="ko-KR" altLang="en-US"/>
              <a:t>그 자리에서 고친다 </a:t>
            </a:r>
            <a:r>
              <a:rPr lang="en-US" altLang="ko-KR"/>
              <a:t>— </a:t>
            </a:r>
            <a:r>
              <a:rPr lang="ko-KR" altLang="en-US"/>
              <a:t>고칠 부분을 드래그하면 </a:t>
            </a:r>
            <a:r>
              <a:rPr lang="en-US" altLang="ko-KR"/>
              <a:t>Edit with Claude</a:t>
            </a:r>
            <a:r>
              <a:rPr lang="ko-KR" altLang="en-US"/>
              <a:t>가 뜹니다</a:t>
            </a:r>
            <a:r>
              <a:rPr lang="en-US" altLang="ko-KR"/>
              <a:t>. ★ </a:t>
            </a:r>
            <a:r>
              <a:rPr lang="ko-KR" altLang="en-US"/>
              <a:t>이걸 모르는 분이 대부분입니다</a:t>
            </a:r>
            <a:r>
              <a:rPr lang="en-US" altLang="ko-KR"/>
              <a:t>. </a:t>
            </a:r>
            <a:r>
              <a:rPr lang="ko-KR" altLang="en-US"/>
              <a:t>직접 드래그해 보여주세요</a:t>
            </a:r>
            <a:r>
              <a:rPr lang="en-US" altLang="ko-KR"/>
              <a:t>.
3) </a:t>
            </a:r>
            <a:r>
              <a:rPr lang="ko-KR" altLang="en-US"/>
              <a:t>그대로 꺼낸다 </a:t>
            </a:r>
            <a:r>
              <a:rPr lang="en-US" altLang="ko-KR"/>
              <a:t>— </a:t>
            </a:r>
            <a:r>
              <a:rPr lang="ko-KR" altLang="en-US"/>
              <a:t>코드 보기 </a:t>
            </a:r>
            <a:r>
              <a:rPr lang="en-US" altLang="ko-KR"/>
              <a:t>· </a:t>
            </a:r>
            <a:r>
              <a:rPr lang="ko-KR" altLang="en-US"/>
              <a:t>복사 </a:t>
            </a:r>
            <a:r>
              <a:rPr lang="en-US" altLang="ko-KR"/>
              <a:t>· </a:t>
            </a:r>
            <a:r>
              <a:rPr lang="ko-KR" altLang="en-US"/>
              <a:t>내려받기</a:t>
            </a:r>
            <a:r>
              <a:rPr lang="en-US" altLang="ko-KR"/>
              <a:t>.
★★ '</a:t>
            </a:r>
            <a:r>
              <a:rPr lang="ko-KR" altLang="en-US"/>
              <a:t>자주 놓치는 것</a:t>
            </a:r>
            <a:r>
              <a:rPr lang="en-US" altLang="ko-KR"/>
              <a:t>' </a:t>
            </a:r>
            <a:r>
              <a:rPr lang="ko-KR" altLang="en-US"/>
              <a:t>상자가 이 장의 핵심입니다 </a:t>
            </a:r>
            <a:r>
              <a:rPr lang="en-US" altLang="ko-KR"/>
              <a:t>— </a:t>
            </a:r>
            <a:r>
              <a:rPr lang="ko-KR" altLang="en-US"/>
              <a:t>대화에서 만든 아티팩트는 목록에 자동으로 올라가지 않습니다</a:t>
            </a:r>
            <a:r>
              <a:rPr lang="en-US" altLang="ko-KR"/>
              <a:t>. </a:t>
            </a:r>
            <a:r>
              <a:rPr lang="ko-KR" altLang="en-US"/>
              <a:t>열어서 </a:t>
            </a:r>
            <a:r>
              <a:rPr lang="en-US" altLang="ko-KR"/>
              <a:t>Publish</a:t>
            </a:r>
            <a:r>
              <a:rPr lang="ko-KR" altLang="en-US"/>
              <a:t>를 눌러야 남습니다</a:t>
            </a:r>
            <a:r>
              <a:rPr lang="en-US" altLang="ko-KR"/>
              <a:t>. "</a:t>
            </a:r>
            <a:r>
              <a:rPr lang="ko-KR" altLang="en-US"/>
              <a:t>어제 만든 게 사라졌어요</a:t>
            </a:r>
            <a:r>
              <a:rPr lang="en-US" altLang="ko-KR"/>
              <a:t>"</a:t>
            </a:r>
            <a:r>
              <a:rPr lang="ko-KR" altLang="en-US"/>
              <a:t>의 원인이 대부분 이겁니다</a:t>
            </a:r>
            <a:r>
              <a:rPr lang="en-US" altLang="ko-KR"/>
              <a:t>.
</a:t>
            </a:r>
            <a:r>
              <a:rPr lang="ko-KR" altLang="en-US"/>
              <a:t>오류가 나면 </a:t>
            </a:r>
            <a:r>
              <a:rPr lang="en-US" altLang="ko-KR"/>
              <a:t>Try fixing with Claude </a:t>
            </a:r>
            <a:r>
              <a:rPr lang="ko-KR" altLang="en-US"/>
              <a:t>버튼을 누르면 됩니다</a:t>
            </a:r>
            <a:r>
              <a:rPr lang="en-US" altLang="ko-KR"/>
              <a:t>. "</a:t>
            </a:r>
            <a:r>
              <a:rPr lang="ko-KR" altLang="en-US"/>
              <a:t>고장 났다고 놀라지 마세요</a:t>
            </a:r>
            <a:r>
              <a:rPr lang="en-US" altLang="ko-KR"/>
              <a:t>, </a:t>
            </a:r>
            <a:r>
              <a:rPr lang="ko-KR" altLang="en-US"/>
              <a:t>버튼이 있습니다</a:t>
            </a:r>
            <a:r>
              <a:rPr lang="en-US" altLang="ko-KR"/>
              <a:t>."
</a:t>
            </a:r>
            <a:r>
              <a:rPr lang="ko-KR" altLang="en-US"/>
              <a:t>예상 질문 </a:t>
            </a:r>
            <a:r>
              <a:rPr lang="en-US" altLang="ko-KR"/>
              <a:t>— "</a:t>
            </a:r>
            <a:r>
              <a:rPr lang="ko-KR" altLang="en-US"/>
              <a:t>유료여야 되나요</a:t>
            </a:r>
            <a:r>
              <a:rPr lang="en-US" altLang="ko-KR"/>
              <a:t>?" → </a:t>
            </a:r>
            <a:r>
              <a:rPr lang="ko-KR" altLang="en-US"/>
              <a:t>무료 플랜에서도 쓸 수 있습니다</a:t>
            </a:r>
            <a:r>
              <a:rPr lang="en-US" altLang="ko-KR"/>
              <a:t>.</a:t>
            </a:r>
            <a:endParaRPr lang="ko-KR" altLang="en-US"/>
          </a:p>
        </p:txBody>
      </p:sp>
    </p:spTree>
    <p:extLst>
      <p:ext uri="{BB962C8B-B14F-4D97-AF65-F5344CB8AC3E}">
        <p14:creationId xmlns:p14="http://schemas.microsoft.com/office/powerpoint/2010/main" val="5248622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아티팩트</a:t>
            </a:r>
            <a:r>
              <a:rPr lang="en-US" altLang="ko-KR"/>
              <a:t>"</a:t>
            </a:r>
            <a:r>
              <a:rPr lang="ko-KR" altLang="en-US"/>
              <a:t>라는 같은 이름으로 불리는 두 가지를 갈라주는 것입니다</a:t>
            </a:r>
            <a:r>
              <a:rPr lang="en-US" altLang="ko-KR"/>
              <a:t>. </a:t>
            </a:r>
            <a:r>
              <a:rPr lang="ko-KR" altLang="en-US"/>
              <a:t>안 갈라두면 뒤에서 계속 헷갈립니다</a:t>
            </a:r>
            <a:r>
              <a:rPr lang="en-US" altLang="ko-KR"/>
              <a:t>.
</a:t>
            </a:r>
            <a:r>
              <a:rPr lang="ko-KR" altLang="en-US"/>
              <a:t>한 문장 비유 </a:t>
            </a:r>
            <a:r>
              <a:rPr lang="en-US" altLang="ko-KR"/>
              <a:t>— "</a:t>
            </a:r>
            <a:r>
              <a:rPr lang="ko-KR" altLang="en-US"/>
              <a:t>채팅 아티팩트는 사진입니다</a:t>
            </a:r>
            <a:r>
              <a:rPr lang="en-US" altLang="ko-KR"/>
              <a:t>. </a:t>
            </a:r>
            <a:r>
              <a:rPr lang="ko-KR" altLang="en-US"/>
              <a:t>찍은 그때로 고정됩니다</a:t>
            </a:r>
            <a:r>
              <a:rPr lang="en-US" altLang="ko-KR"/>
              <a:t>. </a:t>
            </a:r>
            <a:r>
              <a:rPr lang="ko-KR" altLang="en-US"/>
              <a:t>라이브 아티팩트는 창문입니다</a:t>
            </a:r>
            <a:r>
              <a:rPr lang="en-US" altLang="ko-KR"/>
              <a:t>. </a:t>
            </a:r>
            <a:r>
              <a:rPr lang="ko-KR" altLang="en-US"/>
              <a:t>열 때마다 바깥이 달라져 있습니다</a:t>
            </a:r>
            <a:r>
              <a:rPr lang="en-US" altLang="ko-KR"/>
              <a:t>."
</a:t>
            </a:r>
            <a:r>
              <a:rPr lang="ko-KR" altLang="en-US"/>
              <a:t>왼쪽 </a:t>
            </a:r>
            <a:r>
              <a:rPr lang="en-US" altLang="ko-KR"/>
              <a:t>· </a:t>
            </a:r>
            <a:r>
              <a:rPr lang="ko-KR" altLang="en-US"/>
              <a:t>채팅 아티팩트
</a:t>
            </a:r>
            <a:r>
              <a:rPr lang="en-US" altLang="ko-KR"/>
              <a:t>· </a:t>
            </a:r>
            <a:r>
              <a:rPr lang="ko-KR" altLang="en-US"/>
              <a:t>대화 중에 만들어져 옆 창에 뜹니다 </a:t>
            </a:r>
            <a:r>
              <a:rPr lang="en-US" altLang="ko-KR"/>
              <a:t>· </a:t>
            </a:r>
            <a:r>
              <a:rPr lang="ko-KR" altLang="en-US"/>
              <a:t>내용이 그 시점으로 고정됩니다 </a:t>
            </a:r>
            <a:r>
              <a:rPr lang="en-US" altLang="ko-KR"/>
              <a:t>· </a:t>
            </a:r>
            <a:r>
              <a:rPr lang="ko-KR" altLang="en-US"/>
              <a:t>무료 플랜에서도 됩니다 </a:t>
            </a:r>
            <a:r>
              <a:rPr lang="en-US" altLang="ko-KR"/>
              <a:t>· </a:t>
            </a:r>
            <a:r>
              <a:rPr lang="ko-KR" altLang="en-US"/>
              <a:t>웹</a:t>
            </a:r>
            <a:r>
              <a:rPr lang="en-US" altLang="ko-KR"/>
              <a:t>·</a:t>
            </a:r>
            <a:r>
              <a:rPr lang="ko-KR" altLang="en-US"/>
              <a:t>앱</a:t>
            </a:r>
            <a:r>
              <a:rPr lang="en-US" altLang="ko-KR"/>
              <a:t>·</a:t>
            </a:r>
            <a:r>
              <a:rPr lang="ko-KR" altLang="en-US"/>
              <a:t>데스크탑 어디서나</a:t>
            </a:r>
            <a:r>
              <a:rPr lang="en-US" altLang="ko-KR"/>
              <a:t>.
</a:t>
            </a:r>
            <a:r>
              <a:rPr lang="ko-KR" altLang="en-US"/>
              <a:t>오른쪽 </a:t>
            </a:r>
            <a:r>
              <a:rPr lang="en-US" altLang="ko-KR"/>
              <a:t>· Cowork </a:t>
            </a:r>
            <a:r>
              <a:rPr lang="ko-KR" altLang="en-US"/>
              <a:t>라이브 아티팩트
</a:t>
            </a:r>
            <a:r>
              <a:rPr lang="en-US" altLang="ko-KR"/>
              <a:t>· </a:t>
            </a:r>
            <a:r>
              <a:rPr lang="ko-KR" altLang="en-US"/>
              <a:t>열면 연결된 앱에서 최신 자료를 가져옵니다 </a:t>
            </a:r>
            <a:r>
              <a:rPr lang="en-US" altLang="ko-KR"/>
              <a:t>· </a:t>
            </a:r>
            <a:r>
              <a:rPr lang="ko-KR" altLang="en-US"/>
              <a:t>사이드바 목록에 계속 남습니다 </a:t>
            </a:r>
            <a:r>
              <a:rPr lang="en-US" altLang="ko-KR"/>
              <a:t>· </a:t>
            </a:r>
            <a:r>
              <a:rPr lang="ko-KR" altLang="en-US"/>
              <a:t>고칠 때마다 이전 버전이 저장됩니다 </a:t>
            </a:r>
            <a:r>
              <a:rPr lang="en-US" altLang="ko-KR"/>
              <a:t>· Pro </a:t>
            </a:r>
            <a:r>
              <a:rPr lang="ko-KR" altLang="en-US"/>
              <a:t>이상 </a:t>
            </a:r>
            <a:r>
              <a:rPr lang="en-US" altLang="ko-KR"/>
              <a:t>· </a:t>
            </a:r>
            <a:r>
              <a:rPr lang="ko-KR" altLang="en-US"/>
              <a:t>데스크탑 전용</a:t>
            </a:r>
            <a:r>
              <a:rPr lang="en-US" altLang="ko-KR"/>
              <a:t>.
★ </a:t>
            </a:r>
            <a:r>
              <a:rPr lang="ko-KR" altLang="en-US"/>
              <a:t>조건 두 개</a:t>
            </a:r>
            <a:r>
              <a:rPr lang="en-US" altLang="ko-KR"/>
              <a:t>(Pro </a:t>
            </a:r>
            <a:r>
              <a:rPr lang="ko-KR" altLang="en-US"/>
              <a:t>이상 </a:t>
            </a:r>
            <a:r>
              <a:rPr lang="en-US" altLang="ko-KR"/>
              <a:t>/ </a:t>
            </a:r>
            <a:r>
              <a:rPr lang="ko-KR" altLang="en-US"/>
              <a:t>데스크탑 전용</a:t>
            </a:r>
            <a:r>
              <a:rPr lang="en-US" altLang="ko-KR"/>
              <a:t>)</a:t>
            </a:r>
            <a:r>
              <a:rPr lang="ko-KR" altLang="en-US"/>
              <a:t>를 분명히 말하세요</a:t>
            </a:r>
            <a:r>
              <a:rPr lang="en-US" altLang="ko-KR"/>
              <a:t>. </a:t>
            </a:r>
            <a:r>
              <a:rPr lang="ko-KR" altLang="en-US"/>
              <a:t>무료 플랜 수강생이 따라 하다 막힙니다</a:t>
            </a:r>
            <a:r>
              <a:rPr lang="en-US" altLang="ko-KR"/>
              <a:t>.
</a:t>
            </a:r>
            <a:r>
              <a:rPr lang="ko-KR" altLang="en-US"/>
              <a:t>쓰임새 셋은 빠르게 </a:t>
            </a:r>
            <a:r>
              <a:rPr lang="en-US" altLang="ko-KR"/>
              <a:t>— </a:t>
            </a:r>
            <a:r>
              <a:rPr lang="ko-KR" altLang="en-US"/>
              <a:t>아침 브리핑 </a:t>
            </a:r>
            <a:r>
              <a:rPr lang="en-US" altLang="ko-KR"/>
              <a:t>/ </a:t>
            </a:r>
            <a:r>
              <a:rPr lang="ko-KR" altLang="en-US"/>
              <a:t>현황 추적판 </a:t>
            </a:r>
            <a:r>
              <a:rPr lang="en-US" altLang="ko-KR"/>
              <a:t>/ </a:t>
            </a:r>
            <a:r>
              <a:rPr lang="ko-KR" altLang="en-US"/>
              <a:t>관심 대상 감시</a:t>
            </a:r>
            <a:r>
              <a:rPr lang="en-US" altLang="ko-KR"/>
              <a:t>.
★ </a:t>
            </a:r>
            <a:r>
              <a:rPr lang="ko-KR" altLang="en-US"/>
              <a:t>수강생 관심 분야로 바꿔 말해주면 확 와닿습니다</a:t>
            </a:r>
            <a:r>
              <a:rPr lang="en-US" altLang="ko-KR"/>
              <a:t>. </a:t>
            </a:r>
            <a:r>
              <a:rPr lang="ko-KR" altLang="en-US"/>
              <a:t>경매 쪽이면 </a:t>
            </a:r>
            <a:r>
              <a:rPr lang="en-US" altLang="ko-KR"/>
              <a:t>"</a:t>
            </a:r>
            <a:r>
              <a:rPr lang="ko-KR" altLang="en-US"/>
              <a:t>검토 중인 물건 현황판</a:t>
            </a:r>
            <a:r>
              <a:rPr lang="en-US" altLang="ko-KR"/>
              <a:t>", </a:t>
            </a:r>
            <a:r>
              <a:rPr lang="ko-KR" altLang="en-US"/>
              <a:t>주식 쪽이면 </a:t>
            </a:r>
            <a:r>
              <a:rPr lang="en-US" altLang="ko-KR"/>
              <a:t>"</a:t>
            </a:r>
            <a:r>
              <a:rPr lang="ko-KR" altLang="en-US"/>
              <a:t>관심 종목 판</a:t>
            </a:r>
            <a:r>
              <a:rPr lang="en-US" altLang="ko-KR"/>
              <a:t>" </a:t>
            </a:r>
            <a:r>
              <a:rPr lang="ko-KR" altLang="en-US"/>
              <a:t>식으로요</a:t>
            </a:r>
            <a:r>
              <a:rPr lang="en-US" altLang="ko-KR"/>
              <a:t>.
★★ </a:t>
            </a:r>
            <a:r>
              <a:rPr lang="ko-KR" altLang="en-US"/>
              <a:t>아래 두 줄을 넘기지 마세요</a:t>
            </a:r>
            <a:r>
              <a:rPr lang="en-US" altLang="ko-KR"/>
              <a:t>.
1) </a:t>
            </a:r>
            <a:r>
              <a:rPr lang="ko-KR" altLang="en-US"/>
              <a:t>라이브 아티팩트는 커넥터를 쓸 때 따로 묻지 않습니다</a:t>
            </a:r>
            <a:r>
              <a:rPr lang="en-US" altLang="ko-KR"/>
              <a:t>. → </a:t>
            </a:r>
            <a:r>
              <a:rPr lang="ko-KR" altLang="en-US"/>
              <a:t>열어두면 연결된 자료를 알아서 가져온다는 뜻입니다</a:t>
            </a:r>
            <a:r>
              <a:rPr lang="en-US" altLang="ko-KR"/>
              <a:t>. </a:t>
            </a:r>
            <a:r>
              <a:rPr lang="ko-KR" altLang="en-US"/>
              <a:t>무엇을 붙여뒀는지 본인이 알고 있어야 합니다</a:t>
            </a:r>
            <a:r>
              <a:rPr lang="en-US" altLang="ko-KR"/>
              <a:t>. </a:t>
            </a:r>
            <a:r>
              <a:rPr lang="ko-KR" altLang="en-US"/>
              <a:t>앞의 보안 장</a:t>
            </a:r>
            <a:r>
              <a:rPr lang="en-US" altLang="ko-KR"/>
              <a:t>(p.32)</a:t>
            </a:r>
            <a:r>
              <a:rPr lang="ko-KR" altLang="en-US"/>
              <a:t>과 이어서 짚으세요</a:t>
            </a:r>
            <a:r>
              <a:rPr lang="en-US" altLang="ko-KR"/>
              <a:t>.
2) </a:t>
            </a:r>
            <a:r>
              <a:rPr lang="ko-KR" altLang="en-US"/>
              <a:t>내 컴퓨터에만 저장됩니다</a:t>
            </a:r>
            <a:r>
              <a:rPr lang="en-US" altLang="ko-KR"/>
              <a:t>. </a:t>
            </a:r>
            <a:r>
              <a:rPr lang="ko-KR" altLang="en-US"/>
              <a:t>기기를 바꾸면 따라오지 않습니다</a:t>
            </a:r>
            <a:r>
              <a:rPr lang="en-US" altLang="ko-KR"/>
              <a:t>. → "</a:t>
            </a:r>
            <a:r>
              <a:rPr lang="ko-KR" altLang="en-US"/>
              <a:t>회사 </a:t>
            </a:r>
            <a:r>
              <a:rPr lang="en-US" altLang="ko-KR"/>
              <a:t>PC</a:t>
            </a:r>
            <a:r>
              <a:rPr lang="ko-KR" altLang="en-US"/>
              <a:t>에서 만든 게 집 노트북에 없어요</a:t>
            </a:r>
            <a:r>
              <a:rPr lang="en-US" altLang="ko-KR"/>
              <a:t>"</a:t>
            </a:r>
            <a:r>
              <a:rPr lang="ko-KR" altLang="en-US"/>
              <a:t>의 답입니다</a:t>
            </a:r>
            <a:r>
              <a:rPr lang="en-US" altLang="ko-KR"/>
              <a:t>.
</a:t>
            </a:r>
            <a:r>
              <a:rPr lang="ko-KR" altLang="en-US"/>
              <a:t>예상 질문 </a:t>
            </a:r>
            <a:r>
              <a:rPr lang="en-US" altLang="ko-KR"/>
              <a:t>— "</a:t>
            </a:r>
            <a:r>
              <a:rPr lang="ko-KR" altLang="en-US"/>
              <a:t>둘 중 뭐부터 써보나요</a:t>
            </a:r>
            <a:r>
              <a:rPr lang="en-US" altLang="ko-KR"/>
              <a:t>?" → "</a:t>
            </a:r>
            <a:r>
              <a:rPr lang="ko-KR" altLang="en-US"/>
              <a:t>채팅 아티팩트는 오늘 이미 쓰셨습니다</a:t>
            </a:r>
            <a:r>
              <a:rPr lang="en-US" altLang="ko-KR"/>
              <a:t>. </a:t>
            </a:r>
            <a:r>
              <a:rPr lang="ko-KR" altLang="en-US"/>
              <a:t>라이브는 커넥터를 몇 개 붙인 다음에 해보시는 게 순서입니다</a:t>
            </a:r>
            <a:r>
              <a:rPr lang="en-US" altLang="ko-KR"/>
              <a:t>."</a:t>
            </a:r>
            <a:endParaRPr lang="ko-KR" altLang="en-US"/>
          </a:p>
        </p:txBody>
      </p:sp>
    </p:spTree>
    <p:extLst>
      <p:ext uri="{BB962C8B-B14F-4D97-AF65-F5344CB8AC3E}">
        <p14:creationId xmlns:p14="http://schemas.microsoft.com/office/powerpoint/2010/main" val="27390065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매번 같은 부탁을 다시 하고 있다면 그건 예약할 일</a:t>
            </a:r>
            <a:r>
              <a:rPr lang="en-US" altLang="ko-KR"/>
              <a:t>"</a:t>
            </a:r>
            <a:r>
              <a:rPr lang="ko-KR" altLang="en-US"/>
              <a:t>이라는 걸 알아채게 하는 것입니다</a:t>
            </a:r>
            <a:r>
              <a:rPr lang="en-US" altLang="ko-KR"/>
              <a:t>.
</a:t>
            </a:r>
            <a:r>
              <a:rPr lang="ko-KR" altLang="en-US"/>
              <a:t>첫 마디 </a:t>
            </a:r>
            <a:r>
              <a:rPr lang="en-US" altLang="ko-KR"/>
              <a:t>— "</a:t>
            </a:r>
            <a:r>
              <a:rPr lang="ko-KR" altLang="en-US"/>
              <a:t>매일 아침에 똑같은 걸 물어보고 계신 게 있으면</a:t>
            </a:r>
            <a:r>
              <a:rPr lang="en-US" altLang="ko-KR"/>
              <a:t>, </a:t>
            </a:r>
            <a:r>
              <a:rPr lang="ko-KR" altLang="en-US"/>
              <a:t>그건 한 번만 설명해 두면 됩니다</a:t>
            </a:r>
            <a:r>
              <a:rPr lang="en-US" altLang="ko-KR"/>
              <a:t>."
★ </a:t>
            </a:r>
            <a:r>
              <a:rPr lang="ko-KR" altLang="en-US"/>
              <a:t>다섯 가지 용도는 이름만 훑고 넘어가세요</a:t>
            </a:r>
            <a:r>
              <a:rPr lang="en-US" altLang="ko-KR"/>
              <a:t>. </a:t>
            </a:r>
            <a:r>
              <a:rPr lang="ko-KR" altLang="en-US"/>
              <a:t>대신 하나를 골라 구체적으로 그려주는 게 낫습니다</a:t>
            </a:r>
            <a:r>
              <a:rPr lang="en-US" altLang="ko-KR"/>
              <a:t>.
</a:t>
            </a:r>
            <a:r>
              <a:rPr lang="ko-KR" altLang="en-US"/>
              <a:t>예 </a:t>
            </a:r>
            <a:r>
              <a:rPr lang="en-US" altLang="ko-KR"/>
              <a:t>— "</a:t>
            </a:r>
            <a:r>
              <a:rPr lang="ko-KR" altLang="en-US"/>
              <a:t>매일 아침 </a:t>
            </a:r>
            <a:r>
              <a:rPr lang="en-US" altLang="ko-KR"/>
              <a:t>8</a:t>
            </a:r>
            <a:r>
              <a:rPr lang="ko-KR" altLang="en-US"/>
              <a:t>시에 지난 </a:t>
            </a:r>
            <a:r>
              <a:rPr lang="en-US" altLang="ko-KR"/>
              <a:t>24</a:t>
            </a:r>
            <a:r>
              <a:rPr lang="ko-KR" altLang="en-US"/>
              <a:t>시간 메일과 일정을 한 장으로 정리해 두라고 시켜두면</a:t>
            </a:r>
            <a:r>
              <a:rPr lang="en-US" altLang="ko-KR"/>
              <a:t>, </a:t>
            </a:r>
            <a:r>
              <a:rPr lang="ko-KR" altLang="en-US"/>
              <a:t>출근해서 그것만 보면 됩니다</a:t>
            </a:r>
            <a:r>
              <a:rPr lang="en-US" altLang="ko-KR"/>
              <a:t>."
</a:t>
            </a:r>
            <a:r>
              <a:rPr lang="ko-KR" altLang="en-US"/>
              <a:t>주기 다섯 개 </a:t>
            </a:r>
            <a:r>
              <a:rPr lang="en-US" altLang="ko-KR"/>
              <a:t>— </a:t>
            </a:r>
            <a:r>
              <a:rPr lang="ko-KR" altLang="en-US"/>
              <a:t>매시간 </a:t>
            </a:r>
            <a:r>
              <a:rPr lang="en-US" altLang="ko-KR"/>
              <a:t>/ </a:t>
            </a:r>
            <a:r>
              <a:rPr lang="ko-KR" altLang="en-US"/>
              <a:t>매일 </a:t>
            </a:r>
            <a:r>
              <a:rPr lang="en-US" altLang="ko-KR"/>
              <a:t>/ </a:t>
            </a:r>
            <a:r>
              <a:rPr lang="ko-KR" altLang="en-US"/>
              <a:t>매주 </a:t>
            </a:r>
            <a:r>
              <a:rPr lang="en-US" altLang="ko-KR"/>
              <a:t>/ </a:t>
            </a:r>
            <a:r>
              <a:rPr lang="ko-KR" altLang="en-US"/>
              <a:t>평일만 </a:t>
            </a:r>
            <a:r>
              <a:rPr lang="en-US" altLang="ko-KR"/>
              <a:t>/ </a:t>
            </a:r>
            <a:r>
              <a:rPr lang="ko-KR" altLang="en-US"/>
              <a:t>수동으로만</a:t>
            </a:r>
            <a:r>
              <a:rPr lang="en-US" altLang="ko-KR"/>
              <a:t>.
★ '</a:t>
            </a:r>
            <a:r>
              <a:rPr lang="ko-KR" altLang="en-US"/>
              <a:t>수동으로만</a:t>
            </a:r>
            <a:r>
              <a:rPr lang="en-US" altLang="ko-KR"/>
              <a:t>'</a:t>
            </a:r>
            <a:r>
              <a:rPr lang="ko-KR" altLang="en-US"/>
              <a:t>을 짚어주세요</a:t>
            </a:r>
            <a:r>
              <a:rPr lang="en-US" altLang="ko-KR"/>
              <a:t>. "</a:t>
            </a:r>
            <a:r>
              <a:rPr lang="ko-KR" altLang="en-US"/>
              <a:t>자동으로 도는 게 부담스러우면 이걸로 만들어 두고 필요할 때 버튼만 누르면 됩니다</a:t>
            </a:r>
            <a:r>
              <a:rPr lang="en-US" altLang="ko-KR"/>
              <a:t>." </a:t>
            </a:r>
            <a:r>
              <a:rPr lang="ko-KR" altLang="en-US"/>
              <a:t>처음 쓰는 분에게 권할 만합니다</a:t>
            </a:r>
            <a:r>
              <a:rPr lang="en-US" altLang="ko-KR"/>
              <a:t>.
★ "</a:t>
            </a:r>
            <a:r>
              <a:rPr lang="ko-KR" altLang="en-US"/>
              <a:t>평소 쓰는 커넥터</a:t>
            </a:r>
            <a:r>
              <a:rPr lang="en-US" altLang="ko-KR"/>
              <a:t>·</a:t>
            </a:r>
            <a:r>
              <a:rPr lang="ko-KR" altLang="en-US"/>
              <a:t>스킬</a:t>
            </a:r>
            <a:r>
              <a:rPr lang="en-US" altLang="ko-KR"/>
              <a:t>·</a:t>
            </a:r>
            <a:r>
              <a:rPr lang="ko-KR" altLang="en-US"/>
              <a:t>플러그인을 그대로 씁니다</a:t>
            </a:r>
            <a:r>
              <a:rPr lang="en-US" altLang="ko-KR"/>
              <a:t>" — </a:t>
            </a:r>
            <a:r>
              <a:rPr lang="ko-KR" altLang="en-US"/>
              <a:t>오늘 앞에서 붙인 것들이 여기서 이어진다는 뜻입니다</a:t>
            </a:r>
            <a:r>
              <a:rPr lang="en-US" altLang="ko-KR"/>
              <a:t>. </a:t>
            </a:r>
            <a:r>
              <a:rPr lang="ko-KR" altLang="en-US"/>
              <a:t>따로 다시 설정할 게 없다는 점을 짚으세요</a:t>
            </a:r>
            <a:r>
              <a:rPr lang="en-US" altLang="ko-KR"/>
              <a:t>.
★★ </a:t>
            </a:r>
            <a:r>
              <a:rPr lang="ko-KR" altLang="en-US"/>
              <a:t>아래 강조 줄 </a:t>
            </a:r>
            <a:r>
              <a:rPr lang="en-US" altLang="ko-KR"/>
              <a:t>— </a:t>
            </a:r>
            <a:r>
              <a:rPr lang="ko-KR" altLang="en-US"/>
              <a:t>컴퓨터를 꺼둬도</a:t>
            </a:r>
            <a:r>
              <a:rPr lang="en-US" altLang="ko-KR"/>
              <a:t>, </a:t>
            </a:r>
            <a:r>
              <a:rPr lang="ko-KR" altLang="en-US"/>
              <a:t>앱을 닫아둬도 정해진 시각에 돌아갑니다</a:t>
            </a:r>
            <a:r>
              <a:rPr lang="en-US" altLang="ko-KR"/>
              <a:t>. </a:t>
            </a:r>
            <a:r>
              <a:rPr lang="ko-KR" altLang="en-US"/>
              <a:t>원격에서 실행되기 때문입니다</a:t>
            </a:r>
            <a:r>
              <a:rPr lang="en-US" altLang="ko-KR"/>
              <a:t>.
→ </a:t>
            </a:r>
            <a:r>
              <a:rPr lang="ko-KR" altLang="en-US"/>
              <a:t>여기서 놀라는 분이 많습니다</a:t>
            </a:r>
            <a:r>
              <a:rPr lang="en-US" altLang="ko-KR"/>
              <a:t>. </a:t>
            </a:r>
            <a:r>
              <a:rPr lang="ko-KR" altLang="en-US"/>
              <a:t>다만 다음 장</a:t>
            </a:r>
            <a:r>
              <a:rPr lang="en-US" altLang="ko-KR"/>
              <a:t>(p.50)</a:t>
            </a:r>
            <a:r>
              <a:rPr lang="ko-KR" altLang="en-US"/>
              <a:t>에 예외가 있으니 </a:t>
            </a:r>
            <a:r>
              <a:rPr lang="en-US" altLang="ko-KR"/>
              <a:t>"</a:t>
            </a:r>
            <a:r>
              <a:rPr lang="ko-KR" altLang="en-US"/>
              <a:t>단</a:t>
            </a:r>
            <a:r>
              <a:rPr lang="en-US" altLang="ko-KR"/>
              <a:t>, </a:t>
            </a:r>
            <a:r>
              <a:rPr lang="ko-KR" altLang="en-US"/>
              <a:t>예외가 하나 있는데 다음 장에서 봅니다</a:t>
            </a:r>
            <a:r>
              <a:rPr lang="en-US" altLang="ko-KR"/>
              <a:t>"</a:t>
            </a:r>
            <a:r>
              <a:rPr lang="ko-KR" altLang="en-US"/>
              <a:t>라고 예고만 하고 넘기세요</a:t>
            </a:r>
            <a:r>
              <a:rPr lang="en-US" altLang="ko-KR"/>
              <a:t>. </a:t>
            </a:r>
            <a:r>
              <a:rPr lang="ko-KR" altLang="en-US"/>
              <a:t>여기서 다 말하면 다음 장이 비어버립니다</a:t>
            </a:r>
            <a:r>
              <a:rPr lang="en-US" altLang="ko-KR"/>
              <a:t>.
★ </a:t>
            </a:r>
            <a:r>
              <a:rPr lang="ko-KR" altLang="en-US"/>
              <a:t>유료 플랜</a:t>
            </a:r>
            <a:r>
              <a:rPr lang="en-US" altLang="ko-KR"/>
              <a:t>(Pro </a:t>
            </a:r>
            <a:r>
              <a:rPr lang="ko-KR" altLang="en-US"/>
              <a:t>이상</a:t>
            </a:r>
            <a:r>
              <a:rPr lang="en-US" altLang="ko-KR"/>
              <a:t>)</a:t>
            </a:r>
            <a:r>
              <a:rPr lang="ko-KR" altLang="en-US"/>
              <a:t>에서 쓸 수 있습니다</a:t>
            </a:r>
            <a:r>
              <a:rPr lang="en-US" altLang="ko-KR"/>
              <a:t>. </a:t>
            </a:r>
            <a:r>
              <a:rPr lang="ko-KR" altLang="en-US"/>
              <a:t>무료 수강생에게 미리 알려주세요</a:t>
            </a:r>
            <a:r>
              <a:rPr lang="en-US" altLang="ko-KR"/>
              <a:t>. </a:t>
            </a:r>
            <a:r>
              <a:rPr lang="ko-KR" altLang="en-US"/>
              <a:t>모르고 찾다가 시간을 씁니다</a:t>
            </a:r>
            <a:r>
              <a:rPr lang="en-US" altLang="ko-KR"/>
              <a:t>.
</a:t>
            </a:r>
            <a:r>
              <a:rPr lang="ko-KR" altLang="en-US"/>
              <a:t>예상 질문
</a:t>
            </a:r>
            <a:r>
              <a:rPr lang="en-US" altLang="ko-KR"/>
              <a:t>- "</a:t>
            </a:r>
            <a:r>
              <a:rPr lang="ko-KR" altLang="en-US"/>
              <a:t>결과는 어디로 오나요</a:t>
            </a:r>
            <a:r>
              <a:rPr lang="en-US" altLang="ko-KR"/>
              <a:t>?" → </a:t>
            </a:r>
            <a:r>
              <a:rPr lang="ko-KR" altLang="en-US"/>
              <a:t>앱 안에서 확인합니다</a:t>
            </a:r>
            <a:r>
              <a:rPr lang="en-US" altLang="ko-KR"/>
              <a:t>. </a:t>
            </a:r>
            <a:r>
              <a:rPr lang="ko-KR" altLang="en-US"/>
              <a:t>다음 장에서 관리 화면을 보여줍니다</a:t>
            </a:r>
            <a:r>
              <a:rPr lang="en-US" altLang="ko-KR"/>
              <a:t>.
- "</a:t>
            </a:r>
            <a:r>
              <a:rPr lang="ko-KR" altLang="en-US"/>
              <a:t>돈이 더 나가나요</a:t>
            </a:r>
            <a:r>
              <a:rPr lang="en-US" altLang="ko-KR"/>
              <a:t>?" → </a:t>
            </a:r>
            <a:r>
              <a:rPr lang="ko-KR" altLang="en-US"/>
              <a:t>요금제 안에서 씁니다</a:t>
            </a:r>
            <a:r>
              <a:rPr lang="en-US" altLang="ko-KR"/>
              <a:t>. </a:t>
            </a:r>
            <a:r>
              <a:rPr lang="ko-KR" altLang="en-US"/>
              <a:t>다만 자주 돌릴수록 사용량을 씁니다</a:t>
            </a:r>
            <a:r>
              <a:rPr lang="en-US" altLang="ko-KR"/>
              <a:t>. </a:t>
            </a:r>
            <a:r>
              <a:rPr lang="ko-KR" altLang="en-US"/>
              <a:t>매시간은 신중하게 고르라고 말해주세요</a:t>
            </a:r>
            <a:r>
              <a:rPr lang="en-US" altLang="ko-KR"/>
              <a:t>.</a:t>
            </a:r>
            <a:endParaRPr lang="ko-KR" altLang="en-US"/>
          </a:p>
        </p:txBody>
      </p:sp>
    </p:spTree>
    <p:extLst>
      <p:ext uri="{BB962C8B-B14F-4D97-AF65-F5344CB8AC3E}">
        <p14:creationId xmlns:p14="http://schemas.microsoft.com/office/powerpoint/2010/main" val="2930667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교재 마지막 장입니다</a:t>
            </a:r>
            <a:r>
              <a:rPr lang="en-US" altLang="ko-KR"/>
              <a:t>. </a:t>
            </a:r>
            <a:r>
              <a:rPr lang="ko-KR" altLang="en-US"/>
              <a:t>만드는 법 </a:t>
            </a:r>
            <a:r>
              <a:rPr lang="en-US" altLang="ko-KR"/>
              <a:t>+ </a:t>
            </a:r>
            <a:r>
              <a:rPr lang="ko-KR" altLang="en-US"/>
              <a:t>관리 </a:t>
            </a:r>
            <a:r>
              <a:rPr lang="en-US" altLang="ko-KR"/>
              <a:t>+ </a:t>
            </a:r>
            <a:r>
              <a:rPr lang="ko-KR" altLang="en-US"/>
              <a:t>함정 하나로 닫습니다</a:t>
            </a:r>
            <a:r>
              <a:rPr lang="en-US" altLang="ko-KR"/>
              <a:t>.
★ </a:t>
            </a:r>
            <a:r>
              <a:rPr lang="ko-KR" altLang="en-US"/>
              <a:t>화면에서 직접 열어 보여주세요</a:t>
            </a:r>
            <a:r>
              <a:rPr lang="en-US" altLang="ko-KR"/>
              <a:t>. </a:t>
            </a:r>
            <a:r>
              <a:rPr lang="ko-KR" altLang="en-US"/>
              <a:t>좌측 사이드바 </a:t>
            </a:r>
            <a:r>
              <a:rPr lang="en-US" altLang="ko-KR"/>
              <a:t>&gt; </a:t>
            </a:r>
            <a:r>
              <a:rPr lang="ko-KR" altLang="en-US"/>
              <a:t>예정됨 </a:t>
            </a:r>
            <a:r>
              <a:rPr lang="en-US" altLang="ko-KR"/>
              <a:t>&gt; </a:t>
            </a:r>
            <a:r>
              <a:rPr lang="ko-KR" altLang="en-US"/>
              <a:t>새 작업</a:t>
            </a:r>
            <a:r>
              <a:rPr lang="en-US" altLang="ko-KR"/>
              <a:t>. </a:t>
            </a:r>
            <a:r>
              <a:rPr lang="ko-KR" altLang="en-US"/>
              <a:t>말로만 하면 못 찾습니다</a:t>
            </a:r>
            <a:r>
              <a:rPr lang="en-US" altLang="ko-KR"/>
              <a:t>.
</a:t>
            </a:r>
            <a:r>
              <a:rPr lang="ko-KR" altLang="en-US"/>
              <a:t>두 가지 길
</a:t>
            </a:r>
            <a:r>
              <a:rPr lang="en-US" altLang="ko-KR"/>
              <a:t>1) Claude</a:t>
            </a:r>
            <a:r>
              <a:rPr lang="ko-KR" altLang="en-US"/>
              <a:t>와 함께 만들기 </a:t>
            </a:r>
            <a:r>
              <a:rPr lang="en-US" altLang="ko-KR"/>
              <a:t>(</a:t>
            </a:r>
            <a:r>
              <a:rPr lang="ko-KR" altLang="en-US"/>
              <a:t>권장</a:t>
            </a:r>
            <a:r>
              <a:rPr lang="en-US" altLang="ko-KR"/>
              <a:t>) — "</a:t>
            </a:r>
            <a:r>
              <a:rPr lang="ko-KR" altLang="en-US"/>
              <a:t>무엇을 언제 하고 싶은지 말만 하면 됩니다</a:t>
            </a:r>
            <a:r>
              <a:rPr lang="en-US" altLang="ko-KR"/>
              <a:t>. </a:t>
            </a:r>
            <a:r>
              <a:rPr lang="ko-KR" altLang="en-US"/>
              <a:t>부족한 건 </a:t>
            </a:r>
            <a:r>
              <a:rPr lang="en-US" altLang="ko-KR"/>
              <a:t>Claude</a:t>
            </a:r>
            <a:r>
              <a:rPr lang="ko-KR" altLang="en-US"/>
              <a:t>가 되물어서 채웁니다</a:t>
            </a:r>
            <a:r>
              <a:rPr lang="en-US" altLang="ko-KR"/>
              <a:t>. </a:t>
            </a:r>
            <a:r>
              <a:rPr lang="ko-KR" altLang="en-US"/>
              <a:t>이름</a:t>
            </a:r>
            <a:r>
              <a:rPr lang="en-US" altLang="ko-KR"/>
              <a:t>·</a:t>
            </a:r>
            <a:r>
              <a:rPr lang="ko-KR" altLang="en-US"/>
              <a:t>주기</a:t>
            </a:r>
            <a:r>
              <a:rPr lang="en-US" altLang="ko-KR"/>
              <a:t>·</a:t>
            </a:r>
            <a:r>
              <a:rPr lang="ko-KR" altLang="en-US"/>
              <a:t>할 일을 보여주고</a:t>
            </a:r>
            <a:r>
              <a:rPr lang="en-US" altLang="ko-KR"/>
              <a:t>, </a:t>
            </a:r>
            <a:r>
              <a:rPr lang="ko-KR" altLang="en-US"/>
              <a:t>예약 버튼을 누르면 등록됩니다</a:t>
            </a:r>
            <a:r>
              <a:rPr lang="en-US" altLang="ko-KR"/>
              <a:t>."
   ★ </a:t>
            </a:r>
            <a:r>
              <a:rPr lang="ko-KR" altLang="en-US"/>
              <a:t>초보자에게는 무조건 이쪽을 권하세요</a:t>
            </a:r>
            <a:r>
              <a:rPr lang="en-US" altLang="ko-KR"/>
              <a:t>. </a:t>
            </a:r>
            <a:r>
              <a:rPr lang="ko-KR" altLang="en-US"/>
              <a:t>빈칸 여섯 개를 보면 손이 멈춥니다</a:t>
            </a:r>
            <a:r>
              <a:rPr lang="en-US" altLang="ko-KR"/>
              <a:t>.
2) </a:t>
            </a:r>
            <a:r>
              <a:rPr lang="ko-KR" altLang="en-US"/>
              <a:t>직접 설정하기 </a:t>
            </a:r>
            <a:r>
              <a:rPr lang="en-US" altLang="ko-KR"/>
              <a:t>— </a:t>
            </a:r>
            <a:r>
              <a:rPr lang="ko-KR" altLang="en-US"/>
              <a:t>여섯 칸입니다</a:t>
            </a:r>
            <a:r>
              <a:rPr lang="en-US" altLang="ko-KR"/>
              <a:t>. </a:t>
            </a:r>
            <a:r>
              <a:rPr lang="ko-KR" altLang="en-US"/>
              <a:t>작업 이름 </a:t>
            </a:r>
            <a:r>
              <a:rPr lang="en-US" altLang="ko-KR"/>
              <a:t>/ </a:t>
            </a:r>
            <a:r>
              <a:rPr lang="ko-KR" altLang="en-US"/>
              <a:t>무엇을 할지 </a:t>
            </a:r>
            <a:r>
              <a:rPr lang="en-US" altLang="ko-KR"/>
              <a:t>/ </a:t>
            </a:r>
            <a:r>
              <a:rPr lang="ko-KR" altLang="en-US"/>
              <a:t>승인 방식 </a:t>
            </a:r>
            <a:r>
              <a:rPr lang="en-US" altLang="ko-KR"/>
              <a:t>/ </a:t>
            </a:r>
            <a:r>
              <a:rPr lang="ko-KR" altLang="en-US"/>
              <a:t>주기 </a:t>
            </a:r>
            <a:r>
              <a:rPr lang="en-US" altLang="ko-KR"/>
              <a:t>/ </a:t>
            </a:r>
            <a:r>
              <a:rPr lang="ko-KR" altLang="en-US"/>
              <a:t>모델</a:t>
            </a:r>
            <a:r>
              <a:rPr lang="en-US" altLang="ko-KR"/>
              <a:t>(</a:t>
            </a:r>
            <a:r>
              <a:rPr lang="ko-KR" altLang="en-US"/>
              <a:t>선택</a:t>
            </a:r>
            <a:r>
              <a:rPr lang="en-US" altLang="ko-KR"/>
              <a:t>) / </a:t>
            </a:r>
            <a:r>
              <a:rPr lang="ko-KR" altLang="en-US"/>
              <a:t>작업 폴더</a:t>
            </a:r>
            <a:r>
              <a:rPr lang="en-US" altLang="ko-KR"/>
              <a:t>(</a:t>
            </a:r>
            <a:r>
              <a:rPr lang="ko-KR" altLang="en-US"/>
              <a:t>선택</a:t>
            </a:r>
            <a:r>
              <a:rPr lang="en-US" altLang="ko-KR"/>
              <a:t>). ★ </a:t>
            </a:r>
            <a:r>
              <a:rPr lang="ko-KR" altLang="en-US"/>
              <a:t>이름만 훑고 넘어가세요</a:t>
            </a:r>
            <a:r>
              <a:rPr lang="en-US" altLang="ko-KR"/>
              <a:t>. </a:t>
            </a:r>
            <a:r>
              <a:rPr lang="ko-KR" altLang="en-US"/>
              <a:t>채우는 실습은 하지 않습니다</a:t>
            </a:r>
            <a:r>
              <a:rPr lang="en-US" altLang="ko-KR"/>
              <a:t>.
</a:t>
            </a:r>
            <a:r>
              <a:rPr lang="ko-KR" altLang="en-US"/>
              <a:t>관리 다섯 가지는 빠르게 </a:t>
            </a:r>
            <a:r>
              <a:rPr lang="en-US" altLang="ko-KR"/>
              <a:t>— </a:t>
            </a:r>
            <a:r>
              <a:rPr lang="ko-KR" altLang="en-US"/>
              <a:t>지금 바로 실행 </a:t>
            </a:r>
            <a:r>
              <a:rPr lang="en-US" altLang="ko-KR"/>
              <a:t>/ </a:t>
            </a:r>
            <a:r>
              <a:rPr lang="ko-KR" altLang="en-US"/>
              <a:t>잠시 멈춤 </a:t>
            </a:r>
            <a:r>
              <a:rPr lang="en-US" altLang="ko-KR"/>
              <a:t>/ </a:t>
            </a:r>
            <a:r>
              <a:rPr lang="ko-KR" altLang="en-US"/>
              <a:t>다시 시작 </a:t>
            </a:r>
            <a:r>
              <a:rPr lang="en-US" altLang="ko-KR"/>
              <a:t>/ </a:t>
            </a:r>
            <a:r>
              <a:rPr lang="ko-KR" altLang="en-US"/>
              <a:t>내용</a:t>
            </a:r>
            <a:r>
              <a:rPr lang="en-US" altLang="ko-KR"/>
              <a:t>·</a:t>
            </a:r>
            <a:r>
              <a:rPr lang="ko-KR" altLang="en-US"/>
              <a:t>주기 수정 </a:t>
            </a:r>
            <a:r>
              <a:rPr lang="en-US" altLang="ko-KR"/>
              <a:t>/ </a:t>
            </a:r>
            <a:r>
              <a:rPr lang="ko-KR" altLang="en-US"/>
              <a:t>삭제</a:t>
            </a:r>
            <a:r>
              <a:rPr lang="en-US" altLang="ko-KR"/>
              <a:t>.
★ '</a:t>
            </a:r>
            <a:r>
              <a:rPr lang="ko-KR" altLang="en-US"/>
              <a:t>지금 바로 실행</a:t>
            </a:r>
            <a:r>
              <a:rPr lang="en-US" altLang="ko-KR"/>
              <a:t>'</a:t>
            </a:r>
            <a:r>
              <a:rPr lang="ko-KR" altLang="en-US"/>
              <a:t>을 짚어주세요</a:t>
            </a:r>
            <a:r>
              <a:rPr lang="en-US" altLang="ko-KR"/>
              <a:t>. </a:t>
            </a:r>
            <a:r>
              <a:rPr lang="ko-KR" altLang="en-US"/>
              <a:t>만들어 놓고 내일까지 기다릴 필요 없이 제대로 도는지 그 자리에서 확인할 수 있습니다</a:t>
            </a:r>
            <a:r>
              <a:rPr lang="en-US" altLang="ko-KR"/>
              <a:t>. </a:t>
            </a:r>
            <a:r>
              <a:rPr lang="ko-KR" altLang="en-US"/>
              <a:t>처음 만들면 반드시 이걸로 한 번 돌려보라고 하세요</a:t>
            </a:r>
            <a:r>
              <a:rPr lang="en-US" altLang="ko-KR"/>
              <a:t>.
</a:t>
            </a:r>
            <a:r>
              <a:rPr lang="ko-KR" altLang="en-US"/>
              <a:t>예정된 실행과 지난 실행 결과도 같은 화면에서 봅니다</a:t>
            </a:r>
            <a:r>
              <a:rPr lang="en-US" altLang="ko-KR"/>
              <a:t>.
★★ </a:t>
            </a:r>
            <a:r>
              <a:rPr lang="ko-KR" altLang="en-US"/>
              <a:t>함정 </a:t>
            </a:r>
            <a:r>
              <a:rPr lang="en-US" altLang="ko-KR"/>
              <a:t>— </a:t>
            </a:r>
            <a:r>
              <a:rPr lang="ko-KR" altLang="en-US"/>
              <a:t>앞 장에서 </a:t>
            </a:r>
            <a:r>
              <a:rPr lang="en-US" altLang="ko-KR"/>
              <a:t>"</a:t>
            </a:r>
            <a:r>
              <a:rPr lang="ko-KR" altLang="en-US"/>
              <a:t>컴퓨터를 꺼둬도 돈다</a:t>
            </a:r>
            <a:r>
              <a:rPr lang="en-US" altLang="ko-KR"/>
              <a:t>"</a:t>
            </a:r>
            <a:r>
              <a:rPr lang="ko-KR" altLang="en-US"/>
              <a:t>고 했는데</a:t>
            </a:r>
            <a:r>
              <a:rPr lang="en-US" altLang="ko-KR"/>
              <a:t>, </a:t>
            </a:r>
            <a:r>
              <a:rPr lang="ko-KR" altLang="en-US"/>
              <a:t>여기 예외가 있습니다</a:t>
            </a:r>
            <a:r>
              <a:rPr lang="en-US" altLang="ko-KR"/>
              <a:t>. </a:t>
            </a:r>
            <a:r>
              <a:rPr lang="ko-KR" altLang="en-US"/>
              <a:t>내 컴퓨터의 폴더나 프로그램이 필요한 작업은 로컬에서만 돌아갑니다</a:t>
            </a:r>
            <a:r>
              <a:rPr lang="en-US" altLang="ko-KR"/>
              <a:t>. </a:t>
            </a:r>
            <a:r>
              <a:rPr lang="ko-KR" altLang="en-US"/>
              <a:t>그런 작업은 컴퓨터가 켜져 있어야 실행됩니다</a:t>
            </a:r>
            <a:r>
              <a:rPr lang="en-US" altLang="ko-KR"/>
              <a:t>.
→ "</a:t>
            </a:r>
            <a:r>
              <a:rPr lang="ko-KR" altLang="en-US"/>
              <a:t>파일 정리처럼 내 폴더를 만지는 일</a:t>
            </a:r>
            <a:r>
              <a:rPr lang="en-US" altLang="ko-KR"/>
              <a:t>"</a:t>
            </a:r>
            <a:r>
              <a:rPr lang="ko-KR" altLang="en-US"/>
              <a:t>이 대표적인 예라고 짚어주세요</a:t>
            </a:r>
            <a:r>
              <a:rPr lang="en-US" altLang="ko-KR"/>
              <a:t>. </a:t>
            </a:r>
            <a:r>
              <a:rPr lang="ko-KR" altLang="en-US"/>
              <a:t>앞 장과 모순처럼 들리므로 반드시 연결해서 설명해야 합니다</a:t>
            </a:r>
            <a:r>
              <a:rPr lang="en-US" altLang="ko-KR"/>
              <a:t>.
★ </a:t>
            </a:r>
            <a:r>
              <a:rPr lang="ko-KR" altLang="en-US"/>
              <a:t>마무리 멘트를 준비해 두세요</a:t>
            </a:r>
            <a:r>
              <a:rPr lang="en-US" altLang="ko-KR"/>
              <a:t>.
"</a:t>
            </a:r>
            <a:r>
              <a:rPr lang="ko-KR" altLang="en-US"/>
              <a:t>오늘 설치까지 되신 분은 목표를 다 이루신 겁니다</a:t>
            </a:r>
            <a:r>
              <a:rPr lang="en-US" altLang="ko-KR"/>
              <a:t>. </a:t>
            </a:r>
            <a:r>
              <a:rPr lang="ko-KR" altLang="en-US"/>
              <a:t>뒤쪽 스킬</a:t>
            </a:r>
            <a:r>
              <a:rPr lang="en-US" altLang="ko-KR"/>
              <a:t>·</a:t>
            </a:r>
            <a:r>
              <a:rPr lang="ko-KR" altLang="en-US"/>
              <a:t>프로젝트</a:t>
            </a:r>
            <a:r>
              <a:rPr lang="en-US" altLang="ko-KR"/>
              <a:t>·</a:t>
            </a:r>
            <a:r>
              <a:rPr lang="ko-KR" altLang="en-US"/>
              <a:t>예정됨은 오늘 안 하셔도 됩니다</a:t>
            </a:r>
            <a:r>
              <a:rPr lang="en-US" altLang="ko-KR"/>
              <a:t>. </a:t>
            </a:r>
            <a:r>
              <a:rPr lang="ko-KR" altLang="en-US"/>
              <a:t>자료가 </a:t>
            </a:r>
            <a:r>
              <a:rPr lang="en-US" altLang="ko-KR"/>
              <a:t>GitHub</a:t>
            </a:r>
            <a:r>
              <a:rPr lang="ko-KR" altLang="en-US"/>
              <a:t>에 있으니 필요할 때 열어보세요</a:t>
            </a:r>
            <a:r>
              <a:rPr lang="en-US" altLang="ko-KR"/>
              <a:t>. </a:t>
            </a:r>
            <a:r>
              <a:rPr lang="ko-KR" altLang="en-US"/>
              <a:t>안 되는 게 생기면 </a:t>
            </a:r>
            <a:r>
              <a:rPr lang="en-US" altLang="ko-KR"/>
              <a:t>'MCP</a:t>
            </a:r>
            <a:r>
              <a:rPr lang="ko-KR" altLang="en-US"/>
              <a:t>가 안 붙어요</a:t>
            </a:r>
            <a:r>
              <a:rPr lang="en-US" altLang="ko-KR"/>
              <a:t>' </a:t>
            </a:r>
            <a:r>
              <a:rPr lang="ko-KR" altLang="en-US"/>
              <a:t>한마디만 </a:t>
            </a:r>
            <a:r>
              <a:rPr lang="en-US" altLang="ko-KR"/>
              <a:t>Claude</a:t>
            </a:r>
            <a:r>
              <a:rPr lang="ko-KR" altLang="en-US"/>
              <a:t>에게 하시면 됩니다</a:t>
            </a:r>
            <a:r>
              <a:rPr lang="en-US" altLang="ko-KR"/>
              <a:t>."
</a:t>
            </a:r>
            <a:r>
              <a:rPr lang="ko-KR" altLang="en-US"/>
              <a:t>실습 과제와 다음 안내가 있으면 여기서 붙입니다</a:t>
            </a:r>
            <a:r>
              <a:rPr lang="en-US" altLang="ko-KR"/>
              <a:t>.</a:t>
            </a:r>
            <a:endParaRPr lang="ko-KR" altLang="en-US"/>
          </a:p>
        </p:txBody>
      </p:sp>
    </p:spTree>
    <p:extLst>
      <p:ext uri="{BB962C8B-B14F-4D97-AF65-F5344CB8AC3E}">
        <p14:creationId xmlns:p14="http://schemas.microsoft.com/office/powerpoint/2010/main" val="16125334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섹션 표지입니다</a:t>
            </a:r>
            <a:r>
              <a:rPr lang="en-US" altLang="ko-KR"/>
              <a:t>. 10~15</a:t>
            </a:r>
            <a:r>
              <a:rPr lang="ko-KR" altLang="en-US"/>
              <a:t>초</a:t>
            </a:r>
            <a:r>
              <a:rPr lang="en-US" altLang="ko-KR"/>
              <a:t>.
</a:t>
            </a:r>
            <a:r>
              <a:rPr lang="ko-KR" altLang="en-US"/>
              <a:t>말할 것 </a:t>
            </a:r>
            <a:r>
              <a:rPr lang="en-US" altLang="ko-KR"/>
              <a:t>— "</a:t>
            </a:r>
            <a:r>
              <a:rPr lang="ko-KR" altLang="en-US"/>
              <a:t>이제 마지막입니다</a:t>
            </a:r>
            <a:r>
              <a:rPr lang="en-US" altLang="ko-KR"/>
              <a:t>. </a:t>
            </a:r>
            <a:r>
              <a:rPr lang="ko-KR" altLang="en-US"/>
              <a:t>지금까지 배운 걸 전부 써서 화면을 하나 만들어 봅니다</a:t>
            </a:r>
            <a:r>
              <a:rPr lang="en-US" altLang="ko-KR"/>
              <a:t>. </a:t>
            </a:r>
            <a:r>
              <a:rPr lang="ko-KR" altLang="en-US"/>
              <a:t>코드는 한 줄도 안 씁니다</a:t>
            </a:r>
            <a:r>
              <a:rPr lang="en-US" altLang="ko-KR"/>
              <a:t>."
★ </a:t>
            </a:r>
            <a:r>
              <a:rPr lang="ko-KR" altLang="en-US"/>
              <a:t>여기서부터 분위기가 달라집니다</a:t>
            </a:r>
            <a:r>
              <a:rPr lang="en-US" altLang="ko-KR"/>
              <a:t>. </a:t>
            </a:r>
            <a:r>
              <a:rPr lang="ko-KR" altLang="en-US"/>
              <a:t>앞은 설명이었고 여기는 각자 손이 움직입니다</a:t>
            </a:r>
            <a:r>
              <a:rPr lang="en-US" altLang="ko-KR"/>
              <a:t>. </a:t>
            </a:r>
            <a:r>
              <a:rPr lang="ko-KR" altLang="en-US"/>
              <a:t>시작 전에 화장실 다녀오시라고 하세요</a:t>
            </a:r>
            <a:r>
              <a:rPr lang="en-US" altLang="ko-KR"/>
              <a:t>. 20</a:t>
            </a:r>
            <a:r>
              <a:rPr lang="ko-KR" altLang="en-US"/>
              <a:t>분 동안 끊기지 않습니다</a:t>
            </a:r>
            <a:r>
              <a:rPr lang="en-US" altLang="ko-KR"/>
              <a:t>.
★ </a:t>
            </a:r>
            <a:r>
              <a:rPr lang="ko-KR" altLang="en-US"/>
              <a:t>관심 분야가 경매</a:t>
            </a:r>
            <a:r>
              <a:rPr lang="en-US" altLang="ko-KR"/>
              <a:t>·</a:t>
            </a:r>
            <a:r>
              <a:rPr lang="ko-KR" altLang="en-US"/>
              <a:t>공매인 분에게는 미리 한마디 </a:t>
            </a:r>
            <a:r>
              <a:rPr lang="en-US" altLang="ko-KR"/>
              <a:t>— "</a:t>
            </a:r>
            <a:r>
              <a:rPr lang="ko-KR" altLang="en-US"/>
              <a:t>주식 화면을 만들지만 배우는 건 만드는 방법입니다</a:t>
            </a:r>
            <a:r>
              <a:rPr lang="en-US" altLang="ko-KR"/>
              <a:t>. </a:t>
            </a:r>
            <a:r>
              <a:rPr lang="ko-KR" altLang="en-US"/>
              <a:t>같은 방식으로 경매 물건 화면도 만들 수 있습니다</a:t>
            </a:r>
            <a:r>
              <a:rPr lang="en-US" altLang="ko-KR"/>
              <a:t>."
★ </a:t>
            </a:r>
            <a:r>
              <a:rPr lang="ko-KR" altLang="en-US"/>
              <a:t>시간이 모자라면 여기를 통째로 다음으로 미루세요</a:t>
            </a:r>
            <a:r>
              <a:rPr lang="en-US" altLang="ko-KR"/>
              <a:t>. </a:t>
            </a:r>
            <a:r>
              <a:rPr lang="ko-KR" altLang="en-US"/>
              <a:t>급하게 하면 절반이 못 따라오고 끝납니다</a:t>
            </a:r>
            <a:r>
              <a:rPr lang="en-US" altLang="ko-KR"/>
              <a:t>.</a:t>
            </a:r>
            <a:endParaRPr lang="ko-KR" altLang="en-US"/>
          </a:p>
        </p:txBody>
      </p:sp>
    </p:spTree>
    <p:extLst>
      <p:ext uri="{BB962C8B-B14F-4D97-AF65-F5344CB8AC3E}">
        <p14:creationId xmlns:p14="http://schemas.microsoft.com/office/powerpoint/2010/main" val="37945388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저걸 내가 만든다고</a:t>
            </a:r>
            <a:r>
              <a:rPr lang="en-US" altLang="ko-KR"/>
              <a:t>?" </a:t>
            </a:r>
            <a:r>
              <a:rPr lang="ko-KR" altLang="en-US"/>
              <a:t>하는 놀람을 만드는 것입니다</a:t>
            </a:r>
            <a:r>
              <a:rPr lang="en-US" altLang="ko-KR"/>
              <a:t>.
★★ </a:t>
            </a:r>
            <a:r>
              <a:rPr lang="ko-KR" altLang="en-US"/>
              <a:t>슬라이드로 설명하지 말고 실제 화면을 띄우세요</a:t>
            </a:r>
            <a:r>
              <a:rPr lang="en-US" altLang="ko-KR"/>
              <a:t>. </a:t>
            </a:r>
            <a:r>
              <a:rPr lang="ko-KR" altLang="en-US"/>
              <a:t>강사 아티팩트를 열어 </a:t>
            </a:r>
            <a:r>
              <a:rPr lang="en-US" altLang="ko-KR"/>
              <a:t>20</a:t>
            </a:r>
            <a:r>
              <a:rPr lang="ko-KR" altLang="en-US"/>
              <a:t>초만 보여주면 됩니다</a:t>
            </a:r>
            <a:r>
              <a:rPr lang="en-US" altLang="ko-KR"/>
              <a:t>. </a:t>
            </a:r>
            <a:r>
              <a:rPr lang="ko-KR" altLang="en-US"/>
              <a:t>스크롤을 내리며 지도 → 순위표 → 테마 카드를 훑습니다</a:t>
            </a:r>
            <a:r>
              <a:rPr lang="en-US" altLang="ko-KR"/>
              <a:t>.
</a:t>
            </a:r>
            <a:r>
              <a:rPr lang="ko-KR" altLang="en-US"/>
              <a:t>말할 것 </a:t>
            </a:r>
            <a:r>
              <a:rPr lang="en-US" altLang="ko-KR"/>
              <a:t>— "</a:t>
            </a:r>
            <a:r>
              <a:rPr lang="ko-KR" altLang="en-US"/>
              <a:t>이걸 만드는 데 코드는 한 줄도 안 씁니다</a:t>
            </a:r>
            <a:r>
              <a:rPr lang="en-US" altLang="ko-KR"/>
              <a:t>. </a:t>
            </a:r>
            <a:r>
              <a:rPr lang="ko-KR" altLang="en-US"/>
              <a:t>한 문장씩 말로 시키면 </a:t>
            </a:r>
            <a:r>
              <a:rPr lang="en-US" altLang="ko-KR"/>
              <a:t>Claude</a:t>
            </a:r>
            <a:r>
              <a:rPr lang="ko-KR" altLang="en-US"/>
              <a:t>가 만듭니다</a:t>
            </a:r>
            <a:r>
              <a:rPr lang="en-US" altLang="ko-KR"/>
              <a:t>. 20</a:t>
            </a:r>
            <a:r>
              <a:rPr lang="ko-KR" altLang="en-US"/>
              <a:t>분이면 됩니다</a:t>
            </a:r>
            <a:r>
              <a:rPr lang="en-US" altLang="ko-KR"/>
              <a:t>."
★ </a:t>
            </a:r>
            <a:r>
              <a:rPr lang="ko-KR" altLang="en-US"/>
              <a:t>겁먹는 분이 나옵니다</a:t>
            </a:r>
            <a:r>
              <a:rPr lang="en-US" altLang="ko-KR"/>
              <a:t>. </a:t>
            </a:r>
            <a:r>
              <a:rPr lang="ko-KR" altLang="en-US"/>
              <a:t>바로 눌러주세요 </a:t>
            </a:r>
            <a:r>
              <a:rPr lang="en-US" altLang="ko-KR"/>
              <a:t>— "</a:t>
            </a:r>
            <a:r>
              <a:rPr lang="ko-KR" altLang="en-US"/>
              <a:t>따라오다 막히면 손 드세요</a:t>
            </a:r>
            <a:r>
              <a:rPr lang="en-US" altLang="ko-KR"/>
              <a:t>. </a:t>
            </a:r>
            <a:r>
              <a:rPr lang="ko-KR" altLang="en-US"/>
              <a:t>옆에서 같이 봅니다</a:t>
            </a:r>
            <a:r>
              <a:rPr lang="en-US" altLang="ko-KR"/>
              <a:t>. </a:t>
            </a:r>
            <a:r>
              <a:rPr lang="ko-KR" altLang="en-US"/>
              <a:t>오늘 못 끝내도 자료가 남습니다</a:t>
            </a:r>
            <a:r>
              <a:rPr lang="en-US" altLang="ko-KR"/>
              <a:t>."
</a:t>
            </a:r>
            <a:r>
              <a:rPr lang="ko-KR" altLang="en-US"/>
              <a:t>예상 질문
</a:t>
            </a:r>
            <a:r>
              <a:rPr lang="en-US" altLang="ko-KR"/>
              <a:t>- "</a:t>
            </a:r>
            <a:r>
              <a:rPr lang="ko-KR" altLang="en-US"/>
              <a:t>저도 저렇게 예쁘게 나오나요</a:t>
            </a:r>
            <a:r>
              <a:rPr lang="en-US" altLang="ko-KR"/>
              <a:t>?" → "</a:t>
            </a:r>
            <a:r>
              <a:rPr lang="ko-KR" altLang="en-US"/>
              <a:t>비슷하게 나옵니다</a:t>
            </a:r>
            <a:r>
              <a:rPr lang="en-US" altLang="ko-KR"/>
              <a:t>. </a:t>
            </a:r>
            <a:r>
              <a:rPr lang="ko-KR" altLang="en-US"/>
              <a:t>다만 사람마다 조금씩 다릅니다</a:t>
            </a:r>
            <a:r>
              <a:rPr lang="en-US" altLang="ko-KR"/>
              <a:t>. </a:t>
            </a:r>
            <a:r>
              <a:rPr lang="ko-KR" altLang="en-US"/>
              <a:t>그 이야기는 뒤에서 합니다</a:t>
            </a:r>
            <a:r>
              <a:rPr lang="en-US" altLang="ko-KR"/>
              <a:t>."
- "</a:t>
            </a:r>
            <a:r>
              <a:rPr lang="ko-KR" altLang="en-US"/>
              <a:t>이거 실제로 투자에 쓰나요</a:t>
            </a:r>
            <a:r>
              <a:rPr lang="en-US" altLang="ko-KR"/>
              <a:t>?" → "</a:t>
            </a:r>
            <a:r>
              <a:rPr lang="ko-KR" altLang="en-US"/>
              <a:t>판단 재료를 모아 보는 화면입니다</a:t>
            </a:r>
            <a:r>
              <a:rPr lang="en-US" altLang="ko-KR"/>
              <a:t>. </a:t>
            </a:r>
            <a:r>
              <a:rPr lang="ko-KR" altLang="en-US"/>
              <a:t>이걸 보고 사고팔라는 게 아닙니다</a:t>
            </a:r>
            <a:r>
              <a:rPr lang="en-US" altLang="ko-KR"/>
              <a:t>."
[</a:t>
            </a:r>
            <a:r>
              <a:rPr lang="ko-KR" altLang="en-US"/>
              <a:t>스크린샷 삽입</a:t>
            </a:r>
            <a:r>
              <a:rPr lang="en-US" altLang="ko-KR"/>
              <a:t>] </a:t>
            </a:r>
            <a:r>
              <a:rPr lang="ko-KR" altLang="en-US"/>
              <a:t>자리표시가 있습니다</a:t>
            </a:r>
            <a:r>
              <a:rPr lang="en-US" altLang="ko-KR"/>
              <a:t>. </a:t>
            </a:r>
            <a:r>
              <a:rPr lang="ko-KR" altLang="en-US"/>
              <a:t>아티팩트를 열어 전체 화면을 캡처해 교체하세요</a:t>
            </a:r>
            <a:r>
              <a:rPr lang="en-US" altLang="ko-KR"/>
              <a:t>.</a:t>
            </a:r>
            <a:endParaRPr lang="ko-KR" altLang="en-US"/>
          </a:p>
        </p:txBody>
      </p:sp>
    </p:spTree>
    <p:extLst>
      <p:ext uri="{BB962C8B-B14F-4D97-AF65-F5344CB8AC3E}">
        <p14:creationId xmlns:p14="http://schemas.microsoft.com/office/powerpoint/2010/main" val="3523307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t>★ 이 장을 건너뛰면 20분을 통째로 날립니다. 반드시 넷 다 손으로 확인시키세요.</a:t>
            </a:r>
          </a:p>
          <a:p/>
          <a:p>
            <a:r>
              <a:t>진행 방법 — 말로 하지 말고 한 항목씩 다 같이 화면을 열어 확인합니다.</a:t>
            </a:r>
          </a:p>
          <a:p/>
          <a:p>
            <a:r>
              <a:t>1) 요금제 — 설정 &gt; 계정. Pro 이상이 아니면 아티팩트가 아예 만들어지지 않습니다.</a:t>
            </a:r>
          </a:p>
          <a:p>
            <a:r>
              <a:t>★ 무료 계정인 분이 있으면 지금 파악해 두세요. 옆 사람 화면을 같이 보게 자리를 옮기는 편이 낫습니다.</a:t>
            </a:r>
          </a:p>
          <a:p/>
          <a:p>
            <a:r>
              <a:t>2) 도구함에 2개 담기 — playmcp.kakao.com 에 카카오 계정으로 로그인해서 담습니다.</a:t>
            </a:r>
          </a:p>
          <a:p>
            <a:r>
              <a:t>「한국 주식 정보」가 시세·순위·차트를, 「네이버 검색 mcp」가 뉴스를 맡습니다.</a:t>
            </a:r>
          </a:p>
          <a:p>
            <a:r>
              <a:t>★ 하나만 담으면 시세는 나오는데 뉴스만 안 옵니다. 이 증상은 p.61 표 두 번째 줄에 있습니다.</a:t>
            </a:r>
          </a:p>
          <a:p>
            <a:r>
              <a:t>★ 둘 다 API 키를 넣는 칸이 없습니다. 담기만 하면 바로 씁니다.</a:t>
            </a:r>
          </a:p>
          <a:p/>
          <a:p>
            <a:r>
              <a:t>3) PlayMCP 커넥터 — 설정 &gt; 커넥터 에서 연결합니다.</a:t>
            </a:r>
          </a:p>
          <a:p>
            <a:r>
              <a:t>★★ 2번과 3번의 순서가 바뀌면 안 됩니다. 도구함이 빈 채로 연결하면 커넥터는 붙는데 쓸 도구가 하나도 없습니다.</a:t>
            </a:r>
          </a:p>
          <a:p>
            <a:r>
              <a:t>화면상 아무 문제가 없어 보여서 가장 헷갈리는 상태입니다. 자세한 순서는 p.54 에서 봅니다.</a:t>
            </a:r>
          </a:p>
          <a:p/>
          <a:p>
            <a:r>
              <a:t>4) 새 대화 — 왼쪽 사이드바에서 새 대화를 엽니다.</a:t>
            </a:r>
          </a:p>
          <a:p>
            <a:r>
              <a:t>★★ 오늘 가장 많이 나올 질문이 "커넥터를 못 찾는대요"입니다. 원인의 대부분이 이겁니다. 커넥터를 방금 켜면 열려 있던 대화에는 반영되지 않습니다.</a:t>
            </a:r>
          </a:p>
          <a:p/>
          <a:p>
            <a:r>
              <a:t>★ 넷 다 됐는지 손을 들어 확인받고 넘어가세요. 한 명이라도 빠지면 그 사람만 뒤에서 헤맵니다.</a:t>
            </a:r>
          </a:p>
        </p:txBody>
      </p:sp>
    </p:spTree>
    <p:extLst>
      <p:ext uri="{BB962C8B-B14F-4D97-AF65-F5344CB8AC3E}">
        <p14:creationId xmlns:p14="http://schemas.microsoft.com/office/powerpoint/2010/main" val="1060293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t>★ 이 장의 목적: "커넥터를 몇 개나 붙여야 하나" 하는 불안을 없애고, 붙이는 순서를 정확히 알려주는 것입니다.</a:t>
            </a:r>
          </a:p>
          <a:p/>
          <a:p>
            <a:r>
              <a:t>첫 마디 — "붙일 건 커넥터 하나뿐입니다. 시세도 순위도 차트도 뉴스도 전부 그 하나에서 나옵니다."</a:t>
            </a:r>
          </a:p>
          <a:p>
            <a:r>
              <a:t>★ 커넥터는 하나인데 그 안에 담는 도구는 두 개입니다. 이 구분을 흐리면 학생들이 헷갈립니다.</a:t>
            </a:r>
          </a:p>
          <a:p/>
          <a:p>
            <a:r>
              <a:t>★ 가운데 흐름도를 손으로 짚으며 읽어주세요.</a:t>
            </a:r>
          </a:p>
          <a:p>
            <a:r>
              <a:t>"내 화면이 PlayMCP 도구함에게 물어보고, 도구함이 다시 한국투자증권과 네이버에 물어봅니다. 시세는 증권사 공식 값이고, 뉴스는 네이버 뉴스 검색 결과입니다."</a:t>
            </a:r>
          </a:p>
          <a:p/>
          <a:p>
            <a:r>
              <a:t>★★ 순서가 이 장의 핵심입니다. 거꾸로 하면 반드시 막힙니다.</a:t>
            </a:r>
          </a:p>
          <a:p>
            <a:r>
              <a:t>① 웹에서 도구함에 도구 두 개를 담는다 — 「한국 주식 정보」, 「네이버 검색 mcp」</a:t>
            </a:r>
          </a:p>
          <a:p>
            <a:r>
              <a:t>② 앱에서 커넥터를 연결한다</a:t>
            </a:r>
          </a:p>
          <a:p>
            <a:r>
              <a:t>도구함이 비어 있는데 연결부터 하면, 연결은 되는데 쓸 도구가 하나도 없습니다. 여기서 "붙였는데 아무것도 없어요"가 나옵니다.</a:t>
            </a:r>
          </a:p>
          <a:p/>
          <a:p>
            <a:r>
              <a:t>★ ② 경로를 화면에서 직접 눌러 보여주세요 — 설정 &gt; 커넥터 &gt; 커넥터 둘러보기 &gt; PlayMCP &gt; 연결.</a:t>
            </a:r>
          </a:p>
          <a:p>
            <a:r>
              <a:t>PlayMCP 는 이미 커넥터 목록에 등록돼 있습니다. 주소를 복사해 붙일 일도, 설정 파일을 열 일도 없습니다.</a:t>
            </a:r>
          </a:p>
          <a:p/>
          <a:p>
            <a:r>
              <a:t>★ 카카오 계정으로 로그인합니다. PlayMCP 가입 때 쓴 계정과 같아야 합니다.</a:t>
            </a:r>
          </a:p>
          <a:p/>
          <a:p>
            <a:r>
              <a:t>★★ 두 도구 모두 API 키를 넣는 칸이 없습니다. 도구함에 담기만 하면 바로 씁니다.</a:t>
            </a:r>
          </a:p>
          <a:p>
            <a:r>
              <a:t>(2026-08-10 PlayMCP 도구 상세화면 직접 확인 — 키 입력란 없음)</a:t>
            </a:r>
          </a:p>
          <a:p>
            <a:r>
              <a:t>한국투자증권 계좌·앱키는 따로 발급받을 수 있지만, 오늘 실습에는 필요하지 않습니다.</a:t>
            </a:r>
          </a:p>
          <a:p/>
          <a:p>
            <a:r>
              <a:t>★ 커넥터는 유료 플랜에서만 제공됩니다 (Claude 정책). 오늘은 전원 Pro 기준이라 문제없습니다.</a:t>
            </a:r>
          </a:p>
          <a:p/>
          <a:p>
            <a:r>
              <a:t>예상 질문</a:t>
            </a:r>
          </a:p>
          <a:p>
            <a:r>
              <a:t>- "PlayMCP가 뭔가요?" → "카카오가 운영하는 MCP 모음터입니다. 여러 도구를 담아두면 Claude 에는 하나로 붙습니다."</a:t>
            </a:r>
          </a:p>
          <a:p>
            <a:r>
              <a:t>- "도구함에 몇 개까지 담나요?" → 최대 10개입니다. 오늘은 두 개만 담습니다.</a:t>
            </a:r>
          </a:p>
          <a:p>
            <a:r>
              <a:t>- "뉴스도 증권사 값인가요?" → 아닙니다. 뉴스는 네이버 검색 결과라 원문을 눌러 확인해야 합니다.</a:t>
            </a:r>
          </a:p>
          <a:p/>
          <a:p>
            <a:r>
              <a:t>출처: kko.kakao.com/connectclaude · playmcp.kakao.com/llms.txt (2026-08-10 직접 조회)</a:t>
            </a:r>
          </a:p>
        </p:txBody>
      </p:sp>
    </p:spTree>
    <p:extLst>
      <p:ext uri="{BB962C8B-B14F-4D97-AF65-F5344CB8AC3E}">
        <p14:creationId xmlns:p14="http://schemas.microsoft.com/office/powerpoint/2010/main" val="36425335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도구도 내가 만들어야 하나</a:t>
            </a:r>
            <a:r>
              <a:rPr lang="en-US" altLang="ko-KR"/>
              <a:t>" </a:t>
            </a:r>
            <a:r>
              <a:rPr lang="ko-KR" altLang="en-US"/>
              <a:t>하는 오해를 끊는 것입니다</a:t>
            </a:r>
            <a:r>
              <a:rPr lang="en-US" altLang="ko-KR"/>
              <a:t>.
</a:t>
            </a:r>
            <a:r>
              <a:rPr lang="ko-KR" altLang="en-US"/>
              <a:t>첫 마디 </a:t>
            </a:r>
            <a:r>
              <a:rPr lang="en-US" altLang="ko-KR"/>
              <a:t>— "</a:t>
            </a:r>
            <a:r>
              <a:rPr lang="ko-KR" altLang="en-US"/>
              <a:t>도구는 만드는 게 아닙니다</a:t>
            </a:r>
            <a:r>
              <a:rPr lang="en-US" altLang="ko-KR"/>
              <a:t>. </a:t>
            </a:r>
            <a:r>
              <a:rPr lang="ko-KR" altLang="en-US"/>
              <a:t>커넥터를 붙이면 그 안에 이미 들어 있습니다</a:t>
            </a:r>
            <a:r>
              <a:rPr lang="en-US" altLang="ko-KR"/>
              <a:t>."
</a:t>
            </a:r>
            <a:r>
              <a:rPr lang="ko-KR" altLang="en-US"/>
              <a:t>비유 </a:t>
            </a:r>
            <a:r>
              <a:rPr lang="en-US" altLang="ko-KR"/>
              <a:t>— "</a:t>
            </a:r>
            <a:r>
              <a:rPr lang="ko-KR" altLang="en-US"/>
              <a:t>커넥터는 공구함입니다</a:t>
            </a:r>
            <a:r>
              <a:rPr lang="en-US" altLang="ko-KR"/>
              <a:t>. </a:t>
            </a:r>
            <a:r>
              <a:rPr lang="ko-KR" altLang="en-US"/>
              <a:t>책상 옆에 갖다 놓는 게 내 일이고</a:t>
            </a:r>
            <a:r>
              <a:rPr lang="en-US" altLang="ko-KR"/>
              <a:t>, </a:t>
            </a:r>
            <a:r>
              <a:rPr lang="ko-KR" altLang="en-US"/>
              <a:t>안에 든 공구는 이미 들어 있습니다</a:t>
            </a:r>
            <a:r>
              <a:rPr lang="en-US" altLang="ko-KR"/>
              <a:t>."
★ </a:t>
            </a:r>
            <a:r>
              <a:rPr lang="ko-KR" altLang="en-US"/>
              <a:t>표의 가운데 줄</a:t>
            </a:r>
            <a:r>
              <a:rPr lang="en-US" altLang="ko-KR"/>
              <a:t>(</a:t>
            </a:r>
            <a:r>
              <a:rPr lang="ko-KR" altLang="en-US"/>
              <a:t>도구</a:t>
            </a:r>
            <a:r>
              <a:rPr lang="en-US" altLang="ko-KR"/>
              <a:t>)</a:t>
            </a:r>
            <a:r>
              <a:rPr lang="ko-KR" altLang="en-US"/>
              <a:t>이 이 장의 전부입니다</a:t>
            </a:r>
            <a:r>
              <a:rPr lang="en-US" altLang="ko-KR"/>
              <a:t>. </a:t>
            </a:r>
            <a:r>
              <a:rPr lang="ko-KR" altLang="en-US"/>
              <a:t>나머지 세 줄은 앞에서 배운 것을 다시 세워주는 용도라 빠르게 읽고 넘기세요</a:t>
            </a:r>
            <a:r>
              <a:rPr lang="en-US" altLang="ko-KR"/>
              <a:t>.
★★ </a:t>
            </a:r>
            <a:r>
              <a:rPr lang="ko-KR" altLang="en-US"/>
              <a:t>맨 아래 줄을 반드시 읽어주세요 </a:t>
            </a:r>
            <a:r>
              <a:rPr lang="en-US" altLang="ko-KR"/>
              <a:t>— </a:t>
            </a:r>
            <a:r>
              <a:rPr lang="ko-KR" altLang="en-US"/>
              <a:t>도구 이름을 외울 필요가 없습니다</a:t>
            </a:r>
            <a:r>
              <a:rPr lang="en-US" altLang="ko-KR"/>
              <a:t>. "</a:t>
            </a:r>
            <a:r>
              <a:rPr lang="ko-KR" altLang="en-US"/>
              <a:t>등락률 상위 알려줘</a:t>
            </a:r>
            <a:r>
              <a:rPr lang="en-US" altLang="ko-KR"/>
              <a:t>" </a:t>
            </a:r>
            <a:r>
              <a:rPr lang="ko-KR" altLang="en-US"/>
              <a:t>라고 말하면 </a:t>
            </a:r>
            <a:r>
              <a:rPr lang="en-US" altLang="ko-KR"/>
              <a:t>Claude</a:t>
            </a:r>
            <a:r>
              <a:rPr lang="ko-KR" altLang="en-US"/>
              <a:t>가 알아서 고릅니다</a:t>
            </a:r>
            <a:r>
              <a:rPr lang="en-US" altLang="ko-KR"/>
              <a:t>.
</a:t>
            </a:r>
            <a:r>
              <a:rPr lang="ko-KR" altLang="en-US"/>
              <a:t>초보자는 </a:t>
            </a:r>
            <a:r>
              <a:rPr lang="en-US" altLang="ko-KR"/>
              <a:t>market_get_movers </a:t>
            </a:r>
            <a:r>
              <a:rPr lang="ko-KR" altLang="en-US"/>
              <a:t>같은 이름을 외워야 하는 줄 압니다</a:t>
            </a:r>
            <a:r>
              <a:rPr lang="en-US" altLang="ko-KR"/>
              <a:t>. </a:t>
            </a:r>
            <a:r>
              <a:rPr lang="ko-KR" altLang="en-US"/>
              <a:t>그 부담을 여기서 없애야 다음 장부터 편하게 따라옵니다</a:t>
            </a:r>
            <a:r>
              <a:rPr lang="en-US" altLang="ko-KR"/>
              <a:t>.
</a:t>
            </a:r>
            <a:r>
              <a:rPr lang="ko-KR" altLang="en-US"/>
              <a:t>예상 질문
</a:t>
            </a:r>
            <a:r>
              <a:rPr lang="en-US" altLang="ko-KR"/>
              <a:t>- "</a:t>
            </a:r>
            <a:r>
              <a:rPr lang="ko-KR" altLang="en-US"/>
              <a:t>도구를 직접 만들 수도 있나요</a:t>
            </a:r>
            <a:r>
              <a:rPr lang="en-US" altLang="ko-KR"/>
              <a:t>?" → "</a:t>
            </a:r>
            <a:r>
              <a:rPr lang="ko-KR" altLang="en-US"/>
              <a:t>만들 수 있는데 코드를 짜야 합니다</a:t>
            </a:r>
            <a:r>
              <a:rPr lang="en-US" altLang="ko-KR"/>
              <a:t>. </a:t>
            </a:r>
            <a:r>
              <a:rPr lang="ko-KR" altLang="en-US"/>
              <a:t>오늘 범위 밖입니다</a:t>
            </a:r>
            <a:r>
              <a:rPr lang="en-US" altLang="ko-KR"/>
              <a:t>."
- "</a:t>
            </a:r>
            <a:r>
              <a:rPr lang="ko-KR" altLang="en-US"/>
              <a:t>도구가 몇 개나 있나요</a:t>
            </a:r>
            <a:r>
              <a:rPr lang="en-US" altLang="ko-KR"/>
              <a:t>?" → "</a:t>
            </a:r>
            <a:r>
              <a:rPr lang="ko-KR" altLang="en-US"/>
              <a:t>커넥터마다 다릅니다</a:t>
            </a:r>
            <a:r>
              <a:rPr lang="en-US" altLang="ko-KR"/>
              <a:t>. </a:t>
            </a:r>
            <a:r>
              <a:rPr lang="ko-KR" altLang="en-US"/>
              <a:t>지금 쓰는 건 넷입니다</a:t>
            </a:r>
            <a:r>
              <a:rPr lang="en-US" altLang="ko-KR"/>
              <a:t>."</a:t>
            </a:r>
            <a:endParaRPr lang="ko-KR" altLang="en-US"/>
          </a:p>
        </p:txBody>
      </p:sp>
    </p:spTree>
    <p:extLst>
      <p:ext uri="{BB962C8B-B14F-4D97-AF65-F5344CB8AC3E}">
        <p14:creationId xmlns:p14="http://schemas.microsoft.com/office/powerpoint/2010/main" val="31660712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여기부터 실습입니다</a:t>
            </a:r>
            <a:r>
              <a:rPr lang="en-US" altLang="ko-KR"/>
              <a:t>. </a:t>
            </a:r>
            <a:r>
              <a:rPr lang="ko-KR" altLang="en-US"/>
              <a:t>슬라이드를 읽어주지 말고</a:t>
            </a:r>
            <a:r>
              <a:rPr lang="en-US" altLang="ko-KR"/>
              <a:t>, </a:t>
            </a:r>
            <a:r>
              <a:rPr lang="ko-KR" altLang="en-US"/>
              <a:t>한 문장씩 같이 넣습니다</a:t>
            </a:r>
            <a:r>
              <a:rPr lang="en-US" altLang="ko-KR"/>
              <a:t>.
</a:t>
            </a:r>
            <a:r>
              <a:rPr lang="ko-KR" altLang="en-US"/>
              <a:t>진행 방법 </a:t>
            </a:r>
            <a:r>
              <a:rPr lang="en-US" altLang="ko-KR"/>
              <a:t>— </a:t>
            </a:r>
            <a:r>
              <a:rPr lang="ko-KR" altLang="en-US"/>
              <a:t>한 문장 넣고 → 결과 확인 → 다음 문장</a:t>
            </a:r>
            <a:r>
              <a:rPr lang="en-US" altLang="ko-KR"/>
              <a:t>. </a:t>
            </a:r>
            <a:r>
              <a:rPr lang="ko-KR" altLang="en-US"/>
              <a:t>절대 몰아서 주지 마세요</a:t>
            </a:r>
            <a:r>
              <a:rPr lang="en-US" altLang="ko-KR"/>
              <a:t>. </a:t>
            </a:r>
            <a:r>
              <a:rPr lang="ko-KR" altLang="en-US"/>
              <a:t>한꺼번에 넣으면 결과가 나와도 무엇이 무엇을 만들었는지 모릅니다</a:t>
            </a:r>
            <a:r>
              <a:rPr lang="en-US" altLang="ko-KR"/>
              <a:t>.
★ </a:t>
            </a:r>
            <a:r>
              <a:rPr lang="ko-KR" altLang="en-US"/>
              <a:t>첫 문장이 명령이 아니라 </a:t>
            </a:r>
            <a:r>
              <a:rPr lang="en-US" altLang="ko-KR"/>
              <a:t>"</a:t>
            </a:r>
            <a:r>
              <a:rPr lang="ko-KR" altLang="en-US"/>
              <a:t>만들고 싶어</a:t>
            </a:r>
            <a:r>
              <a:rPr lang="en-US" altLang="ko-KR"/>
              <a:t>"</a:t>
            </a:r>
            <a:r>
              <a:rPr lang="ko-KR" altLang="en-US"/>
              <a:t>라는 말인 게 중요합니다</a:t>
            </a:r>
            <a:r>
              <a:rPr lang="en-US" altLang="ko-KR"/>
              <a:t>. Claude</a:t>
            </a:r>
            <a:r>
              <a:rPr lang="ko-KR" altLang="en-US"/>
              <a:t>가 되물어 옵니다</a:t>
            </a:r>
            <a:r>
              <a:rPr lang="en-US" altLang="ko-KR"/>
              <a:t>.
"</a:t>
            </a:r>
            <a:r>
              <a:rPr lang="ko-KR" altLang="en-US"/>
              <a:t>어떤 테마를 원하세요</a:t>
            </a:r>
            <a:r>
              <a:rPr lang="en-US" altLang="ko-KR"/>
              <a:t>?" </a:t>
            </a:r>
            <a:r>
              <a:rPr lang="ko-KR" altLang="en-US"/>
              <a:t>같은 질문이 오면 초보자는 당황합니다</a:t>
            </a:r>
            <a:r>
              <a:rPr lang="en-US" altLang="ko-KR"/>
              <a:t>. </a:t>
            </a:r>
            <a:r>
              <a:rPr lang="ko-KR" altLang="en-US"/>
              <a:t>미리 알려주세요 </a:t>
            </a:r>
            <a:r>
              <a:rPr lang="en-US" altLang="ko-KR"/>
              <a:t>— "</a:t>
            </a:r>
            <a:r>
              <a:rPr lang="ko-KR" altLang="en-US"/>
              <a:t>모르면 </a:t>
            </a:r>
            <a:r>
              <a:rPr lang="en-US" altLang="ko-KR"/>
              <a:t>'</a:t>
            </a:r>
            <a:r>
              <a:rPr lang="ko-KR" altLang="en-US"/>
              <a:t>네가 정해줘</a:t>
            </a:r>
            <a:r>
              <a:rPr lang="en-US" altLang="ko-KR"/>
              <a:t>'</a:t>
            </a:r>
            <a:r>
              <a:rPr lang="ko-KR" altLang="en-US"/>
              <a:t>라고 답하시면 됩니다</a:t>
            </a:r>
            <a:r>
              <a:rPr lang="en-US" altLang="ko-KR"/>
              <a:t>."
★ </a:t>
            </a:r>
            <a:r>
              <a:rPr lang="ko-KR" altLang="en-US"/>
              <a:t>두 번째 문장은 커넥터 점검입니다</a:t>
            </a:r>
            <a:r>
              <a:rPr lang="en-US" altLang="ko-KR"/>
              <a:t>. </a:t>
            </a:r>
            <a:r>
              <a:rPr lang="ko-KR" altLang="en-US"/>
              <a:t>여기서 도구 목록이 나오면 커넥터가 살아 있다는 뜻입니다</a:t>
            </a:r>
            <a:r>
              <a:rPr lang="en-US" altLang="ko-KR"/>
              <a:t>.
★★ </a:t>
            </a:r>
            <a:r>
              <a:rPr lang="ko-KR" altLang="en-US"/>
              <a:t>네 번째 문장까지 넣었는데 숫자가 안 나오면 거기서 멈추세요</a:t>
            </a:r>
            <a:r>
              <a:rPr lang="en-US" altLang="ko-KR"/>
              <a:t>. </a:t>
            </a:r>
            <a:r>
              <a:rPr lang="ko-KR" altLang="en-US"/>
              <a:t>뒤로 가면 갈수록 원인을 못 찾습니다</a:t>
            </a:r>
            <a:r>
              <a:rPr lang="en-US" altLang="ko-KR"/>
              <a:t>. p.53</a:t>
            </a:r>
            <a:r>
              <a:rPr lang="ko-KR" altLang="en-US"/>
              <a:t>으로 돌아가 세 가지를 다시 확인합니다</a:t>
            </a:r>
            <a:r>
              <a:rPr lang="en-US" altLang="ko-KR"/>
              <a:t>.
★ </a:t>
            </a:r>
            <a:r>
              <a:rPr lang="ko-KR" altLang="en-US"/>
              <a:t>아직 아티팩트를 만들지 않습니다</a:t>
            </a:r>
            <a:r>
              <a:rPr lang="en-US" altLang="ko-KR"/>
              <a:t>. </a:t>
            </a:r>
            <a:r>
              <a:rPr lang="ko-KR" altLang="en-US"/>
              <a:t>재료가 있는지부터 확인하는 단계라고 말해주세요</a:t>
            </a:r>
            <a:r>
              <a:rPr lang="en-US" altLang="ko-KR"/>
              <a:t>.</a:t>
            </a:r>
            <a:endParaRPr lang="ko-KR" altLang="en-US"/>
          </a:p>
        </p:txBody>
      </p:sp>
    </p:spTree>
    <p:extLst>
      <p:ext uri="{BB962C8B-B14F-4D97-AF65-F5344CB8AC3E}">
        <p14:creationId xmlns:p14="http://schemas.microsoft.com/office/powerpoint/2010/main" val="31889782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첫 아티팩트가 만들어지는 장입니다</a:t>
            </a:r>
            <a:r>
              <a:rPr lang="en-US" altLang="ko-KR"/>
              <a:t>. </a:t>
            </a:r>
            <a:r>
              <a:rPr lang="ko-KR" altLang="en-US"/>
              <a:t>여기서 탄성이 나옵니다</a:t>
            </a:r>
            <a:r>
              <a:rPr lang="en-US" altLang="ko-KR"/>
              <a:t>.
★★ </a:t>
            </a:r>
            <a:r>
              <a:rPr lang="ko-KR" altLang="en-US"/>
              <a:t>첫 문장을 넣은 뒤 잠시 기다리게 하세요</a:t>
            </a:r>
            <a:r>
              <a:rPr lang="en-US" altLang="ko-KR"/>
              <a:t>. 30</a:t>
            </a:r>
            <a:r>
              <a:rPr lang="ko-KR" altLang="en-US"/>
              <a:t>초 정도 걸립니다</a:t>
            </a:r>
            <a:r>
              <a:rPr lang="en-US" altLang="ko-KR"/>
              <a:t>. </a:t>
            </a:r>
            <a:r>
              <a:rPr lang="ko-KR" altLang="en-US"/>
              <a:t>화면 오른쪽에 창이 새로 뜨면 성공입니다</a:t>
            </a:r>
            <a:r>
              <a:rPr lang="en-US" altLang="ko-KR"/>
              <a:t>.
</a:t>
            </a:r>
            <a:r>
              <a:rPr lang="ko-KR" altLang="en-US"/>
              <a:t>안 만들어지면 요금제입니다</a:t>
            </a:r>
            <a:r>
              <a:rPr lang="en-US" altLang="ko-KR"/>
              <a:t>. </a:t>
            </a:r>
            <a:r>
              <a:rPr lang="ko-KR" altLang="en-US"/>
              <a:t>무료 계정은 여기서 멈춥니다</a:t>
            </a:r>
            <a:r>
              <a:rPr lang="en-US" altLang="ko-KR"/>
              <a:t>.
★ </a:t>
            </a:r>
            <a:r>
              <a:rPr lang="ko-KR" altLang="en-US"/>
              <a:t>두 번째</a:t>
            </a:r>
            <a:r>
              <a:rPr lang="en-US" altLang="ko-KR"/>
              <a:t>~</a:t>
            </a:r>
            <a:r>
              <a:rPr lang="ko-KR" altLang="en-US"/>
              <a:t>세 번째 문장이 </a:t>
            </a:r>
            <a:r>
              <a:rPr lang="en-US" altLang="ko-KR"/>
              <a:t>"</a:t>
            </a:r>
            <a:r>
              <a:rPr lang="ko-KR" altLang="en-US"/>
              <a:t>고쳐 시키기</a:t>
            </a:r>
            <a:r>
              <a:rPr lang="en-US" altLang="ko-KR"/>
              <a:t>"</a:t>
            </a:r>
            <a:r>
              <a:rPr lang="ko-KR" altLang="en-US"/>
              <a:t>의 첫 경험입니다</a:t>
            </a:r>
            <a:r>
              <a:rPr lang="en-US" altLang="ko-KR"/>
              <a:t>. </a:t>
            </a:r>
            <a:r>
              <a:rPr lang="ko-KR" altLang="en-US"/>
              <a:t>이걸 짚어주세요 </a:t>
            </a:r>
            <a:r>
              <a:rPr lang="en-US" altLang="ko-KR"/>
              <a:t>—
"</a:t>
            </a:r>
            <a:r>
              <a:rPr lang="ko-KR" altLang="en-US"/>
              <a:t>한 번에 완벽하게 시킬 필요가 없습니다</a:t>
            </a:r>
            <a:r>
              <a:rPr lang="en-US" altLang="ko-KR"/>
              <a:t>. </a:t>
            </a:r>
            <a:r>
              <a:rPr lang="ko-KR" altLang="en-US"/>
              <a:t>만들어 놓고 마음에 안 드는 부분만 다시 말하면 됩니다</a:t>
            </a:r>
            <a:r>
              <a:rPr lang="en-US" altLang="ko-KR"/>
              <a:t>."
★★ </a:t>
            </a:r>
            <a:r>
              <a:rPr lang="ko-KR" altLang="en-US"/>
              <a:t>세 번째 문장</a:t>
            </a:r>
            <a:r>
              <a:rPr lang="en-US" altLang="ko-KR"/>
              <a:t>(</a:t>
            </a:r>
            <a:r>
              <a:rPr lang="ko-KR" altLang="en-US"/>
              <a:t>원 단위 콤마</a:t>
            </a:r>
            <a:r>
              <a:rPr lang="en-US" altLang="ko-KR"/>
              <a:t>)</a:t>
            </a:r>
            <a:r>
              <a:rPr lang="ko-KR" altLang="en-US"/>
              <a:t>은 그냥 넘기지 마세요</a:t>
            </a:r>
            <a:r>
              <a:rPr lang="en-US" altLang="ko-KR"/>
              <a:t>. </a:t>
            </a:r>
            <a:r>
              <a:rPr lang="ko-KR" altLang="en-US"/>
              <a:t>금액 표기는 실무에서 계속 문제가 됩니다</a:t>
            </a:r>
            <a:r>
              <a:rPr lang="en-US" altLang="ko-KR"/>
              <a:t>.
"142.2</a:t>
            </a:r>
            <a:r>
              <a:rPr lang="ko-KR" altLang="en-US"/>
              <a:t>만원</a:t>
            </a:r>
            <a:r>
              <a:rPr lang="en-US" altLang="ko-KR"/>
              <a:t>" </a:t>
            </a:r>
            <a:r>
              <a:rPr lang="ko-KR" altLang="en-US"/>
              <a:t>처럼 나오면 다시 시키라고 알려주세요</a:t>
            </a:r>
            <a:r>
              <a:rPr lang="en-US" altLang="ko-KR"/>
              <a:t>. </a:t>
            </a:r>
            <a:r>
              <a:rPr lang="ko-KR" altLang="en-US"/>
              <a:t>지시를 무시하는 일이 실제로 있습니다</a:t>
            </a:r>
            <a:r>
              <a:rPr lang="en-US" altLang="ko-KR"/>
              <a:t>.
★ </a:t>
            </a:r>
            <a:r>
              <a:rPr lang="ko-KR" altLang="en-US"/>
              <a:t>다섯 번째 문장</a:t>
            </a:r>
            <a:r>
              <a:rPr lang="en-US" altLang="ko-KR"/>
              <a:t>(</a:t>
            </a:r>
            <a:r>
              <a:rPr lang="ko-KR" altLang="en-US"/>
              <a:t>저장</a:t>
            </a:r>
            <a:r>
              <a:rPr lang="en-US" altLang="ko-KR"/>
              <a:t>)</a:t>
            </a:r>
            <a:r>
              <a:rPr lang="ko-KR" altLang="en-US"/>
              <a:t>은 이해 못 해도 됩니다</a:t>
            </a:r>
            <a:r>
              <a:rPr lang="en-US" altLang="ko-KR"/>
              <a:t>. "</a:t>
            </a:r>
            <a:r>
              <a:rPr lang="ko-KR" altLang="en-US"/>
              <a:t>다시 열었을 때 처음부터 다시 불러오지 않게 하는 것</a:t>
            </a:r>
            <a:r>
              <a:rPr lang="en-US" altLang="ko-KR"/>
              <a:t>"</a:t>
            </a:r>
            <a:r>
              <a:rPr lang="ko-KR" altLang="en-US"/>
              <a:t>이라고만 말하고 넘어가세요</a:t>
            </a:r>
            <a:r>
              <a:rPr lang="en-US" altLang="ko-KR"/>
              <a:t>.
</a:t>
            </a:r>
            <a:r>
              <a:rPr lang="ko-KR" altLang="en-US"/>
              <a:t>이 장이 끝나면 각자 화면에 순위표가 하나 있습니다</a:t>
            </a:r>
            <a:r>
              <a:rPr lang="en-US" altLang="ko-KR"/>
              <a:t>. </a:t>
            </a:r>
            <a:r>
              <a:rPr lang="ko-KR" altLang="en-US"/>
              <a:t>여기까지 온 분 손 들어보게 하고 인원을 확인하세요</a:t>
            </a:r>
            <a:r>
              <a:rPr lang="en-US" altLang="ko-KR"/>
              <a:t>.</a:t>
            </a:r>
            <a:endParaRPr lang="ko-KR" altLang="en-US"/>
          </a:p>
        </p:txBody>
      </p:sp>
    </p:spTree>
    <p:extLst>
      <p:ext uri="{BB962C8B-B14F-4D97-AF65-F5344CB8AC3E}">
        <p14:creationId xmlns:p14="http://schemas.microsoft.com/office/powerpoint/2010/main" val="25215050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t>★ 화면이 확 풍성해지는 장입니다. 대신 시간이 가장 오래 걸립니다. 10분은 잡으세요.</a:t>
            </a:r>
          </a:p>
          <a:p/>
          <a:p>
            <a:r>
              <a:t>★ 첫 문장에서 Claude가 테마 20개를 골라 옵니다. 사람마다 다르게 나옵니다. 그게 정상입니다.</a:t>
            </a:r>
          </a:p>
          <a:p/>
          <a:p>
            <a:r>
              <a:t>★★ 여기서 한 번 멈추고 말해주세요 —</a:t>
            </a:r>
          </a:p>
          <a:p>
            <a:r>
              <a:t>"이 테마와 종목은 Claude가 고른 겁니다. 정답이 아닙니다. 본인이 관심 있는 걸로 바꾸셔도 됩니다."</a:t>
            </a:r>
          </a:p>
          <a:p>
            <a:r>
              <a:t>바꾸는 문장도 같이 보여주세요. 테마에서 "조선"을 빼고 "방산"을 넣어줘.</a:t>
            </a:r>
          </a:p>
          <a:p>
            <a:r>
              <a:t>이게 오늘 실습에서 가장 중요한 순간입니다. AI가 준 것을 그대로 받지 않는 습관입니다.</a:t>
            </a:r>
          </a:p>
          <a:p/>
          <a:p>
            <a:r>
              <a:t>★ 네 번째 문장(두 선 그래프)이 이 화면의 핵심입니다. 왜 두 개를 겹쳐 그리는지 설명해 주세요 —</a:t>
            </a:r>
          </a:p>
          <a:p>
            <a:r>
              <a:t>"종목 하나만 오르고 ETF는 안 올랐다면, 그 테마가 움직인 게 아니라 그 종목만 움직인 겁니다."</a:t>
            </a:r>
          </a:p>
          <a:p/>
          <a:p>
            <a:r>
              <a:t>★ 차트를 20개 그리느라 시간이 걸립니다. 기다리는 동안 할 이야기를 준비해 두세요.</a:t>
            </a:r>
          </a:p>
          <a:p/>
          <a:p>
            <a:r>
              <a:t>★ 마지막 문장(뉴스) — 종목코드가 아니라 테마 이름으로 검색합니다. 그래서 그 테마 전체 뉴스가 옵니다.</a:t>
            </a:r>
          </a:p>
          <a:p>
            <a:r>
              <a:t>제목을 누르면 언론사 원문이 열립니다. 여기서 한마디 덧붙이세요 —</a:t>
            </a:r>
          </a:p>
          <a:p>
            <a:r>
              <a:t>"뉴스는 증권사 값이 아니라 검색 결과입니다. 제목만 보고 판단하지 말고 원문을 눌러 확인하세요."</a:t>
            </a:r>
          </a:p>
          <a:p>
            <a:r>
              <a:t>★ 여기서 뉴스가 안 오면 도구함에 「네이버 검색 mcp」를 안 담은 것입니다. p.53 2번으로 돌아갑니다.</a:t>
            </a:r>
          </a:p>
        </p:txBody>
      </p:sp>
    </p:spTree>
    <p:extLst>
      <p:ext uri="{BB962C8B-B14F-4D97-AF65-F5344CB8AC3E}">
        <p14:creationId xmlns:p14="http://schemas.microsoft.com/office/powerpoint/2010/main" val="16939924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마무리 장입니다</a:t>
            </a:r>
            <a:r>
              <a:rPr lang="en-US" altLang="ko-KR"/>
              <a:t>. </a:t>
            </a:r>
            <a:r>
              <a:rPr lang="ko-KR" altLang="en-US"/>
              <a:t>지도까지 올라가면 화면이 완성됩니다</a:t>
            </a:r>
            <a:r>
              <a:rPr lang="en-US" altLang="ko-KR"/>
              <a:t>.
★ </a:t>
            </a:r>
            <a:r>
              <a:rPr lang="ko-KR" altLang="en-US"/>
              <a:t>첫 문장</a:t>
            </a:r>
            <a:r>
              <a:rPr lang="en-US" altLang="ko-KR"/>
              <a:t>(</a:t>
            </a:r>
            <a:r>
              <a:rPr lang="ko-KR" altLang="en-US"/>
              <a:t>지도</a:t>
            </a:r>
            <a:r>
              <a:rPr lang="en-US" altLang="ko-KR"/>
              <a:t>)</a:t>
            </a:r>
            <a:r>
              <a:rPr lang="ko-KR" altLang="en-US"/>
              <a:t>은 한 번에 잘 안 나올 수 있습니다</a:t>
            </a:r>
            <a:r>
              <a:rPr lang="en-US" altLang="ko-KR"/>
              <a:t>. </a:t>
            </a:r>
            <a:r>
              <a:rPr lang="ko-KR" altLang="en-US"/>
              <a:t>이상하게 나오면 그대로 두지 말고 다시 말하게 하세요 </a:t>
            </a:r>
            <a:r>
              <a:rPr lang="en-US" altLang="ko-KR"/>
              <a:t>—
"</a:t>
            </a:r>
            <a:r>
              <a:rPr lang="ko-KR" altLang="en-US"/>
              <a:t>동그라미가 겹쳐서 안 보여</a:t>
            </a:r>
            <a:r>
              <a:rPr lang="en-US" altLang="ko-KR"/>
              <a:t>" / "</a:t>
            </a:r>
            <a:r>
              <a:rPr lang="ko-KR" altLang="en-US"/>
              <a:t>축 이름이 안 보여</a:t>
            </a:r>
            <a:r>
              <a:rPr lang="en-US" altLang="ko-KR"/>
              <a:t>"
</a:t>
            </a:r>
            <a:r>
              <a:rPr lang="ko-KR" altLang="en-US"/>
              <a:t>고쳐 시키는 연습을 여기서 한 번 더 합니다</a:t>
            </a:r>
            <a:r>
              <a:rPr lang="en-US" altLang="ko-KR"/>
              <a:t>.
★ </a:t>
            </a:r>
            <a:r>
              <a:rPr lang="ko-KR" altLang="en-US"/>
              <a:t>네 번째 문장</a:t>
            </a:r>
            <a:r>
              <a:rPr lang="en-US" altLang="ko-KR"/>
              <a:t>(</a:t>
            </a:r>
            <a:r>
              <a:rPr lang="ko-KR" altLang="en-US"/>
              <a:t>버튼 누를 때만</a:t>
            </a:r>
            <a:r>
              <a:rPr lang="en-US" altLang="ko-KR"/>
              <a:t>)</a:t>
            </a:r>
            <a:r>
              <a:rPr lang="ko-KR" altLang="en-US"/>
              <a:t>은 이유를 설명해 주세요 </a:t>
            </a:r>
            <a:r>
              <a:rPr lang="en-US" altLang="ko-KR"/>
              <a:t>—
"</a:t>
            </a:r>
            <a:r>
              <a:rPr lang="ko-KR" altLang="en-US"/>
              <a:t>열 때마다 자동으로 불러오면 사용량을 계속 씁니다</a:t>
            </a:r>
            <a:r>
              <a:rPr lang="en-US" altLang="ko-KR"/>
              <a:t>. </a:t>
            </a:r>
            <a:r>
              <a:rPr lang="ko-KR" altLang="en-US"/>
              <a:t>필요할 때만 부르게 하는 게 낫습니다</a:t>
            </a:r>
            <a:r>
              <a:rPr lang="en-US" altLang="ko-KR"/>
              <a:t>."
</a:t>
            </a:r>
            <a:r>
              <a:rPr lang="ko-KR" altLang="en-US"/>
              <a:t>앞의 사용 한도 이야기</a:t>
            </a:r>
            <a:r>
              <a:rPr lang="en-US" altLang="ko-KR"/>
              <a:t>(p.10)</a:t>
            </a:r>
            <a:r>
              <a:rPr lang="ko-KR" altLang="en-US"/>
              <a:t>와 이어집니다</a:t>
            </a:r>
            <a:r>
              <a:rPr lang="en-US" altLang="ko-KR"/>
              <a:t>.
★★ </a:t>
            </a:r>
            <a:r>
              <a:rPr lang="ko-KR" altLang="en-US"/>
              <a:t>마지막 문장</a:t>
            </a:r>
            <a:r>
              <a:rPr lang="en-US" altLang="ko-KR"/>
              <a:t>(</a:t>
            </a:r>
            <a:r>
              <a:rPr lang="ko-KR" altLang="en-US"/>
              <a:t>투자 추천이 아니라는 문구</a:t>
            </a:r>
            <a:r>
              <a:rPr lang="en-US" altLang="ko-KR"/>
              <a:t>)</a:t>
            </a:r>
            <a:r>
              <a:rPr lang="ko-KR" altLang="en-US"/>
              <a:t>을 건너뛰지 마세요</a:t>
            </a:r>
            <a:r>
              <a:rPr lang="en-US" altLang="ko-KR"/>
              <a:t>.
</a:t>
            </a:r>
            <a:r>
              <a:rPr lang="ko-KR" altLang="en-US"/>
              <a:t>말할 것 </a:t>
            </a:r>
            <a:r>
              <a:rPr lang="en-US" altLang="ko-KR"/>
              <a:t>— "</a:t>
            </a:r>
            <a:r>
              <a:rPr lang="ko-KR" altLang="en-US"/>
              <a:t>이 화면을 누군가에게 보여주게 되는 날이 옵니다</a:t>
            </a:r>
            <a:r>
              <a:rPr lang="en-US" altLang="ko-KR"/>
              <a:t>. </a:t>
            </a:r>
            <a:r>
              <a:rPr lang="ko-KR" altLang="en-US"/>
              <a:t>그때 이 한 줄이 있어야 합니다</a:t>
            </a:r>
            <a:r>
              <a:rPr lang="en-US" altLang="ko-KR"/>
              <a:t>."
★ </a:t>
            </a:r>
            <a:r>
              <a:rPr lang="ko-KR" altLang="en-US"/>
              <a:t>여기까지 끝난 분은 각자 화면을 옆 사람과 비교해 보게 하세요</a:t>
            </a:r>
            <a:r>
              <a:rPr lang="en-US" altLang="ko-KR"/>
              <a:t>. </a:t>
            </a:r>
            <a:r>
              <a:rPr lang="ko-KR" altLang="en-US"/>
              <a:t>다음 장으로 자연스럽게 넘어갑니다</a:t>
            </a:r>
            <a:r>
              <a:rPr lang="en-US" altLang="ko-KR"/>
              <a:t>.</a:t>
            </a:r>
            <a:endParaRPr lang="ko-KR" altLang="en-US"/>
          </a:p>
        </p:txBody>
      </p:sp>
    </p:spTree>
    <p:extLst>
      <p:ext uri="{BB962C8B-B14F-4D97-AF65-F5344CB8AC3E}">
        <p14:creationId xmlns:p14="http://schemas.microsoft.com/office/powerpoint/2010/main" val="35328821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내 것만 이상한가</a:t>
            </a:r>
            <a:r>
              <a:rPr lang="en-US" altLang="ko-KR"/>
              <a:t>?" </a:t>
            </a:r>
            <a:r>
              <a:rPr lang="ko-KR" altLang="en-US"/>
              <a:t>하는 불안을 없애는 것입니다</a:t>
            </a:r>
            <a:r>
              <a:rPr lang="en-US" altLang="ko-KR"/>
              <a:t>.
★★ </a:t>
            </a:r>
            <a:r>
              <a:rPr lang="ko-KR" altLang="en-US"/>
              <a:t>반드시 옆 사람과 화면을 비교하게 하세요</a:t>
            </a:r>
            <a:r>
              <a:rPr lang="en-US" altLang="ko-KR"/>
              <a:t>. </a:t>
            </a:r>
            <a:r>
              <a:rPr lang="ko-KR" altLang="en-US"/>
              <a:t>다릅니다</a:t>
            </a:r>
            <a:r>
              <a:rPr lang="en-US" altLang="ko-KR"/>
              <a:t>. </a:t>
            </a:r>
            <a:r>
              <a:rPr lang="ko-KR" altLang="en-US"/>
              <a:t>테마도 색도 배치도 다릅니다</a:t>
            </a:r>
            <a:r>
              <a:rPr lang="en-US" altLang="ko-KR"/>
              <a:t>.
</a:t>
            </a:r>
            <a:r>
              <a:rPr lang="ko-KR" altLang="en-US"/>
              <a:t>그걸 보고 나서 이 장을 여세요</a:t>
            </a:r>
            <a:r>
              <a:rPr lang="en-US" altLang="ko-KR"/>
              <a:t>. </a:t>
            </a:r>
            <a:r>
              <a:rPr lang="ko-KR" altLang="en-US"/>
              <a:t>말로만 하면 안 와닿습니다</a:t>
            </a:r>
            <a:r>
              <a:rPr lang="en-US" altLang="ko-KR"/>
              <a:t>.
</a:t>
            </a:r>
            <a:r>
              <a:rPr lang="ko-KR" altLang="en-US"/>
              <a:t>말할 것 </a:t>
            </a:r>
            <a:r>
              <a:rPr lang="en-US" altLang="ko-KR"/>
              <a:t>— "</a:t>
            </a:r>
            <a:r>
              <a:rPr lang="ko-KR" altLang="en-US"/>
              <a:t>같은 문장을 넣어도 사람마다 다르게 나옵니다</a:t>
            </a:r>
            <a:r>
              <a:rPr lang="en-US" altLang="ko-KR"/>
              <a:t>. </a:t>
            </a:r>
            <a:r>
              <a:rPr lang="ko-KR" altLang="en-US"/>
              <a:t>고장이 아닙니다</a:t>
            </a:r>
            <a:r>
              <a:rPr lang="en-US" altLang="ko-KR"/>
              <a:t>. </a:t>
            </a:r>
            <a:r>
              <a:rPr lang="ko-KR" altLang="en-US"/>
              <a:t>원래 그렇습니다</a:t>
            </a:r>
            <a:r>
              <a:rPr lang="en-US" altLang="ko-KR"/>
              <a:t>."
★ </a:t>
            </a:r>
            <a:r>
              <a:rPr lang="ko-KR" altLang="en-US"/>
              <a:t>왼쪽과 오른쪽의 차이를 분명히 하세요</a:t>
            </a:r>
            <a:r>
              <a:rPr lang="en-US" altLang="ko-KR"/>
              <a:t>.
- </a:t>
            </a:r>
            <a:r>
              <a:rPr lang="ko-KR" altLang="en-US"/>
              <a:t>말로 시키면 → 다르게 나오지만</a:t>
            </a:r>
            <a:r>
              <a:rPr lang="en-US" altLang="ko-KR"/>
              <a:t>, </a:t>
            </a:r>
            <a:r>
              <a:rPr lang="ko-KR" altLang="en-US"/>
              <a:t>내가 무엇을 시켰는지 기억에 남습니다
</a:t>
            </a:r>
            <a:r>
              <a:rPr lang="en-US" altLang="ko-KR"/>
              <a:t>- </a:t>
            </a:r>
            <a:r>
              <a:rPr lang="ko-KR" altLang="en-US"/>
              <a:t>파일을 주면 → 거의 똑같이 나오지만</a:t>
            </a:r>
            <a:r>
              <a:rPr lang="en-US" altLang="ko-KR"/>
              <a:t>, </a:t>
            </a:r>
            <a:r>
              <a:rPr lang="ko-KR" altLang="en-US"/>
              <a:t>왜 그렇게 됐는지는 안 남습니다
★★ 그래서 오늘은 말로 만들었다고 못 박으세요</a:t>
            </a:r>
            <a:r>
              <a:rPr lang="en-US" altLang="ko-KR"/>
              <a:t>. </a:t>
            </a:r>
            <a:r>
              <a:rPr lang="ko-KR" altLang="en-US"/>
              <a:t>배우는 게 목적이니까요</a:t>
            </a:r>
            <a:r>
              <a:rPr lang="en-US" altLang="ko-KR"/>
              <a:t>.
"</a:t>
            </a:r>
            <a:r>
              <a:rPr lang="ko-KR" altLang="en-US"/>
              <a:t>똑같은 화면이 필요하면 그때 파일을 받으시면 됩니다</a:t>
            </a:r>
            <a:r>
              <a:rPr lang="en-US" altLang="ko-KR"/>
              <a:t>. </a:t>
            </a:r>
            <a:r>
              <a:rPr lang="ko-KR" altLang="en-US"/>
              <a:t>자료실에 올려두었습니다</a:t>
            </a:r>
            <a:r>
              <a:rPr lang="en-US" altLang="ko-KR"/>
              <a:t>."
★ </a:t>
            </a:r>
            <a:r>
              <a:rPr lang="ko-KR" altLang="en-US"/>
              <a:t>이 구분은 실무로 이어집니다 </a:t>
            </a:r>
            <a:r>
              <a:rPr lang="en-US" altLang="ko-KR"/>
              <a:t>— </a:t>
            </a:r>
            <a:r>
              <a:rPr lang="ko-KR" altLang="en-US"/>
              <a:t>처음 만들 때는 말로</a:t>
            </a:r>
            <a:r>
              <a:rPr lang="en-US" altLang="ko-KR"/>
              <a:t>, </a:t>
            </a:r>
            <a:r>
              <a:rPr lang="ko-KR" altLang="en-US"/>
              <a:t>남에게 나눠줄 때는 파일로</a:t>
            </a:r>
            <a:r>
              <a:rPr lang="en-US" altLang="ko-KR"/>
              <a:t>.</a:t>
            </a:r>
            <a:endParaRPr lang="ko-KR" altLang="en-US"/>
          </a:p>
        </p:txBody>
      </p:sp>
    </p:spTree>
    <p:extLst>
      <p:ext uri="{BB962C8B-B14F-4D97-AF65-F5344CB8AC3E}">
        <p14:creationId xmlns:p14="http://schemas.microsoft.com/office/powerpoint/2010/main" val="41243456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t>★ 실습 중에 이 장을 미리 띄워두세요. 막힌 분이 스스로 찾아볼 수 있습니다.</a:t>
            </a:r>
          </a:p>
          <a:p/>
          <a:p>
            <a:r>
              <a:t>★ 일곱 줄을 다 읽지 마세요. 그날 실제로 나온 증상만 짚습니다.</a:t>
            </a:r>
          </a:p>
          <a:p/>
          <a:p>
            <a:r>
              <a:t>가장 많이 나오는 순서</a:t>
            </a:r>
          </a:p>
          <a:p>
            <a:r>
              <a:t>1) 커넥터를 못 찾는다 → 새 대화. 오늘 절반 이상이 이것입니다.</a:t>
            </a:r>
          </a:p>
          <a:p>
            <a:r>
              <a:t>2) 시세는 되는데 뉴스만 안 나온다 → 도구함에 「네이버 검색 mcp」를 안 담았습니다.</a:t>
            </a:r>
          </a:p>
          <a:p>
            <a:r>
              <a:t>   ★ 올해 새로 생긴 증상입니다. 도구가 두 개라 한쪽만 담는 일이 자주 생깁니다.</a:t>
            </a:r>
          </a:p>
          <a:p>
            <a:r>
              <a:t>   담고 나서 반드시 새 대화를 열어야 합니다 — 안 그러면 담아도 안 잡힙니다.</a:t>
            </a:r>
          </a:p>
          <a:p>
            <a:r>
              <a:t>3) 아티팩트가 안 만들어진다 → 요금제.</a:t>
            </a:r>
          </a:p>
          <a:p>
            <a:r>
              <a:t>4) 숫자가 빈다 → 도구 호출 실패. "왜 데이터가 안 들어오는지 확인해줘" 라고 물어보게 하세요.</a:t>
            </a:r>
          </a:p>
          <a:p/>
          <a:p>
            <a:r>
              <a:t>★★ 여섯 번째 줄이 오래 남는 교훈입니다.</a:t>
            </a:r>
          </a:p>
          <a:p>
            <a:r>
              <a:t>"고쳐달라고 했더니 화면이 통째로 바뀌었다" — 범위를 안 정해줘서 그렇습니다.</a:t>
            </a:r>
          </a:p>
          <a:p>
            <a:r>
              <a:t>"다른 건 그대로 두고 ○○만 고쳐줘" 를 습관으로 만들면 사고가 크게 줄어듭니다.</a:t>
            </a:r>
          </a:p>
          <a:p>
            <a:r>
              <a:t>이건 아티팩트뿐 아니라 문서·엑셀을 고칠 때도 똑같이 적용됩니다.</a:t>
            </a:r>
          </a:p>
          <a:p/>
          <a:p>
            <a:r>
              <a:t>★ 일곱 번째(어제 값) — 장 시작 전이나 주말이면 직전 거래일 값이 나옵니다. 고장이 아니라고 미리 말해두세요.</a:t>
            </a:r>
          </a:p>
          <a:p/>
          <a:p>
            <a:r>
              <a:t>★ 그래도 안 되는 분은 이름을 적어두고 쉬는 시간에 따로 보세요. 전체를 세우지 마십시오.</a:t>
            </a:r>
          </a:p>
        </p:txBody>
      </p:sp>
    </p:spTree>
    <p:extLst>
      <p:ext uri="{BB962C8B-B14F-4D97-AF65-F5344CB8AC3E}">
        <p14:creationId xmlns:p14="http://schemas.microsoft.com/office/powerpoint/2010/main" val="40775068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t>★ 오늘의 마지막 장입니다. 기능이 아니라 태도를 남기는 자리입니다.</a:t>
            </a:r>
          </a:p>
          <a:p/>
          <a:p>
            <a:r>
              <a:t>★★ 프롬프트를 실제로 넣어보게 하세요. 30초면 됩니다.</a:t>
            </a:r>
          </a:p>
          <a:p>
            <a:r>
              <a:t>"이 화면에 나오는 숫자들이 각각 어디서 온 건지 알려줘."</a:t>
            </a:r>
          </a:p>
          <a:p>
            <a:r>
              <a:t>Claude가 출처를 줄줄 답합니다. 그걸 보는 게 이 장의 핵심입니다.</a:t>
            </a:r>
          </a:p>
          <a:p/>
          <a:p>
            <a:r>
              <a:t>★ 이 화면의 출처는 두 갈래입니다. 답이 나오면 짚어주세요.</a:t>
            </a:r>
          </a:p>
          <a:p>
            <a:r>
              <a:t>시세·순위·차트 → 한국투자증권(KIS) 공식 API 실측값</a:t>
            </a:r>
          </a:p>
          <a:p>
            <a:r>
              <a:t>뉴스 → 네이버 뉴스 검색 결과 (언론사 원문을 눌러 확인해야 합니다)</a:t>
            </a:r>
          </a:p>
          <a:p>
            <a:r>
              <a:t>같은 화면 안에서도 숫자마다 근거의 무게가 다릅니다. 이걸 구분하는 게 오늘의 마지막 수확입니다.</a:t>
            </a:r>
          </a:p>
          <a:p/>
          <a:p>
            <a:r>
              <a:t>말할 것 — "출처를 못 대는 숫자는 쓰지 마세요. 화면이 예뻐도 근거가 없으면 못 씁니다."</a:t>
            </a:r>
          </a:p>
          <a:p/>
          <a:p>
            <a:r>
              <a:t>★ 세 줄을 하나씩 짚어주세요.</a:t>
            </a:r>
          </a:p>
          <a:p>
            <a:r>
              <a:t>1) 출처를 못 대면 → 그 숫자는 쓰지 않습니다</a:t>
            </a:r>
          </a:p>
          <a:p>
            <a:r>
              <a:t>2) 테마를 묶은 기준은 → 사람이 정한 것입니다. AI가 계산해 준 객관적 수치가 아닙니다</a:t>
            </a:r>
          </a:p>
          <a:p>
            <a:r>
              <a:t>3) 오른쪽 위에 있다고 → 좋은 것이 아닙니다. 지나온 흐름을 보여줄 뿐 앞으로를 말해주지 않습니다</a:t>
            </a:r>
          </a:p>
          <a:p/>
          <a:p>
            <a:r>
              <a:t>★★ 맨 아래 검은 박스를 반드시 소리 내어 읽으세요. 넘기지 마십시오.</a:t>
            </a:r>
          </a:p>
          <a:p>
            <a:r>
              <a:t>투자 판단과 그 결과는 본인 책임입니다. 여기서 얼버무리면 나중에 곤란해집니다.</a:t>
            </a:r>
          </a:p>
          <a:p/>
          <a:p>
            <a:r>
              <a:t>★ 마무리 멘트</a:t>
            </a:r>
          </a:p>
          <a:p>
            <a:r>
              <a:t>"오늘 만든 화면은 계속 쓰셔도 되고 안 쓰셔도 됩니다. 남는 건 '이런 것도 만들 수 있구나'입니다. 자료는 GitHub에 있으니 필요할 때 열어보세요. 안 되는 게 생기면 'MCP가 안 붙어요' 한마디만 하시면 됩니다."</a:t>
            </a:r>
          </a:p>
        </p:txBody>
      </p:sp>
    </p:spTree>
    <p:extLst>
      <p:ext uri="{BB962C8B-B14F-4D97-AF65-F5344CB8AC3E}">
        <p14:creationId xmlns:p14="http://schemas.microsoft.com/office/powerpoint/2010/main" val="37954370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부록 표지입니다</a:t>
            </a:r>
            <a:r>
              <a:rPr lang="en-US" altLang="ko-KR"/>
              <a:t>. 10</a:t>
            </a:r>
            <a:r>
              <a:rPr lang="ko-KR" altLang="en-US"/>
              <a:t>초</a:t>
            </a:r>
            <a:r>
              <a:rPr lang="en-US" altLang="ko-KR"/>
              <a:t>.
★ </a:t>
            </a:r>
            <a:r>
              <a:rPr lang="ko-KR" altLang="en-US"/>
              <a:t>이 부록은 본 과정이 아닙니다</a:t>
            </a:r>
            <a:r>
              <a:rPr lang="en-US" altLang="ko-KR"/>
              <a:t>. </a:t>
            </a:r>
            <a:r>
              <a:rPr lang="ko-KR" altLang="en-US"/>
              <a:t>시간이 남을 때만 펴세요</a:t>
            </a:r>
            <a:r>
              <a:rPr lang="en-US" altLang="ko-KR"/>
              <a:t>. </a:t>
            </a:r>
            <a:r>
              <a:rPr lang="ko-KR" altLang="en-US"/>
              <a:t>시간이 없으면 통째로 건너뛰고 </a:t>
            </a:r>
            <a:r>
              <a:rPr lang="en-US" altLang="ko-KR"/>
              <a:t>"</a:t>
            </a:r>
            <a:r>
              <a:rPr lang="ko-KR" altLang="en-US"/>
              <a:t>자료에 있습니다</a:t>
            </a:r>
            <a:r>
              <a:rPr lang="en-US" altLang="ko-KR"/>
              <a:t>"</a:t>
            </a:r>
            <a:r>
              <a:rPr lang="ko-KR" altLang="en-US"/>
              <a:t>로 넘기면 됩니다</a:t>
            </a:r>
            <a:r>
              <a:rPr lang="en-US" altLang="ko-KR"/>
              <a:t>.
</a:t>
            </a:r>
            <a:r>
              <a:rPr lang="ko-KR" altLang="en-US"/>
              <a:t>말할 것 </a:t>
            </a:r>
            <a:r>
              <a:rPr lang="en-US" altLang="ko-KR"/>
              <a:t>— "</a:t>
            </a:r>
            <a:r>
              <a:rPr lang="ko-KR" altLang="en-US"/>
              <a:t>제가 </a:t>
            </a:r>
            <a:r>
              <a:rPr lang="en-US" altLang="ko-KR"/>
              <a:t>3</a:t>
            </a:r>
            <a:r>
              <a:rPr lang="ko-KR" altLang="en-US"/>
              <a:t>년에 걸쳐 붙인 게 </a:t>
            </a:r>
            <a:r>
              <a:rPr lang="en-US" altLang="ko-KR"/>
              <a:t>27</a:t>
            </a:r>
            <a:r>
              <a:rPr lang="ko-KR" altLang="en-US"/>
              <a:t>개입니다</a:t>
            </a:r>
            <a:r>
              <a:rPr lang="en-US" altLang="ko-KR"/>
              <a:t>. </a:t>
            </a:r>
            <a:r>
              <a:rPr lang="ko-KR" altLang="en-US"/>
              <a:t>보여드리는 이유는 자랑이 아니라</a:t>
            </a:r>
            <a:r>
              <a:rPr lang="en-US" altLang="ko-KR"/>
              <a:t>, </a:t>
            </a:r>
            <a:r>
              <a:rPr lang="ko-KR" altLang="en-US"/>
              <a:t>이만큼 붙일 필요가 없다는 걸 말씀드리려는 겁니다</a:t>
            </a:r>
            <a:r>
              <a:rPr lang="en-US" altLang="ko-KR"/>
              <a:t>."
★★ </a:t>
            </a:r>
            <a:r>
              <a:rPr lang="ko-KR" altLang="en-US"/>
              <a:t>화면 공유 전에 반드시 확인하십시오 </a:t>
            </a:r>
            <a:r>
              <a:rPr lang="en-US" altLang="ko-KR"/>
              <a:t>— </a:t>
            </a:r>
            <a:r>
              <a:rPr lang="ko-KR" altLang="en-US"/>
              <a:t>설정 파일을 열어 보여주지 마십시오</a:t>
            </a:r>
            <a:r>
              <a:rPr lang="en-US" altLang="ko-KR"/>
              <a:t>. </a:t>
            </a:r>
            <a:r>
              <a:rPr lang="ko-KR" altLang="en-US"/>
              <a:t>그 안에 </a:t>
            </a:r>
            <a:r>
              <a:rPr lang="en-US" altLang="ko-KR"/>
              <a:t>API </a:t>
            </a:r>
            <a:r>
              <a:rPr lang="ko-KR" altLang="en-US"/>
              <a:t>키가 들어 있습니다</a:t>
            </a:r>
            <a:r>
              <a:rPr lang="en-US" altLang="ko-KR"/>
              <a:t>. </a:t>
            </a:r>
            <a:r>
              <a:rPr lang="ko-KR" altLang="en-US"/>
              <a:t>이 부록의 슬라이드만으로 설명이 끝나게 만들어 두었습니다</a:t>
            </a:r>
            <a:r>
              <a:rPr lang="en-US" altLang="ko-KR"/>
              <a:t>.</a:t>
            </a:r>
            <a:endParaRPr lang="ko-KR" altLang="en-US"/>
          </a:p>
        </p:txBody>
      </p:sp>
    </p:spTree>
    <p:extLst>
      <p:ext uri="{BB962C8B-B14F-4D97-AF65-F5344CB8AC3E}">
        <p14:creationId xmlns:p14="http://schemas.microsoft.com/office/powerpoint/2010/main" val="273781929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개수에 압도되지 않게 하는 것입니다</a:t>
            </a:r>
            <a:r>
              <a:rPr lang="en-US" altLang="ko-KR"/>
              <a:t>. 27</a:t>
            </a:r>
            <a:r>
              <a:rPr lang="ko-KR" altLang="en-US"/>
              <a:t>개를 하나씩 읊지 마세요</a:t>
            </a:r>
            <a:r>
              <a:rPr lang="en-US" altLang="ko-KR"/>
              <a:t>.
</a:t>
            </a:r>
            <a:r>
              <a:rPr lang="ko-KR" altLang="en-US"/>
              <a:t>말할 것 </a:t>
            </a:r>
            <a:r>
              <a:rPr lang="en-US" altLang="ko-KR"/>
              <a:t>— "</a:t>
            </a:r>
            <a:r>
              <a:rPr lang="ko-KR" altLang="en-US"/>
              <a:t>일곱 묶음으로 보시면 됩니다</a:t>
            </a:r>
            <a:r>
              <a:rPr lang="en-US" altLang="ko-KR"/>
              <a:t>. </a:t>
            </a:r>
            <a:r>
              <a:rPr lang="ko-KR" altLang="en-US"/>
              <a:t>제가 하는 일이 부동산</a:t>
            </a:r>
            <a:r>
              <a:rPr lang="en-US" altLang="ko-KR"/>
              <a:t>·</a:t>
            </a:r>
            <a:r>
              <a:rPr lang="ko-KR" altLang="en-US"/>
              <a:t>경매와 주식이라 그쪽이 많습니다</a:t>
            </a:r>
            <a:r>
              <a:rPr lang="en-US" altLang="ko-KR"/>
              <a:t>. </a:t>
            </a:r>
            <a:r>
              <a:rPr lang="ko-KR" altLang="en-US"/>
              <a:t>여러분은 여러분 일에 맞는 것만 붙이면 됩니다</a:t>
            </a:r>
            <a:r>
              <a:rPr lang="en-US" altLang="ko-KR"/>
              <a:t>."
★ </a:t>
            </a:r>
            <a:r>
              <a:rPr lang="ko-KR" altLang="en-US"/>
              <a:t>부동산</a:t>
            </a:r>
            <a:r>
              <a:rPr lang="en-US" altLang="ko-KR"/>
              <a:t>·</a:t>
            </a:r>
            <a:r>
              <a:rPr lang="ko-KR" altLang="en-US"/>
              <a:t>경매 </a:t>
            </a:r>
            <a:r>
              <a:rPr lang="en-US" altLang="ko-KR"/>
              <a:t>6</a:t>
            </a:r>
            <a:r>
              <a:rPr lang="ko-KR" altLang="en-US"/>
              <a:t>개 중 하나는 업무용 사설 서버입니다</a:t>
            </a:r>
            <a:r>
              <a:rPr lang="en-US" altLang="ko-KR"/>
              <a:t>. </a:t>
            </a:r>
            <a:r>
              <a:rPr lang="ko-KR" altLang="en-US"/>
              <a:t>이름과 내용은 말하지 마세요</a:t>
            </a:r>
            <a:r>
              <a:rPr lang="en-US" altLang="ko-KR"/>
              <a:t>. "</a:t>
            </a:r>
            <a:r>
              <a:rPr lang="ko-KR" altLang="en-US"/>
              <a:t>회사에서 쓰는 것</a:t>
            </a:r>
            <a:r>
              <a:rPr lang="en-US" altLang="ko-KR"/>
              <a:t>"</a:t>
            </a:r>
            <a:r>
              <a:rPr lang="ko-KR" altLang="en-US"/>
              <a:t>으로만 넘기십시오</a:t>
            </a:r>
            <a:r>
              <a:rPr lang="en-US" altLang="ko-KR"/>
              <a:t>.
★ </a:t>
            </a:r>
            <a:r>
              <a:rPr lang="ko-KR" altLang="en-US"/>
              <a:t>문서 </a:t>
            </a:r>
            <a:r>
              <a:rPr lang="en-US" altLang="ko-KR"/>
              <a:t>5</a:t>
            </a:r>
            <a:r>
              <a:rPr lang="ko-KR" altLang="en-US"/>
              <a:t>개를 짚어주면 반응이 좋습니다 </a:t>
            </a:r>
            <a:r>
              <a:rPr lang="en-US" altLang="ko-KR"/>
              <a:t>— PowerPoint·Word·</a:t>
            </a:r>
            <a:r>
              <a:rPr lang="ko-KR" altLang="en-US"/>
              <a:t>한글을 </a:t>
            </a:r>
            <a:r>
              <a:rPr lang="en-US" altLang="ko-KR"/>
              <a:t>Claude</a:t>
            </a:r>
            <a:r>
              <a:rPr lang="ko-KR" altLang="en-US"/>
              <a:t>가 직접 조작합니다</a:t>
            </a:r>
            <a:r>
              <a:rPr lang="en-US" altLang="ko-KR"/>
              <a:t>. </a:t>
            </a:r>
            <a:r>
              <a:rPr lang="ko-KR" altLang="en-US"/>
              <a:t>비개발자에게 가장 와닿는 대목입니다</a:t>
            </a:r>
            <a:r>
              <a:rPr lang="en-US" altLang="ko-KR"/>
              <a:t>.
★ </a:t>
            </a:r>
            <a:r>
              <a:rPr lang="ko-KR" altLang="en-US"/>
              <a:t>맨 아래 줄이 이 장의 결론입니다</a:t>
            </a:r>
            <a:r>
              <a:rPr lang="en-US" altLang="ko-KR"/>
              <a:t>. "</a:t>
            </a:r>
            <a:r>
              <a:rPr lang="ko-KR" altLang="en-US"/>
              <a:t>처음부터 </a:t>
            </a:r>
            <a:r>
              <a:rPr lang="en-US" altLang="ko-KR"/>
              <a:t>27</a:t>
            </a:r>
            <a:r>
              <a:rPr lang="ko-KR" altLang="en-US"/>
              <a:t>개를 계획한 게 아닙니다</a:t>
            </a:r>
            <a:r>
              <a:rPr lang="en-US" altLang="ko-KR"/>
              <a:t>. </a:t>
            </a:r>
            <a:r>
              <a:rPr lang="ko-KR" altLang="en-US"/>
              <a:t>일하다 막힐 때마다 하나씩 붙였더니 이렇게 됐습니다</a:t>
            </a:r>
            <a:r>
              <a:rPr lang="en-US" altLang="ko-KR"/>
              <a:t>."
</a:t>
            </a:r>
            <a:r>
              <a:rPr lang="ko-KR" altLang="en-US"/>
              <a:t>예상 질문 </a:t>
            </a:r>
            <a:r>
              <a:rPr lang="en-US" altLang="ko-KR"/>
              <a:t>— "</a:t>
            </a:r>
            <a:r>
              <a:rPr lang="ko-KR" altLang="en-US"/>
              <a:t>몇 개까지 붙일 수 있나요</a:t>
            </a:r>
            <a:r>
              <a:rPr lang="en-US" altLang="ko-KR"/>
              <a:t>?" → "</a:t>
            </a:r>
            <a:r>
              <a:rPr lang="ko-KR" altLang="en-US"/>
              <a:t>제한은 없지만 많을수록 대화가 무거워집니다</a:t>
            </a:r>
            <a:r>
              <a:rPr lang="en-US" altLang="ko-KR"/>
              <a:t>. </a:t>
            </a:r>
            <a:r>
              <a:rPr lang="ko-KR" altLang="en-US"/>
              <a:t>그 이야기는 마지막 장에서 합니다</a:t>
            </a:r>
            <a:r>
              <a:rPr lang="en-US" altLang="ko-KR"/>
              <a:t>."</a:t>
            </a:r>
            <a:endParaRPr lang="ko-KR" altLang="en-US"/>
          </a:p>
        </p:txBody>
      </p:sp>
    </p:spTree>
    <p:extLst>
      <p:ext uri="{BB962C8B-B14F-4D97-AF65-F5344CB8AC3E}">
        <p14:creationId xmlns:p14="http://schemas.microsoft.com/office/powerpoint/2010/main" val="36458031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"MCP = </a:t>
            </a:r>
            <a:r>
              <a:rPr lang="ko-KR" altLang="en-US"/>
              <a:t>무조건 </a:t>
            </a:r>
            <a:r>
              <a:rPr lang="en-US" altLang="ko-KR"/>
              <a:t>API </a:t>
            </a:r>
            <a:r>
              <a:rPr lang="ko-KR" altLang="en-US"/>
              <a:t>키 발급</a:t>
            </a:r>
            <a:r>
              <a:rPr lang="en-US" altLang="ko-KR"/>
              <a:t>"</a:t>
            </a:r>
            <a:r>
              <a:rPr lang="ko-KR" altLang="en-US"/>
              <a:t>이라는 오해를 깨는 것입니다</a:t>
            </a:r>
            <a:r>
              <a:rPr lang="en-US" altLang="ko-KR"/>
              <a:t>.
</a:t>
            </a:r>
            <a:r>
              <a:rPr lang="ko-KR" altLang="en-US"/>
              <a:t>첫 마디 </a:t>
            </a:r>
            <a:r>
              <a:rPr lang="en-US" altLang="ko-KR"/>
              <a:t>— "27</a:t>
            </a:r>
            <a:r>
              <a:rPr lang="ko-KR" altLang="en-US"/>
              <a:t>개 중 </a:t>
            </a:r>
            <a:r>
              <a:rPr lang="en-US" altLang="ko-KR"/>
              <a:t>13</a:t>
            </a:r>
            <a:r>
              <a:rPr lang="ko-KR" altLang="en-US"/>
              <a:t>개는 키가 아예 필요 없습니다</a:t>
            </a:r>
            <a:r>
              <a:rPr lang="en-US" altLang="ko-KR"/>
              <a:t>. </a:t>
            </a:r>
            <a:r>
              <a:rPr lang="ko-KR" altLang="en-US"/>
              <a:t>붙이기만 하면 바로 됩니다</a:t>
            </a:r>
            <a:r>
              <a:rPr lang="en-US" altLang="ko-KR"/>
              <a:t>."
★ </a:t>
            </a:r>
            <a:r>
              <a:rPr lang="ko-KR" altLang="en-US"/>
              <a:t>왜 키가 필요 없는지 한 줄로 정리해 주세요 </a:t>
            </a:r>
            <a:r>
              <a:rPr lang="en-US" altLang="ko-KR"/>
              <a:t>— "</a:t>
            </a:r>
            <a:r>
              <a:rPr lang="ko-KR" altLang="en-US"/>
              <a:t>내 컴퓨터 안에서만 도는 것들이라 바깥 회사에 물어볼 일이 없기 때문입니다</a:t>
            </a:r>
            <a:r>
              <a:rPr lang="en-US" altLang="ko-KR"/>
              <a:t>."
★ </a:t>
            </a:r>
            <a:r>
              <a:rPr lang="ko-KR" altLang="en-US"/>
              <a:t>가장 반응이 좋은 것 두 개만 짚으세요</a:t>
            </a:r>
            <a:r>
              <a:rPr lang="en-US" altLang="ko-KR"/>
              <a:t>.
- PowerPoint·Word·</a:t>
            </a:r>
            <a:r>
              <a:rPr lang="ko-KR" altLang="en-US"/>
              <a:t>한글 </a:t>
            </a:r>
            <a:r>
              <a:rPr lang="en-US" altLang="ko-KR"/>
              <a:t>— "</a:t>
            </a:r>
            <a:r>
              <a:rPr lang="ko-KR" altLang="en-US"/>
              <a:t>오늘 쓴 이 교재도 </a:t>
            </a:r>
            <a:r>
              <a:rPr lang="en-US" altLang="ko-KR"/>
              <a:t>Claude</a:t>
            </a:r>
            <a:r>
              <a:rPr lang="ko-KR" altLang="en-US"/>
              <a:t>가 직접 만들었습니다</a:t>
            </a:r>
            <a:r>
              <a:rPr lang="en-US" altLang="ko-KR"/>
              <a:t>"
- </a:t>
            </a:r>
            <a:r>
              <a:rPr lang="ko-KR" altLang="en-US"/>
              <a:t>파일 찾기 </a:t>
            </a:r>
            <a:r>
              <a:rPr lang="en-US" altLang="ko-KR"/>
              <a:t>— "</a:t>
            </a:r>
            <a:r>
              <a:rPr lang="ko-KR" altLang="en-US"/>
              <a:t>내 </a:t>
            </a:r>
            <a:r>
              <a:rPr lang="en-US" altLang="ko-KR"/>
              <a:t>PC </a:t>
            </a:r>
            <a:r>
              <a:rPr lang="ko-KR" altLang="en-US"/>
              <a:t>어디에 뒀는지 모르는 파일을 이름으로 즉시 찾습니다</a:t>
            </a:r>
            <a:r>
              <a:rPr lang="en-US" altLang="ko-KR"/>
              <a:t>"
★ </a:t>
            </a:r>
            <a:r>
              <a:rPr lang="ko-KR" altLang="en-US"/>
              <a:t>나머지는 읽지 말고 넘기세요</a:t>
            </a:r>
            <a:r>
              <a:rPr lang="en-US" altLang="ko-KR"/>
              <a:t>. </a:t>
            </a:r>
            <a:r>
              <a:rPr lang="ko-KR" altLang="en-US"/>
              <a:t>이름만 스치면 됩니다</a:t>
            </a:r>
            <a:r>
              <a:rPr lang="en-US" altLang="ko-KR"/>
              <a:t>.
★★ </a:t>
            </a:r>
            <a:r>
              <a:rPr lang="ko-KR" altLang="en-US"/>
              <a:t>맨 아래 줄이 기준입니다 </a:t>
            </a:r>
            <a:r>
              <a:rPr lang="en-US" altLang="ko-KR"/>
              <a:t>— </a:t>
            </a:r>
            <a:r>
              <a:rPr lang="ko-KR" altLang="en-US"/>
              <a:t>키가 필요한 것은 서비스가 </a:t>
            </a:r>
            <a:r>
              <a:rPr lang="en-US" altLang="ko-KR"/>
              <a:t>"</a:t>
            </a:r>
            <a:r>
              <a:rPr lang="ko-KR" altLang="en-US"/>
              <a:t>누가 얼마나 쓰는지</a:t>
            </a:r>
            <a:r>
              <a:rPr lang="en-US" altLang="ko-KR"/>
              <a:t>" </a:t>
            </a:r>
            <a:r>
              <a:rPr lang="ko-KR" altLang="en-US"/>
              <a:t>세야 하는 경우뿐입니다</a:t>
            </a:r>
            <a:r>
              <a:rPr lang="en-US" altLang="ko-KR"/>
              <a:t>. </a:t>
            </a:r>
            <a:r>
              <a:rPr lang="ko-KR" altLang="en-US"/>
              <a:t>이 기준을 알면 새 </a:t>
            </a:r>
            <a:r>
              <a:rPr lang="en-US" altLang="ko-KR"/>
              <a:t>MCP</a:t>
            </a:r>
            <a:r>
              <a:rPr lang="ko-KR" altLang="en-US"/>
              <a:t>를 볼 때 키가 필요한지 스스로 짐작할 수 있습니다</a:t>
            </a:r>
            <a:r>
              <a:rPr lang="en-US" altLang="ko-KR"/>
              <a:t>.</a:t>
            </a:r>
            <a:endParaRPr lang="ko-KR" altLang="en-US"/>
          </a:p>
        </p:txBody>
      </p:sp>
    </p:spTree>
    <p:extLst>
      <p:ext uri="{BB962C8B-B14F-4D97-AF65-F5344CB8AC3E}">
        <p14:creationId xmlns:p14="http://schemas.microsoft.com/office/powerpoint/2010/main" val="151260641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a:t>
            </a:r>
            <a:r>
              <a:rPr lang="ko-KR" altLang="en-US"/>
              <a:t>공공데이터포털 하나가 얼마나 많은 걸 여는지 보여주는 것입니다</a:t>
            </a:r>
            <a:r>
              <a:rPr lang="en-US" altLang="ko-KR"/>
              <a:t>. </a:t>
            </a:r>
            <a:r>
              <a:rPr lang="ko-KR" altLang="en-US"/>
              <a:t>경매</a:t>
            </a:r>
            <a:r>
              <a:rPr lang="en-US" altLang="ko-KR"/>
              <a:t>·</a:t>
            </a:r>
            <a:r>
              <a:rPr lang="ko-KR" altLang="en-US"/>
              <a:t>공매 관심자에게는 사실상 필수입니다</a:t>
            </a:r>
            <a:r>
              <a:rPr lang="en-US" altLang="ko-KR"/>
              <a:t>.
</a:t>
            </a:r>
            <a:r>
              <a:rPr lang="ko-KR" altLang="en-US"/>
              <a:t>말할 것 </a:t>
            </a:r>
            <a:r>
              <a:rPr lang="en-US" altLang="ko-KR"/>
              <a:t>— "</a:t>
            </a:r>
            <a:r>
              <a:rPr lang="ko-KR" altLang="en-US"/>
              <a:t>키를 다섯 번 받는 게 아닙니다</a:t>
            </a:r>
            <a:r>
              <a:rPr lang="en-US" altLang="ko-KR"/>
              <a:t>. </a:t>
            </a:r>
            <a:r>
              <a:rPr lang="ko-KR" altLang="en-US"/>
              <a:t>한 번 받아서 다섯 곳에 같이 씁니다</a:t>
            </a:r>
            <a:r>
              <a:rPr lang="en-US" altLang="ko-KR"/>
              <a:t>."
★ </a:t>
            </a:r>
            <a:r>
              <a:rPr lang="ko-KR" altLang="en-US"/>
              <a:t>승인 시간은 대표님 실측입니다 </a:t>
            </a:r>
            <a:r>
              <a:rPr lang="en-US" altLang="ko-KR"/>
              <a:t>— </a:t>
            </a:r>
            <a:r>
              <a:rPr lang="ko-KR" altLang="en-US"/>
              <a:t>대부분 </a:t>
            </a:r>
            <a:r>
              <a:rPr lang="en-US" altLang="ko-KR"/>
              <a:t>10</a:t>
            </a:r>
            <a:r>
              <a:rPr lang="ko-KR" altLang="en-US"/>
              <a:t>분 안에 납니다</a:t>
            </a:r>
            <a:r>
              <a:rPr lang="en-US" altLang="ko-KR"/>
              <a:t>. </a:t>
            </a:r>
            <a:r>
              <a:rPr lang="ko-KR" altLang="en-US"/>
              <a:t>다만 자료마다 활용신청을 따로 해야 합니다</a:t>
            </a:r>
            <a:r>
              <a:rPr lang="en-US" altLang="ko-KR"/>
              <a:t>. "</a:t>
            </a:r>
            <a:r>
              <a:rPr lang="ko-KR" altLang="en-US"/>
              <a:t>신청은 여러 번</a:t>
            </a:r>
            <a:r>
              <a:rPr lang="en-US" altLang="ko-KR"/>
              <a:t>, </a:t>
            </a:r>
            <a:r>
              <a:rPr lang="ko-KR" altLang="en-US"/>
              <a:t>키는 하나</a:t>
            </a:r>
            <a:r>
              <a:rPr lang="en-US" altLang="ko-KR"/>
              <a:t>"</a:t>
            </a:r>
            <a:r>
              <a:rPr lang="ko-KR" altLang="en-US"/>
              <a:t>로 정리해 주세요</a:t>
            </a:r>
            <a:r>
              <a:rPr lang="en-US" altLang="ko-KR"/>
              <a:t>.
★ </a:t>
            </a:r>
            <a:r>
              <a:rPr lang="ko-KR" altLang="en-US"/>
              <a:t>다섯 줄 중 앞의 셋</a:t>
            </a:r>
            <a:r>
              <a:rPr lang="en-US" altLang="ko-KR"/>
              <a:t>(</a:t>
            </a:r>
            <a:r>
              <a:rPr lang="ko-KR" altLang="en-US"/>
              <a:t>실거래가</a:t>
            </a:r>
            <a:r>
              <a:rPr lang="en-US" altLang="ko-KR"/>
              <a:t>·</a:t>
            </a:r>
            <a:r>
              <a:rPr lang="ko-KR" altLang="en-US"/>
              <a:t>온비드</a:t>
            </a:r>
            <a:r>
              <a:rPr lang="en-US" altLang="ko-KR"/>
              <a:t>·</a:t>
            </a:r>
            <a:r>
              <a:rPr lang="ko-KR" altLang="en-US"/>
              <a:t>건축물대장</a:t>
            </a:r>
            <a:r>
              <a:rPr lang="en-US" altLang="ko-KR"/>
              <a:t>)</a:t>
            </a:r>
            <a:r>
              <a:rPr lang="ko-KR" altLang="en-US"/>
              <a:t>이 경매</a:t>
            </a:r>
            <a:r>
              <a:rPr lang="en-US" altLang="ko-KR"/>
              <a:t>·</a:t>
            </a:r>
            <a:r>
              <a:rPr lang="ko-KR" altLang="en-US"/>
              <a:t>공매의 핵심입니다</a:t>
            </a:r>
            <a:r>
              <a:rPr lang="en-US" altLang="ko-KR"/>
              <a:t>. </a:t>
            </a:r>
            <a:r>
              <a:rPr lang="ko-KR" altLang="en-US"/>
              <a:t>관심 분야에 맞춰 짚으세요</a:t>
            </a:r>
            <a:r>
              <a:rPr lang="en-US" altLang="ko-KR"/>
              <a:t>.
★★ </a:t>
            </a:r>
            <a:r>
              <a:rPr lang="ko-KR" altLang="en-US"/>
              <a:t>맨 아래 줄이 이 장의 진짜 메시지입니다 </a:t>
            </a:r>
            <a:r>
              <a:rPr lang="en-US" altLang="ko-KR"/>
              <a:t>— </a:t>
            </a:r>
            <a:r>
              <a:rPr lang="ko-KR" altLang="en-US"/>
              <a:t>키 하나가 다섯 곳에 들어가므로</a:t>
            </a:r>
            <a:r>
              <a:rPr lang="en-US" altLang="ko-KR"/>
              <a:t>, </a:t>
            </a:r>
            <a:r>
              <a:rPr lang="ko-KR" altLang="en-US"/>
              <a:t>그 키가 새면 다섯 개가 한꺼번에 뚫립니다</a:t>
            </a:r>
            <a:r>
              <a:rPr lang="en-US" altLang="ko-KR"/>
              <a:t>.
</a:t>
            </a:r>
            <a:r>
              <a:rPr lang="ko-KR" altLang="en-US"/>
              <a:t>편의와 위험이 같이 온다는 걸 여기서 말해두면</a:t>
            </a:r>
            <a:r>
              <a:rPr lang="en-US" altLang="ko-KR"/>
              <a:t>, </a:t>
            </a:r>
            <a:r>
              <a:rPr lang="ko-KR" altLang="en-US"/>
              <a:t>뒤의 키 관리 이야기가 설득력을 갖습니다</a:t>
            </a:r>
            <a:r>
              <a:rPr lang="en-US" altLang="ko-KR"/>
              <a:t>.
</a:t>
            </a:r>
            <a:r>
              <a:rPr lang="ko-KR" altLang="en-US"/>
              <a:t>예상 질문 </a:t>
            </a:r>
            <a:r>
              <a:rPr lang="en-US" altLang="ko-KR"/>
              <a:t>— "</a:t>
            </a:r>
            <a:r>
              <a:rPr lang="ko-KR" altLang="en-US"/>
              <a:t>무료인가요</a:t>
            </a:r>
            <a:r>
              <a:rPr lang="en-US" altLang="ko-KR"/>
              <a:t>?" → "</a:t>
            </a:r>
            <a:r>
              <a:rPr lang="ko-KR" altLang="en-US"/>
              <a:t>무료입니다</a:t>
            </a:r>
            <a:r>
              <a:rPr lang="en-US" altLang="ko-KR"/>
              <a:t>. </a:t>
            </a:r>
            <a:r>
              <a:rPr lang="ko-KR" altLang="en-US"/>
              <a:t>다만 자료마다 하루 호출 한도가 있습니다</a:t>
            </a:r>
            <a:r>
              <a:rPr lang="en-US" altLang="ko-KR"/>
              <a:t>."</a:t>
            </a:r>
            <a:endParaRPr lang="ko-KR" altLang="en-US"/>
          </a:p>
        </p:txBody>
      </p:sp>
    </p:spTree>
    <p:extLst>
      <p:ext uri="{BB962C8B-B14F-4D97-AF65-F5344CB8AC3E}">
        <p14:creationId xmlns:p14="http://schemas.microsoft.com/office/powerpoint/2010/main" val="21024505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장은 참고표입니다</a:t>
            </a:r>
            <a:r>
              <a:rPr lang="en-US" altLang="ko-KR"/>
              <a:t>. </a:t>
            </a:r>
            <a:r>
              <a:rPr lang="ko-KR" altLang="en-US"/>
              <a:t>읽어주지 말고 </a:t>
            </a:r>
            <a:r>
              <a:rPr lang="en-US" altLang="ko-KR"/>
              <a:t>"</a:t>
            </a:r>
            <a:r>
              <a:rPr lang="ko-KR" altLang="en-US"/>
              <a:t>필요할 때 여기 보세요</a:t>
            </a:r>
            <a:r>
              <a:rPr lang="en-US" altLang="ko-KR"/>
              <a:t>"</a:t>
            </a:r>
            <a:r>
              <a:rPr lang="ko-KR" altLang="en-US"/>
              <a:t>로 넘기세요</a:t>
            </a:r>
            <a:r>
              <a:rPr lang="en-US" altLang="ko-KR"/>
              <a:t>.
★ </a:t>
            </a:r>
            <a:r>
              <a:rPr lang="ko-KR" altLang="en-US"/>
              <a:t>세 줄만 짚으면 됩니다</a:t>
            </a:r>
            <a:r>
              <a:rPr lang="en-US" altLang="ko-KR"/>
              <a:t>.
1) </a:t>
            </a:r>
            <a:r>
              <a:rPr lang="ko-KR" altLang="en-US"/>
              <a:t>한국투자증권 </a:t>
            </a:r>
            <a:r>
              <a:rPr lang="en-US" altLang="ko-KR"/>
              <a:t>— </a:t>
            </a:r>
            <a:r>
              <a:rPr lang="ko-KR" altLang="en-US"/>
              <a:t>증권 계좌가 있어야 신청됩니다</a:t>
            </a:r>
            <a:r>
              <a:rPr lang="en-US" altLang="ko-KR"/>
              <a:t>. </a:t>
            </a:r>
            <a:r>
              <a:rPr lang="ko-KR" altLang="en-US"/>
              <a:t>계좌 없는 분은 여기서 막힙니다</a:t>
            </a:r>
            <a:r>
              <a:rPr lang="en-US" altLang="ko-KR"/>
              <a:t>. </a:t>
            </a:r>
            <a:r>
              <a:rPr lang="ko-KR" altLang="en-US"/>
              <a:t>미리 말해두세요</a:t>
            </a:r>
            <a:r>
              <a:rPr lang="en-US" altLang="ko-KR"/>
              <a:t>.
2) </a:t>
            </a:r>
            <a:r>
              <a:rPr lang="ko-KR" altLang="en-US"/>
              <a:t>네이버 검색 </a:t>
            </a:r>
            <a:r>
              <a:rPr lang="en-US" altLang="ko-KR"/>
              <a:t>— ★ </a:t>
            </a:r>
            <a:r>
              <a:rPr lang="ko-KR" altLang="en-US"/>
              <a:t>신규 신청이 중단됐습니다</a:t>
            </a:r>
            <a:r>
              <a:rPr lang="en-US" altLang="ko-KR"/>
              <a:t>. </a:t>
            </a:r>
            <a:r>
              <a:rPr lang="ko-KR" altLang="en-US"/>
              <a:t>제 화면에서는 되는데 여러분은 새로 받을 수 없습니다</a:t>
            </a:r>
            <a:r>
              <a:rPr lang="en-US" altLang="ko-KR"/>
              <a:t>. </a:t>
            </a:r>
            <a:r>
              <a:rPr lang="ko-KR" altLang="en-US"/>
              <a:t>화면과 다른 이유를 여기서 설명해 두면 나중에 질문이 안 나옵니다</a:t>
            </a:r>
            <a:r>
              <a:rPr lang="en-US" altLang="ko-KR"/>
              <a:t>.
3) </a:t>
            </a:r>
            <a:r>
              <a:rPr lang="ko-KR" altLang="en-US"/>
              <a:t>옵시디언 </a:t>
            </a:r>
            <a:r>
              <a:rPr lang="en-US" altLang="ko-KR"/>
              <a:t>— </a:t>
            </a:r>
            <a:r>
              <a:rPr lang="ko-KR" altLang="en-US"/>
              <a:t>사이트에서 받는 게 아니라 프로그램 안의 플러그인에서 직접 만듭니다</a:t>
            </a:r>
            <a:r>
              <a:rPr lang="en-US" altLang="ko-KR"/>
              <a:t>. "</a:t>
            </a:r>
            <a:r>
              <a:rPr lang="ko-KR" altLang="en-US"/>
              <a:t>키를 받는 곳이 늘 웹사이트는 아니다</a:t>
            </a:r>
            <a:r>
              <a:rPr lang="en-US" altLang="ko-KR"/>
              <a:t>"</a:t>
            </a:r>
            <a:r>
              <a:rPr lang="ko-KR" altLang="en-US"/>
              <a:t>의 예로 쓰면 좋습니다</a:t>
            </a:r>
            <a:r>
              <a:rPr lang="en-US" altLang="ko-KR"/>
              <a:t>.
★ </a:t>
            </a:r>
            <a:r>
              <a:rPr lang="ko-KR" altLang="en-US"/>
              <a:t>국가법령정보는 이메일만으로 즉시 발급됩니다</a:t>
            </a:r>
            <a:r>
              <a:rPr lang="en-US" altLang="ko-KR"/>
              <a:t>. </a:t>
            </a:r>
            <a:r>
              <a:rPr lang="ko-KR" altLang="en-US"/>
              <a:t>경매</a:t>
            </a:r>
            <a:r>
              <a:rPr lang="en-US" altLang="ko-KR"/>
              <a:t>·</a:t>
            </a:r>
            <a:r>
              <a:rPr lang="ko-KR" altLang="en-US"/>
              <a:t>공매 관심자에게 권할 만합니다</a:t>
            </a:r>
            <a:r>
              <a:rPr lang="en-US" altLang="ko-KR"/>
              <a:t>.
★★ </a:t>
            </a:r>
            <a:r>
              <a:rPr lang="ko-KR" altLang="en-US"/>
              <a:t>키를 받은 뒤가 더 중요합니다</a:t>
            </a:r>
            <a:r>
              <a:rPr lang="en-US" altLang="ko-KR"/>
              <a:t>. </a:t>
            </a:r>
            <a:r>
              <a:rPr lang="ko-KR" altLang="en-US"/>
              <a:t>한마디 덧붙이세요 </a:t>
            </a:r>
            <a:r>
              <a:rPr lang="en-US" altLang="ko-KR"/>
              <a:t>— "</a:t>
            </a:r>
            <a:r>
              <a:rPr lang="ko-KR" altLang="en-US"/>
              <a:t>받은 키는 설정 파일에 들어갑니다</a:t>
            </a:r>
            <a:r>
              <a:rPr lang="en-US" altLang="ko-KR"/>
              <a:t>. </a:t>
            </a:r>
            <a:r>
              <a:rPr lang="ko-KR" altLang="en-US"/>
              <a:t>그 파일을 통째로 대화창에 붙여넣지 마십시오</a:t>
            </a:r>
            <a:r>
              <a:rPr lang="en-US" altLang="ko-KR"/>
              <a:t>. </a:t>
            </a:r>
            <a:r>
              <a:rPr lang="ko-KR" altLang="en-US"/>
              <a:t>저도 실수한 적이 있습니다</a:t>
            </a:r>
            <a:r>
              <a:rPr lang="en-US" altLang="ko-KR"/>
              <a:t>."
</a:t>
            </a:r>
            <a:r>
              <a:rPr lang="ko-KR" altLang="en-US"/>
              <a:t>출처와 조회일은 슬라이드 하단에 있습니다</a:t>
            </a:r>
            <a:r>
              <a:rPr lang="en-US" altLang="ko-KR"/>
              <a:t>. </a:t>
            </a:r>
            <a:r>
              <a:rPr lang="ko-KR" altLang="en-US"/>
              <a:t>발표 당일 아침에 한 번 더 확인하시면 좋습니다</a:t>
            </a:r>
            <a:r>
              <a:rPr lang="en-US" altLang="ko-KR"/>
              <a:t>.</a:t>
            </a:r>
            <a:endParaRPr lang="ko-KR" altLang="en-US"/>
          </a:p>
        </p:txBody>
      </p:sp>
    </p:spTree>
    <p:extLst>
      <p:ext uri="{BB962C8B-B14F-4D97-AF65-F5344CB8AC3E}">
        <p14:creationId xmlns:p14="http://schemas.microsoft.com/office/powerpoint/2010/main" val="20350824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부록 전체가 이 한 장을 위해 있습니다</a:t>
            </a:r>
            <a:r>
              <a:rPr lang="en-US" altLang="ko-KR"/>
              <a:t>. </a:t>
            </a:r>
            <a:r>
              <a:rPr lang="ko-KR" altLang="en-US"/>
              <a:t>앞의 </a:t>
            </a:r>
            <a:r>
              <a:rPr lang="en-US" altLang="ko-KR"/>
              <a:t>27</a:t>
            </a:r>
            <a:r>
              <a:rPr lang="ko-KR" altLang="en-US"/>
              <a:t>개는 이 말을 하려고 보여준 것입니다</a:t>
            </a:r>
            <a:r>
              <a:rPr lang="en-US" altLang="ko-KR"/>
              <a:t>.
</a:t>
            </a:r>
            <a:r>
              <a:rPr lang="ko-KR" altLang="en-US"/>
              <a:t>말할 것 </a:t>
            </a:r>
            <a:r>
              <a:rPr lang="en-US" altLang="ko-KR"/>
              <a:t>— "27</a:t>
            </a:r>
            <a:r>
              <a:rPr lang="ko-KR" altLang="en-US"/>
              <a:t>개를 보여드린 건 이렇게 하시라는 게 아닙니다</a:t>
            </a:r>
            <a:r>
              <a:rPr lang="en-US" altLang="ko-KR"/>
              <a:t>. </a:t>
            </a:r>
            <a:r>
              <a:rPr lang="ko-KR" altLang="en-US"/>
              <a:t>이렇게 안 하셔도 된다는 걸 말씀드리려는 겁니다</a:t>
            </a:r>
            <a:r>
              <a:rPr lang="en-US" altLang="ko-KR"/>
              <a:t>."
★ </a:t>
            </a:r>
            <a:r>
              <a:rPr lang="ko-KR" altLang="en-US"/>
              <a:t>왼쪽</a:t>
            </a:r>
            <a:r>
              <a:rPr lang="en-US" altLang="ko-KR"/>
              <a:t>(</a:t>
            </a:r>
            <a:r>
              <a:rPr lang="ko-KR" altLang="en-US"/>
              <a:t>많이 붙이면</a:t>
            </a:r>
            <a:r>
              <a:rPr lang="en-US" altLang="ko-KR"/>
              <a:t>)</a:t>
            </a:r>
            <a:r>
              <a:rPr lang="ko-KR" altLang="en-US"/>
              <a:t>의 세 가지를 짚으세요</a:t>
            </a:r>
            <a:r>
              <a:rPr lang="en-US" altLang="ko-KR"/>
              <a:t>.
- </a:t>
            </a:r>
            <a:r>
              <a:rPr lang="ko-KR" altLang="en-US"/>
              <a:t>안 써도 자리를 차지합니다 → 앞의 사용 한도 이야기</a:t>
            </a:r>
            <a:r>
              <a:rPr lang="en-US" altLang="ko-KR"/>
              <a:t>(p.10)</a:t>
            </a:r>
            <a:r>
              <a:rPr lang="ko-KR" altLang="en-US"/>
              <a:t>와 이어집니다
</a:t>
            </a:r>
            <a:r>
              <a:rPr lang="en-US" altLang="ko-KR"/>
              <a:t>- </a:t>
            </a:r>
            <a:r>
              <a:rPr lang="ko-KR" altLang="en-US"/>
              <a:t>대화가 무거워집니다
</a:t>
            </a:r>
            <a:r>
              <a:rPr lang="en-US" altLang="ko-KR"/>
              <a:t>- </a:t>
            </a:r>
            <a:r>
              <a:rPr lang="ko-KR" altLang="en-US"/>
              <a:t>안 될 때 원인 찾기가 어려워집니다 → 오늘 실습에서 커넥터를 하나만 붙인 이유입니다
★ 오른쪽</a:t>
            </a:r>
            <a:r>
              <a:rPr lang="en-US" altLang="ko-KR"/>
              <a:t>(</a:t>
            </a:r>
            <a:r>
              <a:rPr lang="ko-KR" altLang="en-US"/>
              <a:t>하나로 시작하면</a:t>
            </a:r>
            <a:r>
              <a:rPr lang="en-US" altLang="ko-KR"/>
              <a:t>)</a:t>
            </a:r>
            <a:r>
              <a:rPr lang="ko-KR" altLang="en-US"/>
              <a:t>이 오늘의 결론입니다</a:t>
            </a:r>
            <a:r>
              <a:rPr lang="en-US" altLang="ko-KR"/>
              <a:t>.
"</a:t>
            </a:r>
            <a:r>
              <a:rPr lang="ko-KR" altLang="en-US"/>
              <a:t>이게 안 되네</a:t>
            </a:r>
            <a:r>
              <a:rPr lang="en-US" altLang="ko-KR"/>
              <a:t>" </a:t>
            </a:r>
            <a:r>
              <a:rPr lang="ko-KR" altLang="en-US"/>
              <a:t>싶을 때가 붙일 때입니다</a:t>
            </a:r>
            <a:r>
              <a:rPr lang="en-US" altLang="ko-KR"/>
              <a:t>. </a:t>
            </a:r>
            <a:r>
              <a:rPr lang="ko-KR" altLang="en-US"/>
              <a:t>미리 붙여두는 게 아닙니다</a:t>
            </a:r>
            <a:r>
              <a:rPr lang="en-US" altLang="ko-KR"/>
              <a:t>.
★ </a:t>
            </a:r>
            <a:r>
              <a:rPr lang="ko-KR" altLang="en-US"/>
              <a:t>마무리 멘트
</a:t>
            </a:r>
            <a:r>
              <a:rPr lang="en-US" altLang="ko-KR"/>
              <a:t>"</a:t>
            </a:r>
            <a:r>
              <a:rPr lang="ko-KR" altLang="en-US"/>
              <a:t>오늘 붙인 건 하나입니다</a:t>
            </a:r>
            <a:r>
              <a:rPr lang="en-US" altLang="ko-KR"/>
              <a:t>. </a:t>
            </a:r>
            <a:r>
              <a:rPr lang="ko-KR" altLang="en-US"/>
              <a:t>그거 하나로 화면을 만들었습니다</a:t>
            </a:r>
            <a:r>
              <a:rPr lang="en-US" altLang="ko-KR"/>
              <a:t>. </a:t>
            </a:r>
            <a:r>
              <a:rPr lang="ko-KR" altLang="en-US"/>
              <a:t>필요해지면 그때 하나씩 늘리시면 됩니다</a:t>
            </a:r>
            <a:r>
              <a:rPr lang="en-US" altLang="ko-KR"/>
              <a:t>. </a:t>
            </a:r>
            <a:r>
              <a:rPr lang="ko-KR" altLang="en-US"/>
              <a:t>저도 그렇게 </a:t>
            </a:r>
            <a:r>
              <a:rPr lang="en-US" altLang="ko-KR"/>
              <a:t>27</a:t>
            </a:r>
            <a:r>
              <a:rPr lang="ko-KR" altLang="en-US"/>
              <a:t>개가 됐습니다</a:t>
            </a:r>
            <a:r>
              <a:rPr lang="en-US" altLang="ko-KR"/>
              <a:t>."
★★ </a:t>
            </a:r>
            <a:r>
              <a:rPr lang="ko-KR" altLang="en-US"/>
              <a:t>맨 아래 각주를 반드시 읽어주세요 </a:t>
            </a:r>
            <a:r>
              <a:rPr lang="en-US" altLang="ko-KR"/>
              <a:t>— </a:t>
            </a:r>
            <a:r>
              <a:rPr lang="ko-KR" altLang="en-US"/>
              <a:t>설정 파일에는 </a:t>
            </a:r>
            <a:r>
              <a:rPr lang="en-US" altLang="ko-KR"/>
              <a:t>API </a:t>
            </a:r>
            <a:r>
              <a:rPr lang="ko-KR" altLang="en-US"/>
              <a:t>키가 들어 있습니다</a:t>
            </a:r>
            <a:r>
              <a:rPr lang="en-US" altLang="ko-KR"/>
              <a:t>. </a:t>
            </a:r>
            <a:r>
              <a:rPr lang="ko-KR" altLang="en-US"/>
              <a:t>화면 공유나 캡처 전에 가리십시오</a:t>
            </a:r>
            <a:r>
              <a:rPr lang="en-US" altLang="ko-KR"/>
              <a:t>.
</a:t>
            </a:r>
            <a:r>
              <a:rPr lang="ko-KR" altLang="en-US"/>
              <a:t>강사 본인의 실수담을 여기서 하시면 가장 잘 박힙니다</a:t>
            </a:r>
            <a:r>
              <a:rPr lang="en-US" altLang="ko-KR"/>
              <a:t>.</a:t>
            </a:r>
            <a:endParaRPr lang="ko-KR" altLang="en-US"/>
          </a:p>
        </p:txBody>
      </p:sp>
    </p:spTree>
    <p:extLst>
      <p:ext uri="{BB962C8B-B14F-4D97-AF65-F5344CB8AC3E}">
        <p14:creationId xmlns:p14="http://schemas.microsoft.com/office/powerpoint/2010/main" val="367015413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부록 </a:t>
            </a:r>
            <a:r>
              <a:rPr lang="en-US" altLang="ko-KR"/>
              <a:t>B </a:t>
            </a:r>
            <a:r>
              <a:rPr lang="ko-KR" altLang="en-US"/>
              <a:t>표지입니다</a:t>
            </a:r>
            <a:r>
              <a:rPr lang="en-US" altLang="ko-KR"/>
              <a:t>. 10</a:t>
            </a:r>
            <a:r>
              <a:rPr lang="ko-KR" altLang="en-US"/>
              <a:t>초</a:t>
            </a:r>
            <a:r>
              <a:rPr lang="en-US" altLang="ko-KR"/>
              <a:t>.
★ </a:t>
            </a:r>
            <a:r>
              <a:rPr lang="ko-KR" altLang="en-US"/>
              <a:t>이것도 본 과정이 아닙니다</a:t>
            </a:r>
            <a:r>
              <a:rPr lang="en-US" altLang="ko-KR"/>
              <a:t>. </a:t>
            </a:r>
            <a:r>
              <a:rPr lang="ko-KR" altLang="en-US"/>
              <a:t>시간이 남을 때만 펴세요</a:t>
            </a:r>
            <a:r>
              <a:rPr lang="en-US" altLang="ko-KR"/>
              <a:t>.
★ </a:t>
            </a:r>
            <a:r>
              <a:rPr lang="ko-KR" altLang="en-US"/>
              <a:t>언제 꺼내면 좋은가 </a:t>
            </a:r>
            <a:r>
              <a:rPr lang="en-US" altLang="ko-KR"/>
              <a:t>— </a:t>
            </a:r>
            <a:r>
              <a:rPr lang="ko-KR" altLang="en-US"/>
              <a:t>실습이 끝난 뒤 </a:t>
            </a:r>
            <a:r>
              <a:rPr lang="en-US" altLang="ko-KR"/>
              <a:t>"</a:t>
            </a:r>
            <a:r>
              <a:rPr lang="ko-KR" altLang="en-US"/>
              <a:t>이거 개발자들이 쓰는 그건가요</a:t>
            </a:r>
            <a:r>
              <a:rPr lang="en-US" altLang="ko-KR"/>
              <a:t>?", "Claude Code</a:t>
            </a:r>
            <a:r>
              <a:rPr lang="ko-KR" altLang="en-US"/>
              <a:t>는 뭐예요</a:t>
            </a:r>
            <a:r>
              <a:rPr lang="en-US" altLang="ko-KR"/>
              <a:t>?" </a:t>
            </a:r>
            <a:r>
              <a:rPr lang="ko-KR" altLang="en-US"/>
              <a:t>같은 질문이 나올 때입니다</a:t>
            </a:r>
            <a:r>
              <a:rPr lang="en-US" altLang="ko-KR"/>
              <a:t>. </a:t>
            </a:r>
            <a:r>
              <a:rPr lang="ko-KR" altLang="en-US"/>
              <a:t>미리 꺼내지 마세요</a:t>
            </a:r>
            <a:r>
              <a:rPr lang="en-US" altLang="ko-KR"/>
              <a:t>. </a:t>
            </a:r>
            <a:r>
              <a:rPr lang="ko-KR" altLang="en-US"/>
              <a:t>궁금하지 않은데 설명하면 어렵게만 느껴집니다</a:t>
            </a:r>
            <a:r>
              <a:rPr lang="en-US" altLang="ko-KR"/>
              <a:t>.
</a:t>
            </a:r>
            <a:r>
              <a:rPr lang="ko-KR" altLang="en-US"/>
              <a:t>말할 것 </a:t>
            </a:r>
            <a:r>
              <a:rPr lang="en-US" altLang="ko-KR"/>
              <a:t>— "</a:t>
            </a:r>
            <a:r>
              <a:rPr lang="ko-KR" altLang="en-US"/>
              <a:t>오늘 쓴 건 </a:t>
            </a:r>
            <a:r>
              <a:rPr lang="en-US" altLang="ko-KR"/>
              <a:t>Cowork</a:t>
            </a:r>
            <a:r>
              <a:rPr lang="ko-KR" altLang="en-US"/>
              <a:t>입니다</a:t>
            </a:r>
            <a:r>
              <a:rPr lang="en-US" altLang="ko-KR"/>
              <a:t>. </a:t>
            </a:r>
            <a:r>
              <a:rPr lang="ko-KR" altLang="en-US"/>
              <a:t>옆에 </a:t>
            </a:r>
            <a:r>
              <a:rPr lang="en-US" altLang="ko-KR"/>
              <a:t>Code</a:t>
            </a:r>
            <a:r>
              <a:rPr lang="ko-KR" altLang="en-US"/>
              <a:t>라는 게 하나 더 있는데</a:t>
            </a:r>
            <a:r>
              <a:rPr lang="en-US" altLang="ko-KR"/>
              <a:t>, </a:t>
            </a:r>
            <a:r>
              <a:rPr lang="ko-KR" altLang="en-US"/>
              <a:t>어떻게 다른지만 짚고 가겠습니다</a:t>
            </a:r>
            <a:r>
              <a:rPr lang="en-US" altLang="ko-KR"/>
              <a:t>."
★★ </a:t>
            </a:r>
            <a:r>
              <a:rPr lang="ko-KR" altLang="en-US"/>
              <a:t>결론부터 말해주고 시작하세요 </a:t>
            </a:r>
            <a:r>
              <a:rPr lang="en-US" altLang="ko-KR"/>
              <a:t>— "</a:t>
            </a:r>
            <a:r>
              <a:rPr lang="ko-KR" altLang="en-US"/>
              <a:t>결론은 여러분은 </a:t>
            </a:r>
            <a:r>
              <a:rPr lang="en-US" altLang="ko-KR"/>
              <a:t>Code</a:t>
            </a:r>
            <a:r>
              <a:rPr lang="ko-KR" altLang="en-US"/>
              <a:t>를 안 쓰셔도 된다는 겁니다</a:t>
            </a:r>
            <a:r>
              <a:rPr lang="en-US" altLang="ko-KR"/>
              <a:t>." </a:t>
            </a:r>
            <a:r>
              <a:rPr lang="ko-KR" altLang="en-US"/>
              <a:t>그래야 편하게 듣습니다</a:t>
            </a:r>
            <a:r>
              <a:rPr lang="en-US" altLang="ko-KR"/>
              <a:t>.</a:t>
            </a:r>
            <a:endParaRPr lang="ko-KR" altLang="en-US"/>
          </a:p>
        </p:txBody>
      </p:sp>
    </p:spTree>
    <p:extLst>
      <p:ext uri="{BB962C8B-B14F-4D97-AF65-F5344CB8AC3E}">
        <p14:creationId xmlns:p14="http://schemas.microsoft.com/office/powerpoint/2010/main" val="4809528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"Code</a:t>
            </a:r>
            <a:r>
              <a:rPr lang="ko-KR" altLang="en-US"/>
              <a:t>가 더 좋은 것</a:t>
            </a:r>
            <a:r>
              <a:rPr lang="en-US" altLang="ko-KR"/>
              <a:t>"</a:t>
            </a:r>
            <a:r>
              <a:rPr lang="ko-KR" altLang="en-US"/>
              <a:t>이라는 오해를 막는 것입니다</a:t>
            </a:r>
            <a:r>
              <a:rPr lang="en-US" altLang="ko-KR"/>
              <a:t>. </a:t>
            </a:r>
            <a:r>
              <a:rPr lang="ko-KR" altLang="en-US"/>
              <a:t>더 센 게 아니라 범위가 다릅니다</a:t>
            </a:r>
            <a:r>
              <a:rPr lang="en-US" altLang="ko-KR"/>
              <a:t>.
</a:t>
            </a:r>
            <a:r>
              <a:rPr lang="ko-KR" altLang="en-US"/>
              <a:t>비유를 그대로 읽어주세요</a:t>
            </a:r>
            <a:r>
              <a:rPr lang="en-US" altLang="ko-KR"/>
              <a:t>.
"Cowork</a:t>
            </a:r>
            <a:r>
              <a:rPr lang="ko-KR" altLang="en-US"/>
              <a:t>는 방 한 칸을 내주는 겁니다</a:t>
            </a:r>
            <a:r>
              <a:rPr lang="en-US" altLang="ko-KR"/>
              <a:t>. </a:t>
            </a:r>
            <a:r>
              <a:rPr lang="ko-KR" altLang="en-US"/>
              <a:t>그 방 안의 물건만 만집니다</a:t>
            </a:r>
            <a:r>
              <a:rPr lang="en-US" altLang="ko-KR"/>
              <a:t>."
"Code</a:t>
            </a:r>
            <a:r>
              <a:rPr lang="ko-KR" altLang="en-US"/>
              <a:t>는 집 열쇠를 통째로 주는 겁니다</a:t>
            </a:r>
            <a:r>
              <a:rPr lang="en-US" altLang="ko-KR"/>
              <a:t>. </a:t>
            </a:r>
            <a:r>
              <a:rPr lang="ko-KR" altLang="en-US"/>
              <a:t>어느 방이든 들어가고 창고 공구도 꺼내 씁니다</a:t>
            </a:r>
            <a:r>
              <a:rPr lang="en-US" altLang="ko-KR"/>
              <a:t>."
★★ </a:t>
            </a:r>
            <a:r>
              <a:rPr lang="ko-KR" altLang="en-US"/>
              <a:t>아래 검은 줄이 핵심입니다 </a:t>
            </a:r>
            <a:r>
              <a:rPr lang="en-US" altLang="ko-KR"/>
              <a:t>— </a:t>
            </a:r>
            <a:r>
              <a:rPr lang="ko-KR" altLang="en-US"/>
              <a:t>둘 다 바탕은 같은 </a:t>
            </a:r>
            <a:r>
              <a:rPr lang="en-US" altLang="ko-KR"/>
              <a:t>Claude Code</a:t>
            </a:r>
            <a:r>
              <a:rPr lang="ko-KR" altLang="en-US"/>
              <a:t>입니다</a:t>
            </a:r>
            <a:r>
              <a:rPr lang="en-US" altLang="ko-KR"/>
              <a:t>.
</a:t>
            </a:r>
            <a:r>
              <a:rPr lang="ko-KR" altLang="en-US"/>
              <a:t>공식 문서 원문</a:t>
            </a:r>
            <a:r>
              <a:rPr lang="en-US" altLang="ko-KR"/>
              <a:t>: "Cowork and Code run on the same engine. Both are Claude Code underneath."
</a:t>
            </a:r>
            <a:r>
              <a:rPr lang="ko-KR" altLang="en-US"/>
              <a:t>실력이 다른 게 아니라 들어갈 수 있는 범위가 다르다는 것</a:t>
            </a:r>
            <a:r>
              <a:rPr lang="en-US" altLang="ko-KR"/>
              <a:t>, </a:t>
            </a:r>
            <a:r>
              <a:rPr lang="ko-KR" altLang="en-US"/>
              <a:t>이 한 가지만 남기면 됩니다</a:t>
            </a:r>
            <a:r>
              <a:rPr lang="en-US" altLang="ko-KR"/>
              <a:t>.
★ </a:t>
            </a:r>
            <a:r>
              <a:rPr lang="ko-KR" altLang="en-US"/>
              <a:t>오늘 겪은 일을 예로 들면 좋습니다 </a:t>
            </a:r>
            <a:r>
              <a:rPr lang="en-US" altLang="ko-KR"/>
              <a:t>— </a:t>
            </a:r>
            <a:r>
              <a:rPr lang="ko-KR" altLang="en-US"/>
              <a:t>아티팩트 원본 파일이 공유한 폴더 밖에 있어서 </a:t>
            </a:r>
            <a:r>
              <a:rPr lang="en-US" altLang="ko-KR"/>
              <a:t>Cowork</a:t>
            </a:r>
            <a:r>
              <a:rPr lang="ko-KR" altLang="en-US"/>
              <a:t>가 못 건드렸고</a:t>
            </a:r>
            <a:r>
              <a:rPr lang="en-US" altLang="ko-KR"/>
              <a:t>, </a:t>
            </a:r>
            <a:r>
              <a:rPr lang="ko-KR" altLang="en-US"/>
              <a:t>그래서 파일을 옮겨와야 했습니다</a:t>
            </a:r>
            <a:r>
              <a:rPr lang="en-US" altLang="ko-KR"/>
              <a:t>. </a:t>
            </a:r>
            <a:r>
              <a:rPr lang="ko-KR" altLang="en-US"/>
              <a:t>딱 이 차이입니다</a:t>
            </a:r>
            <a:r>
              <a:rPr lang="en-US" altLang="ko-KR"/>
              <a:t>.
</a:t>
            </a:r>
            <a:r>
              <a:rPr lang="ko-KR" altLang="en-US"/>
              <a:t>예상 질문 </a:t>
            </a:r>
            <a:r>
              <a:rPr lang="en-US" altLang="ko-KR"/>
              <a:t>— "</a:t>
            </a:r>
            <a:r>
              <a:rPr lang="ko-KR" altLang="en-US"/>
              <a:t>그럼 </a:t>
            </a:r>
            <a:r>
              <a:rPr lang="en-US" altLang="ko-KR"/>
              <a:t>Code</a:t>
            </a:r>
            <a:r>
              <a:rPr lang="ko-KR" altLang="en-US"/>
              <a:t>가 더 좋은 거 아닌가요</a:t>
            </a:r>
            <a:r>
              <a:rPr lang="en-US" altLang="ko-KR"/>
              <a:t>?" → "</a:t>
            </a:r>
            <a:r>
              <a:rPr lang="ko-KR" altLang="en-US"/>
              <a:t>범위가 넓은 만큼 사고도 큽니다</a:t>
            </a:r>
            <a:r>
              <a:rPr lang="en-US" altLang="ko-KR"/>
              <a:t>. </a:t>
            </a:r>
            <a:r>
              <a:rPr lang="ko-KR" altLang="en-US"/>
              <a:t>필요 없는 방까지 열어둘 이유가 없습니다</a:t>
            </a:r>
            <a:r>
              <a:rPr lang="en-US" altLang="ko-KR"/>
              <a:t>."</a:t>
            </a:r>
            <a:endParaRPr lang="ko-KR" altLang="en-US"/>
          </a:p>
        </p:txBody>
      </p:sp>
    </p:spTree>
    <p:extLst>
      <p:ext uri="{BB962C8B-B14F-4D97-AF65-F5344CB8AC3E}">
        <p14:creationId xmlns:p14="http://schemas.microsoft.com/office/powerpoint/2010/main" val="314558904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장의 목적</a:t>
            </a:r>
            <a:r>
              <a:rPr lang="en-US" altLang="ko-KR"/>
              <a:t>: Code</a:t>
            </a:r>
            <a:r>
              <a:rPr lang="ko-KR" altLang="en-US"/>
              <a:t>로 옮길 시점을 알아채는 기준 세 개를 주는 것입니다</a:t>
            </a:r>
            <a:r>
              <a:rPr lang="en-US" altLang="ko-KR"/>
              <a:t>.
1) </a:t>
            </a:r>
            <a:r>
              <a:rPr lang="ko-KR" altLang="en-US"/>
              <a:t>되돌리기 </a:t>
            </a:r>
            <a:r>
              <a:rPr lang="en-US" altLang="ko-KR"/>
              <a:t>— Ctrl+Z</a:t>
            </a:r>
            <a:r>
              <a:rPr lang="ko-KR" altLang="en-US"/>
              <a:t>가 며칠 전까지 먹힙니다</a:t>
            </a:r>
            <a:r>
              <a:rPr lang="en-US" altLang="ko-KR"/>
              <a:t>. </a:t>
            </a:r>
            <a:r>
              <a:rPr lang="ko-KR" altLang="en-US"/>
              <a:t>개발에서는 이걸 </a:t>
            </a:r>
            <a:r>
              <a:rPr lang="en-US" altLang="ko-KR"/>
              <a:t>git</a:t>
            </a:r>
            <a:r>
              <a:rPr lang="ko-KR" altLang="en-US"/>
              <a:t>이라고 부르는데</a:t>
            </a:r>
            <a:r>
              <a:rPr lang="en-US" altLang="ko-KR"/>
              <a:t>, </a:t>
            </a:r>
            <a:r>
              <a:rPr lang="ko-KR" altLang="en-US"/>
              <a:t>그 말은 하지 마세요</a:t>
            </a:r>
            <a:r>
              <a:rPr lang="en-US" altLang="ko-KR"/>
              <a:t>. "</a:t>
            </a:r>
            <a:r>
              <a:rPr lang="ko-KR" altLang="en-US"/>
              <a:t>되돌리기</a:t>
            </a:r>
            <a:r>
              <a:rPr lang="en-US" altLang="ko-KR"/>
              <a:t>"</a:t>
            </a:r>
            <a:r>
              <a:rPr lang="ko-KR" altLang="en-US"/>
              <a:t>로 충분합니다</a:t>
            </a:r>
            <a:r>
              <a:rPr lang="en-US" altLang="ko-KR"/>
              <a:t>.
2) </a:t>
            </a:r>
            <a:r>
              <a:rPr lang="ko-KR" altLang="en-US"/>
              <a:t>어디를 고쳤는지 보여줌 </a:t>
            </a:r>
            <a:r>
              <a:rPr lang="en-US" altLang="ko-KR"/>
              <a:t>— </a:t>
            </a:r>
            <a:r>
              <a:rPr lang="ko-KR" altLang="en-US"/>
              <a:t>바뀐 줄에 색이 칠해집니다</a:t>
            </a:r>
            <a:r>
              <a:rPr lang="en-US" altLang="ko-KR"/>
              <a:t>. Cowork</a:t>
            </a:r>
            <a:r>
              <a:rPr lang="ko-KR" altLang="en-US"/>
              <a:t>는 </a:t>
            </a:r>
            <a:r>
              <a:rPr lang="en-US" altLang="ko-KR"/>
              <a:t>"</a:t>
            </a:r>
            <a:r>
              <a:rPr lang="ko-KR" altLang="en-US"/>
              <a:t>고쳤습니다</a:t>
            </a:r>
            <a:r>
              <a:rPr lang="en-US" altLang="ko-KR"/>
              <a:t>" </a:t>
            </a:r>
            <a:r>
              <a:rPr lang="ko-KR" altLang="en-US"/>
              <a:t>하고 끝나서</a:t>
            </a:r>
            <a:r>
              <a:rPr lang="en-US" altLang="ko-KR"/>
              <a:t>, </a:t>
            </a:r>
            <a:r>
              <a:rPr lang="ko-KR" altLang="en-US"/>
              <a:t>무엇이 바뀌었는지 직접 열어봐야 합니다</a:t>
            </a:r>
            <a:r>
              <a:rPr lang="en-US" altLang="ko-KR"/>
              <a:t>.
3) </a:t>
            </a:r>
            <a:r>
              <a:rPr lang="ko-KR" altLang="en-US"/>
              <a:t>만들고 바로 돌려봄 </a:t>
            </a:r>
            <a:r>
              <a:rPr lang="en-US" altLang="ko-KR"/>
              <a:t>— </a:t>
            </a:r>
            <a:r>
              <a:rPr lang="ko-KR" altLang="en-US"/>
              <a:t>같은 화면에서 실행됩니다</a:t>
            </a:r>
            <a:r>
              <a:rPr lang="en-US" altLang="ko-KR"/>
              <a:t>. </a:t>
            </a:r>
            <a:r>
              <a:rPr lang="ko-KR" altLang="en-US"/>
              <a:t>수십 번 반복할 때 차이가 큽니다</a:t>
            </a:r>
            <a:r>
              <a:rPr lang="en-US" altLang="ko-KR"/>
              <a:t>.
★★ </a:t>
            </a:r>
            <a:r>
              <a:rPr lang="ko-KR" altLang="en-US"/>
              <a:t>아래 검은 줄이 실무에서 가장 아픈 대목입니다 </a:t>
            </a:r>
            <a:r>
              <a:rPr lang="en-US" altLang="ko-KR"/>
              <a:t>— Cowork</a:t>
            </a:r>
            <a:r>
              <a:rPr lang="ko-KR" altLang="en-US"/>
              <a:t>에는 되돌리기가 없습니다</a:t>
            </a:r>
            <a:r>
              <a:rPr lang="en-US" altLang="ko-KR"/>
              <a:t>.
</a:t>
            </a:r>
            <a:r>
              <a:rPr lang="ko-KR" altLang="en-US"/>
              <a:t>강사 경험을 붙이면 좋습니다</a:t>
            </a:r>
            <a:r>
              <a:rPr lang="en-US" altLang="ko-KR"/>
              <a:t>: "</a:t>
            </a:r>
            <a:r>
              <a:rPr lang="ko-KR" altLang="en-US"/>
              <a:t>저는 오늘 이 교재를 고치면서 백업을 다섯 번 떴습니다</a:t>
            </a:r>
            <a:r>
              <a:rPr lang="en-US" altLang="ko-KR"/>
              <a:t>. Code</a:t>
            </a:r>
            <a:r>
              <a:rPr lang="ko-KR" altLang="en-US"/>
              <a:t>였으면 안 떠도 됩니다</a:t>
            </a:r>
            <a:r>
              <a:rPr lang="en-US" altLang="ko-KR"/>
              <a:t>."
★ </a:t>
            </a:r>
            <a:r>
              <a:rPr lang="ko-KR" altLang="en-US"/>
              <a:t>수강생이 지금 당장 필요한 이야기는 아닙니다</a:t>
            </a:r>
            <a:r>
              <a:rPr lang="en-US" altLang="ko-KR"/>
              <a:t>. "</a:t>
            </a:r>
            <a:r>
              <a:rPr lang="ko-KR" altLang="en-US"/>
              <a:t>이런 게 아쉬워지는 날이 오면 그때 </a:t>
            </a:r>
            <a:r>
              <a:rPr lang="en-US" altLang="ko-KR"/>
              <a:t>Code</a:t>
            </a:r>
            <a:r>
              <a:rPr lang="ko-KR" altLang="en-US"/>
              <a:t>를 보시면 됩니다</a:t>
            </a:r>
            <a:r>
              <a:rPr lang="en-US" altLang="ko-KR"/>
              <a:t>"</a:t>
            </a:r>
            <a:r>
              <a:rPr lang="ko-KR" altLang="en-US"/>
              <a:t>로 넘기세요</a:t>
            </a:r>
            <a:r>
              <a:rPr lang="en-US" altLang="ko-KR"/>
              <a:t>.</a:t>
            </a:r>
            <a:endParaRPr lang="ko-KR" altLang="en-US"/>
          </a:p>
        </p:txBody>
      </p:sp>
    </p:spTree>
    <p:extLst>
      <p:ext uri="{BB962C8B-B14F-4D97-AF65-F5344CB8AC3E}">
        <p14:creationId xmlns:p14="http://schemas.microsoft.com/office/powerpoint/2010/main" val="378988948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이 장은 표 하나로 끝납니다</a:t>
            </a:r>
            <a:r>
              <a:rPr lang="en-US" altLang="ko-KR"/>
              <a:t>. </a:t>
            </a:r>
            <a:r>
              <a:rPr lang="ko-KR" altLang="en-US"/>
              <a:t>읽어주기만 하세요</a:t>
            </a:r>
            <a:r>
              <a:rPr lang="en-US" altLang="ko-KR"/>
              <a:t>.
★ </a:t>
            </a:r>
            <a:r>
              <a:rPr lang="ko-KR" altLang="en-US"/>
              <a:t>위 셋</a:t>
            </a:r>
            <a:r>
              <a:rPr lang="en-US" altLang="ko-KR"/>
              <a:t>(Cowork)</a:t>
            </a:r>
            <a:r>
              <a:rPr lang="ko-KR" altLang="en-US"/>
              <a:t>이 오늘 배운 것들입니다</a:t>
            </a:r>
            <a:r>
              <a:rPr lang="en-US" altLang="ko-KR"/>
              <a:t>. </a:t>
            </a:r>
            <a:r>
              <a:rPr lang="ko-KR" altLang="en-US"/>
              <a:t>손으로 짚으며 </a:t>
            </a:r>
            <a:r>
              <a:rPr lang="en-US" altLang="ko-KR"/>
              <a:t>"</a:t>
            </a:r>
            <a:r>
              <a:rPr lang="ko-KR" altLang="en-US"/>
              <a:t>이건 오늘 다 해보셨습니다</a:t>
            </a:r>
            <a:r>
              <a:rPr lang="en-US" altLang="ko-KR"/>
              <a:t>"</a:t>
            </a:r>
            <a:r>
              <a:rPr lang="ko-KR" altLang="en-US"/>
              <a:t>라고 확인시켜 주세요</a:t>
            </a:r>
            <a:r>
              <a:rPr lang="en-US" altLang="ko-KR"/>
              <a:t>. </a:t>
            </a:r>
            <a:r>
              <a:rPr lang="ko-KR" altLang="en-US"/>
              <a:t>성취감이 생깁니다</a:t>
            </a:r>
            <a:r>
              <a:rPr lang="en-US" altLang="ko-KR"/>
              <a:t>.
★ </a:t>
            </a:r>
            <a:r>
              <a:rPr lang="ko-KR" altLang="en-US"/>
              <a:t>아래 셋</a:t>
            </a:r>
            <a:r>
              <a:rPr lang="en-US" altLang="ko-KR"/>
              <a:t>(Code)</a:t>
            </a:r>
            <a:r>
              <a:rPr lang="ko-KR" altLang="en-US"/>
              <a:t>은 </a:t>
            </a:r>
            <a:r>
              <a:rPr lang="en-US" altLang="ko-KR"/>
              <a:t>"</a:t>
            </a:r>
            <a:r>
              <a:rPr lang="ko-KR" altLang="en-US"/>
              <a:t>언젠가 이런 날이 오면</a:t>
            </a:r>
            <a:r>
              <a:rPr lang="en-US" altLang="ko-KR"/>
              <a:t>"</a:t>
            </a:r>
            <a:r>
              <a:rPr lang="ko-KR" altLang="en-US"/>
              <a:t>입니다</a:t>
            </a:r>
            <a:r>
              <a:rPr lang="en-US" altLang="ko-KR"/>
              <a:t>. </a:t>
            </a:r>
            <a:r>
              <a:rPr lang="ko-KR" altLang="en-US"/>
              <a:t>지금 이해 못 해도 됩니다</a:t>
            </a:r>
            <a:r>
              <a:rPr lang="en-US" altLang="ko-KR"/>
              <a:t>.
★★ </a:t>
            </a:r>
            <a:r>
              <a:rPr lang="ko-KR" altLang="en-US"/>
              <a:t>맨 아래 주황 줄이 중요합니다 </a:t>
            </a:r>
            <a:r>
              <a:rPr lang="en-US" altLang="ko-KR"/>
              <a:t>— </a:t>
            </a:r>
            <a:r>
              <a:rPr lang="ko-KR" altLang="en-US"/>
              <a:t>매일 아침 자동 실행</a:t>
            </a:r>
            <a:r>
              <a:rPr lang="en-US" altLang="ko-KR"/>
              <a:t>(</a:t>
            </a:r>
            <a:r>
              <a:rPr lang="ko-KR" altLang="en-US"/>
              <a:t>예약 작업</a:t>
            </a:r>
            <a:r>
              <a:rPr lang="en-US" altLang="ko-KR"/>
              <a:t>)</a:t>
            </a:r>
            <a:r>
              <a:rPr lang="ko-KR" altLang="en-US"/>
              <a:t>은 </a:t>
            </a:r>
            <a:r>
              <a:rPr lang="en-US" altLang="ko-KR"/>
              <a:t>Cowork</a:t>
            </a:r>
            <a:r>
              <a:rPr lang="ko-KR" altLang="en-US"/>
              <a:t>에만 있습니다</a:t>
            </a:r>
            <a:r>
              <a:rPr lang="en-US" altLang="ko-KR"/>
              <a:t>.
Code</a:t>
            </a:r>
            <a:r>
              <a:rPr lang="ko-KR" altLang="en-US"/>
              <a:t>가 상위 호환이 아니라는 증거입니다</a:t>
            </a:r>
            <a:r>
              <a:rPr lang="en-US" altLang="ko-KR"/>
              <a:t>. </a:t>
            </a:r>
            <a:r>
              <a:rPr lang="ko-KR" altLang="en-US"/>
              <a:t>서로 잘하는 게 다릅니다</a:t>
            </a:r>
            <a:r>
              <a:rPr lang="en-US" altLang="ko-KR"/>
              <a:t>. </a:t>
            </a:r>
            <a:r>
              <a:rPr lang="ko-KR" altLang="en-US"/>
              <a:t>이 한 줄이 앞 장의 </a:t>
            </a:r>
            <a:r>
              <a:rPr lang="en-US" altLang="ko-KR"/>
              <a:t>"</a:t>
            </a:r>
            <a:r>
              <a:rPr lang="ko-KR" altLang="en-US"/>
              <a:t>더 센 게 아니다</a:t>
            </a:r>
            <a:r>
              <a:rPr lang="en-US" altLang="ko-KR"/>
              <a:t>"</a:t>
            </a:r>
            <a:r>
              <a:rPr lang="ko-KR" altLang="en-US"/>
              <a:t>를 뒷받침합니다</a:t>
            </a:r>
            <a:r>
              <a:rPr lang="en-US" altLang="ko-KR"/>
              <a:t>.
</a:t>
            </a:r>
            <a:r>
              <a:rPr lang="ko-KR" altLang="en-US"/>
              <a:t>예상 질문 </a:t>
            </a:r>
            <a:r>
              <a:rPr lang="en-US" altLang="ko-KR"/>
              <a:t>— "</a:t>
            </a:r>
            <a:r>
              <a:rPr lang="ko-KR" altLang="en-US"/>
              <a:t>둘을 같이 쓸 수 있나요</a:t>
            </a:r>
            <a:r>
              <a:rPr lang="en-US" altLang="ko-KR"/>
              <a:t>?" → "</a:t>
            </a:r>
            <a:r>
              <a:rPr lang="ko-KR" altLang="en-US"/>
              <a:t>됩니다</a:t>
            </a:r>
            <a:r>
              <a:rPr lang="en-US" altLang="ko-KR"/>
              <a:t>. </a:t>
            </a:r>
            <a:r>
              <a:rPr lang="ko-KR" altLang="en-US"/>
              <a:t>같은 앱 안에서 탭만 바꾸면 됩니다</a:t>
            </a:r>
            <a:r>
              <a:rPr lang="en-US" altLang="ko-KR"/>
              <a:t>. </a:t>
            </a:r>
            <a:r>
              <a:rPr lang="ko-KR" altLang="en-US"/>
              <a:t>다만 </a:t>
            </a:r>
            <a:r>
              <a:rPr lang="en-US" altLang="ko-KR"/>
              <a:t>Code </a:t>
            </a:r>
            <a:r>
              <a:rPr lang="ko-KR" altLang="en-US"/>
              <a:t>세션과 </a:t>
            </a:r>
            <a:r>
              <a:rPr lang="en-US" altLang="ko-KR"/>
              <a:t>Cowork </a:t>
            </a:r>
            <a:r>
              <a:rPr lang="ko-KR" altLang="en-US"/>
              <a:t>대화는 따로 관리됩니다</a:t>
            </a:r>
            <a:r>
              <a:rPr lang="en-US" altLang="ko-KR"/>
              <a:t>."</a:t>
            </a:r>
            <a:endParaRPr lang="ko-KR" altLang="en-US"/>
          </a:p>
        </p:txBody>
      </p:sp>
    </p:spTree>
    <p:extLst>
      <p:ext uri="{BB962C8B-B14F-4D97-AF65-F5344CB8AC3E}">
        <p14:creationId xmlns:p14="http://schemas.microsoft.com/office/powerpoint/2010/main" val="14537093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슬라이드 노트 개체 틀 2"/>
          <p:cNvSpPr>
            <a:spLocks noGrp="1"/>
          </p:cNvSpPr>
          <p:nvPr>
            <p:ph type="body" idx="1"/>
          </p:nvPr>
        </p:nvSpPr>
        <p:spPr>
          <a:xfrm>
            <a:off x="685800" y="5867400"/>
            <a:ext cx="5486400" cy="4800600"/>
          </a:xfrm>
          <a:prstGeom prst="rect">
            <a:avLst/>
          </a:prstGeom>
        </p:spPr>
        <p:txBody>
          <a:bodyPr/>
          <a:lstStyle/>
          <a:p>
            <a:r>
              <a:rPr lang="ko-KR" altLang="en-US"/>
              <a:t>★ 부록 </a:t>
            </a:r>
            <a:r>
              <a:rPr lang="en-US" altLang="ko-KR"/>
              <a:t>B</a:t>
            </a:r>
            <a:r>
              <a:rPr lang="ko-KR" altLang="en-US"/>
              <a:t>의 결론입니다</a:t>
            </a:r>
            <a:r>
              <a:rPr lang="en-US" altLang="ko-KR"/>
              <a:t>. </a:t>
            </a:r>
            <a:r>
              <a:rPr lang="ko-KR" altLang="en-US"/>
              <a:t>이 두 줄만 남기면 됩니다</a:t>
            </a:r>
            <a:r>
              <a:rPr lang="en-US" altLang="ko-KR"/>
              <a:t>.
"</a:t>
            </a:r>
            <a:r>
              <a:rPr lang="ko-KR" altLang="en-US"/>
              <a:t>결과물을 받고 끝이면 </a:t>
            </a:r>
            <a:r>
              <a:rPr lang="en-US" altLang="ko-KR"/>
              <a:t>Cowork."
"</a:t>
            </a:r>
            <a:r>
              <a:rPr lang="ko-KR" altLang="en-US"/>
              <a:t>그 코드를 앞으로도 계속 만질 거면 </a:t>
            </a:r>
            <a:r>
              <a:rPr lang="en-US" altLang="ko-KR"/>
              <a:t>Code."
★★ </a:t>
            </a:r>
            <a:r>
              <a:rPr lang="ko-KR" altLang="en-US"/>
              <a:t>오늘 만든 아티팩트를 예로 드세요 </a:t>
            </a:r>
            <a:r>
              <a:rPr lang="en-US" altLang="ko-KR"/>
              <a:t>— "</a:t>
            </a:r>
            <a:r>
              <a:rPr lang="ko-KR" altLang="en-US"/>
              <a:t>오늘 만든 화면은 </a:t>
            </a:r>
            <a:r>
              <a:rPr lang="en-US" altLang="ko-KR"/>
              <a:t>Cowork</a:t>
            </a:r>
            <a:r>
              <a:rPr lang="ko-KR" altLang="en-US"/>
              <a:t>가 맞습니다</a:t>
            </a:r>
            <a:r>
              <a:rPr lang="en-US" altLang="ko-KR"/>
              <a:t>. </a:t>
            </a:r>
            <a:r>
              <a:rPr lang="ko-KR" altLang="en-US"/>
              <a:t>한 번 만들어 쓰는 거니까요</a:t>
            </a:r>
            <a:r>
              <a:rPr lang="en-US" altLang="ko-KR"/>
              <a:t>. </a:t>
            </a:r>
            <a:r>
              <a:rPr lang="ko-KR" altLang="en-US"/>
              <a:t>이걸 반년 동안 기능을 붙여가며 키울 생각이면 그때 </a:t>
            </a:r>
            <a:r>
              <a:rPr lang="en-US" altLang="ko-KR"/>
              <a:t>Code</a:t>
            </a:r>
            <a:r>
              <a:rPr lang="ko-KR" altLang="en-US"/>
              <a:t>로 옮기시면 됩니다</a:t>
            </a:r>
            <a:r>
              <a:rPr lang="en-US" altLang="ko-KR"/>
              <a:t>."
★ "</a:t>
            </a:r>
            <a:r>
              <a:rPr lang="ko-KR" altLang="en-US"/>
              <a:t>지금 </a:t>
            </a:r>
            <a:r>
              <a:rPr lang="en-US" altLang="ko-KR"/>
              <a:t>Code</a:t>
            </a:r>
            <a:r>
              <a:rPr lang="ko-KR" altLang="en-US"/>
              <a:t>를 배우실 필요는 없습니다</a:t>
            </a:r>
            <a:r>
              <a:rPr lang="en-US" altLang="ko-KR"/>
              <a:t>"</a:t>
            </a:r>
            <a:r>
              <a:rPr lang="ko-KR" altLang="en-US"/>
              <a:t>를 분명히 말해주세요</a:t>
            </a:r>
            <a:r>
              <a:rPr lang="en-US" altLang="ko-KR"/>
              <a:t>. </a:t>
            </a:r>
            <a:r>
              <a:rPr lang="ko-KR" altLang="en-US"/>
              <a:t>비개발자에게 </a:t>
            </a:r>
            <a:r>
              <a:rPr lang="en-US" altLang="ko-KR"/>
              <a:t>Code</a:t>
            </a:r>
            <a:r>
              <a:rPr lang="ko-KR" altLang="en-US"/>
              <a:t>를 권하면 부담만 됩니다</a:t>
            </a:r>
            <a:r>
              <a:rPr lang="en-US" altLang="ko-KR"/>
              <a:t>. </a:t>
            </a:r>
            <a:r>
              <a:rPr lang="ko-KR" altLang="en-US"/>
              <a:t>필요해지는 순간이 오면 스스로 알게 됩니다</a:t>
            </a:r>
            <a:r>
              <a:rPr lang="en-US" altLang="ko-KR"/>
              <a:t>.
★ Code </a:t>
            </a:r>
            <a:r>
              <a:rPr lang="ko-KR" altLang="en-US"/>
              <a:t>탭은 </a:t>
            </a:r>
            <a:r>
              <a:rPr lang="en-US" altLang="ko-KR"/>
              <a:t>Pro·Max·Team·Enterprise</a:t>
            </a:r>
            <a:r>
              <a:rPr lang="ko-KR" altLang="en-US"/>
              <a:t>에 순차 제공 중입니다</a:t>
            </a:r>
            <a:r>
              <a:rPr lang="en-US" altLang="ko-KR"/>
              <a:t>. Pro</a:t>
            </a:r>
            <a:r>
              <a:rPr lang="ko-KR" altLang="en-US"/>
              <a:t>면 언젠가 보이게 됩니다</a:t>
            </a:r>
            <a:r>
              <a:rPr lang="en-US" altLang="ko-KR"/>
              <a:t>. </a:t>
            </a:r>
            <a:r>
              <a:rPr lang="ko-KR" altLang="en-US"/>
              <a:t>안 보인다고 문제가 아니라고 알려주세요</a:t>
            </a:r>
            <a:r>
              <a:rPr lang="en-US" altLang="ko-KR"/>
              <a:t>.
</a:t>
            </a:r>
            <a:r>
              <a:rPr lang="ko-KR" altLang="en-US"/>
              <a:t>출처와 조회일은 슬라이드 하단에 있습니다</a:t>
            </a:r>
            <a:r>
              <a:rPr lang="en-US" altLang="ko-KR"/>
              <a:t>. </a:t>
            </a:r>
            <a:r>
              <a:rPr lang="ko-KR" altLang="en-US"/>
              <a:t>제품 구성은 자주 바뀌니 발표 전에 한 번 더 확인하시면 좋습니다</a:t>
            </a:r>
            <a:r>
              <a:rPr lang="en-US" altLang="ko-KR"/>
              <a:t>.</a:t>
            </a:r>
            <a:endParaRPr lang="ko-KR" altLang="en-US"/>
          </a:p>
        </p:txBody>
      </p:sp>
    </p:spTree>
    <p:extLst>
      <p:ext uri="{BB962C8B-B14F-4D97-AF65-F5344CB8AC3E}">
        <p14:creationId xmlns:p14="http://schemas.microsoft.com/office/powerpoint/2010/main" val="3464619344"/>
      </p:ext>
    </p:extLst>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슬라이드 노트 개체 틀 2"/>
          <p:cNvSpPr>
            <a:spLocks noGrp="1"/>
          </p:cNvSpPr>
          <p:nvPr>
            <p:ph type="body" idx="1"/>
          </p:nvPr>
        </p:nvSpPr>
        <p:spPr>
          <a:xfrm>
            <a:off x="685800" y="5867400"/>
            <a:ext cx="5486400" cy="4800600"/>
          </a:xfrm>
          <a:prstGeom prst="rect">
            <a:avLst/>
          </a:prstGeom>
        </p:spPr>
        <p:txBody>
          <a:bodyPr/>
          <a:lstStyle/>
          <a:p>
            <a:r>
              <a:t>여기서부터 경매입니다. 앞의 주식 실습과 달리 서류를 다루기 때문에 준비물이 조금 더 많습니다. 대신 한 번 세팅해 두면 물건마다 반복해서 씁니다. 오늘은 세팅까지만 하고, 실제 물건 분석은 각자 해보시면 됩니다.</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슬라이드 노트 개체 틀 2"/>
          <p:cNvSpPr>
            <a:spLocks noGrp="1"/>
          </p:cNvSpPr>
          <p:nvPr>
            <p:ph type="body" idx="1"/>
          </p:nvPr>
        </p:nvSpPr>
        <p:spPr>
          <a:xfrm>
            <a:off x="685800" y="5867400"/>
            <a:ext cx="5486400" cy="4800600"/>
          </a:xfrm>
          <a:prstGeom prst="rect">
            <a:avLst/>
          </a:prstGeom>
        </p:spPr>
        <p:txBody>
          <a:bodyPr/>
          <a:lstStyle/>
          <a:p>
            <a:r>
              <a:t>입력은 서류, 출력은 PPTX 물건카드입니다. 중간에 사람이 할 일은 "이 물건 분석해줘" 한 마디뿐입니다. 다만 서류가 부실하면 결과도 부실합니다. 특히 매각물건명세서가 없으면 임차인 판정을 아예 못 합니다.</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슬라이드 노트 개체 틀 2"/>
          <p:cNvSpPr>
            <a:spLocks noGrp="1"/>
          </p:cNvSpPr>
          <p:nvPr>
            <p:ph type="body" idx="1"/>
          </p:nvPr>
        </p:nvSpPr>
        <p:spPr>
          <a:xfrm>
            <a:off x="685800" y="5867400"/>
            <a:ext cx="5486400" cy="4800600"/>
          </a:xfrm>
          <a:prstGeom prst="rect">
            <a:avLst/>
          </a:prstGeom>
        </p:spPr>
        <p:txBody>
          <a:bodyPr/>
          <a:lstStyle/>
          <a:p>
            <a:r>
              <a:t>서류마다 답해주는 질문이 다릅니다. 매각물건명세서는 법원이 인수 사항을 확인해 준 문서라 가장 중요합니다. 토지 등기부는 건물만 떼고 토지를 빠뜨리는 실수가 잦으니 꼭 챙기라고 강조하세요.</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슬라이드 노트 개체 틀 2"/>
          <p:cNvSpPr>
            <a:spLocks noGrp="1"/>
          </p:cNvSpPr>
          <p:nvPr>
            <p:ph type="body" idx="1"/>
          </p:nvPr>
        </p:nvSpPr>
        <p:spPr>
          <a:xfrm>
            <a:off x="685800" y="5867400"/>
            <a:ext cx="5486400" cy="4800600"/>
          </a:xfrm>
          <a:prstGeom prst="rect">
            <a:avLst/>
          </a:prstGeom>
        </p:spPr>
        <p:txBody>
          <a:bodyPr/>
          <a:lstStyle/>
          <a:p>
            <a:r>
              <a:t>세 단계 모두 5분이면 됩니다. 폴더 이름을 소재지로 짓는 이유는 재경매로 사건번호가 바뀌어도 물건은 그대로이기 때문입니다. 스킬은 여섯 개를 다 넣을 필요 없고 auction-property-card 하나로 시작하면 됩니다.</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슬라이드 노트 개체 틀 2"/>
          <p:cNvSpPr>
            <a:spLocks noGrp="1"/>
          </p:cNvSpPr>
          <p:nvPr>
            <p:ph type="body" idx="1"/>
          </p:nvPr>
        </p:nvSpPr>
        <p:spPr>
          <a:xfrm>
            <a:off x="685800" y="5867400"/>
            <a:ext cx="5486400" cy="4800600"/>
          </a:xfrm>
          <a:prstGeom prst="rect">
            <a:avLst/>
          </a:prstGeom>
        </p:spPr>
        <p:txBody>
          <a:bodyPr/>
          <a:lstStyle/>
          <a:p>
            <a:r>
              <a:t>네 개 중 korean-law 만 폴더가 필요 없습니다. 나머지 셋은 소스를 받아 C 드라이브 바로 아래 mcp 폴더에 넣습니다. 경로를 통일해야 config를 그대로 복사해 쓸 수 있습니다. 다른 곳에 두면 경로를 일일이 고쳐야 합니다.</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슬라이드 노트 개체 틀 2"/>
          <p:cNvSpPr>
            <a:spLocks noGrp="1"/>
          </p:cNvSpPr>
          <p:nvPr>
            <p:ph type="body" idx="1"/>
          </p:nvPr>
        </p:nvSpPr>
        <p:spPr>
          <a:xfrm>
            <a:off x="685800" y="5867400"/>
            <a:ext cx="5486400" cy="4800600"/>
          </a:xfrm>
          <a:prstGeom prst="rect">
            <a:avLst/>
          </a:prstGeom>
        </p:spPr>
        <p:txBody>
          <a:bodyPr/>
          <a:lstStyle/>
          <a:p>
            <a:r>
              <a:t>우선순위를 분명히 해주세요. korean-law는 폴더가 없어 제일 쉽고, real-estate는 효과가 제일 큽니다. Firecrawl까지 포함해 인증키는 네 가지입니다. 공공데이터포털 키를 세 개 받아야 하는 줄 아는 분이 많은데 같은 값 하나입니다. 다만 서비스별 활용신청은 따로 해야 합니다.</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슬라이드 노트 개체 틀 2"/>
          <p:cNvSpPr>
            <a:spLocks noGrp="1"/>
          </p:cNvSpPr>
          <p:nvPr>
            <p:ph type="body" idx="1"/>
          </p:nvPr>
        </p:nvSpPr>
        <p:spPr>
          <a:xfrm>
            <a:off x="685800" y="5867400"/>
            <a:ext cx="5486400" cy="4800600"/>
          </a:xfrm>
          <a:prstGeom prst="rect">
            <a:avLst/>
          </a:prstGeom>
        </p:spPr>
        <p:txBody>
          <a:bodyPr/>
          <a:lstStyle/>
          <a:p>
            <a:r>
              <a:t>수강생이 가장 오해하기 쉬운 두 가지입니다. 공시가격은 가정값이라 세금이 실제와 다를 수 있고, 종부세는 올해가 아니라 내년부터라는 점을 짚어주세요. 세제개편안은 국회 통과 전이라는 것도 반드시 말해야 합니다.</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슬라이드 노트 개체 틀 2"/>
          <p:cNvSpPr>
            <a:spLocks noGrp="1"/>
          </p:cNvSpPr>
          <p:nvPr>
            <p:ph type="body" idx="1"/>
          </p:nvPr>
        </p:nvSpPr>
        <p:spPr>
          <a:xfrm>
            <a:off x="685800" y="5867400"/>
            <a:ext cx="5486400" cy="4800600"/>
          </a:xfrm>
          <a:prstGeom prst="rect">
            <a:avLst/>
          </a:prstGeom>
        </p:spPr>
        <p:txBody>
          <a:bodyPr/>
          <a:lstStyle/>
          <a:p>
            <a:r>
              <a:t>이 장이 가장 중요합니다. AI가 답을 준다고 믿고 입찰하면 큰돈을 잃습니다. 물건카드는 무엇을 더 확인해야 하는지 알려주는 도구이고, 확인은 사람이 해야 합니다. 이 말로 섹션을 닫으세요.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2655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7.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7.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7.sv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sv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11D"/>
        </a:solidFill>
        <a:effectLst/>
      </p:bgPr>
    </p:bg>
    <p:spTree>
      <p:nvGrpSpPr>
        <p:cNvPr id="1" name=""/>
        <p:cNvGrpSpPr/>
        <p:nvPr/>
      </p:nvGrpSpPr>
      <p:grpSpPr>
        <a:xfrm>
          <a:off x="0" y="0"/>
          <a:ext cx="0" cy="0"/>
          <a:chOff x="0" y="0"/>
          <a:chExt cx="0" cy="0"/>
        </a:xfrm>
      </p:grpSpPr>
      <p:sp>
        <p:nvSpPr>
          <p:cNvPr id="2" name="Shape 0"/>
          <p:cNvSpPr/>
          <p:nvPr/>
        </p:nvSpPr>
        <p:spPr>
          <a:xfrm>
            <a:off x="9784080" y="-1188720"/>
            <a:ext cx="4023360" cy="4023360"/>
          </a:xfrm>
          <a:prstGeom prst="ellipse">
            <a:avLst/>
          </a:prstGeom>
          <a:solidFill>
            <a:srgbClr val="302C26"/>
          </a:solidFill>
          <a:ln/>
        </p:spPr>
        <p:txBody>
          <a:bodyPr/>
          <a:lstStyle/>
          <a:p>
            <a:endParaRPr/>
          </a:p>
        </p:txBody>
      </p:sp>
      <p:sp>
        <p:nvSpPr>
          <p:cNvPr id="3" name="Shape 1"/>
          <p:cNvSpPr/>
          <p:nvPr/>
        </p:nvSpPr>
        <p:spPr>
          <a:xfrm>
            <a:off x="10881360" y="4572000"/>
            <a:ext cx="2377440" cy="2377440"/>
          </a:xfrm>
          <a:prstGeom prst="ellipse">
            <a:avLst/>
          </a:prstGeom>
          <a:solidFill>
            <a:srgbClr val="D97757"/>
          </a:solidFill>
          <a:ln/>
        </p:spPr>
        <p:txBody>
          <a:bodyPr/>
          <a:lstStyle/>
          <a:p>
            <a:endParaRPr/>
          </a:p>
        </p:txBody>
      </p:sp>
      <p:sp>
        <p:nvSpPr>
          <p:cNvPr id="4" name="Text 2"/>
          <p:cNvSpPr/>
          <p:nvPr/>
        </p:nvSpPr>
        <p:spPr>
          <a:xfrm>
            <a:off x="822960" y="1600200"/>
            <a:ext cx="2743200" cy="457200"/>
          </a:xfrm>
          <a:prstGeom prst="rect">
            <a:avLst/>
          </a:prstGeom>
          <a:noFill/>
          <a:ln/>
        </p:spPr>
        <p:txBody>
          <a:bodyPr wrap="square" lIns="0" tIns="0" rIns="0" bIns="0" rtlCol="0" anchor="ctr"/>
          <a:lstStyle/>
          <a:p>
            <a:pPr marL="0" indent="0">
              <a:buNone/>
            </a:pPr>
            <a:r>
              <a:rPr lang="en-US" sz="2000" b="1" kern="0" spc="200" dirty="0">
                <a:solidFill>
                  <a:srgbClr val="D97757"/>
                </a:solidFill>
                <a:latin typeface="맑은 고딕" pitchFamily="34" charset="0"/>
                <a:ea typeface="맑은 고딕" pitchFamily="34" charset="-122"/>
                <a:cs typeface="맑은 고딕" pitchFamily="34" charset="-120"/>
              </a:rPr>
              <a:t>입문</a:t>
            </a:r>
            <a:endParaRPr lang="en-US" sz="1800" dirty="0"/>
          </a:p>
        </p:txBody>
      </p:sp>
      <p:sp>
        <p:nvSpPr>
          <p:cNvPr id="5" name="Text 3"/>
          <p:cNvSpPr/>
          <p:nvPr/>
        </p:nvSpPr>
        <p:spPr>
          <a:xfrm>
            <a:off x="822960" y="2148840"/>
            <a:ext cx="8595360" cy="1920240"/>
          </a:xfrm>
          <a:prstGeom prst="rect">
            <a:avLst/>
          </a:prstGeom>
          <a:noFill/>
          <a:ln/>
        </p:spPr>
        <p:txBody>
          <a:bodyPr wrap="square" lIns="0" tIns="0" rIns="0" bIns="0" rtlCol="0" anchor="ctr"/>
          <a:lstStyle/>
          <a:p>
            <a:pPr marL="0" indent="0">
              <a:lnSpc>
                <a:spcPts val="6200"/>
              </a:lnSpc>
              <a:buNone/>
            </a:pPr>
            <a:r>
              <a:rPr lang="en-US" sz="5200" b="1" dirty="0">
                <a:solidFill>
                  <a:srgbClr val="FFFFFF"/>
                </a:solidFill>
                <a:latin typeface="맑은 고딕" pitchFamily="34" charset="0"/>
                <a:ea typeface="맑은 고딕" pitchFamily="34" charset="-122"/>
                <a:cs typeface="맑은 고딕" pitchFamily="34" charset="-120"/>
              </a:rPr>
              <a:t>Claude 데스크탑</a:t>
            </a:r>
            <a:endParaRPr lang="en-US" sz="5200" dirty="0"/>
          </a:p>
          <a:p>
            <a:pPr marL="0" indent="0">
              <a:lnSpc>
                <a:spcPts val="6200"/>
              </a:lnSpc>
              <a:buNone/>
            </a:pPr>
            <a:r>
              <a:rPr lang="en-US" sz="5200" b="1" dirty="0">
                <a:solidFill>
                  <a:srgbClr val="FFFFFF"/>
                </a:solidFill>
                <a:latin typeface="맑은 고딕" pitchFamily="34" charset="0"/>
                <a:ea typeface="맑은 고딕" pitchFamily="34" charset="-122"/>
                <a:cs typeface="맑은 고딕" pitchFamily="34" charset="-120"/>
              </a:rPr>
              <a:t>시작하기</a:t>
            </a:r>
            <a:endParaRPr lang="en-US" sz="5200" dirty="0"/>
          </a:p>
        </p:txBody>
      </p:sp>
      <p:sp>
        <p:nvSpPr>
          <p:cNvPr id="6" name="Text 4"/>
          <p:cNvSpPr/>
          <p:nvPr/>
        </p:nvSpPr>
        <p:spPr>
          <a:xfrm>
            <a:off x="822960" y="4206240"/>
            <a:ext cx="7315200" cy="457200"/>
          </a:xfrm>
          <a:prstGeom prst="rect">
            <a:avLst/>
          </a:prstGeom>
          <a:noFill/>
          <a:ln/>
        </p:spPr>
        <p:txBody>
          <a:bodyPr wrap="square" lIns="0" tIns="0" rIns="0" bIns="0" rtlCol="0" anchor="ctr"/>
          <a:lstStyle/>
          <a:p>
            <a:pPr marL="0" indent="0">
              <a:buNone/>
            </a:pPr>
            <a:r>
              <a:rPr lang="en-US" sz="2250" dirty="0">
                <a:solidFill>
                  <a:srgbClr val="E2DBD1"/>
                </a:solidFill>
                <a:latin typeface="맑은 고딕" pitchFamily="34" charset="0"/>
                <a:ea typeface="맑은 고딕" pitchFamily="34" charset="-122"/>
                <a:cs typeface="맑은 고딕" pitchFamily="34" charset="-120"/>
              </a:rPr>
              <a:t>설치부터 첫 대화까지</a:t>
            </a:r>
            <a:endParaRPr lang="en-US" sz="2000" dirty="0"/>
          </a:p>
        </p:txBody>
      </p:sp>
      <p:sp>
        <p:nvSpPr>
          <p:cNvPr id="7" name="Text 5"/>
          <p:cNvSpPr/>
          <p:nvPr/>
        </p:nvSpPr>
        <p:spPr>
          <a:xfrm>
            <a:off x="822960" y="5715000"/>
            <a:ext cx="7315200" cy="365760"/>
          </a:xfrm>
          <a:prstGeom prst="rect">
            <a:avLst/>
          </a:prstGeom>
          <a:noFill/>
          <a:ln/>
        </p:spPr>
        <p:txBody>
          <a:bodyPr wrap="square" lIns="0" tIns="0" rIns="0" bIns="0" rtlCol="0" anchor="ctr"/>
          <a:lstStyle/>
          <a:p>
            <a:pPr marL="0" indent="0">
              <a:buNone/>
            </a:pPr>
            <a:r>
              <a:rPr lang="en-US" sz="1650" dirty="0">
                <a:solidFill>
                  <a:srgbClr val="514B43"/>
                </a:solidFill>
                <a:latin typeface="맑은 고딕" pitchFamily="34" charset="0"/>
                <a:ea typeface="맑은 고딕" pitchFamily="34" charset="-122"/>
                <a:cs typeface="맑은 고딕" pitchFamily="34" charset="-120"/>
              </a:rPr>
              <a:t>2026년   ·   발표자 ____________</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오늘 끝나면 이렇게 됩니다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세 가지만 하면 오늘은 성공입니다</a:t>
            </a:r>
            <a:endParaRPr lang="en-US" sz="1500" dirty="0"/>
          </a:p>
        </p:txBody>
      </p:sp>
      <p:sp>
        <p:nvSpPr>
          <p:cNvPr id="4" name="Shape 2"/>
          <p:cNvSpPr/>
          <p:nvPr/>
        </p:nvSpPr>
        <p:spPr>
          <a:xfrm>
            <a:off x="566928" y="1874520"/>
            <a:ext cx="3493008" cy="3200400"/>
          </a:xfrm>
          <a:prstGeom prst="roundRect">
            <a:avLst>
              <a:gd name="adj" fmla="val 1429"/>
            </a:avLst>
          </a:prstGeom>
          <a:solidFill>
            <a:srgbClr val="F5F1EB"/>
          </a:solidFill>
          <a:ln w="9525">
            <a:solidFill>
              <a:srgbClr val="DCD4C9"/>
            </a:solidFill>
            <a:prstDash val="solid"/>
          </a:ln>
        </p:spPr>
        <p:txBody>
          <a:bodyPr/>
          <a:lstStyle/>
          <a:p>
            <a:endParaRPr/>
          </a:p>
        </p:txBody>
      </p:sp>
      <p:sp>
        <p:nvSpPr>
          <p:cNvPr id="5" name="Shape 3"/>
          <p:cNvSpPr/>
          <p:nvPr/>
        </p:nvSpPr>
        <p:spPr>
          <a:xfrm>
            <a:off x="914400" y="2212848"/>
            <a:ext cx="566928" cy="566928"/>
          </a:xfrm>
          <a:prstGeom prst="ellipse">
            <a:avLst/>
          </a:prstGeom>
          <a:solidFill>
            <a:srgbClr val="D97757"/>
          </a:solidFill>
          <a:ln/>
        </p:spPr>
        <p:txBody>
          <a:bodyPr/>
          <a:lstStyle/>
          <a:p>
            <a:endParaRPr/>
          </a:p>
        </p:txBody>
      </p:sp>
      <p:sp>
        <p:nvSpPr>
          <p:cNvPr id="6" name="Text 4"/>
          <p:cNvSpPr/>
          <p:nvPr/>
        </p:nvSpPr>
        <p:spPr>
          <a:xfrm>
            <a:off x="914400" y="2212848"/>
            <a:ext cx="566928" cy="566928"/>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1</a:t>
            </a:r>
            <a:endParaRPr lang="en-US" sz="2000" dirty="0"/>
          </a:p>
        </p:txBody>
      </p:sp>
      <p:sp>
        <p:nvSpPr>
          <p:cNvPr id="7" name="Text 5"/>
          <p:cNvSpPr/>
          <p:nvPr/>
        </p:nvSpPr>
        <p:spPr>
          <a:xfrm>
            <a:off x="914400" y="2962656"/>
            <a:ext cx="2834640" cy="914400"/>
          </a:xfrm>
          <a:prstGeom prst="rect">
            <a:avLst/>
          </a:prstGeom>
          <a:noFill/>
          <a:ln/>
        </p:spPr>
        <p:txBody>
          <a:bodyPr wrap="square" lIns="0" tIns="0" rIns="0" bIns="0" rtlCol="0" anchor="t"/>
          <a:lstStyle/>
          <a:p>
            <a:pPr marL="0" indent="0">
              <a:lnSpc>
                <a:spcPts val="2500"/>
              </a:lnSpc>
              <a:buNone/>
            </a:pPr>
            <a:r>
              <a:rPr lang="en-US" sz="2000" b="1" dirty="0">
                <a:solidFill>
                  <a:srgbClr val="24211D"/>
                </a:solidFill>
                <a:latin typeface="맑은 고딕" pitchFamily="34" charset="0"/>
                <a:ea typeface="맑은 고딕" pitchFamily="34" charset="-122"/>
                <a:cs typeface="맑은 고딕" pitchFamily="34" charset="-120"/>
              </a:rPr>
              <a:t>내 컴퓨터에 Claude가</a:t>
            </a:r>
            <a:endParaRPr lang="en-US" sz="1800" dirty="0"/>
          </a:p>
          <a:p>
            <a:pPr marL="0" indent="0">
              <a:lnSpc>
                <a:spcPts val="2500"/>
              </a:lnSpc>
              <a:buNone/>
            </a:pPr>
            <a:r>
              <a:rPr lang="en-US" sz="2000" b="1" dirty="0">
                <a:solidFill>
                  <a:srgbClr val="24211D"/>
                </a:solidFill>
                <a:latin typeface="맑은 고딕" pitchFamily="34" charset="0"/>
                <a:ea typeface="맑은 고딕" pitchFamily="34" charset="-122"/>
                <a:cs typeface="맑은 고딕" pitchFamily="34" charset="-120"/>
              </a:rPr>
              <a:t>설치되어 있다</a:t>
            </a:r>
            <a:endParaRPr lang="en-US" sz="1800" dirty="0"/>
          </a:p>
        </p:txBody>
      </p:sp>
      <p:sp>
        <p:nvSpPr>
          <p:cNvPr id="8" name="Text 6"/>
          <p:cNvSpPr/>
          <p:nvPr/>
        </p:nvSpPr>
        <p:spPr>
          <a:xfrm>
            <a:off x="914400" y="3950208"/>
            <a:ext cx="2834640" cy="822960"/>
          </a:xfrm>
          <a:prstGeom prst="rect">
            <a:avLst/>
          </a:prstGeom>
          <a:noFill/>
          <a:ln/>
        </p:spPr>
        <p:txBody>
          <a:bodyPr wrap="square" lIns="0" tIns="0" rIns="0" bIns="0" rtlCol="0" anchor="t"/>
          <a:lstStyle/>
          <a:p>
            <a:pPr marL="0" indent="0">
              <a:lnSpc>
                <a:spcPts val="2000"/>
              </a:lnSpc>
              <a:buNone/>
            </a:pPr>
            <a:r>
              <a:rPr lang="en-US" sz="1650" dirty="0">
                <a:solidFill>
                  <a:srgbClr val="514B43"/>
                </a:solidFill>
                <a:latin typeface="맑은 고딕" pitchFamily="34" charset="0"/>
                <a:ea typeface="맑은 고딕" pitchFamily="34" charset="-122"/>
                <a:cs typeface="맑은 고딕" pitchFamily="34" charset="-120"/>
              </a:rPr>
              <a:t>설치 함정 두 곳을</a:t>
            </a:r>
            <a:endParaRPr lang="en-US" sz="1300" dirty="0"/>
          </a:p>
          <a:p>
            <a:pPr marL="0" indent="0">
              <a:lnSpc>
                <a:spcPts val="2000"/>
              </a:lnSpc>
              <a:buNone/>
            </a:pPr>
            <a:r>
              <a:rPr lang="en-US" sz="1650" dirty="0">
                <a:solidFill>
                  <a:srgbClr val="514B43"/>
                </a:solidFill>
                <a:latin typeface="맑은 고딕" pitchFamily="34" charset="0"/>
                <a:ea typeface="맑은 고딕" pitchFamily="34" charset="-122"/>
                <a:cs typeface="맑은 고딕" pitchFamily="34" charset="-120"/>
              </a:rPr>
              <a:t>무사히 넘긴 상태</a:t>
            </a:r>
            <a:endParaRPr lang="en-US" sz="1300" dirty="0"/>
          </a:p>
        </p:txBody>
      </p:sp>
      <p:sp>
        <p:nvSpPr>
          <p:cNvPr id="9" name="Shape 7"/>
          <p:cNvSpPr/>
          <p:nvPr/>
        </p:nvSpPr>
        <p:spPr>
          <a:xfrm>
            <a:off x="4334256" y="1874520"/>
            <a:ext cx="3493008" cy="3200400"/>
          </a:xfrm>
          <a:prstGeom prst="roundRect">
            <a:avLst>
              <a:gd name="adj" fmla="val 1429"/>
            </a:avLst>
          </a:prstGeom>
          <a:solidFill>
            <a:srgbClr val="F5F1EB"/>
          </a:solidFill>
          <a:ln w="9525">
            <a:solidFill>
              <a:srgbClr val="DCD4C9"/>
            </a:solidFill>
            <a:prstDash val="solid"/>
          </a:ln>
        </p:spPr>
        <p:txBody>
          <a:bodyPr/>
          <a:lstStyle/>
          <a:p>
            <a:endParaRPr/>
          </a:p>
        </p:txBody>
      </p:sp>
      <p:sp>
        <p:nvSpPr>
          <p:cNvPr id="10" name="Shape 8"/>
          <p:cNvSpPr/>
          <p:nvPr/>
        </p:nvSpPr>
        <p:spPr>
          <a:xfrm>
            <a:off x="4681728" y="2212848"/>
            <a:ext cx="566928" cy="566928"/>
          </a:xfrm>
          <a:prstGeom prst="ellipse">
            <a:avLst/>
          </a:prstGeom>
          <a:solidFill>
            <a:srgbClr val="D97757"/>
          </a:solidFill>
          <a:ln/>
        </p:spPr>
        <p:txBody>
          <a:bodyPr/>
          <a:lstStyle/>
          <a:p>
            <a:endParaRPr/>
          </a:p>
        </p:txBody>
      </p:sp>
      <p:sp>
        <p:nvSpPr>
          <p:cNvPr id="11" name="Text 9"/>
          <p:cNvSpPr/>
          <p:nvPr/>
        </p:nvSpPr>
        <p:spPr>
          <a:xfrm>
            <a:off x="4681728" y="2212848"/>
            <a:ext cx="566928" cy="566928"/>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2</a:t>
            </a:r>
            <a:endParaRPr lang="en-US" sz="2000" dirty="0"/>
          </a:p>
        </p:txBody>
      </p:sp>
      <p:sp>
        <p:nvSpPr>
          <p:cNvPr id="12" name="Text 10"/>
          <p:cNvSpPr/>
          <p:nvPr/>
        </p:nvSpPr>
        <p:spPr>
          <a:xfrm>
            <a:off x="4681728" y="2962656"/>
            <a:ext cx="2834640" cy="914400"/>
          </a:xfrm>
          <a:prstGeom prst="rect">
            <a:avLst/>
          </a:prstGeom>
          <a:noFill/>
          <a:ln/>
        </p:spPr>
        <p:txBody>
          <a:bodyPr wrap="square" lIns="0" tIns="0" rIns="0" bIns="0" rtlCol="0" anchor="t"/>
          <a:lstStyle/>
          <a:p>
            <a:pPr marL="0" indent="0">
              <a:lnSpc>
                <a:spcPts val="2500"/>
              </a:lnSpc>
              <a:buNone/>
            </a:pPr>
            <a:r>
              <a:rPr lang="en-US" sz="2000" b="1" dirty="0">
                <a:solidFill>
                  <a:srgbClr val="24211D"/>
                </a:solidFill>
                <a:latin typeface="맑은 고딕" pitchFamily="34" charset="0"/>
                <a:ea typeface="맑은 고딕" pitchFamily="34" charset="-122"/>
                <a:cs typeface="맑은 고딕" pitchFamily="34" charset="-120"/>
              </a:rPr>
              <a:t>Claude와 첫 대화를</a:t>
            </a:r>
            <a:endParaRPr lang="en-US" sz="1800" dirty="0"/>
          </a:p>
          <a:p>
            <a:pPr marL="0" indent="0">
              <a:lnSpc>
                <a:spcPts val="2500"/>
              </a:lnSpc>
              <a:buNone/>
            </a:pPr>
            <a:r>
              <a:rPr lang="en-US" sz="2000" b="1" dirty="0">
                <a:solidFill>
                  <a:srgbClr val="24211D"/>
                </a:solidFill>
                <a:latin typeface="맑은 고딕" pitchFamily="34" charset="0"/>
                <a:ea typeface="맑은 고딕" pitchFamily="34" charset="-122"/>
                <a:cs typeface="맑은 고딕" pitchFamily="34" charset="-120"/>
              </a:rPr>
              <a:t>나눠봤다</a:t>
            </a:r>
            <a:endParaRPr lang="en-US" sz="1800" dirty="0"/>
          </a:p>
        </p:txBody>
      </p:sp>
      <p:sp>
        <p:nvSpPr>
          <p:cNvPr id="13" name="Text 11"/>
          <p:cNvSpPr/>
          <p:nvPr/>
        </p:nvSpPr>
        <p:spPr>
          <a:xfrm>
            <a:off x="4681728" y="3950208"/>
            <a:ext cx="2834640" cy="822960"/>
          </a:xfrm>
          <a:prstGeom prst="rect">
            <a:avLst/>
          </a:prstGeom>
          <a:noFill/>
          <a:ln/>
        </p:spPr>
        <p:txBody>
          <a:bodyPr wrap="square" lIns="0" tIns="0" rIns="0" bIns="0" rtlCol="0" anchor="t"/>
          <a:lstStyle/>
          <a:p>
            <a:pPr marL="0" indent="0">
              <a:lnSpc>
                <a:spcPts val="2000"/>
              </a:lnSpc>
              <a:buNone/>
            </a:pPr>
            <a:r>
              <a:rPr lang="en-US" sz="1650" dirty="0">
                <a:solidFill>
                  <a:srgbClr val="514B43"/>
                </a:solidFill>
                <a:latin typeface="맑은 고딕" pitchFamily="34" charset="0"/>
                <a:ea typeface="맑은 고딕" pitchFamily="34" charset="-122"/>
                <a:cs typeface="맑은 고딕" pitchFamily="34" charset="-120"/>
              </a:rPr>
              <a:t>말을 걸고 답을 받는</a:t>
            </a:r>
            <a:endParaRPr lang="en-US" sz="1300" dirty="0"/>
          </a:p>
          <a:p>
            <a:pPr marL="0" indent="0">
              <a:lnSpc>
                <a:spcPts val="2000"/>
              </a:lnSpc>
              <a:buNone/>
            </a:pPr>
            <a:r>
              <a:rPr lang="en-US" sz="1650" dirty="0">
                <a:solidFill>
                  <a:srgbClr val="514B43"/>
                </a:solidFill>
                <a:latin typeface="맑은 고딕" pitchFamily="34" charset="0"/>
                <a:ea typeface="맑은 고딕" pitchFamily="34" charset="-122"/>
                <a:cs typeface="맑은 고딕" pitchFamily="34" charset="-120"/>
              </a:rPr>
              <a:t>감각을 익힌다</a:t>
            </a:r>
            <a:endParaRPr lang="en-US" sz="1300" dirty="0"/>
          </a:p>
        </p:txBody>
      </p:sp>
      <p:sp>
        <p:nvSpPr>
          <p:cNvPr id="14" name="Shape 12"/>
          <p:cNvSpPr/>
          <p:nvPr/>
        </p:nvSpPr>
        <p:spPr>
          <a:xfrm>
            <a:off x="8101584" y="1874520"/>
            <a:ext cx="3493008" cy="3200400"/>
          </a:xfrm>
          <a:prstGeom prst="roundRect">
            <a:avLst>
              <a:gd name="adj" fmla="val 1429"/>
            </a:avLst>
          </a:prstGeom>
          <a:solidFill>
            <a:srgbClr val="F5F1EB"/>
          </a:solidFill>
          <a:ln w="9525">
            <a:solidFill>
              <a:srgbClr val="DCD4C9"/>
            </a:solidFill>
            <a:prstDash val="solid"/>
          </a:ln>
        </p:spPr>
        <p:txBody>
          <a:bodyPr/>
          <a:lstStyle/>
          <a:p>
            <a:endParaRPr/>
          </a:p>
        </p:txBody>
      </p:sp>
      <p:sp>
        <p:nvSpPr>
          <p:cNvPr id="15" name="Shape 13"/>
          <p:cNvSpPr/>
          <p:nvPr/>
        </p:nvSpPr>
        <p:spPr>
          <a:xfrm>
            <a:off x="8449056" y="2212848"/>
            <a:ext cx="566928" cy="566928"/>
          </a:xfrm>
          <a:prstGeom prst="ellipse">
            <a:avLst/>
          </a:prstGeom>
          <a:solidFill>
            <a:srgbClr val="D97757"/>
          </a:solidFill>
          <a:ln/>
        </p:spPr>
        <p:txBody>
          <a:bodyPr/>
          <a:lstStyle/>
          <a:p>
            <a:endParaRPr/>
          </a:p>
        </p:txBody>
      </p:sp>
      <p:sp>
        <p:nvSpPr>
          <p:cNvPr id="16" name="Text 14"/>
          <p:cNvSpPr/>
          <p:nvPr/>
        </p:nvSpPr>
        <p:spPr>
          <a:xfrm>
            <a:off x="8449056" y="2212848"/>
            <a:ext cx="566928" cy="566928"/>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3</a:t>
            </a:r>
            <a:endParaRPr lang="en-US" sz="2000" dirty="0"/>
          </a:p>
        </p:txBody>
      </p:sp>
      <p:sp>
        <p:nvSpPr>
          <p:cNvPr id="17" name="Text 15"/>
          <p:cNvSpPr/>
          <p:nvPr/>
        </p:nvSpPr>
        <p:spPr>
          <a:xfrm>
            <a:off x="8449056" y="2962656"/>
            <a:ext cx="2834640" cy="914400"/>
          </a:xfrm>
          <a:prstGeom prst="rect">
            <a:avLst/>
          </a:prstGeom>
          <a:noFill/>
          <a:ln/>
        </p:spPr>
        <p:txBody>
          <a:bodyPr wrap="square" lIns="0" tIns="0" rIns="0" bIns="0" rtlCol="0" anchor="t"/>
          <a:lstStyle/>
          <a:p>
            <a:pPr marL="0" indent="0">
              <a:lnSpc>
                <a:spcPts val="2500"/>
              </a:lnSpc>
              <a:buNone/>
            </a:pPr>
            <a:r>
              <a:rPr lang="en-US" sz="2000" b="1" dirty="0">
                <a:solidFill>
                  <a:srgbClr val="24211D"/>
                </a:solidFill>
                <a:latin typeface="맑은 고딕" pitchFamily="34" charset="0"/>
                <a:ea typeface="맑은 고딕" pitchFamily="34" charset="-122"/>
                <a:cs typeface="맑은 고딕" pitchFamily="34" charset="-120"/>
              </a:rPr>
              <a:t>화면에서 뭐가 어디</a:t>
            </a:r>
            <a:endParaRPr lang="en-US" sz="1800" dirty="0"/>
          </a:p>
          <a:p>
            <a:pPr marL="0" indent="0">
              <a:lnSpc>
                <a:spcPts val="2500"/>
              </a:lnSpc>
              <a:buNone/>
            </a:pPr>
            <a:r>
              <a:rPr lang="en-US" sz="2000" b="1" dirty="0">
                <a:solidFill>
                  <a:srgbClr val="24211D"/>
                </a:solidFill>
                <a:latin typeface="맑은 고딕" pitchFamily="34" charset="0"/>
                <a:ea typeface="맑은 고딕" pitchFamily="34" charset="-122"/>
                <a:cs typeface="맑은 고딕" pitchFamily="34" charset="-120"/>
              </a:rPr>
              <a:t>있는지 안다</a:t>
            </a:r>
            <a:endParaRPr lang="en-US" sz="1800" dirty="0"/>
          </a:p>
        </p:txBody>
      </p:sp>
      <p:sp>
        <p:nvSpPr>
          <p:cNvPr id="18" name="Text 16"/>
          <p:cNvSpPr/>
          <p:nvPr/>
        </p:nvSpPr>
        <p:spPr>
          <a:xfrm>
            <a:off x="8449056" y="3950208"/>
            <a:ext cx="2834640" cy="822960"/>
          </a:xfrm>
          <a:prstGeom prst="rect">
            <a:avLst/>
          </a:prstGeom>
          <a:noFill/>
          <a:ln/>
        </p:spPr>
        <p:txBody>
          <a:bodyPr wrap="square" lIns="0" tIns="0" rIns="0" bIns="0" rtlCol="0" anchor="t"/>
          <a:lstStyle/>
          <a:p>
            <a:pPr marL="0" indent="0">
              <a:lnSpc>
                <a:spcPts val="2000"/>
              </a:lnSpc>
              <a:buNone/>
            </a:pPr>
            <a:r>
              <a:rPr lang="en-US" sz="1650" dirty="0">
                <a:solidFill>
                  <a:srgbClr val="514B43"/>
                </a:solidFill>
                <a:latin typeface="맑은 고딕" pitchFamily="34" charset="0"/>
                <a:ea typeface="맑은 고딕" pitchFamily="34" charset="-122"/>
                <a:cs typeface="맑은 고딕" pitchFamily="34" charset="-120"/>
              </a:rPr>
              <a:t>앞으로</a:t>
            </a:r>
            <a:endParaRPr lang="en-US" sz="1300" dirty="0"/>
          </a:p>
          <a:p>
            <a:pPr marL="0" indent="0">
              <a:lnSpc>
                <a:spcPts val="2000"/>
              </a:lnSpc>
              <a:buNone/>
            </a:pPr>
            <a:r>
              <a:rPr lang="en-US" sz="1650" dirty="0">
                <a:solidFill>
                  <a:srgbClr val="514B43"/>
                </a:solidFill>
                <a:latin typeface="맑은 고딕" pitchFamily="34" charset="0"/>
                <a:ea typeface="맑은 고딕" pitchFamily="34" charset="-122"/>
                <a:cs typeface="맑은 고딕" pitchFamily="34" charset="-120"/>
              </a:rPr>
              <a:t>헤매지 않는다</a:t>
            </a:r>
            <a:endParaRPr lang="en-US" sz="1300" dirty="0"/>
          </a:p>
        </p:txBody>
      </p:sp>
      <p:sp>
        <p:nvSpPr>
          <p:cNvPr id="19" name="Text 17"/>
          <p:cNvSpPr/>
          <p:nvPr/>
        </p:nvSpPr>
        <p:spPr>
          <a:xfrm>
            <a:off x="566928" y="5440680"/>
            <a:ext cx="11064240" cy="457200"/>
          </a:xfrm>
          <a:prstGeom prst="rect">
            <a:avLst/>
          </a:prstGeom>
          <a:noFill/>
          <a:ln/>
        </p:spPr>
        <p:txBody>
          <a:bodyPr wrap="square" lIns="0" tIns="0" rIns="0" bIns="0" rtlCol="0" anchor="ctr"/>
          <a:lstStyle/>
          <a:p>
            <a:pPr marL="0" indent="0">
              <a:buNone/>
            </a:pPr>
            <a:r>
              <a:rPr lang="en-US" sz="1900" i="1" dirty="0">
                <a:solidFill>
                  <a:srgbClr val="D97757"/>
                </a:solidFill>
                <a:latin typeface="맑은 고딕" pitchFamily="34" charset="0"/>
                <a:ea typeface="맑은 고딕" pitchFamily="34" charset="-122"/>
                <a:cs typeface="맑은 고딕" pitchFamily="34" charset="-120"/>
              </a:rPr>
              <a:t>설치가 오늘의 8할입니다. 서두르지 마세요.</a:t>
            </a:r>
            <a:endParaRPr lang="en-US" sz="1700" dirty="0"/>
          </a:p>
        </p:txBody>
      </p:sp>
      <p:sp>
        <p:nvSpPr>
          <p:cNvPr id="20" name="TextBox 19">
            <a:extLst>
              <a:ext uri="{FF2B5EF4-FFF2-40B4-BE49-F238E27FC236}">
                <a16:creationId xmlns:a16="http://schemas.microsoft.com/office/drawing/2014/main" id="{0F643651-5C8B-04A2-E99D-1FCDAD8BE8A7}"/>
              </a:ext>
            </a:extLst>
          </p:cNvPr>
          <p:cNvSpPr txBox="1"/>
          <p:nvPr/>
        </p:nvSpPr>
        <p:spPr>
          <a:xfrm>
            <a:off x="6350000" y="6451600"/>
            <a:ext cx="5270500" cy="276999"/>
          </a:xfrm>
          <a:prstGeom prst="rect">
            <a:avLst/>
          </a:prstGeom>
          <a:noFill/>
        </p:spPr>
        <p:txBody>
          <a:bodyPr vert="horz" rtlCol="0" anchor="ctr">
            <a:spAutoFit/>
          </a:bodyPr>
          <a:lstStyle/>
          <a:p>
            <a:pPr algn="r"/>
            <a:r>
              <a:rPr lang="ko-KR" altLang="en-US" sz="1200">
                <a:solidFill>
                  <a:srgbClr val="A69C90"/>
                </a:solidFill>
                <a:latin typeface="맑은 고딕" panose="020B0503020000020004" pitchFamily="50" charset="-127"/>
                <a:ea typeface="맑은 고딕" panose="020B0503020000020004" pitchFamily="50" charset="-127"/>
              </a:rPr>
              <a:t>오늘의 목표          </a:t>
            </a:r>
            <a:r>
              <a:rPr lang="en-US" altLang="ko-KR" sz="1200">
                <a:solidFill>
                  <a:srgbClr val="A69C90"/>
                </a:solidFill>
                <a:latin typeface="맑은 고딕" panose="020B0503020000020004" pitchFamily="50" charset="-127"/>
                <a:ea typeface="맑은 고딕" panose="020B0503020000020004" pitchFamily="50" charset="-127"/>
              </a:rPr>
              <a:t>2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F492A8-1E9C-E781-7E33-A42024229972}"/>
              </a:ext>
            </a:extLst>
          </p:cNvPr>
          <p:cNvSpPr txBox="1"/>
          <p:nvPr/>
        </p:nvSpPr>
        <p:spPr>
          <a:xfrm>
            <a:off x="558800" y="381000"/>
            <a:ext cx="11061700" cy="646331"/>
          </a:xfrm>
          <a:prstGeom prst="rect">
            <a:avLst/>
          </a:prstGeom>
          <a:noFill/>
        </p:spPr>
        <p:txBody>
          <a:bodyPr vert="horz" rtlCol="0" anchor="ctr">
            <a:spAutoFit/>
          </a:bodyPr>
          <a:lstStyle/>
          <a:p>
            <a:r>
              <a:rPr lang="ko-KR" altLang="en-US" sz="3600" b="1">
                <a:solidFill>
                  <a:srgbClr val="24211D"/>
                </a:solidFill>
                <a:latin typeface="맑은 고딕" panose="020B0503020000020004" pitchFamily="50" charset="-127"/>
                <a:ea typeface="맑은 고딕" panose="020B0503020000020004" pitchFamily="50" charset="-127"/>
              </a:rPr>
              <a:t>목차</a:t>
            </a:r>
          </a:p>
        </p:txBody>
      </p:sp>
      <p:sp>
        <p:nvSpPr>
          <p:cNvPr id="3" name="TextBox 2">
            <a:extLst>
              <a:ext uri="{FF2B5EF4-FFF2-40B4-BE49-F238E27FC236}">
                <a16:creationId xmlns:a16="http://schemas.microsoft.com/office/drawing/2014/main" id="{D6A8B14C-FBA7-8351-1E92-A4D99BB36288}"/>
              </a:ext>
            </a:extLst>
          </p:cNvPr>
          <p:cNvSpPr txBox="1"/>
          <p:nvPr/>
        </p:nvSpPr>
        <p:spPr>
          <a:xfrm>
            <a:off x="558800" y="1130300"/>
            <a:ext cx="11061700" cy="381000"/>
          </a:xfrm>
          <a:prstGeom prst="rect">
            <a:avLst/>
          </a:prstGeom>
          <a:noFill/>
        </p:spPr>
        <p:txBody>
          <a:bodyPr vert="horz" rtlCol="0" anchor="ctr">
            <a:spAutoFit/>
          </a:bodyPr>
          <a:lstStyle/>
          <a:p>
            <a:r>
              <a:rPr sz="1800" b="0">
                <a:solidFill>
                  <a:srgbClr val="514B43"/>
                </a:solidFill>
                <a:latin typeface="맑은 고딕"/>
                <a:ea typeface="맑은 고딕"/>
                <a:cs typeface="맑은 고딕"/>
              </a:rPr>
              <a:t>아홉 개 묶음으로 나눠 진행합니다. 설치(2번)까지가 오늘의 8할입니다</a:t>
            </a:r>
          </a:p>
        </p:txBody>
      </p:sp>
      <p:sp>
        <p:nvSpPr>
          <p:cNvPr id="4" name="직사각형 3">
            <a:extLst>
              <a:ext uri="{FF2B5EF4-FFF2-40B4-BE49-F238E27FC236}">
                <a16:creationId xmlns:a16="http://schemas.microsoft.com/office/drawing/2014/main" id="{EBBF1272-2A16-51E3-F612-CFEEB72EB740}"/>
              </a:ext>
            </a:extLst>
          </p:cNvPr>
          <p:cNvSpPr/>
          <p:nvPr/>
        </p:nvSpPr>
        <p:spPr>
          <a:xfrm>
            <a:off x="584200" y="1600200"/>
            <a:ext cx="609600" cy="381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사각형: 둥근 모서리 4">
            <a:extLst>
              <a:ext uri="{FF2B5EF4-FFF2-40B4-BE49-F238E27FC236}">
                <a16:creationId xmlns:a16="http://schemas.microsoft.com/office/drawing/2014/main" id="{5CC908DC-68CC-DB16-BCDB-119F3C16B211}"/>
              </a:ext>
            </a:extLst>
          </p:cNvPr>
          <p:cNvSpPr/>
          <p:nvPr/>
        </p:nvSpPr>
        <p:spPr>
          <a:xfrm>
            <a:off x="558800" y="1656080"/>
            <a:ext cx="5334000" cy="889000"/>
          </a:xfrm>
          <a:prstGeom prst="roundRect">
            <a:avLst>
              <a:gd name="adj" fmla="val 6000"/>
            </a:avLst>
          </a:prstGeom>
          <a:solidFill>
            <a:srgbClr val="F5F1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5D2B64A8-8A58-3980-7212-38A22F44B8CE}"/>
              </a:ext>
            </a:extLst>
          </p:cNvPr>
          <p:cNvSpPr/>
          <p:nvPr/>
        </p:nvSpPr>
        <p:spPr>
          <a:xfrm>
            <a:off x="762000" y="1859280"/>
            <a:ext cx="482600" cy="4826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700" b="1">
                <a:solidFill>
                  <a:srgbClr val="FFFFFF"/>
                </a:solidFill>
                <a:latin typeface="맑은 고딕" panose="020B0503020000020004" pitchFamily="50" charset="-127"/>
                <a:ea typeface="맑은 고딕" panose="020B0503020000020004" pitchFamily="50" charset="-127"/>
              </a:rPr>
              <a:t>1</a:t>
            </a:r>
            <a:endParaRPr lang="ko-KR" altLang="en-US" sz="1700" b="1">
              <a:solidFill>
                <a:srgbClr val="FFFFFF"/>
              </a:solidFill>
              <a:latin typeface="맑은 고딕" panose="020B0503020000020004" pitchFamily="50" charset="-127"/>
              <a:ea typeface="맑은 고딕" panose="020B0503020000020004" pitchFamily="50" charset="-127"/>
            </a:endParaRPr>
          </a:p>
        </p:txBody>
      </p:sp>
      <p:sp>
        <p:nvSpPr>
          <p:cNvPr id="7" name="TextBox 6">
            <a:extLst>
              <a:ext uri="{FF2B5EF4-FFF2-40B4-BE49-F238E27FC236}">
                <a16:creationId xmlns:a16="http://schemas.microsoft.com/office/drawing/2014/main" id="{7F097ED0-004A-BD57-7D53-8C627ECF234B}"/>
              </a:ext>
            </a:extLst>
          </p:cNvPr>
          <p:cNvSpPr txBox="1"/>
          <p:nvPr/>
        </p:nvSpPr>
        <p:spPr>
          <a:xfrm>
            <a:off x="1371600" y="1783080"/>
            <a:ext cx="4318000" cy="369332"/>
          </a:xfrm>
          <a:prstGeom prst="rect">
            <a:avLst/>
          </a:prstGeom>
          <a:noFill/>
        </p:spPr>
        <p:txBody>
          <a:bodyPr vert="horz" rtlCol="0" anchor="ctr">
            <a:spAutoFit/>
          </a:bodyPr>
          <a:lstStyle/>
          <a:p>
            <a:r>
              <a:rPr lang="en-US" altLang="ko-KR" b="1">
                <a:solidFill>
                  <a:srgbClr val="24211D"/>
                </a:solidFill>
                <a:latin typeface="맑은 고딕" panose="020B0503020000020004" pitchFamily="50" charset="-127"/>
                <a:ea typeface="맑은 고딕" panose="020B0503020000020004" pitchFamily="50" charset="-127"/>
              </a:rPr>
              <a:t>Claude </a:t>
            </a:r>
            <a:r>
              <a:rPr lang="ko-KR" altLang="en-US" b="1">
                <a:solidFill>
                  <a:srgbClr val="24211D"/>
                </a:solidFill>
                <a:latin typeface="맑은 고딕" panose="020B0503020000020004" pitchFamily="50" charset="-127"/>
                <a:ea typeface="맑은 고딕" panose="020B0503020000020004" pitchFamily="50" charset="-127"/>
              </a:rPr>
              <a:t>시작하기</a:t>
            </a:r>
          </a:p>
        </p:txBody>
      </p:sp>
      <p:sp>
        <p:nvSpPr>
          <p:cNvPr id="8" name="TextBox 7">
            <a:extLst>
              <a:ext uri="{FF2B5EF4-FFF2-40B4-BE49-F238E27FC236}">
                <a16:creationId xmlns:a16="http://schemas.microsoft.com/office/drawing/2014/main" id="{DA36DAAB-9C75-9CAB-71CA-0EA6FA189EC8}"/>
              </a:ext>
            </a:extLst>
          </p:cNvPr>
          <p:cNvSpPr txBox="1"/>
          <p:nvPr/>
        </p:nvSpPr>
        <p:spPr>
          <a:xfrm>
            <a:off x="1371600" y="2087880"/>
            <a:ext cx="4318000" cy="307777"/>
          </a:xfrm>
          <a:prstGeom prst="rect">
            <a:avLst/>
          </a:prstGeom>
          <a:noFill/>
        </p:spPr>
        <p:txBody>
          <a:bodyPr vert="horz" rtlCol="0" anchor="ctr">
            <a:spAutoFit/>
          </a:bodyPr>
          <a:lstStyle/>
          <a:p>
            <a:r>
              <a:rPr lang="ko-KR" altLang="en-US" sz="1400">
                <a:solidFill>
                  <a:srgbClr val="726859"/>
                </a:solidFill>
                <a:latin typeface="맑은 고딕" panose="020B0503020000020004" pitchFamily="50" charset="-127"/>
                <a:ea typeface="맑은 고딕" panose="020B0503020000020004" pitchFamily="50" charset="-127"/>
              </a:rPr>
              <a:t>웹과 앱의 차이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요금제 선택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사용 한도       </a:t>
            </a:r>
            <a:r>
              <a:rPr lang="en-US" altLang="ko-KR" sz="1400">
                <a:solidFill>
                  <a:srgbClr val="726859"/>
                </a:solidFill>
                <a:latin typeface="맑은 고딕" panose="020B0503020000020004" pitchFamily="50" charset="-127"/>
                <a:ea typeface="맑은 고딕" panose="020B0503020000020004" pitchFamily="50" charset="-127"/>
              </a:rPr>
              <a:t>p.4</a:t>
            </a:r>
            <a:endParaRPr lang="ko-KR" altLang="en-US" sz="1400">
              <a:solidFill>
                <a:srgbClr val="726859"/>
              </a:solidFill>
              <a:latin typeface="맑은 고딕" panose="020B0503020000020004" pitchFamily="50" charset="-127"/>
              <a:ea typeface="맑은 고딕" panose="020B0503020000020004" pitchFamily="50" charset="-127"/>
            </a:endParaRPr>
          </a:p>
        </p:txBody>
      </p:sp>
      <p:sp>
        <p:nvSpPr>
          <p:cNvPr id="9" name="사각형: 둥근 모서리 8">
            <a:extLst>
              <a:ext uri="{FF2B5EF4-FFF2-40B4-BE49-F238E27FC236}">
                <a16:creationId xmlns:a16="http://schemas.microsoft.com/office/drawing/2014/main" id="{DCD9AC34-5B8E-AE54-7AA5-4BCD7F3BCDC1}"/>
              </a:ext>
            </a:extLst>
          </p:cNvPr>
          <p:cNvSpPr/>
          <p:nvPr/>
        </p:nvSpPr>
        <p:spPr>
          <a:xfrm>
            <a:off x="558800" y="2697480"/>
            <a:ext cx="5334000" cy="889000"/>
          </a:xfrm>
          <a:prstGeom prst="roundRect">
            <a:avLst>
              <a:gd name="adj" fmla="val 6000"/>
            </a:avLst>
          </a:prstGeom>
          <a:solidFill>
            <a:srgbClr val="F5F1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FDC60BE-1D86-20C6-F13A-25F47F555E58}"/>
              </a:ext>
            </a:extLst>
          </p:cNvPr>
          <p:cNvSpPr/>
          <p:nvPr/>
        </p:nvSpPr>
        <p:spPr>
          <a:xfrm>
            <a:off x="762000" y="2900680"/>
            <a:ext cx="482600" cy="4826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700" b="1">
                <a:solidFill>
                  <a:srgbClr val="FFFFFF"/>
                </a:solidFill>
                <a:latin typeface="맑은 고딕" panose="020B0503020000020004" pitchFamily="50" charset="-127"/>
                <a:ea typeface="맑은 고딕" panose="020B0503020000020004" pitchFamily="50" charset="-127"/>
              </a:rPr>
              <a:t>2</a:t>
            </a:r>
            <a:endParaRPr lang="ko-KR" altLang="en-US" sz="1700" b="1">
              <a:solidFill>
                <a:srgbClr val="FFFFFF"/>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7BB210E0-4027-ED1F-AB6B-1F71485B4017}"/>
              </a:ext>
            </a:extLst>
          </p:cNvPr>
          <p:cNvSpPr txBox="1"/>
          <p:nvPr/>
        </p:nvSpPr>
        <p:spPr>
          <a:xfrm>
            <a:off x="1371600" y="2824480"/>
            <a:ext cx="4318000" cy="369332"/>
          </a:xfrm>
          <a:prstGeom prst="rect">
            <a:avLst/>
          </a:prstGeom>
          <a:noFill/>
        </p:spPr>
        <p:txBody>
          <a:bodyPr vert="horz" rtlCol="0" anchor="ctr">
            <a:spAutoFit/>
          </a:bodyPr>
          <a:lstStyle/>
          <a:p>
            <a:r>
              <a:rPr lang="ko-KR" altLang="en-US" b="1">
                <a:solidFill>
                  <a:srgbClr val="24211D"/>
                </a:solidFill>
                <a:latin typeface="맑은 고딕" panose="020B0503020000020004" pitchFamily="50" charset="-127"/>
                <a:ea typeface="맑은 고딕" panose="020B0503020000020004" pitchFamily="50" charset="-127"/>
              </a:rPr>
              <a:t>설치하기</a:t>
            </a:r>
          </a:p>
        </p:txBody>
      </p:sp>
      <p:sp>
        <p:nvSpPr>
          <p:cNvPr id="12" name="TextBox 11">
            <a:extLst>
              <a:ext uri="{FF2B5EF4-FFF2-40B4-BE49-F238E27FC236}">
                <a16:creationId xmlns:a16="http://schemas.microsoft.com/office/drawing/2014/main" id="{7C9AB382-CB3D-82B2-190B-2D9144461D8D}"/>
              </a:ext>
            </a:extLst>
          </p:cNvPr>
          <p:cNvSpPr txBox="1"/>
          <p:nvPr/>
        </p:nvSpPr>
        <p:spPr>
          <a:xfrm>
            <a:off x="1371600" y="3129280"/>
            <a:ext cx="4318000" cy="307777"/>
          </a:xfrm>
          <a:prstGeom prst="rect">
            <a:avLst/>
          </a:prstGeom>
          <a:noFill/>
        </p:spPr>
        <p:txBody>
          <a:bodyPr vert="horz" rtlCol="0" anchor="ctr">
            <a:spAutoFit/>
          </a:bodyPr>
          <a:lstStyle/>
          <a:p>
            <a:r>
              <a:rPr lang="ko-KR" altLang="en-US" sz="1400">
                <a:solidFill>
                  <a:srgbClr val="726859"/>
                </a:solidFill>
                <a:latin typeface="맑은 고딕" panose="020B0503020000020004" pitchFamily="50" charset="-127"/>
                <a:ea typeface="맑은 고딕" panose="020B0503020000020004" pitchFamily="50" charset="-127"/>
              </a:rPr>
              <a:t>계정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다운로드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설치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재시작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응급처치       </a:t>
            </a:r>
            <a:r>
              <a:rPr lang="en-US" altLang="ko-KR" sz="1400">
                <a:solidFill>
                  <a:srgbClr val="726859"/>
                </a:solidFill>
                <a:latin typeface="맑은 고딕" panose="020B0503020000020004" pitchFamily="50" charset="-127"/>
                <a:ea typeface="맑은 고딕" panose="020B0503020000020004" pitchFamily="50" charset="-127"/>
              </a:rPr>
              <a:t>p.11</a:t>
            </a:r>
            <a:endParaRPr lang="ko-KR" altLang="en-US" sz="1400">
              <a:solidFill>
                <a:srgbClr val="726859"/>
              </a:solidFill>
              <a:latin typeface="맑은 고딕" panose="020B0503020000020004" pitchFamily="50" charset="-127"/>
              <a:ea typeface="맑은 고딕" panose="020B0503020000020004" pitchFamily="50" charset="-127"/>
            </a:endParaRPr>
          </a:p>
        </p:txBody>
      </p:sp>
      <p:sp>
        <p:nvSpPr>
          <p:cNvPr id="13" name="사각형: 둥근 모서리 12">
            <a:extLst>
              <a:ext uri="{FF2B5EF4-FFF2-40B4-BE49-F238E27FC236}">
                <a16:creationId xmlns:a16="http://schemas.microsoft.com/office/drawing/2014/main" id="{72242C96-3AF5-42E3-F952-EF0DC23A0A18}"/>
              </a:ext>
            </a:extLst>
          </p:cNvPr>
          <p:cNvSpPr/>
          <p:nvPr/>
        </p:nvSpPr>
        <p:spPr>
          <a:xfrm>
            <a:off x="558800" y="3738880"/>
            <a:ext cx="5334000" cy="889000"/>
          </a:xfrm>
          <a:prstGeom prst="roundRect">
            <a:avLst>
              <a:gd name="adj" fmla="val 6000"/>
            </a:avLst>
          </a:prstGeom>
          <a:solidFill>
            <a:srgbClr val="F5F1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DA8E0E4B-4B19-20C2-FC9B-0CD36A8E78FD}"/>
              </a:ext>
            </a:extLst>
          </p:cNvPr>
          <p:cNvSpPr/>
          <p:nvPr/>
        </p:nvSpPr>
        <p:spPr>
          <a:xfrm>
            <a:off x="762000" y="3942080"/>
            <a:ext cx="482600" cy="4826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700" b="1">
                <a:solidFill>
                  <a:srgbClr val="FFFFFF"/>
                </a:solidFill>
                <a:latin typeface="맑은 고딕" panose="020B0503020000020004" pitchFamily="50" charset="-127"/>
                <a:ea typeface="맑은 고딕" panose="020B0503020000020004" pitchFamily="50" charset="-127"/>
              </a:rPr>
              <a:t>3</a:t>
            </a:r>
            <a:endParaRPr lang="ko-KR" altLang="en-US" sz="1700" b="1">
              <a:solidFill>
                <a:srgbClr val="FFFFFF"/>
              </a:solidFill>
              <a:latin typeface="맑은 고딕" panose="020B0503020000020004" pitchFamily="50" charset="-127"/>
              <a:ea typeface="맑은 고딕" panose="020B0503020000020004" pitchFamily="50" charset="-127"/>
            </a:endParaRPr>
          </a:p>
        </p:txBody>
      </p:sp>
      <p:sp>
        <p:nvSpPr>
          <p:cNvPr id="15" name="TextBox 14">
            <a:extLst>
              <a:ext uri="{FF2B5EF4-FFF2-40B4-BE49-F238E27FC236}">
                <a16:creationId xmlns:a16="http://schemas.microsoft.com/office/drawing/2014/main" id="{933ED873-0D1B-A79C-9797-E243D46C6054}"/>
              </a:ext>
            </a:extLst>
          </p:cNvPr>
          <p:cNvSpPr txBox="1"/>
          <p:nvPr/>
        </p:nvSpPr>
        <p:spPr>
          <a:xfrm>
            <a:off x="1371600" y="3865880"/>
            <a:ext cx="4318000" cy="369332"/>
          </a:xfrm>
          <a:prstGeom prst="rect">
            <a:avLst/>
          </a:prstGeom>
          <a:noFill/>
        </p:spPr>
        <p:txBody>
          <a:bodyPr vert="horz" rtlCol="0" anchor="ctr">
            <a:spAutoFit/>
          </a:bodyPr>
          <a:lstStyle/>
          <a:p>
            <a:r>
              <a:rPr lang="ko-KR" altLang="en-US" b="1">
                <a:solidFill>
                  <a:srgbClr val="24211D"/>
                </a:solidFill>
                <a:latin typeface="맑은 고딕" panose="020B0503020000020004" pitchFamily="50" charset="-127"/>
                <a:ea typeface="맑은 고딕" panose="020B0503020000020004" pitchFamily="50" charset="-127"/>
              </a:rPr>
              <a:t>사전 준비 프로그램</a:t>
            </a:r>
          </a:p>
        </p:txBody>
      </p:sp>
      <p:sp>
        <p:nvSpPr>
          <p:cNvPr id="16" name="TextBox 15">
            <a:extLst>
              <a:ext uri="{FF2B5EF4-FFF2-40B4-BE49-F238E27FC236}">
                <a16:creationId xmlns:a16="http://schemas.microsoft.com/office/drawing/2014/main" id="{B639C5DA-4D2E-29C5-D4AF-087F59B724E9}"/>
              </a:ext>
            </a:extLst>
          </p:cNvPr>
          <p:cNvSpPr txBox="1"/>
          <p:nvPr/>
        </p:nvSpPr>
        <p:spPr>
          <a:xfrm>
            <a:off x="1371600" y="4170680"/>
            <a:ext cx="4318000" cy="307777"/>
          </a:xfrm>
          <a:prstGeom prst="rect">
            <a:avLst/>
          </a:prstGeom>
          <a:noFill/>
        </p:spPr>
        <p:txBody>
          <a:bodyPr vert="horz" rtlCol="0" anchor="ctr">
            <a:spAutoFit/>
          </a:bodyPr>
          <a:lstStyle/>
          <a:p>
            <a:r>
              <a:rPr lang="ko-KR" altLang="en-US" sz="1400">
                <a:solidFill>
                  <a:srgbClr val="726859"/>
                </a:solidFill>
                <a:latin typeface="맑은 고딕" panose="020B0503020000020004" pitchFamily="50" charset="-127"/>
                <a:ea typeface="맑은 고딕" panose="020B0503020000020004" pitchFamily="50" charset="-127"/>
              </a:rPr>
              <a:t>오피스 </a:t>
            </a:r>
            <a:r>
              <a:rPr lang="en-US" altLang="ko-KR" sz="1400">
                <a:solidFill>
                  <a:srgbClr val="726859"/>
                </a:solidFill>
                <a:latin typeface="맑은 고딕" panose="020B0503020000020004" pitchFamily="50" charset="-127"/>
                <a:ea typeface="맑은 고딕" panose="020B0503020000020004" pitchFamily="50" charset="-127"/>
              </a:rPr>
              <a:t>· Node.js · uv · GitHub </a:t>
            </a:r>
            <a:r>
              <a:rPr lang="ko-KR" altLang="en-US" sz="1400">
                <a:solidFill>
                  <a:srgbClr val="726859"/>
                </a:solidFill>
                <a:latin typeface="맑은 고딕" panose="020B0503020000020004" pitchFamily="50" charset="-127"/>
                <a:ea typeface="맑은 고딕" panose="020B0503020000020004" pitchFamily="50" charset="-127"/>
              </a:rPr>
              <a:t>자료실       </a:t>
            </a:r>
            <a:r>
              <a:rPr lang="en-US" altLang="ko-KR" sz="1400">
                <a:solidFill>
                  <a:srgbClr val="726859"/>
                </a:solidFill>
                <a:latin typeface="맑은 고딕" panose="020B0503020000020004" pitchFamily="50" charset="-127"/>
                <a:ea typeface="맑은 고딕" panose="020B0503020000020004" pitchFamily="50" charset="-127"/>
              </a:rPr>
              <a:t>p.18</a:t>
            </a:r>
            <a:endParaRPr lang="ko-KR" altLang="en-US" sz="1400">
              <a:solidFill>
                <a:srgbClr val="726859"/>
              </a:solidFill>
              <a:latin typeface="맑은 고딕" panose="020B0503020000020004" pitchFamily="50" charset="-127"/>
              <a:ea typeface="맑은 고딕" panose="020B0503020000020004" pitchFamily="50" charset="-127"/>
            </a:endParaRPr>
          </a:p>
        </p:txBody>
      </p:sp>
      <p:sp>
        <p:nvSpPr>
          <p:cNvPr id="17" name="사각형: 둥근 모서리 16">
            <a:extLst>
              <a:ext uri="{FF2B5EF4-FFF2-40B4-BE49-F238E27FC236}">
                <a16:creationId xmlns:a16="http://schemas.microsoft.com/office/drawing/2014/main" id="{7A164EFB-6D71-44B2-A360-3DD34808E267}"/>
              </a:ext>
            </a:extLst>
          </p:cNvPr>
          <p:cNvSpPr/>
          <p:nvPr/>
        </p:nvSpPr>
        <p:spPr>
          <a:xfrm>
            <a:off x="558800" y="4780280"/>
            <a:ext cx="5334000" cy="889000"/>
          </a:xfrm>
          <a:prstGeom prst="roundRect">
            <a:avLst>
              <a:gd name="adj" fmla="val 6000"/>
            </a:avLst>
          </a:prstGeom>
          <a:solidFill>
            <a:srgbClr val="F5F1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3BDFE3EC-0525-B240-81AD-C1D7861F2D7B}"/>
              </a:ext>
            </a:extLst>
          </p:cNvPr>
          <p:cNvSpPr/>
          <p:nvPr/>
        </p:nvSpPr>
        <p:spPr>
          <a:xfrm>
            <a:off x="762000" y="4983480"/>
            <a:ext cx="482600" cy="4826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700" b="1">
                <a:solidFill>
                  <a:srgbClr val="FFFFFF"/>
                </a:solidFill>
                <a:latin typeface="맑은 고딕" panose="020B0503020000020004" pitchFamily="50" charset="-127"/>
                <a:ea typeface="맑은 고딕" panose="020B0503020000020004" pitchFamily="50" charset="-127"/>
              </a:rPr>
              <a:t>4</a:t>
            </a:r>
            <a:endParaRPr lang="ko-KR" altLang="en-US" sz="1700" b="1">
              <a:solidFill>
                <a:srgbClr val="FFFFFF"/>
              </a:solidFill>
              <a:latin typeface="맑은 고딕" panose="020B0503020000020004" pitchFamily="50" charset="-127"/>
              <a:ea typeface="맑은 고딕" panose="020B0503020000020004" pitchFamily="50" charset="-127"/>
            </a:endParaRPr>
          </a:p>
        </p:txBody>
      </p:sp>
      <p:sp>
        <p:nvSpPr>
          <p:cNvPr id="19" name="TextBox 18">
            <a:extLst>
              <a:ext uri="{FF2B5EF4-FFF2-40B4-BE49-F238E27FC236}">
                <a16:creationId xmlns:a16="http://schemas.microsoft.com/office/drawing/2014/main" id="{138D5AFB-D236-563B-650B-5941EB606D1E}"/>
              </a:ext>
            </a:extLst>
          </p:cNvPr>
          <p:cNvSpPr txBox="1"/>
          <p:nvPr/>
        </p:nvSpPr>
        <p:spPr>
          <a:xfrm>
            <a:off x="1371600" y="4907280"/>
            <a:ext cx="4318000" cy="369332"/>
          </a:xfrm>
          <a:prstGeom prst="rect">
            <a:avLst/>
          </a:prstGeom>
          <a:noFill/>
        </p:spPr>
        <p:txBody>
          <a:bodyPr vert="horz" rtlCol="0" anchor="ctr">
            <a:spAutoFit/>
          </a:bodyPr>
          <a:lstStyle/>
          <a:p>
            <a:r>
              <a:rPr lang="ko-KR" altLang="en-US" b="1">
                <a:solidFill>
                  <a:srgbClr val="24211D"/>
                </a:solidFill>
                <a:latin typeface="맑은 고딕" panose="020B0503020000020004" pitchFamily="50" charset="-127"/>
                <a:ea typeface="맑은 고딕" panose="020B0503020000020004" pitchFamily="50" charset="-127"/>
              </a:rPr>
              <a:t>회원가입과 커넥터</a:t>
            </a:r>
          </a:p>
        </p:txBody>
      </p:sp>
      <p:sp>
        <p:nvSpPr>
          <p:cNvPr id="20" name="TextBox 19">
            <a:extLst>
              <a:ext uri="{FF2B5EF4-FFF2-40B4-BE49-F238E27FC236}">
                <a16:creationId xmlns:a16="http://schemas.microsoft.com/office/drawing/2014/main" id="{397F60F6-FDA5-8F58-90D5-F5C40D8CB084}"/>
              </a:ext>
            </a:extLst>
          </p:cNvPr>
          <p:cNvSpPr txBox="1"/>
          <p:nvPr/>
        </p:nvSpPr>
        <p:spPr>
          <a:xfrm>
            <a:off x="1371600" y="5212080"/>
            <a:ext cx="4318000" cy="307777"/>
          </a:xfrm>
          <a:prstGeom prst="rect">
            <a:avLst/>
          </a:prstGeom>
          <a:noFill/>
        </p:spPr>
        <p:txBody>
          <a:bodyPr vert="horz" rtlCol="0" anchor="ctr">
            <a:spAutoFit/>
          </a:bodyPr>
          <a:lstStyle/>
          <a:p>
            <a:r>
              <a:rPr lang="ko-KR" altLang="en-US" sz="1400">
                <a:solidFill>
                  <a:srgbClr val="726859"/>
                </a:solidFill>
                <a:latin typeface="맑은 고딕" panose="020B0503020000020004" pitchFamily="50" charset="-127"/>
                <a:ea typeface="맑은 고딕" panose="020B0503020000020004" pitchFamily="50" charset="-127"/>
              </a:rPr>
              <a:t>가입할 곳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커넥터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보안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지침 적용 범위       </a:t>
            </a:r>
            <a:r>
              <a:rPr lang="en-US" altLang="ko-KR" sz="1400">
                <a:solidFill>
                  <a:srgbClr val="726859"/>
                </a:solidFill>
                <a:latin typeface="맑은 고딕" panose="020B0503020000020004" pitchFamily="50" charset="-127"/>
                <a:ea typeface="맑은 고딕" panose="020B0503020000020004" pitchFamily="50" charset="-127"/>
              </a:rPr>
              <a:t>p.26</a:t>
            </a:r>
            <a:endParaRPr lang="ko-KR" altLang="en-US" sz="1400">
              <a:solidFill>
                <a:srgbClr val="726859"/>
              </a:solidFill>
              <a:latin typeface="맑은 고딕" panose="020B0503020000020004" pitchFamily="50" charset="-127"/>
              <a:ea typeface="맑은 고딕" panose="020B0503020000020004" pitchFamily="50" charset="-127"/>
            </a:endParaRPr>
          </a:p>
        </p:txBody>
      </p:sp>
      <p:sp>
        <p:nvSpPr>
          <p:cNvPr id="21" name="사각형: 둥근 모서리 20">
            <a:extLst>
              <a:ext uri="{FF2B5EF4-FFF2-40B4-BE49-F238E27FC236}">
                <a16:creationId xmlns:a16="http://schemas.microsoft.com/office/drawing/2014/main" id="{A3891A6D-0C8D-EEAB-E78D-7CFEC98D6A4B}"/>
              </a:ext>
            </a:extLst>
          </p:cNvPr>
          <p:cNvSpPr/>
          <p:nvPr/>
        </p:nvSpPr>
        <p:spPr>
          <a:xfrm>
            <a:off x="6299200" y="1656080"/>
            <a:ext cx="5334000" cy="889000"/>
          </a:xfrm>
          <a:prstGeom prst="roundRect">
            <a:avLst>
              <a:gd name="adj" fmla="val 6000"/>
            </a:avLst>
          </a:prstGeom>
          <a:solidFill>
            <a:srgbClr val="F5F1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a:extLst>
              <a:ext uri="{FF2B5EF4-FFF2-40B4-BE49-F238E27FC236}">
                <a16:creationId xmlns:a16="http://schemas.microsoft.com/office/drawing/2014/main" id="{7319B63C-7AF8-5538-C4A4-99ECABA5FD28}"/>
              </a:ext>
            </a:extLst>
          </p:cNvPr>
          <p:cNvSpPr/>
          <p:nvPr/>
        </p:nvSpPr>
        <p:spPr>
          <a:xfrm>
            <a:off x="6502400" y="1859280"/>
            <a:ext cx="482600" cy="4826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700" b="1">
                <a:solidFill>
                  <a:srgbClr val="FFFFFF"/>
                </a:solidFill>
                <a:latin typeface="맑은 고딕" panose="020B0503020000020004" pitchFamily="50" charset="-127"/>
                <a:ea typeface="맑은 고딕" panose="020B0503020000020004" pitchFamily="50" charset="-127"/>
              </a:rPr>
              <a:t>5</a:t>
            </a:r>
            <a:endParaRPr lang="ko-KR" altLang="en-US" sz="1700" b="1">
              <a:solidFill>
                <a:srgbClr val="FFFFFF"/>
              </a:solidFill>
              <a:latin typeface="맑은 고딕" panose="020B0503020000020004" pitchFamily="50" charset="-127"/>
              <a:ea typeface="맑은 고딕" panose="020B0503020000020004" pitchFamily="50" charset="-127"/>
            </a:endParaRPr>
          </a:p>
        </p:txBody>
      </p:sp>
      <p:sp>
        <p:nvSpPr>
          <p:cNvPr id="23" name="TextBox 22">
            <a:extLst>
              <a:ext uri="{FF2B5EF4-FFF2-40B4-BE49-F238E27FC236}">
                <a16:creationId xmlns:a16="http://schemas.microsoft.com/office/drawing/2014/main" id="{C20EC531-F6EB-4297-3688-8301A8657A89}"/>
              </a:ext>
            </a:extLst>
          </p:cNvPr>
          <p:cNvSpPr txBox="1"/>
          <p:nvPr/>
        </p:nvSpPr>
        <p:spPr>
          <a:xfrm>
            <a:off x="7112000" y="1783080"/>
            <a:ext cx="4318000" cy="369332"/>
          </a:xfrm>
          <a:prstGeom prst="rect">
            <a:avLst/>
          </a:prstGeom>
          <a:noFill/>
        </p:spPr>
        <p:txBody>
          <a:bodyPr vert="horz" rtlCol="0" anchor="ctr">
            <a:spAutoFit/>
          </a:bodyPr>
          <a:lstStyle/>
          <a:p>
            <a:r>
              <a:rPr lang="en-US" altLang="ko-KR" b="1">
                <a:solidFill>
                  <a:srgbClr val="24211D"/>
                </a:solidFill>
                <a:latin typeface="맑은 고딕" panose="020B0503020000020004" pitchFamily="50" charset="-127"/>
                <a:ea typeface="맑은 고딕" panose="020B0503020000020004" pitchFamily="50" charset="-127"/>
              </a:rPr>
              <a:t>MCP </a:t>
            </a:r>
            <a:r>
              <a:rPr lang="ko-KR" altLang="en-US" b="1">
                <a:solidFill>
                  <a:srgbClr val="24211D"/>
                </a:solidFill>
                <a:latin typeface="맑은 고딕" panose="020B0503020000020004" pitchFamily="50" charset="-127"/>
                <a:ea typeface="맑은 고딕" panose="020B0503020000020004" pitchFamily="50" charset="-127"/>
              </a:rPr>
              <a:t>와 </a:t>
            </a:r>
            <a:r>
              <a:rPr lang="en-US" altLang="ko-KR" b="1">
                <a:solidFill>
                  <a:srgbClr val="24211D"/>
                </a:solidFill>
                <a:latin typeface="맑은 고딕" panose="020B0503020000020004" pitchFamily="50" charset="-127"/>
                <a:ea typeface="맑은 고딕" panose="020B0503020000020004" pitchFamily="50" charset="-127"/>
              </a:rPr>
              <a:t>API</a:t>
            </a:r>
            <a:endParaRPr lang="ko-KR" altLang="en-US" b="1">
              <a:solidFill>
                <a:srgbClr val="24211D"/>
              </a:solidFill>
              <a:latin typeface="맑은 고딕" panose="020B0503020000020004" pitchFamily="50" charset="-127"/>
              <a:ea typeface="맑은 고딕" panose="020B0503020000020004" pitchFamily="50" charset="-127"/>
            </a:endParaRPr>
          </a:p>
        </p:txBody>
      </p:sp>
      <p:sp>
        <p:nvSpPr>
          <p:cNvPr id="24" name="TextBox 23">
            <a:extLst>
              <a:ext uri="{FF2B5EF4-FFF2-40B4-BE49-F238E27FC236}">
                <a16:creationId xmlns:a16="http://schemas.microsoft.com/office/drawing/2014/main" id="{25522D45-DB73-E787-F366-27C0016BE945}"/>
              </a:ext>
            </a:extLst>
          </p:cNvPr>
          <p:cNvSpPr txBox="1"/>
          <p:nvPr/>
        </p:nvSpPr>
        <p:spPr>
          <a:xfrm>
            <a:off x="7112000" y="2087880"/>
            <a:ext cx="4318000" cy="307777"/>
          </a:xfrm>
          <a:prstGeom prst="rect">
            <a:avLst/>
          </a:prstGeom>
          <a:noFill/>
        </p:spPr>
        <p:txBody>
          <a:bodyPr vert="horz" rtlCol="0" anchor="ctr">
            <a:spAutoFit/>
          </a:bodyPr>
          <a:lstStyle/>
          <a:p>
            <a:r>
              <a:rPr lang="en-US" altLang="ko-KR" sz="1400">
                <a:solidFill>
                  <a:srgbClr val="726859"/>
                </a:solidFill>
                <a:latin typeface="맑은 고딕" panose="020B0503020000020004" pitchFamily="50" charset="-127"/>
                <a:ea typeface="맑은 고딕" panose="020B0503020000020004" pitchFamily="50" charset="-127"/>
              </a:rPr>
              <a:t>USB-C </a:t>
            </a:r>
            <a:r>
              <a:rPr lang="ko-KR" altLang="en-US" sz="1400">
                <a:solidFill>
                  <a:srgbClr val="726859"/>
                </a:solidFill>
                <a:latin typeface="맑은 고딕" panose="020B0503020000020004" pitchFamily="50" charset="-127"/>
                <a:ea typeface="맑은 고딕" panose="020B0503020000020004" pitchFamily="50" charset="-127"/>
              </a:rPr>
              <a:t>비유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붙이는 두 길 </a:t>
            </a:r>
            <a:r>
              <a:rPr lang="en-US" altLang="ko-KR" sz="1400">
                <a:solidFill>
                  <a:srgbClr val="726859"/>
                </a:solidFill>
                <a:latin typeface="맑은 고딕" panose="020B0503020000020004" pitchFamily="50" charset="-127"/>
                <a:ea typeface="맑은 고딕" panose="020B0503020000020004" pitchFamily="50" charset="-127"/>
              </a:rPr>
              <a:t>· API </a:t>
            </a:r>
            <a:r>
              <a:rPr lang="ko-KR" altLang="en-US" sz="1400">
                <a:solidFill>
                  <a:srgbClr val="726859"/>
                </a:solidFill>
                <a:latin typeface="맑은 고딕" panose="020B0503020000020004" pitchFamily="50" charset="-127"/>
                <a:ea typeface="맑은 고딕" panose="020B0503020000020004" pitchFamily="50" charset="-127"/>
              </a:rPr>
              <a:t>키       </a:t>
            </a:r>
            <a:r>
              <a:rPr lang="en-US" altLang="ko-KR" sz="1400">
                <a:solidFill>
                  <a:srgbClr val="726859"/>
                </a:solidFill>
                <a:latin typeface="맑은 고딕" panose="020B0503020000020004" pitchFamily="50" charset="-127"/>
                <a:ea typeface="맑은 고딕" panose="020B0503020000020004" pitchFamily="50" charset="-127"/>
              </a:rPr>
              <a:t>p.34</a:t>
            </a:r>
            <a:endParaRPr lang="ko-KR" altLang="en-US" sz="1400">
              <a:solidFill>
                <a:srgbClr val="726859"/>
              </a:solidFill>
              <a:latin typeface="맑은 고딕" panose="020B0503020000020004" pitchFamily="50" charset="-127"/>
              <a:ea typeface="맑은 고딕" panose="020B0503020000020004" pitchFamily="50" charset="-127"/>
            </a:endParaRPr>
          </a:p>
        </p:txBody>
      </p:sp>
      <p:sp>
        <p:nvSpPr>
          <p:cNvPr id="25" name="사각형: 둥근 모서리 24">
            <a:extLst>
              <a:ext uri="{FF2B5EF4-FFF2-40B4-BE49-F238E27FC236}">
                <a16:creationId xmlns:a16="http://schemas.microsoft.com/office/drawing/2014/main" id="{D3A34B90-6177-B598-F67D-62DBC1A776FD}"/>
              </a:ext>
            </a:extLst>
          </p:cNvPr>
          <p:cNvSpPr/>
          <p:nvPr/>
        </p:nvSpPr>
        <p:spPr>
          <a:xfrm>
            <a:off x="6299200" y="2697480"/>
            <a:ext cx="5334000" cy="889000"/>
          </a:xfrm>
          <a:prstGeom prst="roundRect">
            <a:avLst>
              <a:gd name="adj" fmla="val 6000"/>
            </a:avLst>
          </a:prstGeom>
          <a:solidFill>
            <a:srgbClr val="F5F1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a:extLst>
              <a:ext uri="{FF2B5EF4-FFF2-40B4-BE49-F238E27FC236}">
                <a16:creationId xmlns:a16="http://schemas.microsoft.com/office/drawing/2014/main" id="{F35F6045-D72D-3FAA-4B82-244D23BF79BE}"/>
              </a:ext>
            </a:extLst>
          </p:cNvPr>
          <p:cNvSpPr/>
          <p:nvPr/>
        </p:nvSpPr>
        <p:spPr>
          <a:xfrm>
            <a:off x="6502400" y="2900680"/>
            <a:ext cx="482600" cy="4826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700" b="1">
                <a:solidFill>
                  <a:srgbClr val="FFFFFF"/>
                </a:solidFill>
                <a:latin typeface="맑은 고딕" panose="020B0503020000020004" pitchFamily="50" charset="-127"/>
                <a:ea typeface="맑은 고딕" panose="020B0503020000020004" pitchFamily="50" charset="-127"/>
              </a:rPr>
              <a:t>6</a:t>
            </a:r>
            <a:endParaRPr lang="ko-KR" altLang="en-US" sz="1700" b="1">
              <a:solidFill>
                <a:srgbClr val="FFFFFF"/>
              </a:solidFill>
              <a:latin typeface="맑은 고딕" panose="020B0503020000020004" pitchFamily="50" charset="-127"/>
              <a:ea typeface="맑은 고딕" panose="020B0503020000020004" pitchFamily="50" charset="-127"/>
            </a:endParaRPr>
          </a:p>
        </p:txBody>
      </p:sp>
      <p:sp>
        <p:nvSpPr>
          <p:cNvPr id="27" name="TextBox 26">
            <a:extLst>
              <a:ext uri="{FF2B5EF4-FFF2-40B4-BE49-F238E27FC236}">
                <a16:creationId xmlns:a16="http://schemas.microsoft.com/office/drawing/2014/main" id="{04BB15E1-66B9-C872-0A32-BD72EAA52A8B}"/>
              </a:ext>
            </a:extLst>
          </p:cNvPr>
          <p:cNvSpPr txBox="1"/>
          <p:nvPr/>
        </p:nvSpPr>
        <p:spPr>
          <a:xfrm>
            <a:off x="7112000" y="2824480"/>
            <a:ext cx="4318000" cy="369332"/>
          </a:xfrm>
          <a:prstGeom prst="rect">
            <a:avLst/>
          </a:prstGeom>
          <a:noFill/>
        </p:spPr>
        <p:txBody>
          <a:bodyPr vert="horz" rtlCol="0" anchor="ctr">
            <a:spAutoFit/>
          </a:bodyPr>
          <a:lstStyle/>
          <a:p>
            <a:r>
              <a:rPr lang="ko-KR" altLang="en-US" b="1">
                <a:solidFill>
                  <a:srgbClr val="24211D"/>
                </a:solidFill>
                <a:latin typeface="맑은 고딕" panose="020B0503020000020004" pitchFamily="50" charset="-127"/>
                <a:ea typeface="맑은 고딕" panose="020B0503020000020004" pitchFamily="50" charset="-127"/>
              </a:rPr>
              <a:t>스킬</a:t>
            </a:r>
          </a:p>
        </p:txBody>
      </p:sp>
      <p:sp>
        <p:nvSpPr>
          <p:cNvPr id="28" name="TextBox 27">
            <a:extLst>
              <a:ext uri="{FF2B5EF4-FFF2-40B4-BE49-F238E27FC236}">
                <a16:creationId xmlns:a16="http://schemas.microsoft.com/office/drawing/2014/main" id="{11BE5698-4678-DC76-CF0B-6262A0D644AC}"/>
              </a:ext>
            </a:extLst>
          </p:cNvPr>
          <p:cNvSpPr txBox="1"/>
          <p:nvPr/>
        </p:nvSpPr>
        <p:spPr>
          <a:xfrm>
            <a:off x="7112000" y="3237001"/>
            <a:ext cx="4318000" cy="307777"/>
          </a:xfrm>
          <a:prstGeom prst="rect">
            <a:avLst/>
          </a:prstGeom>
          <a:noFill/>
        </p:spPr>
        <p:txBody>
          <a:bodyPr vert="horz" rtlCol="0" anchor="ctr">
            <a:spAutoFit/>
          </a:bodyPr>
          <a:lstStyle/>
          <a:p>
            <a:r>
              <a:rPr lang="ko-KR" altLang="en-US" sz="1400">
                <a:solidFill>
                  <a:srgbClr val="726859"/>
                </a:solidFill>
                <a:latin typeface="맑은 고딕" panose="020B0503020000020004" pitchFamily="50" charset="-127"/>
                <a:ea typeface="맑은 고딕" panose="020B0503020000020004" pitchFamily="50" charset="-127"/>
              </a:rPr>
              <a:t>업무 매뉴얼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실물 예시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일괄 설치       </a:t>
            </a:r>
            <a:r>
              <a:rPr lang="en-US" altLang="ko-KR" sz="1400">
                <a:solidFill>
                  <a:srgbClr val="726859"/>
                </a:solidFill>
                <a:latin typeface="맑은 고딕" panose="020B0503020000020004" pitchFamily="50" charset="-127"/>
                <a:ea typeface="맑은 고딕" panose="020B0503020000020004" pitchFamily="50" charset="-127"/>
              </a:rPr>
              <a:t>p.39</a:t>
            </a:r>
            <a:endParaRPr lang="ko-KR" altLang="en-US" sz="1400">
              <a:solidFill>
                <a:srgbClr val="726859"/>
              </a:solidFill>
              <a:latin typeface="맑은 고딕" panose="020B0503020000020004" pitchFamily="50" charset="-127"/>
              <a:ea typeface="맑은 고딕" panose="020B0503020000020004" pitchFamily="50" charset="-127"/>
            </a:endParaRPr>
          </a:p>
        </p:txBody>
      </p:sp>
      <p:sp>
        <p:nvSpPr>
          <p:cNvPr id="29" name="사각형: 둥근 모서리 28">
            <a:extLst>
              <a:ext uri="{FF2B5EF4-FFF2-40B4-BE49-F238E27FC236}">
                <a16:creationId xmlns:a16="http://schemas.microsoft.com/office/drawing/2014/main" id="{503F592E-AE6E-BCBA-96B8-0F38EAC8D3A9}"/>
              </a:ext>
            </a:extLst>
          </p:cNvPr>
          <p:cNvSpPr/>
          <p:nvPr/>
        </p:nvSpPr>
        <p:spPr>
          <a:xfrm>
            <a:off x="6299200" y="3738880"/>
            <a:ext cx="5334000" cy="889000"/>
          </a:xfrm>
          <a:prstGeom prst="roundRect">
            <a:avLst>
              <a:gd name="adj" fmla="val 6000"/>
            </a:avLst>
          </a:prstGeom>
          <a:solidFill>
            <a:srgbClr val="F5F1E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A3ED388A-6925-263C-A71B-AED1329A8B0B}"/>
              </a:ext>
            </a:extLst>
          </p:cNvPr>
          <p:cNvSpPr/>
          <p:nvPr/>
        </p:nvSpPr>
        <p:spPr>
          <a:xfrm>
            <a:off x="6502400" y="3942080"/>
            <a:ext cx="482600" cy="4826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700" b="1">
                <a:solidFill>
                  <a:srgbClr val="FFFFFF"/>
                </a:solidFill>
                <a:latin typeface="맑은 고딕" panose="020B0503020000020004" pitchFamily="50" charset="-127"/>
                <a:ea typeface="맑은 고딕" panose="020B0503020000020004" pitchFamily="50" charset="-127"/>
              </a:rPr>
              <a:t>7</a:t>
            </a:r>
            <a:endParaRPr lang="ko-KR" altLang="en-US" sz="1700" b="1">
              <a:solidFill>
                <a:srgbClr val="FFFFFF"/>
              </a:solidFill>
              <a:latin typeface="맑은 고딕" panose="020B0503020000020004" pitchFamily="50" charset="-127"/>
              <a:ea typeface="맑은 고딕" panose="020B0503020000020004" pitchFamily="50" charset="-127"/>
            </a:endParaRPr>
          </a:p>
        </p:txBody>
      </p:sp>
      <p:sp>
        <p:nvSpPr>
          <p:cNvPr id="31" name="TextBox 30">
            <a:extLst>
              <a:ext uri="{FF2B5EF4-FFF2-40B4-BE49-F238E27FC236}">
                <a16:creationId xmlns:a16="http://schemas.microsoft.com/office/drawing/2014/main" id="{C6D1828A-103B-3674-C997-7DD4702FF8BE}"/>
              </a:ext>
            </a:extLst>
          </p:cNvPr>
          <p:cNvSpPr txBox="1"/>
          <p:nvPr/>
        </p:nvSpPr>
        <p:spPr>
          <a:xfrm>
            <a:off x="7112000" y="3865880"/>
            <a:ext cx="4318000" cy="369332"/>
          </a:xfrm>
          <a:prstGeom prst="rect">
            <a:avLst/>
          </a:prstGeom>
          <a:noFill/>
        </p:spPr>
        <p:txBody>
          <a:bodyPr vert="horz" rtlCol="0" anchor="ctr">
            <a:spAutoFit/>
          </a:bodyPr>
          <a:lstStyle/>
          <a:p>
            <a:r>
              <a:rPr lang="ko-KR" altLang="en-US" b="1">
                <a:solidFill>
                  <a:srgbClr val="24211D"/>
                </a:solidFill>
                <a:latin typeface="맑은 고딕" panose="020B0503020000020004" pitchFamily="50" charset="-127"/>
                <a:ea typeface="맑은 고딕" panose="020B0503020000020004" pitchFamily="50" charset="-127"/>
              </a:rPr>
              <a:t>프로젝트 </a:t>
            </a:r>
            <a:r>
              <a:rPr lang="en-US" altLang="ko-KR" b="1">
                <a:solidFill>
                  <a:srgbClr val="24211D"/>
                </a:solidFill>
                <a:latin typeface="맑은 고딕" panose="020B0503020000020004" pitchFamily="50" charset="-127"/>
                <a:ea typeface="맑은 고딕" panose="020B0503020000020004" pitchFamily="50" charset="-127"/>
              </a:rPr>
              <a:t>· </a:t>
            </a:r>
            <a:r>
              <a:rPr lang="ko-KR" altLang="en-US" b="1">
                <a:solidFill>
                  <a:srgbClr val="24211D"/>
                </a:solidFill>
                <a:latin typeface="맑은 고딕" panose="020B0503020000020004" pitchFamily="50" charset="-127"/>
                <a:ea typeface="맑은 고딕" panose="020B0503020000020004" pitchFamily="50" charset="-127"/>
              </a:rPr>
              <a:t>아티팩트 </a:t>
            </a:r>
            <a:r>
              <a:rPr lang="en-US" altLang="ko-KR" b="1">
                <a:solidFill>
                  <a:srgbClr val="24211D"/>
                </a:solidFill>
                <a:latin typeface="맑은 고딕" panose="020B0503020000020004" pitchFamily="50" charset="-127"/>
                <a:ea typeface="맑은 고딕" panose="020B0503020000020004" pitchFamily="50" charset="-127"/>
              </a:rPr>
              <a:t>· </a:t>
            </a:r>
            <a:r>
              <a:rPr lang="ko-KR" altLang="en-US" b="1">
                <a:solidFill>
                  <a:srgbClr val="24211D"/>
                </a:solidFill>
                <a:latin typeface="맑은 고딕" panose="020B0503020000020004" pitchFamily="50" charset="-127"/>
                <a:ea typeface="맑은 고딕" panose="020B0503020000020004" pitchFamily="50" charset="-127"/>
              </a:rPr>
              <a:t>예정됨</a:t>
            </a:r>
          </a:p>
        </p:txBody>
      </p:sp>
      <p:sp>
        <p:nvSpPr>
          <p:cNvPr id="32" name="TextBox 31">
            <a:extLst>
              <a:ext uri="{FF2B5EF4-FFF2-40B4-BE49-F238E27FC236}">
                <a16:creationId xmlns:a16="http://schemas.microsoft.com/office/drawing/2014/main" id="{B2F4FAFB-3DE3-E3E9-8CBB-3EFE0E70A7EF}"/>
              </a:ext>
            </a:extLst>
          </p:cNvPr>
          <p:cNvSpPr txBox="1"/>
          <p:nvPr/>
        </p:nvSpPr>
        <p:spPr>
          <a:xfrm>
            <a:off x="7112000" y="4170680"/>
            <a:ext cx="4318000" cy="307777"/>
          </a:xfrm>
          <a:prstGeom prst="rect">
            <a:avLst/>
          </a:prstGeom>
          <a:noFill/>
        </p:spPr>
        <p:txBody>
          <a:bodyPr vert="horz" rtlCol="0" anchor="ctr">
            <a:spAutoFit/>
          </a:bodyPr>
          <a:lstStyle/>
          <a:p>
            <a:r>
              <a:rPr lang="ko-KR" altLang="en-US" sz="1400">
                <a:solidFill>
                  <a:srgbClr val="726859"/>
                </a:solidFill>
                <a:latin typeface="맑은 고딕" panose="020B0503020000020004" pitchFamily="50" charset="-127"/>
                <a:ea typeface="맑은 고딕" panose="020B0503020000020004" pitchFamily="50" charset="-127"/>
              </a:rPr>
              <a:t>전용 책상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남는 결과물 </a:t>
            </a:r>
            <a:r>
              <a:rPr lang="en-US" altLang="ko-KR" sz="1400">
                <a:solidFill>
                  <a:srgbClr val="726859"/>
                </a:solidFill>
                <a:latin typeface="맑은 고딕" panose="020B0503020000020004" pitchFamily="50" charset="-127"/>
                <a:ea typeface="맑은 고딕" panose="020B0503020000020004" pitchFamily="50" charset="-127"/>
              </a:rPr>
              <a:t>· </a:t>
            </a:r>
            <a:r>
              <a:rPr lang="ko-KR" altLang="en-US" sz="1400">
                <a:solidFill>
                  <a:srgbClr val="726859"/>
                </a:solidFill>
                <a:latin typeface="맑은 고딕" panose="020B0503020000020004" pitchFamily="50" charset="-127"/>
                <a:ea typeface="맑은 고딕" panose="020B0503020000020004" pitchFamily="50" charset="-127"/>
              </a:rPr>
              <a:t>알아서 반복       </a:t>
            </a:r>
            <a:r>
              <a:rPr lang="en-US" altLang="ko-KR" sz="1400">
                <a:solidFill>
                  <a:srgbClr val="726859"/>
                </a:solidFill>
                <a:latin typeface="맑은 고딕" panose="020B0503020000020004" pitchFamily="50" charset="-127"/>
                <a:ea typeface="맑은 고딕" panose="020B0503020000020004" pitchFamily="50" charset="-127"/>
              </a:rPr>
              <a:t>p.44</a:t>
            </a:r>
            <a:endParaRPr lang="ko-KR" altLang="en-US" sz="1400">
              <a:solidFill>
                <a:srgbClr val="726859"/>
              </a:solidFill>
              <a:latin typeface="맑은 고딕" panose="020B0503020000020004" pitchFamily="50" charset="-127"/>
              <a:ea typeface="맑은 고딕" panose="020B0503020000020004" pitchFamily="50" charset="-127"/>
            </a:endParaRPr>
          </a:p>
        </p:txBody>
      </p:sp>
      <p:sp>
        <p:nvSpPr>
          <p:cNvPr id="33" name="사각형: 둥근 모서리 32">
            <a:extLst>
              <a:ext uri="{FF2B5EF4-FFF2-40B4-BE49-F238E27FC236}">
                <a16:creationId xmlns:a16="http://schemas.microsoft.com/office/drawing/2014/main" id="{1FB3BCF0-084F-5ED3-F68F-E277FCD37766}"/>
              </a:ext>
            </a:extLst>
          </p:cNvPr>
          <p:cNvSpPr/>
          <p:nvPr/>
        </p:nvSpPr>
        <p:spPr>
          <a:xfrm>
            <a:off x="6299200" y="4780280"/>
            <a:ext cx="5334000" cy="889000"/>
          </a:xfrm>
          <a:prstGeom prst="roundRect">
            <a:avLst>
              <a:gd name="adj" fmla="val 6000"/>
            </a:avLst>
          </a:prstGeom>
          <a:solidFill>
            <a:srgbClr val="24211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TextBox 33">
            <a:extLst>
              <a:ext uri="{FF2B5EF4-FFF2-40B4-BE49-F238E27FC236}">
                <a16:creationId xmlns:a16="http://schemas.microsoft.com/office/drawing/2014/main" id="{FB0F67A9-6A9D-E0BC-B1A5-243769494A60}"/>
              </a:ext>
            </a:extLst>
          </p:cNvPr>
          <p:cNvSpPr txBox="1"/>
          <p:nvPr/>
        </p:nvSpPr>
        <p:spPr>
          <a:xfrm>
            <a:off x="7112000" y="4907280"/>
            <a:ext cx="4318000" cy="368300"/>
          </a:xfrm>
          <a:prstGeom prst="rect">
            <a:avLst/>
          </a:prstGeom>
          <a:noFill/>
        </p:spPr>
        <p:txBody>
          <a:bodyPr vert="horz" rtlCol="0" anchor="ctr">
            <a:spAutoFit/>
          </a:bodyPr>
          <a:lstStyle/>
          <a:p>
            <a:r>
              <a:rPr sz="1800" b="1">
                <a:solidFill>
                  <a:srgbClr val="F6F1EA"/>
                </a:solidFill>
                <a:latin typeface="맑은 고딕"/>
                <a:ea typeface="맑은 고딕"/>
                <a:cs typeface="맑은 고딕"/>
              </a:rPr>
              <a:t>실전 — 테마 레이더 만들기</a:t>
            </a:r>
          </a:p>
        </p:txBody>
      </p:sp>
      <p:sp>
        <p:nvSpPr>
          <p:cNvPr id="35" name="TextBox 34">
            <a:extLst>
              <a:ext uri="{FF2B5EF4-FFF2-40B4-BE49-F238E27FC236}">
                <a16:creationId xmlns:a16="http://schemas.microsoft.com/office/drawing/2014/main" id="{379F6FC1-0BFA-A129-8D30-AA2FD8E025CC}"/>
              </a:ext>
            </a:extLst>
          </p:cNvPr>
          <p:cNvSpPr txBox="1"/>
          <p:nvPr/>
        </p:nvSpPr>
        <p:spPr>
          <a:xfrm>
            <a:off x="7112000" y="5212080"/>
            <a:ext cx="4318000" cy="304800"/>
          </a:xfrm>
          <a:prstGeom prst="rect">
            <a:avLst/>
          </a:prstGeom>
          <a:noFill/>
        </p:spPr>
        <p:txBody>
          <a:bodyPr vert="horz" rtlCol="0" anchor="ctr">
            <a:spAutoFit/>
          </a:bodyPr>
          <a:lstStyle/>
          <a:p>
            <a:r>
              <a:rPr sz="1400" b="0">
                <a:solidFill>
                  <a:srgbClr val="C9C0B4"/>
                </a:solidFill>
                <a:latin typeface="맑은 고딕"/>
                <a:ea typeface="맑은 고딕"/>
                <a:cs typeface="맑은 고딕"/>
              </a:rPr>
              <a:t>커넥터 하나 · 한 문장씩 · 내 화면 만들기       p.51</a:t>
            </a:r>
            <a:endParaRPr lang="ko-KR" altLang="en-US" sz="1600">
              <a:solidFill>
                <a:srgbClr val="F6F1EA"/>
              </a:solidFill>
              <a:latin typeface="맑은 고딕" panose="020B0503020000020004" pitchFamily="50" charset="-127"/>
              <a:ea typeface="맑은 고딕" panose="020B0503020000020004" pitchFamily="50" charset="-127"/>
            </a:endParaRPr>
          </a:p>
        </p:txBody>
      </p:sp>
      <p:sp>
        <p:nvSpPr>
          <p:cNvPr id="36" name="TextBox 35">
            <a:extLst>
              <a:ext uri="{FF2B5EF4-FFF2-40B4-BE49-F238E27FC236}">
                <a16:creationId xmlns:a16="http://schemas.microsoft.com/office/drawing/2014/main" id="{1E1D39BC-4B45-7480-9069-B160A08DFAA0}"/>
              </a:ext>
            </a:extLst>
          </p:cNvPr>
          <p:cNvSpPr txBox="1"/>
          <p:nvPr/>
        </p:nvSpPr>
        <p:spPr>
          <a:xfrm>
            <a:off x="6350000" y="6451600"/>
            <a:ext cx="5270500" cy="276999"/>
          </a:xfrm>
          <a:prstGeom prst="rect">
            <a:avLst/>
          </a:prstGeom>
          <a:noFill/>
        </p:spPr>
        <p:txBody>
          <a:bodyPr vert="horz" rtlCol="0" anchor="ctr">
            <a:spAutoFit/>
          </a:bodyPr>
          <a:lstStyle/>
          <a:p>
            <a:pPr algn="r"/>
            <a:r>
              <a:rPr lang="ko-KR" altLang="en-US" sz="1200">
                <a:solidFill>
                  <a:srgbClr val="A69C90"/>
                </a:solidFill>
                <a:latin typeface="맑은 고딕" panose="020B0503020000020004" pitchFamily="50" charset="-127"/>
                <a:ea typeface="맑은 고딕" panose="020B0503020000020004" pitchFamily="50" charset="-127"/>
              </a:rPr>
              <a:t>목차          </a:t>
            </a:r>
            <a:r>
              <a:rPr lang="en-US" altLang="ko-KR" sz="1200">
                <a:solidFill>
                  <a:srgbClr val="A69C90"/>
                </a:solidFill>
                <a:latin typeface="맑은 고딕" panose="020B0503020000020004" pitchFamily="50" charset="-127"/>
                <a:ea typeface="맑은 고딕" panose="020B0503020000020004" pitchFamily="50" charset="-127"/>
              </a:rPr>
              <a:t>3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
        <p:nvSpPr>
          <p:cNvPr id="37" name="Rectangle 36"/>
          <p:cNvSpPr/>
          <p:nvPr/>
        </p:nvSpPr>
        <p:spPr>
          <a:xfrm>
            <a:off x="6502400" y="4983480"/>
            <a:ext cx="482600" cy="482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700" b="1">
                <a:solidFill>
                  <a:srgbClr val="FFFFFF"/>
                </a:solidFill>
                <a:latin typeface="맑은 고딕"/>
                <a:ea typeface="맑은 고딕"/>
                <a:cs typeface="맑은 고딕"/>
              </a:rPr>
              <a:t>8</a:t>
            </a:r>
          </a:p>
        </p:txBody>
      </p:sp>
      <p:sp>
        <p:nvSpPr>
          <p:cNvPr id="38" name="TextBox 37"/>
          <p:cNvSpPr txBox="1"/>
          <p:nvPr/>
        </p:nvSpPr>
        <p:spPr>
          <a:xfrm>
            <a:off x="557784" y="6455664"/>
            <a:ext cx="5486400" cy="304800"/>
          </a:xfrm>
          <a:prstGeom prst="rect">
            <a:avLst/>
          </a:prstGeom>
          <a:noFill/>
        </p:spPr>
        <p:txBody>
          <a:bodyPr wrap="square" lIns="0" tIns="0" rIns="0" bIns="0">
            <a:spAutoFit/>
          </a:bodyPr>
          <a:lstStyle/>
          <a:p>
            <a:r>
              <a:rPr sz="1400">
                <a:solidFill>
                  <a:srgbClr val="726859"/>
                </a:solidFill>
                <a:latin typeface="맑은 고딕"/>
                <a:ea typeface="맑은 고딕"/>
                <a:cs typeface="맑은 고딕"/>
              </a:rPr>
              <a:t>설치가 오늘의 8할입니다. 서두르지 마세요.</a:t>
            </a:r>
          </a:p>
        </p:txBody>
      </p:sp>
      <p:sp>
        <p:nvSpPr>
          <p:cNvPr id="39" name="Rectangle 38"/>
          <p:cNvSpPr/>
          <p:nvPr/>
        </p:nvSpPr>
        <p:spPr>
          <a:xfrm>
            <a:off x="557784" y="5742432"/>
            <a:ext cx="11064240" cy="6583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58952" y="5833872"/>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맑은 고딕"/>
              </a:rPr>
              <a:t>9</a:t>
            </a:r>
          </a:p>
        </p:txBody>
      </p:sp>
      <p:sp>
        <p:nvSpPr>
          <p:cNvPr id="41" name="TextBox 40"/>
          <p:cNvSpPr txBox="1"/>
          <p:nvPr/>
        </p:nvSpPr>
        <p:spPr>
          <a:xfrm>
            <a:off x="1371600" y="5833872"/>
            <a:ext cx="4572000" cy="365760"/>
          </a:xfrm>
          <a:prstGeom prst="rect">
            <a:avLst/>
          </a:prstGeom>
          <a:noFill/>
        </p:spPr>
        <p:txBody>
          <a:bodyPr wrap="square" lIns="0" rIns="0" tIns="0" bIns="0">
            <a:spAutoFit/>
          </a:bodyPr>
          <a:lstStyle/>
          <a:p>
            <a:r>
              <a:rPr sz="1700" b="1">
                <a:solidFill>
                  <a:srgbClr val="24211D"/>
                </a:solidFill>
                <a:latin typeface="맑은 고딕"/>
              </a:rPr>
              <a:t>경매 물건 분석</a:t>
            </a:r>
          </a:p>
        </p:txBody>
      </p:sp>
      <p:sp>
        <p:nvSpPr>
          <p:cNvPr id="42" name="TextBox 41"/>
          <p:cNvSpPr txBox="1"/>
          <p:nvPr/>
        </p:nvSpPr>
        <p:spPr>
          <a:xfrm>
            <a:off x="6035040" y="5870448"/>
            <a:ext cx="5486400" cy="310896"/>
          </a:xfrm>
          <a:prstGeom prst="rect">
            <a:avLst/>
          </a:prstGeom>
          <a:noFill/>
        </p:spPr>
        <p:txBody>
          <a:bodyPr wrap="square" lIns="0" rIns="0" tIns="0" bIns="0">
            <a:spAutoFit/>
          </a:bodyPr>
          <a:lstStyle/>
          <a:p>
            <a:pPr algn="r"/>
            <a:r>
              <a:rPr sz="1350" b="0">
                <a:solidFill>
                  <a:srgbClr val="514B43"/>
                </a:solidFill>
                <a:latin typeface="맑은 고딕"/>
              </a:rPr>
              <a:t>서류 → 물건카드 · 설치 세 단계 · MCP 네 개       p.63</a:t>
            </a:r>
          </a:p>
        </p:txBody>
      </p:sp>
    </p:spTree>
    <p:extLst>
      <p:ext uri="{BB962C8B-B14F-4D97-AF65-F5344CB8AC3E}">
        <p14:creationId xmlns:p14="http://schemas.microsoft.com/office/powerpoint/2010/main" val="3532911949"/>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211D"/>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6643929-5B45-1C83-DF63-455C001C908F}"/>
              </a:ext>
            </a:extLst>
          </p:cNvPr>
          <p:cNvSpPr/>
          <p:nvPr/>
        </p:nvSpPr>
        <p:spPr>
          <a:xfrm>
            <a:off x="8128000" y="0"/>
            <a:ext cx="4064000" cy="6858000"/>
          </a:xfrm>
          <a:prstGeom prst="rect">
            <a:avLst/>
          </a:prstGeom>
          <a:solidFill>
            <a:srgbClr val="302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9BFD9DA7-8168-77CD-238D-692C992E2872}"/>
              </a:ext>
            </a:extLst>
          </p:cNvPr>
          <p:cNvSpPr txBox="1"/>
          <p:nvPr/>
        </p:nvSpPr>
        <p:spPr>
          <a:xfrm>
            <a:off x="8128000" y="1905000"/>
            <a:ext cx="4064000" cy="3016210"/>
          </a:xfrm>
          <a:prstGeom prst="rect">
            <a:avLst/>
          </a:prstGeom>
          <a:noFill/>
        </p:spPr>
        <p:txBody>
          <a:bodyPr vert="horz" rtlCol="0" anchor="ctr">
            <a:spAutoFit/>
          </a:bodyPr>
          <a:lstStyle/>
          <a:p>
            <a:pPr algn="ctr"/>
            <a:r>
              <a:rPr lang="en-US" altLang="ko-KR" sz="19000" b="1">
                <a:solidFill>
                  <a:srgbClr val="4A4239"/>
                </a:solidFill>
                <a:latin typeface="맑은 고딕" panose="020B0503020000020004" pitchFamily="50" charset="-127"/>
                <a:ea typeface="맑은 고딕" panose="020B0503020000020004" pitchFamily="50" charset="-127"/>
              </a:rPr>
              <a:t>01</a:t>
            </a:r>
            <a:endParaRPr lang="ko-KR" altLang="en-US" sz="19000" b="1">
              <a:solidFill>
                <a:srgbClr val="4A4239"/>
              </a:solidFill>
              <a:latin typeface="맑은 고딕" panose="020B0503020000020004" pitchFamily="50" charset="-127"/>
              <a:ea typeface="맑은 고딕" panose="020B0503020000020004" pitchFamily="50" charset="-127"/>
            </a:endParaRPr>
          </a:p>
        </p:txBody>
      </p:sp>
      <p:sp>
        <p:nvSpPr>
          <p:cNvPr id="4" name="TextBox 3">
            <a:extLst>
              <a:ext uri="{FF2B5EF4-FFF2-40B4-BE49-F238E27FC236}">
                <a16:creationId xmlns:a16="http://schemas.microsoft.com/office/drawing/2014/main" id="{378F55B2-574E-8C0B-7AAF-8BD32B5D1652}"/>
              </a:ext>
            </a:extLst>
          </p:cNvPr>
          <p:cNvSpPr txBox="1"/>
          <p:nvPr/>
        </p:nvSpPr>
        <p:spPr>
          <a:xfrm>
            <a:off x="863600" y="2235200"/>
            <a:ext cx="5842000" cy="353943"/>
          </a:xfrm>
          <a:prstGeom prst="rect">
            <a:avLst/>
          </a:prstGeom>
          <a:noFill/>
        </p:spPr>
        <p:txBody>
          <a:bodyPr vert="horz" rtlCol="0" anchor="ctr">
            <a:spAutoFit/>
          </a:bodyPr>
          <a:lstStyle/>
          <a:p>
            <a:r>
              <a:rPr lang="en-US" altLang="ko-KR" sz="1700" b="1">
                <a:solidFill>
                  <a:srgbClr val="D97757"/>
                </a:solidFill>
                <a:latin typeface="맑은 고딕" panose="020B0503020000020004" pitchFamily="50" charset="-127"/>
                <a:ea typeface="맑은 고딕" panose="020B0503020000020004" pitchFamily="50" charset="-127"/>
              </a:rPr>
              <a:t>SECTION 01</a:t>
            </a:r>
            <a:endParaRPr lang="ko-KR" altLang="en-US" sz="1700" b="1">
              <a:solidFill>
                <a:srgbClr val="D97757"/>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CE60D38-708F-0ACC-AD36-63E86B791A3D}"/>
              </a:ext>
            </a:extLst>
          </p:cNvPr>
          <p:cNvSpPr txBox="1"/>
          <p:nvPr/>
        </p:nvSpPr>
        <p:spPr>
          <a:xfrm>
            <a:off x="863600" y="2616200"/>
            <a:ext cx="6921500" cy="769441"/>
          </a:xfrm>
          <a:prstGeom prst="rect">
            <a:avLst/>
          </a:prstGeom>
          <a:noFill/>
        </p:spPr>
        <p:txBody>
          <a:bodyPr vert="horz" rtlCol="0" anchor="t">
            <a:spAutoFit/>
          </a:bodyPr>
          <a:lstStyle/>
          <a:p>
            <a:r>
              <a:rPr lang="en-US" altLang="ko-KR" sz="4400" b="1">
                <a:solidFill>
                  <a:srgbClr val="FFFFFF"/>
                </a:solidFill>
                <a:latin typeface="맑은 고딕" panose="020B0503020000020004" pitchFamily="50" charset="-127"/>
                <a:ea typeface="맑은 고딕" panose="020B0503020000020004" pitchFamily="50" charset="-127"/>
              </a:rPr>
              <a:t>Claude </a:t>
            </a:r>
            <a:r>
              <a:rPr lang="ko-KR" altLang="en-US" sz="4400" b="1">
                <a:solidFill>
                  <a:srgbClr val="FFFFFF"/>
                </a:solidFill>
                <a:latin typeface="맑은 고딕" panose="020B0503020000020004" pitchFamily="50" charset="-127"/>
                <a:ea typeface="맑은 고딕" panose="020B0503020000020004" pitchFamily="50" charset="-127"/>
              </a:rPr>
              <a:t>시작하기</a:t>
            </a:r>
          </a:p>
        </p:txBody>
      </p:sp>
      <p:sp>
        <p:nvSpPr>
          <p:cNvPr id="6" name="직사각형 5">
            <a:extLst>
              <a:ext uri="{FF2B5EF4-FFF2-40B4-BE49-F238E27FC236}">
                <a16:creationId xmlns:a16="http://schemas.microsoft.com/office/drawing/2014/main" id="{DD183382-56CD-B055-AE31-221491A9C213}"/>
              </a:ext>
            </a:extLst>
          </p:cNvPr>
          <p:cNvSpPr/>
          <p:nvPr/>
        </p:nvSpPr>
        <p:spPr>
          <a:xfrm>
            <a:off x="914400" y="3810000"/>
            <a:ext cx="812800" cy="508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E9FED234-C09F-4AB0-73A7-A1079BC9CE1B}"/>
              </a:ext>
            </a:extLst>
          </p:cNvPr>
          <p:cNvSpPr txBox="1"/>
          <p:nvPr/>
        </p:nvSpPr>
        <p:spPr>
          <a:xfrm>
            <a:off x="863600" y="4114800"/>
            <a:ext cx="6921500" cy="1523494"/>
          </a:xfrm>
          <a:prstGeom prst="rect">
            <a:avLst/>
          </a:prstGeom>
          <a:noFill/>
        </p:spPr>
        <p:txBody>
          <a:bodyPr vert="horz" rtlCol="0" anchor="t">
            <a:spAutoFit/>
          </a:bodyPr>
          <a:lstStyle/>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웹 브라우저 </a:t>
            </a:r>
            <a:r>
              <a:rPr lang="en-US" altLang="ko-KR" sz="1700">
                <a:solidFill>
                  <a:srgbClr val="C9C0B4"/>
                </a:solidFill>
                <a:latin typeface="맑은 고딕" panose="020B0503020000020004" pitchFamily="50" charset="-127"/>
                <a:ea typeface="맑은 고딕" panose="020B0503020000020004" pitchFamily="50" charset="-127"/>
              </a:rPr>
              <a:t>Claude</a:t>
            </a:r>
            <a:r>
              <a:rPr lang="ko-KR" altLang="en-US" sz="1700">
                <a:solidFill>
                  <a:srgbClr val="C9C0B4"/>
                </a:solidFill>
                <a:latin typeface="맑은 고딕" panose="020B0503020000020004" pitchFamily="50" charset="-127"/>
                <a:ea typeface="맑은 고딕" panose="020B0503020000020004" pitchFamily="50" charset="-127"/>
              </a:rPr>
              <a:t>와 데스크탑 앱은 무엇이 다른가</a:t>
            </a:r>
          </a:p>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굳이 설치까지 해야 하는 세 가지 이유</a:t>
            </a:r>
          </a:p>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요금제 네 가지와 권장 선택</a:t>
            </a:r>
          </a:p>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갑자기 안 될 때 </a:t>
            </a:r>
            <a:r>
              <a:rPr lang="en-US" altLang="ko-KR" sz="1700">
                <a:solidFill>
                  <a:srgbClr val="C9C0B4"/>
                </a:solidFill>
                <a:latin typeface="맑은 고딕" panose="020B0503020000020004" pitchFamily="50" charset="-127"/>
                <a:ea typeface="맑은 고딕" panose="020B0503020000020004" pitchFamily="50" charset="-127"/>
              </a:rPr>
              <a:t>— </a:t>
            </a:r>
            <a:r>
              <a:rPr lang="ko-KR" altLang="en-US" sz="1700">
                <a:solidFill>
                  <a:srgbClr val="C9C0B4"/>
                </a:solidFill>
                <a:latin typeface="맑은 고딕" panose="020B0503020000020004" pitchFamily="50" charset="-127"/>
                <a:ea typeface="맑은 고딕" panose="020B0503020000020004" pitchFamily="50" charset="-127"/>
              </a:rPr>
              <a:t>사용 한도 이야기</a:t>
            </a:r>
          </a:p>
        </p:txBody>
      </p:sp>
      <p:sp>
        <p:nvSpPr>
          <p:cNvPr id="8" name="TextBox 7">
            <a:extLst>
              <a:ext uri="{FF2B5EF4-FFF2-40B4-BE49-F238E27FC236}">
                <a16:creationId xmlns:a16="http://schemas.microsoft.com/office/drawing/2014/main" id="{C0002559-B967-2887-69BE-F3A1DD341FD3}"/>
              </a:ext>
            </a:extLst>
          </p:cNvPr>
          <p:cNvSpPr txBox="1"/>
          <p:nvPr/>
        </p:nvSpPr>
        <p:spPr>
          <a:xfrm>
            <a:off x="863600" y="6172200"/>
            <a:ext cx="5842000" cy="292388"/>
          </a:xfrm>
          <a:prstGeom prst="rect">
            <a:avLst/>
          </a:prstGeom>
          <a:noFill/>
        </p:spPr>
        <p:txBody>
          <a:bodyPr vert="horz" rtlCol="0" anchor="ctr">
            <a:spAutoFit/>
          </a:bodyPr>
          <a:lstStyle/>
          <a:p>
            <a:r>
              <a:rPr lang="en-US" altLang="ko-KR" sz="1300">
                <a:solidFill>
                  <a:srgbClr val="726859"/>
                </a:solidFill>
                <a:latin typeface="맑은 고딕" panose="020B0503020000020004" pitchFamily="50" charset="-127"/>
                <a:ea typeface="맑은 고딕" panose="020B0503020000020004" pitchFamily="50" charset="-127"/>
              </a:rPr>
              <a:t>Claude 데스크탑 시작하기</a:t>
            </a:r>
          </a:p>
        </p:txBody>
      </p:sp>
      <p:pic>
        <p:nvPicPr>
          <p:cNvPr id="10" name="그래픽 9">
            <a:extLst>
              <a:ext uri="{FF2B5EF4-FFF2-40B4-BE49-F238E27FC236}">
                <a16:creationId xmlns:a16="http://schemas.microsoft.com/office/drawing/2014/main" id="{492D9F59-8A27-1D44-E21C-3221B68C7B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600" y="889000"/>
            <a:ext cx="812800" cy="812800"/>
          </a:xfrm>
          <a:prstGeom prst="rect">
            <a:avLst/>
          </a:prstGeom>
        </p:spPr>
      </p:pic>
    </p:spTree>
    <p:extLst>
      <p:ext uri="{BB962C8B-B14F-4D97-AF65-F5344CB8AC3E}">
        <p14:creationId xmlns:p14="http://schemas.microsoft.com/office/powerpoint/2010/main" val="3618287715"/>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웹으로 쓰는 Claude, 앱으로 쓰는 Claude</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같은 Claude지만 할 수 있는 일이 다릅니다</a:t>
            </a:r>
            <a:endParaRPr lang="en-US" sz="1500" dirty="0"/>
          </a:p>
        </p:txBody>
      </p:sp>
      <p:sp>
        <p:nvSpPr>
          <p:cNvPr id="4" name="Shape 2"/>
          <p:cNvSpPr/>
          <p:nvPr/>
        </p:nvSpPr>
        <p:spPr>
          <a:xfrm>
            <a:off x="566928" y="1874520"/>
            <a:ext cx="5394960" cy="3749040"/>
          </a:xfrm>
          <a:prstGeom prst="roundRect">
            <a:avLst>
              <a:gd name="adj" fmla="val 1220"/>
            </a:avLst>
          </a:prstGeom>
          <a:solidFill>
            <a:srgbClr val="F5F1EB"/>
          </a:solidFill>
          <a:ln w="9525">
            <a:solidFill>
              <a:srgbClr val="DCD4C9"/>
            </a:solidFill>
            <a:prstDash val="solid"/>
          </a:ln>
        </p:spPr>
        <p:txBody>
          <a:bodyPr/>
          <a:lstStyle/>
          <a:p>
            <a:endParaRPr/>
          </a:p>
        </p:txBody>
      </p:sp>
      <p:sp>
        <p:nvSpPr>
          <p:cNvPr id="5" name="Text 3"/>
          <p:cNvSpPr/>
          <p:nvPr/>
        </p:nvSpPr>
        <p:spPr>
          <a:xfrm>
            <a:off x="914400" y="2148840"/>
            <a:ext cx="4663440" cy="457200"/>
          </a:xfrm>
          <a:prstGeom prst="rect">
            <a:avLst/>
          </a:prstGeom>
          <a:noFill/>
          <a:ln/>
        </p:spPr>
        <p:txBody>
          <a:bodyPr wrap="square" lIns="0" tIns="0" rIns="0" bIns="0" rtlCol="0" anchor="ctr"/>
          <a:lstStyle/>
          <a:p>
            <a:pPr marL="0" indent="0">
              <a:buNone/>
            </a:pPr>
            <a:r>
              <a:rPr lang="en-US" sz="2350" b="1" dirty="0">
                <a:solidFill>
                  <a:srgbClr val="514B43"/>
                </a:solidFill>
                <a:latin typeface="맑은 고딕" pitchFamily="34" charset="0"/>
                <a:ea typeface="맑은 고딕" pitchFamily="34" charset="-122"/>
                <a:cs typeface="맑은 고딕" pitchFamily="34" charset="-120"/>
              </a:rPr>
              <a:t>웹 브라우저</a:t>
            </a:r>
            <a:endParaRPr lang="en-US" sz="2200" dirty="0"/>
          </a:p>
        </p:txBody>
      </p:sp>
      <p:sp>
        <p:nvSpPr>
          <p:cNvPr id="6" name="Text 4"/>
          <p:cNvSpPr/>
          <p:nvPr/>
        </p:nvSpPr>
        <p:spPr>
          <a:xfrm>
            <a:off x="914400" y="2606040"/>
            <a:ext cx="4663440" cy="365760"/>
          </a:xfrm>
          <a:prstGeom prst="rect">
            <a:avLst/>
          </a:prstGeom>
          <a:noFill/>
          <a:ln/>
        </p:spPr>
        <p:txBody>
          <a:bodyPr wrap="square" lIns="0" tIns="0" rIns="0" bIns="0" rtlCol="0" anchor="ctr"/>
          <a:lstStyle/>
          <a:p>
            <a:pPr marL="0" indent="0">
              <a:buNone/>
            </a:pPr>
            <a:r>
              <a:rPr lang="en-US" sz="1650" dirty="0">
                <a:solidFill>
                  <a:srgbClr val="514B43"/>
                </a:solidFill>
                <a:latin typeface="맑은 고딕" pitchFamily="34" charset="0"/>
                <a:ea typeface="맑은 고딕" pitchFamily="34" charset="-122"/>
                <a:cs typeface="맑은 고딕" pitchFamily="34" charset="-120"/>
              </a:rPr>
              <a:t>claude.ai 에 접속해서 사용</a:t>
            </a:r>
            <a:endParaRPr lang="en-US" sz="1300" dirty="0"/>
          </a:p>
        </p:txBody>
      </p:sp>
      <p:sp>
        <p:nvSpPr>
          <p:cNvPr id="7" name="Text 5"/>
          <p:cNvSpPr/>
          <p:nvPr/>
        </p:nvSpPr>
        <p:spPr>
          <a:xfrm>
            <a:off x="914400" y="3154680"/>
            <a:ext cx="4663440" cy="2103120"/>
          </a:xfrm>
          <a:prstGeom prst="rect">
            <a:avLst/>
          </a:prstGeom>
          <a:noFill/>
          <a:ln/>
        </p:spPr>
        <p:txBody>
          <a:bodyPr wrap="square" lIns="0" tIns="0" rIns="0" bIns="0" rtlCol="0" anchor="t"/>
          <a:lstStyle/>
          <a:p>
            <a:pPr marL="342900" indent="-342900">
              <a:lnSpc>
                <a:spcPts val="24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설치 없이 바로 쓸 수 있다</a:t>
            </a:r>
            <a:endParaRPr lang="en-US" sz="1400" dirty="0"/>
          </a:p>
          <a:p>
            <a:pPr marL="342900" indent="-342900">
              <a:lnSpc>
                <a:spcPts val="24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대화는 문제없이 된다</a:t>
            </a:r>
            <a:endParaRPr lang="en-US" sz="1400" dirty="0"/>
          </a:p>
          <a:p>
            <a:pPr marL="342900" indent="-342900">
              <a:lnSpc>
                <a:spcPts val="24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파일은 하나씩 올려야 한다</a:t>
            </a:r>
            <a:endParaRPr lang="en-US" sz="1400" dirty="0"/>
          </a:p>
          <a:p>
            <a:pPr marL="342900" indent="-342900">
              <a:lnSpc>
                <a:spcPts val="24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내 컴퓨터 폴더는 못 본다</a:t>
            </a:r>
            <a:endParaRPr lang="en-US" sz="1400" dirty="0"/>
          </a:p>
        </p:txBody>
      </p:sp>
      <p:sp>
        <p:nvSpPr>
          <p:cNvPr id="8" name="Shape 6"/>
          <p:cNvSpPr/>
          <p:nvPr/>
        </p:nvSpPr>
        <p:spPr>
          <a:xfrm>
            <a:off x="6236208" y="1874520"/>
            <a:ext cx="5394960" cy="3749040"/>
          </a:xfrm>
          <a:prstGeom prst="roundRect">
            <a:avLst>
              <a:gd name="adj" fmla="val 1220"/>
            </a:avLst>
          </a:prstGeom>
          <a:solidFill>
            <a:srgbClr val="24211D"/>
          </a:solidFill>
          <a:ln w="12700">
            <a:solidFill>
              <a:srgbClr val="24211D"/>
            </a:solidFill>
            <a:prstDash val="solid"/>
          </a:ln>
        </p:spPr>
        <p:txBody>
          <a:bodyPr/>
          <a:lstStyle/>
          <a:p>
            <a:endParaRPr/>
          </a:p>
        </p:txBody>
      </p:sp>
      <p:sp>
        <p:nvSpPr>
          <p:cNvPr id="9" name="Text 7"/>
          <p:cNvSpPr/>
          <p:nvPr/>
        </p:nvSpPr>
        <p:spPr>
          <a:xfrm>
            <a:off x="6583680" y="2148840"/>
            <a:ext cx="4663440" cy="457200"/>
          </a:xfrm>
          <a:prstGeom prst="rect">
            <a:avLst/>
          </a:prstGeom>
          <a:noFill/>
          <a:ln/>
        </p:spPr>
        <p:txBody>
          <a:bodyPr wrap="square" lIns="0" tIns="0" rIns="0" bIns="0" rtlCol="0" anchor="ctr"/>
          <a:lstStyle/>
          <a:p>
            <a:pPr marL="0" indent="0">
              <a:buNone/>
            </a:pPr>
            <a:r>
              <a:rPr lang="en-US" sz="2350" b="1" dirty="0">
                <a:solidFill>
                  <a:srgbClr val="FFFFFF"/>
                </a:solidFill>
                <a:latin typeface="맑은 고딕" pitchFamily="34" charset="0"/>
                <a:ea typeface="맑은 고딕" pitchFamily="34" charset="-122"/>
                <a:cs typeface="맑은 고딕" pitchFamily="34" charset="-120"/>
              </a:rPr>
              <a:t>데스크탑 앱</a:t>
            </a:r>
            <a:endParaRPr lang="en-US" sz="2200" dirty="0"/>
          </a:p>
        </p:txBody>
      </p:sp>
      <p:sp>
        <p:nvSpPr>
          <p:cNvPr id="10" name="Text 8"/>
          <p:cNvSpPr/>
          <p:nvPr/>
        </p:nvSpPr>
        <p:spPr>
          <a:xfrm>
            <a:off x="6583680" y="2606040"/>
            <a:ext cx="4663440" cy="365760"/>
          </a:xfrm>
          <a:prstGeom prst="rect">
            <a:avLst/>
          </a:prstGeom>
          <a:noFill/>
          <a:ln/>
        </p:spPr>
        <p:txBody>
          <a:bodyPr wrap="square" lIns="0" tIns="0" rIns="0" bIns="0" rtlCol="0" anchor="ctr"/>
          <a:lstStyle/>
          <a:p>
            <a:pPr marL="0" indent="0">
              <a:buNone/>
            </a:pPr>
            <a:r>
              <a:rPr lang="en-US" sz="1600" dirty="0">
                <a:solidFill>
                  <a:srgbClr val="D97757"/>
                </a:solidFill>
                <a:latin typeface="맑은 고딕" pitchFamily="34" charset="0"/>
                <a:ea typeface="맑은 고딕" pitchFamily="34" charset="-122"/>
                <a:cs typeface="맑은 고딕" pitchFamily="34" charset="-120"/>
              </a:rPr>
              <a:t>내 컴퓨터에 설치해서 사용  ←  오늘 이걸 합니다</a:t>
            </a:r>
            <a:endParaRPr lang="en-US" sz="1300" dirty="0"/>
          </a:p>
        </p:txBody>
      </p:sp>
      <p:sp>
        <p:nvSpPr>
          <p:cNvPr id="11" name="Text 9"/>
          <p:cNvSpPr/>
          <p:nvPr/>
        </p:nvSpPr>
        <p:spPr>
          <a:xfrm>
            <a:off x="6583680" y="3154680"/>
            <a:ext cx="4663440" cy="2103120"/>
          </a:xfrm>
          <a:prstGeom prst="rect">
            <a:avLst/>
          </a:prstGeom>
          <a:noFill/>
          <a:ln/>
        </p:spPr>
        <p:txBody>
          <a:bodyPr wrap="square" lIns="0" tIns="0" rIns="0" bIns="0" rtlCol="0" anchor="t"/>
          <a:lstStyle/>
          <a:p>
            <a:pPr marL="342900" indent="-342900">
              <a:lnSpc>
                <a:spcPts val="2400"/>
              </a:lnSpc>
              <a:spcAft>
                <a:spcPts val="800"/>
              </a:spcAft>
              <a:buSzPct val="100000"/>
              <a:buChar char="•"/>
            </a:pPr>
            <a:r>
              <a:rPr lang="en-US" sz="1700" dirty="0">
                <a:solidFill>
                  <a:srgbClr val="F6F1EA"/>
                </a:solidFill>
                <a:latin typeface="맑은 고딕" pitchFamily="34" charset="0"/>
                <a:ea typeface="맑은 고딕" pitchFamily="34" charset="-122"/>
                <a:cs typeface="맑은 고딕" pitchFamily="34" charset="-120"/>
              </a:rPr>
              <a:t>웹에서 되는 건 전부 된다</a:t>
            </a:r>
            <a:endParaRPr lang="en-US" sz="1400" dirty="0"/>
          </a:p>
          <a:p>
            <a:pPr marL="342900" indent="-342900">
              <a:lnSpc>
                <a:spcPts val="2400"/>
              </a:lnSpc>
              <a:spcAft>
                <a:spcPts val="800"/>
              </a:spcAft>
              <a:buSzPct val="100000"/>
              <a:buChar char="•"/>
            </a:pPr>
            <a:r>
              <a:rPr lang="en-US" sz="1700" dirty="0">
                <a:solidFill>
                  <a:srgbClr val="F6F1EA"/>
                </a:solidFill>
                <a:latin typeface="맑은 고딕" pitchFamily="34" charset="0"/>
                <a:ea typeface="맑은 고딕" pitchFamily="34" charset="-122"/>
                <a:cs typeface="맑은 고딕" pitchFamily="34" charset="-120"/>
              </a:rPr>
              <a:t>내 컴퓨터 폴더를 직접 본다</a:t>
            </a:r>
            <a:endParaRPr lang="en-US" sz="1400" dirty="0"/>
          </a:p>
          <a:p>
            <a:pPr marL="342900" indent="-342900">
              <a:lnSpc>
                <a:spcPts val="2400"/>
              </a:lnSpc>
              <a:spcAft>
                <a:spcPts val="800"/>
              </a:spcAft>
              <a:buSzPct val="100000"/>
              <a:buChar char="•"/>
            </a:pPr>
            <a:r>
              <a:rPr lang="en-US" sz="1700" dirty="0">
                <a:solidFill>
                  <a:srgbClr val="F6F1EA"/>
                </a:solidFill>
                <a:latin typeface="맑은 고딕" pitchFamily="34" charset="0"/>
                <a:ea typeface="맑은 고딕" pitchFamily="34" charset="-122"/>
                <a:cs typeface="맑은 고딕" pitchFamily="34" charset="-120"/>
              </a:rPr>
              <a:t>엑셀·워드를 만들어 저장한다</a:t>
            </a:r>
            <a:endParaRPr lang="en-US" sz="1400" dirty="0"/>
          </a:p>
          <a:p>
            <a:pPr marL="342900" indent="-342900">
              <a:lnSpc>
                <a:spcPts val="2400"/>
              </a:lnSpc>
              <a:spcAft>
                <a:spcPts val="800"/>
              </a:spcAft>
              <a:buSzPct val="100000"/>
              <a:buChar char="•"/>
            </a:pPr>
            <a:r>
              <a:rPr lang="en-US" sz="1700" dirty="0">
                <a:solidFill>
                  <a:srgbClr val="F6F1EA"/>
                </a:solidFill>
                <a:latin typeface="맑은 고딕" pitchFamily="34" charset="0"/>
                <a:ea typeface="맑은 고딕" pitchFamily="34" charset="-122"/>
                <a:cs typeface="맑은 고딕" pitchFamily="34" charset="-120"/>
              </a:rPr>
              <a:t>다른 프로그램과 연결된다</a:t>
            </a:r>
            <a:endParaRPr lang="en-US" sz="1400" dirty="0"/>
          </a:p>
        </p:txBody>
      </p:sp>
      <p:sp>
        <p:nvSpPr>
          <p:cNvPr id="12" name="TextBox 11">
            <a:extLst>
              <a:ext uri="{FF2B5EF4-FFF2-40B4-BE49-F238E27FC236}">
                <a16:creationId xmlns:a16="http://schemas.microsoft.com/office/drawing/2014/main" id="{4DB35F92-2EF5-82E3-27A4-CE009BC765A2}"/>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01 · Claude </a:t>
            </a:r>
            <a:r>
              <a:rPr lang="ko-KR" altLang="en-US" sz="1200">
                <a:solidFill>
                  <a:srgbClr val="A69C90"/>
                </a:solidFill>
                <a:latin typeface="맑은 고딕" panose="020B0503020000020004" pitchFamily="50" charset="-127"/>
                <a:ea typeface="맑은 고딕" panose="020B0503020000020004" pitchFamily="50" charset="-127"/>
              </a:rPr>
              <a:t>시작하기          </a:t>
            </a:r>
            <a:r>
              <a:rPr lang="en-US" altLang="ko-KR" sz="1200">
                <a:solidFill>
                  <a:srgbClr val="A69C90"/>
                </a:solidFill>
                <a:latin typeface="맑은 고딕" panose="020B0503020000020004" pitchFamily="50" charset="-127"/>
                <a:ea typeface="맑은 고딕" panose="020B0503020000020004" pitchFamily="50" charset="-127"/>
              </a:rPr>
              <a:t>5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왜 굳이 설치까지 하나요</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이 세 가지 때문입니다</a:t>
            </a:r>
            <a:endParaRPr lang="en-US" sz="1500" dirty="0"/>
          </a:p>
        </p:txBody>
      </p:sp>
      <p:sp>
        <p:nvSpPr>
          <p:cNvPr id="4" name="Shape 2"/>
          <p:cNvSpPr/>
          <p:nvPr/>
        </p:nvSpPr>
        <p:spPr>
          <a:xfrm>
            <a:off x="658368" y="2039112"/>
            <a:ext cx="566928" cy="566928"/>
          </a:xfrm>
          <a:prstGeom prst="ellipse">
            <a:avLst/>
          </a:prstGeom>
          <a:solidFill>
            <a:srgbClr val="D97757"/>
          </a:solidFill>
          <a:ln/>
        </p:spPr>
        <p:txBody>
          <a:bodyPr/>
          <a:lstStyle/>
          <a:p>
            <a:endParaRPr/>
          </a:p>
        </p:txBody>
      </p:sp>
      <p:sp>
        <p:nvSpPr>
          <p:cNvPr id="5" name="Text 3"/>
          <p:cNvSpPr/>
          <p:nvPr/>
        </p:nvSpPr>
        <p:spPr>
          <a:xfrm>
            <a:off x="658368" y="2039112"/>
            <a:ext cx="566928" cy="566928"/>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1</a:t>
            </a:r>
            <a:endParaRPr lang="en-US" sz="2000" dirty="0"/>
          </a:p>
        </p:txBody>
      </p:sp>
      <p:sp>
        <p:nvSpPr>
          <p:cNvPr id="6" name="Text 4"/>
          <p:cNvSpPr/>
          <p:nvPr/>
        </p:nvSpPr>
        <p:spPr>
          <a:xfrm>
            <a:off x="1481328" y="1920240"/>
            <a:ext cx="9966960" cy="457200"/>
          </a:xfrm>
          <a:prstGeom prst="rect">
            <a:avLst/>
          </a:prstGeom>
          <a:noFill/>
          <a:ln/>
        </p:spPr>
        <p:txBody>
          <a:bodyPr wrap="square" lIns="0" tIns="0" rIns="0" bIns="0" rtlCol="0" anchor="ctr"/>
          <a:lstStyle/>
          <a:p>
            <a:pPr marL="0" indent="0">
              <a:buNone/>
            </a:pPr>
            <a:r>
              <a:rPr lang="en-US" sz="2250" b="1" dirty="0">
                <a:solidFill>
                  <a:srgbClr val="24211D"/>
                </a:solidFill>
                <a:latin typeface="맑은 고딕" pitchFamily="34" charset="0"/>
                <a:ea typeface="맑은 고딕" pitchFamily="34" charset="-122"/>
                <a:cs typeface="맑은 고딕" pitchFamily="34" charset="-120"/>
              </a:rPr>
              <a:t>파일을 하나하나 올릴 필요가 없습니다</a:t>
            </a:r>
            <a:endParaRPr lang="en-US" sz="2000" dirty="0"/>
          </a:p>
        </p:txBody>
      </p:sp>
      <p:sp>
        <p:nvSpPr>
          <p:cNvPr id="7" name="Text 5"/>
          <p:cNvSpPr/>
          <p:nvPr/>
        </p:nvSpPr>
        <p:spPr>
          <a:xfrm>
            <a:off x="1481328" y="2423160"/>
            <a:ext cx="9966960" cy="457200"/>
          </a:xfrm>
          <a:prstGeom prst="rect">
            <a:avLst/>
          </a:prstGeom>
          <a:noFill/>
          <a:ln/>
        </p:spPr>
        <p:txBody>
          <a:bodyPr wrap="square" lIns="0" tIns="0" rIns="0" bIns="0" rtlCol="0" anchor="t"/>
          <a:lstStyle/>
          <a:p>
            <a:pPr marL="0" indent="0">
              <a:buNone/>
            </a:pPr>
            <a:r>
              <a:rPr lang="en-US" sz="1700" dirty="0">
                <a:solidFill>
                  <a:srgbClr val="514B43"/>
                </a:solidFill>
                <a:latin typeface="맑은 고딕" pitchFamily="34" charset="0"/>
                <a:ea typeface="맑은 고딕" pitchFamily="34" charset="-122"/>
                <a:cs typeface="맑은 고딕" pitchFamily="34" charset="-120"/>
              </a:rPr>
              <a:t>폴더를 한 번 열어주면 그 안의 파일을 Claude가 알아서 찾아 읽습니다.</a:t>
            </a:r>
            <a:endParaRPr lang="en-US" sz="1400" dirty="0"/>
          </a:p>
        </p:txBody>
      </p:sp>
      <p:sp>
        <p:nvSpPr>
          <p:cNvPr id="8" name="Shape 6"/>
          <p:cNvSpPr/>
          <p:nvPr/>
        </p:nvSpPr>
        <p:spPr>
          <a:xfrm>
            <a:off x="658368" y="3008376"/>
            <a:ext cx="10789920" cy="0"/>
          </a:xfrm>
          <a:prstGeom prst="line">
            <a:avLst/>
          </a:prstGeom>
          <a:noFill/>
          <a:ln w="12700">
            <a:solidFill>
              <a:srgbClr val="DCD4C9"/>
            </a:solidFill>
            <a:prstDash val="solid"/>
          </a:ln>
        </p:spPr>
        <p:txBody>
          <a:bodyPr/>
          <a:lstStyle/>
          <a:p>
            <a:endParaRPr/>
          </a:p>
        </p:txBody>
      </p:sp>
      <p:sp>
        <p:nvSpPr>
          <p:cNvPr id="9" name="Shape 7"/>
          <p:cNvSpPr/>
          <p:nvPr/>
        </p:nvSpPr>
        <p:spPr>
          <a:xfrm>
            <a:off x="658368" y="3364992"/>
            <a:ext cx="566928" cy="566928"/>
          </a:xfrm>
          <a:prstGeom prst="ellipse">
            <a:avLst/>
          </a:prstGeom>
          <a:solidFill>
            <a:srgbClr val="D97757"/>
          </a:solidFill>
          <a:ln/>
        </p:spPr>
        <p:txBody>
          <a:bodyPr/>
          <a:lstStyle/>
          <a:p>
            <a:endParaRPr/>
          </a:p>
        </p:txBody>
      </p:sp>
      <p:sp>
        <p:nvSpPr>
          <p:cNvPr id="10" name="Text 8"/>
          <p:cNvSpPr/>
          <p:nvPr/>
        </p:nvSpPr>
        <p:spPr>
          <a:xfrm>
            <a:off x="658368" y="3364992"/>
            <a:ext cx="566928" cy="566928"/>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2</a:t>
            </a:r>
            <a:endParaRPr lang="en-US" sz="2000" dirty="0"/>
          </a:p>
        </p:txBody>
      </p:sp>
      <p:sp>
        <p:nvSpPr>
          <p:cNvPr id="11" name="Text 9"/>
          <p:cNvSpPr/>
          <p:nvPr/>
        </p:nvSpPr>
        <p:spPr>
          <a:xfrm>
            <a:off x="1481328" y="3246120"/>
            <a:ext cx="9966960" cy="457200"/>
          </a:xfrm>
          <a:prstGeom prst="rect">
            <a:avLst/>
          </a:prstGeom>
          <a:noFill/>
          <a:ln/>
        </p:spPr>
        <p:txBody>
          <a:bodyPr wrap="square" lIns="0" tIns="0" rIns="0" bIns="0" rtlCol="0" anchor="ctr"/>
          <a:lstStyle/>
          <a:p>
            <a:pPr marL="0" indent="0">
              <a:buNone/>
            </a:pPr>
            <a:r>
              <a:rPr lang="en-US" sz="2250" b="1" dirty="0">
                <a:solidFill>
                  <a:srgbClr val="24211D"/>
                </a:solidFill>
                <a:latin typeface="맑은 고딕" pitchFamily="34" charset="0"/>
                <a:ea typeface="맑은 고딕" pitchFamily="34" charset="-122"/>
                <a:cs typeface="맑은 고딕" pitchFamily="34" charset="-120"/>
              </a:rPr>
              <a:t>결과물을 파일로 만들어 줍니다</a:t>
            </a:r>
            <a:endParaRPr lang="en-US" sz="2000" dirty="0"/>
          </a:p>
        </p:txBody>
      </p:sp>
      <p:sp>
        <p:nvSpPr>
          <p:cNvPr id="12" name="Text 10"/>
          <p:cNvSpPr/>
          <p:nvPr/>
        </p:nvSpPr>
        <p:spPr>
          <a:xfrm>
            <a:off x="1481328" y="3749040"/>
            <a:ext cx="9966960" cy="457200"/>
          </a:xfrm>
          <a:prstGeom prst="rect">
            <a:avLst/>
          </a:prstGeom>
          <a:noFill/>
          <a:ln/>
        </p:spPr>
        <p:txBody>
          <a:bodyPr wrap="square" lIns="0" tIns="0" rIns="0" bIns="0" rtlCol="0" anchor="t"/>
          <a:lstStyle/>
          <a:p>
            <a:pPr marL="0" indent="0">
              <a:buNone/>
            </a:pPr>
            <a:r>
              <a:rPr lang="en-US" sz="1700" dirty="0">
                <a:solidFill>
                  <a:srgbClr val="514B43"/>
                </a:solidFill>
                <a:latin typeface="맑은 고딕" pitchFamily="34" charset="0"/>
                <a:ea typeface="맑은 고딕" pitchFamily="34" charset="-122"/>
                <a:cs typeface="맑은 고딕" pitchFamily="34" charset="-120"/>
              </a:rPr>
              <a:t>엑셀·워드·PPT를 실제 파일로 만들어 내 폴더에 저장해 둡니다.</a:t>
            </a:r>
            <a:endParaRPr lang="en-US" sz="1400" dirty="0"/>
          </a:p>
        </p:txBody>
      </p:sp>
      <p:sp>
        <p:nvSpPr>
          <p:cNvPr id="13" name="Shape 11"/>
          <p:cNvSpPr/>
          <p:nvPr/>
        </p:nvSpPr>
        <p:spPr>
          <a:xfrm>
            <a:off x="658368" y="4334256"/>
            <a:ext cx="10789920" cy="0"/>
          </a:xfrm>
          <a:prstGeom prst="line">
            <a:avLst/>
          </a:prstGeom>
          <a:noFill/>
          <a:ln w="12700">
            <a:solidFill>
              <a:srgbClr val="DCD4C9"/>
            </a:solidFill>
            <a:prstDash val="solid"/>
          </a:ln>
        </p:spPr>
        <p:txBody>
          <a:bodyPr/>
          <a:lstStyle/>
          <a:p>
            <a:endParaRPr/>
          </a:p>
        </p:txBody>
      </p:sp>
      <p:sp>
        <p:nvSpPr>
          <p:cNvPr id="14" name="Shape 12"/>
          <p:cNvSpPr/>
          <p:nvPr/>
        </p:nvSpPr>
        <p:spPr>
          <a:xfrm>
            <a:off x="658368" y="4690872"/>
            <a:ext cx="566928" cy="566928"/>
          </a:xfrm>
          <a:prstGeom prst="ellipse">
            <a:avLst/>
          </a:prstGeom>
          <a:solidFill>
            <a:srgbClr val="D97757"/>
          </a:solidFill>
          <a:ln/>
        </p:spPr>
        <p:txBody>
          <a:bodyPr/>
          <a:lstStyle/>
          <a:p>
            <a:endParaRPr/>
          </a:p>
        </p:txBody>
      </p:sp>
      <p:sp>
        <p:nvSpPr>
          <p:cNvPr id="15" name="Text 13"/>
          <p:cNvSpPr/>
          <p:nvPr/>
        </p:nvSpPr>
        <p:spPr>
          <a:xfrm>
            <a:off x="658368" y="4690872"/>
            <a:ext cx="566928" cy="566928"/>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3</a:t>
            </a:r>
            <a:endParaRPr lang="en-US" sz="2000" dirty="0"/>
          </a:p>
        </p:txBody>
      </p:sp>
      <p:sp>
        <p:nvSpPr>
          <p:cNvPr id="16" name="Text 14"/>
          <p:cNvSpPr/>
          <p:nvPr/>
        </p:nvSpPr>
        <p:spPr>
          <a:xfrm>
            <a:off x="1481328" y="4572000"/>
            <a:ext cx="9966960" cy="457200"/>
          </a:xfrm>
          <a:prstGeom prst="rect">
            <a:avLst/>
          </a:prstGeom>
          <a:noFill/>
          <a:ln/>
        </p:spPr>
        <p:txBody>
          <a:bodyPr wrap="square" lIns="0" tIns="0" rIns="0" bIns="0" rtlCol="0" anchor="ctr"/>
          <a:lstStyle/>
          <a:p>
            <a:pPr marL="0" indent="0">
              <a:buNone/>
            </a:pPr>
            <a:r>
              <a:rPr lang="en-US" sz="2250" b="1" dirty="0">
                <a:solidFill>
                  <a:srgbClr val="24211D"/>
                </a:solidFill>
                <a:latin typeface="맑은 고딕" pitchFamily="34" charset="0"/>
                <a:ea typeface="맑은 고딕" pitchFamily="34" charset="-122"/>
                <a:cs typeface="맑은 고딕" pitchFamily="34" charset="-120"/>
              </a:rPr>
              <a:t>다른 프로그램과 연결됩니다</a:t>
            </a:r>
            <a:endParaRPr lang="en-US" sz="2000" dirty="0"/>
          </a:p>
        </p:txBody>
      </p:sp>
      <p:sp>
        <p:nvSpPr>
          <p:cNvPr id="17" name="Text 15"/>
          <p:cNvSpPr/>
          <p:nvPr/>
        </p:nvSpPr>
        <p:spPr>
          <a:xfrm>
            <a:off x="1481328" y="5074920"/>
            <a:ext cx="9966960" cy="457200"/>
          </a:xfrm>
          <a:prstGeom prst="rect">
            <a:avLst/>
          </a:prstGeom>
          <a:noFill/>
          <a:ln/>
        </p:spPr>
        <p:txBody>
          <a:bodyPr wrap="square" lIns="0" tIns="0" rIns="0" bIns="0" rtlCol="0" anchor="t"/>
          <a:lstStyle/>
          <a:p>
            <a:pPr marL="0" indent="0">
              <a:buNone/>
            </a:pPr>
            <a:r>
              <a:rPr lang="en-US" sz="1700" dirty="0">
                <a:solidFill>
                  <a:srgbClr val="514B43"/>
                </a:solidFill>
                <a:latin typeface="맑은 고딕" pitchFamily="34" charset="0"/>
                <a:ea typeface="맑은 고딕" pitchFamily="34" charset="-122"/>
                <a:cs typeface="맑은 고딕" pitchFamily="34" charset="-120"/>
              </a:rPr>
              <a:t>실거래가 조회, 공시 검색 같은 일을 Claude가 직접 할 수 있게 됩니다.</a:t>
            </a:r>
            <a:endParaRPr lang="en-US" sz="1400" dirty="0"/>
          </a:p>
        </p:txBody>
      </p:sp>
      <p:sp>
        <p:nvSpPr>
          <p:cNvPr id="18" name="Text 16"/>
          <p:cNvSpPr/>
          <p:nvPr/>
        </p:nvSpPr>
        <p:spPr>
          <a:xfrm>
            <a:off x="566928" y="5806440"/>
            <a:ext cx="11064240" cy="365760"/>
          </a:xfrm>
          <a:prstGeom prst="rect">
            <a:avLst/>
          </a:prstGeom>
          <a:noFill/>
          <a:ln/>
        </p:spPr>
        <p:txBody>
          <a:bodyPr wrap="square" lIns="0" tIns="0" rIns="0" bIns="0" rtlCol="0" anchor="ctr"/>
          <a:lstStyle/>
          <a:p>
            <a:pPr marL="0" indent="0">
              <a:buNone/>
            </a:pPr>
            <a:r>
              <a:rPr lang="en-US" sz="1650" i="1" dirty="0">
                <a:solidFill>
                  <a:srgbClr val="D97757"/>
                </a:solidFill>
                <a:latin typeface="맑은 고딕" pitchFamily="34" charset="0"/>
                <a:ea typeface="맑은 고딕" pitchFamily="34" charset="-122"/>
                <a:cs typeface="맑은 고딕" pitchFamily="34" charset="-120"/>
              </a:rPr>
              <a:t>3번은 MCP 섹션에서, 1·2번은 파일 작업에서 직접 해봅니다.</a:t>
            </a:r>
            <a:endParaRPr lang="en-US" sz="1300" dirty="0"/>
          </a:p>
        </p:txBody>
      </p:sp>
      <p:sp>
        <p:nvSpPr>
          <p:cNvPr id="19" name="TextBox 18">
            <a:extLst>
              <a:ext uri="{FF2B5EF4-FFF2-40B4-BE49-F238E27FC236}">
                <a16:creationId xmlns:a16="http://schemas.microsoft.com/office/drawing/2014/main" id="{BDC4A10F-C634-5DB5-FC45-B4BA178842D5}"/>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01 · Claude </a:t>
            </a:r>
            <a:r>
              <a:rPr lang="ko-KR" altLang="en-US" sz="1200">
                <a:solidFill>
                  <a:srgbClr val="A69C90"/>
                </a:solidFill>
                <a:latin typeface="맑은 고딕" panose="020B0503020000020004" pitchFamily="50" charset="-127"/>
                <a:ea typeface="맑은 고딕" panose="020B0503020000020004" pitchFamily="50" charset="-127"/>
              </a:rPr>
              <a:t>시작하기          </a:t>
            </a:r>
            <a:r>
              <a:rPr lang="en-US" altLang="ko-KR" sz="1200">
                <a:solidFill>
                  <a:srgbClr val="A69C90"/>
                </a:solidFill>
                <a:latin typeface="맑은 고딕" panose="020B0503020000020004" pitchFamily="50" charset="-127"/>
                <a:ea typeface="맑은 고딕" panose="020B0503020000020004" pitchFamily="50" charset="-127"/>
              </a:rPr>
              <a:t>6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요금제는 네 가지입니다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개인이 쓰는 요금제 기준입니다</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64240" cy="2834640"/>
        </p:xfrm>
        <a:graphic>
          <a:graphicData uri="http://schemas.openxmlformats.org/drawingml/2006/table">
            <a:tbl>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tblGrid>
              <a:tr h="566928">
                <a:tc>
                  <a:txBody>
                    <a:bodyP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요금제</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가격</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이런 분께</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extLst>
                  <a:ext uri="{0D108BD9-81ED-4DB2-BD59-A6C34878D82A}">
                    <a16:rowId xmlns:a16="http://schemas.microsoft.com/office/drawing/2014/main" val="10000"/>
                  </a:ext>
                </a:extLst>
              </a:tr>
              <a:tr h="566928">
                <a:tc>
                  <a:txBody>
                    <a:bodyPr/>
                    <a:lstStyle/>
                    <a:p>
                      <a:pPr marL="0" indent="0" algn="l">
                        <a:buNone/>
                      </a:pPr>
                      <a:r>
                        <a:rPr lang="en-US" sz="1600" dirty="0">
                          <a:solidFill>
                            <a:srgbClr val="24211D"/>
                          </a:solidFill>
                          <a:latin typeface="맑은 고딕" pitchFamily="34" charset="0"/>
                          <a:ea typeface="맑은 고딕" pitchFamily="34" charset="-122"/>
                          <a:cs typeface="맑은 고딕" pitchFamily="34" charset="-120"/>
                        </a:rPr>
                        <a:t>Free</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4211D"/>
                          </a:solidFill>
                          <a:latin typeface="맑은 고딕" pitchFamily="34" charset="0"/>
                          <a:ea typeface="맑은 고딕" pitchFamily="34" charset="-122"/>
                          <a:cs typeface="맑은 고딕" pitchFamily="34" charset="-120"/>
                        </a:rPr>
                        <a:t>무료</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4211D"/>
                          </a:solidFill>
                          <a:latin typeface="맑은 고딕" pitchFamily="34" charset="0"/>
                          <a:ea typeface="맑은 고딕" pitchFamily="34" charset="-122"/>
                          <a:cs typeface="맑은 고딕" pitchFamily="34" charset="-120"/>
                        </a:rPr>
                        <a:t>가끔 써보는 정도</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600" b="1" dirty="0">
                          <a:solidFill>
                            <a:srgbClr val="24211D"/>
                          </a:solidFill>
                          <a:latin typeface="맑은 고딕" pitchFamily="34" charset="0"/>
                          <a:ea typeface="맑은 고딕" pitchFamily="34" charset="-122"/>
                          <a:cs typeface="맑은 고딕" pitchFamily="34" charset="-120"/>
                        </a:rPr>
                        <a:t>Pro</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24211D"/>
                          </a:solidFill>
                          <a:latin typeface="맑은 고딕" pitchFamily="34" charset="0"/>
                          <a:ea typeface="맑은 고딕" pitchFamily="34" charset="-122"/>
                          <a:cs typeface="맑은 고딕" pitchFamily="34" charset="-120"/>
                        </a:rPr>
                        <a:t>월 $20 (연 $200)</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A8462A"/>
                          </a:solidFill>
                          <a:latin typeface="맑은 고딕" pitchFamily="34" charset="0"/>
                          <a:ea typeface="맑은 고딕" pitchFamily="34" charset="-122"/>
                          <a:cs typeface="맑은 고딕" pitchFamily="34" charset="-120"/>
                        </a:rPr>
                        <a:t>이 교육에 필요한 최소 사양</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600" dirty="0">
                          <a:solidFill>
                            <a:srgbClr val="24211D"/>
                          </a:solidFill>
                          <a:latin typeface="맑은 고딕" pitchFamily="34" charset="0"/>
                          <a:ea typeface="맑은 고딕" pitchFamily="34" charset="-122"/>
                          <a:cs typeface="맑은 고딕" pitchFamily="34" charset="-120"/>
                        </a:rPr>
                        <a:t>Max 5x</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4211D"/>
                          </a:solidFill>
                          <a:latin typeface="맑은 고딕" pitchFamily="34" charset="0"/>
                          <a:ea typeface="맑은 고딕" pitchFamily="34" charset="-122"/>
                          <a:cs typeface="맑은 고딕" pitchFamily="34" charset="-120"/>
                        </a:rPr>
                        <a:t>월 $100</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4211D"/>
                          </a:solidFill>
                          <a:latin typeface="맑은 고딕" pitchFamily="34" charset="0"/>
                          <a:ea typeface="맑은 고딕" pitchFamily="34" charset="-122"/>
                          <a:cs typeface="맑은 고딕" pitchFamily="34" charset="-120"/>
                        </a:rPr>
                        <a:t>매일 여러 일을 맡기는 분</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600" dirty="0">
                          <a:solidFill>
                            <a:srgbClr val="24211D"/>
                          </a:solidFill>
                          <a:latin typeface="맑은 고딕" pitchFamily="34" charset="0"/>
                          <a:ea typeface="맑은 고딕" pitchFamily="34" charset="-122"/>
                          <a:cs typeface="맑은 고딕" pitchFamily="34" charset="-120"/>
                        </a:rPr>
                        <a:t>Max 20x</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4211D"/>
                          </a:solidFill>
                          <a:latin typeface="맑은 고딕" pitchFamily="34" charset="0"/>
                          <a:ea typeface="맑은 고딕" pitchFamily="34" charset="-122"/>
                          <a:cs typeface="맑은 고딕" pitchFamily="34" charset="-120"/>
                        </a:rPr>
                        <a:t>월 $200</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4211D"/>
                          </a:solidFill>
                          <a:latin typeface="맑은 고딕" pitchFamily="34" charset="0"/>
                          <a:ea typeface="맑은 고딕" pitchFamily="34" charset="-122"/>
                          <a:cs typeface="맑은 고딕" pitchFamily="34" charset="-120"/>
                        </a:rPr>
                        <a:t>하루 종일 붙잡고 쓰는 분</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66928" y="5029200"/>
            <a:ext cx="11064240" cy="868680"/>
          </a:xfrm>
          <a:prstGeom prst="roundRect">
            <a:avLst>
              <a:gd name="adj" fmla="val 5263"/>
            </a:avLst>
          </a:prstGeom>
          <a:solidFill>
            <a:srgbClr val="F5F1EB"/>
          </a:solidFill>
          <a:ln w="9525">
            <a:solidFill>
              <a:srgbClr val="DCD4C9"/>
            </a:solidFill>
            <a:prstDash val="solid"/>
          </a:ln>
        </p:spPr>
        <p:txBody>
          <a:bodyPr/>
          <a:lstStyle/>
          <a:p>
            <a:endParaRPr/>
          </a:p>
        </p:txBody>
      </p:sp>
      <p:sp>
        <p:nvSpPr>
          <p:cNvPr id="4" name="Text 3"/>
          <p:cNvSpPr/>
          <p:nvPr/>
        </p:nvSpPr>
        <p:spPr>
          <a:xfrm>
            <a:off x="914400" y="5029200"/>
            <a:ext cx="10424160" cy="868680"/>
          </a:xfrm>
          <a:prstGeom prst="rect">
            <a:avLst/>
          </a:prstGeom>
          <a:noFill/>
          <a:ln/>
        </p:spPr>
        <p:txBody>
          <a:bodyPr wrap="square" lIns="0" tIns="0" rIns="0" bIns="0" rtlCol="0" anchor="ctr"/>
          <a:lstStyle/>
          <a:p>
            <a:pPr marL="0" indent="0">
              <a:buNone/>
            </a:pPr>
            <a:r>
              <a:rPr lang="en-US" sz="1700" dirty="0">
                <a:solidFill>
                  <a:srgbClr val="24211D"/>
                </a:solidFill>
                <a:latin typeface="맑은 고딕" pitchFamily="34" charset="0"/>
                <a:ea typeface="맑은 고딕" pitchFamily="34" charset="-122"/>
                <a:cs typeface="맑은 고딕" pitchFamily="34" charset="-120"/>
              </a:rPr>
              <a:t>회사·단체용으로는 Team, Enterprise 요금제가 따로 있습니다.</a:t>
            </a:r>
            <a:endParaRPr lang="en-US" sz="1400" dirty="0"/>
          </a:p>
        </p:txBody>
      </p:sp>
      <p:sp>
        <p:nvSpPr>
          <p:cNvPr id="7" name="Text 4"/>
          <p:cNvSpPr/>
          <p:nvPr/>
        </p:nvSpPr>
        <p:spPr>
          <a:xfrm>
            <a:off x="566928" y="6272784"/>
            <a:ext cx="11064240" cy="310896"/>
          </a:xfrm>
          <a:prstGeom prst="rect">
            <a:avLst/>
          </a:prstGeom>
          <a:noFill/>
          <a:ln/>
        </p:spPr>
        <p:txBody>
          <a:bodyPr wrap="square" lIns="0" tIns="0" rIns="0" bIns="0" rtlCol="0" anchor="ctr"/>
          <a:lstStyle/>
          <a:p>
            <a:pPr marL="0" indent="0">
              <a:buNone/>
            </a:pPr>
            <a:r>
              <a:rPr lang="en-US" sz="1350" i="1" dirty="0">
                <a:solidFill>
                  <a:srgbClr val="514B43"/>
                </a:solidFill>
                <a:latin typeface="맑은 고딕" pitchFamily="34" charset="0"/>
                <a:ea typeface="맑은 고딕" pitchFamily="34" charset="-122"/>
                <a:cs typeface="맑은 고딕" pitchFamily="34" charset="-120"/>
              </a:rPr>
              <a:t>출처: support.claude.com/en/articles/11049762 (2026-08-06 확인) · 가격은 변경될 수 있으니 결제 전 공식 사이트에서 확인하세요</a:t>
            </a:r>
            <a:endParaRPr lang="en-US" sz="1000" dirty="0"/>
          </a:p>
        </p:txBody>
      </p:sp>
      <p:sp>
        <p:nvSpPr>
          <p:cNvPr id="8" name="TextBox 7">
            <a:extLst>
              <a:ext uri="{FF2B5EF4-FFF2-40B4-BE49-F238E27FC236}">
                <a16:creationId xmlns:a16="http://schemas.microsoft.com/office/drawing/2014/main" id="{DAB1219F-DC04-7E06-B6A7-F5BA0CDD7A04}"/>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01 · Claude </a:t>
            </a:r>
            <a:r>
              <a:rPr lang="ko-KR" altLang="en-US" sz="1200">
                <a:solidFill>
                  <a:srgbClr val="A69C90"/>
                </a:solidFill>
                <a:latin typeface="맑은 고딕" panose="020B0503020000020004" pitchFamily="50" charset="-127"/>
                <a:ea typeface="맑은 고딕" panose="020B0503020000020004" pitchFamily="50" charset="-127"/>
              </a:rPr>
              <a:t>시작하기          </a:t>
            </a:r>
            <a:r>
              <a:rPr lang="en-US" altLang="ko-KR" sz="1200">
                <a:solidFill>
                  <a:srgbClr val="A69C90"/>
                </a:solidFill>
                <a:latin typeface="맑은 고딕" panose="020B0503020000020004" pitchFamily="50" charset="-127"/>
                <a:ea typeface="맑은 고딕" panose="020B0503020000020004" pitchFamily="50" charset="-127"/>
              </a:rPr>
              <a:t>7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무료로 어디까지 되나요</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설치와 대화까지는 무료로도 됩니다</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64240" cy="2834640"/>
        </p:xfrm>
        <a:graphic>
          <a:graphicData uri="http://schemas.openxmlformats.org/drawingml/2006/table">
            <a:tbl>
              <a:tblPr/>
              <a:tblGrid>
                <a:gridCol w="36576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566928">
                <a:tc>
                  <a:txBody>
                    <a:bodyPr/>
                    <a:lstStyle/>
                    <a:p>
                      <a:pPr marL="0" indent="0">
                        <a:buNone/>
                      </a:pP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Free</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Pro 이상</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buNone/>
                      </a:pPr>
                      <a:r>
                        <a:rPr lang="en-US" sz="1600" b="1" dirty="0">
                          <a:solidFill>
                            <a:srgbClr val="FFFFFF"/>
                          </a:solidFill>
                          <a:latin typeface="맑은 고딕" pitchFamily="34" charset="0"/>
                          <a:ea typeface="맑은 고딕" pitchFamily="34" charset="-122"/>
                          <a:cs typeface="맑은 고딕" pitchFamily="34" charset="-120"/>
                        </a:rPr>
                        <a:t>언제 배우나</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extLst>
                  <a:ext uri="{0D108BD9-81ED-4DB2-BD59-A6C34878D82A}">
                    <a16:rowId xmlns:a16="http://schemas.microsoft.com/office/drawing/2014/main" val="10000"/>
                  </a:ext>
                </a:extLst>
              </a:tr>
              <a:tr h="566928">
                <a:tc>
                  <a:txBody>
                    <a:bodyPr/>
                    <a:lstStyle/>
                    <a:p>
                      <a:pPr marL="0" indent="0">
                        <a:buNone/>
                      </a:pPr>
                      <a:r>
                        <a:rPr lang="en-US" sz="1600" dirty="0">
                          <a:solidFill>
                            <a:srgbClr val="24211D"/>
                          </a:solidFill>
                          <a:latin typeface="맑은 고딕" pitchFamily="34" charset="0"/>
                          <a:ea typeface="맑은 고딕" pitchFamily="34" charset="-122"/>
                          <a:cs typeface="맑은 고딕" pitchFamily="34" charset="-120"/>
                        </a:rPr>
                        <a:t>앱 설치하기</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4211D"/>
                          </a:solidFill>
                          <a:latin typeface="맑은 고딕" pitchFamily="34" charset="0"/>
                          <a:ea typeface="맑은 고딕" pitchFamily="34" charset="-122"/>
                          <a:cs typeface="맑은 고딕" pitchFamily="34" charset="-120"/>
                        </a:rPr>
                        <a:t>가능</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4211D"/>
                          </a:solidFill>
                          <a:latin typeface="맑은 고딕" pitchFamily="34" charset="0"/>
                          <a:ea typeface="맑은 고딕" pitchFamily="34" charset="-122"/>
                          <a:cs typeface="맑은 고딕" pitchFamily="34" charset="-120"/>
                        </a:rPr>
                        <a:t>가능</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buNone/>
                      </a:pPr>
                      <a:r>
                        <a:rPr lang="en-US" sz="1600" dirty="0">
                          <a:solidFill>
                            <a:srgbClr val="24211D"/>
                          </a:solidFill>
                          <a:latin typeface="맑은 고딕" pitchFamily="34" charset="0"/>
                          <a:ea typeface="맑은 고딕" pitchFamily="34" charset="-122"/>
                          <a:cs typeface="맑은 고딕" pitchFamily="34" charset="-120"/>
                        </a:rPr>
                        <a:t>오늘</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600" dirty="0">
                          <a:solidFill>
                            <a:srgbClr val="24211D"/>
                          </a:solidFill>
                          <a:latin typeface="맑은 고딕" pitchFamily="34" charset="0"/>
                          <a:ea typeface="맑은 고딕" pitchFamily="34" charset="-122"/>
                          <a:cs typeface="맑은 고딕" pitchFamily="34" charset="-120"/>
                        </a:rPr>
                        <a:t>대화하기</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4211D"/>
                          </a:solidFill>
                          <a:latin typeface="맑은 고딕" pitchFamily="34" charset="0"/>
                          <a:ea typeface="맑은 고딕" pitchFamily="34" charset="-122"/>
                          <a:cs typeface="맑은 고딕" pitchFamily="34" charset="-120"/>
                        </a:rPr>
                        <a:t>가능</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4211D"/>
                          </a:solidFill>
                          <a:latin typeface="맑은 고딕" pitchFamily="34" charset="0"/>
                          <a:ea typeface="맑은 고딕" pitchFamily="34" charset="-122"/>
                          <a:cs typeface="맑은 고딕" pitchFamily="34" charset="-120"/>
                        </a:rPr>
                        <a:t>가능</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buNone/>
                      </a:pPr>
                      <a:r>
                        <a:rPr lang="en-US" sz="1600" dirty="0">
                          <a:solidFill>
                            <a:srgbClr val="24211D"/>
                          </a:solidFill>
                          <a:latin typeface="맑은 고딕" pitchFamily="34" charset="0"/>
                          <a:ea typeface="맑은 고딕" pitchFamily="34" charset="-122"/>
                          <a:cs typeface="맑은 고딕" pitchFamily="34" charset="-120"/>
                        </a:rPr>
                        <a:t>오늘</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600" b="1" dirty="0">
                          <a:solidFill>
                            <a:srgbClr val="24211D"/>
                          </a:solidFill>
                          <a:latin typeface="맑은 고딕" pitchFamily="34" charset="0"/>
                          <a:ea typeface="맑은 고딕" pitchFamily="34" charset="-122"/>
                          <a:cs typeface="맑은 고딕" pitchFamily="34" charset="-120"/>
                        </a:rPr>
                        <a:t>내 파일 다루기</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A8462A"/>
                          </a:solidFill>
                          <a:latin typeface="맑은 고딕" pitchFamily="34" charset="0"/>
                          <a:ea typeface="맑은 고딕" pitchFamily="34" charset="-122"/>
                          <a:cs typeface="맑은 고딕" pitchFamily="34" charset="-120"/>
                        </a:rPr>
                        <a:t>불가</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24211D"/>
                          </a:solidFill>
                          <a:latin typeface="맑은 고딕" pitchFamily="34" charset="0"/>
                          <a:ea typeface="맑은 고딕" pitchFamily="34" charset="-122"/>
                          <a:cs typeface="맑은 고딕" pitchFamily="34" charset="-120"/>
                        </a:rPr>
                        <a:t>가능</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buNone/>
                      </a:pPr>
                      <a:r>
                        <a:rPr lang="en-US" sz="1600" b="1" dirty="0">
                          <a:solidFill>
                            <a:srgbClr val="24211D"/>
                          </a:solidFill>
                          <a:latin typeface="맑은 고딕" pitchFamily="34" charset="0"/>
                          <a:ea typeface="맑은 고딕" pitchFamily="34" charset="-122"/>
                          <a:cs typeface="맑은 고딕" pitchFamily="34" charset="-120"/>
                        </a:rPr>
                        <a:t>파일 작업 때</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600" dirty="0">
                          <a:solidFill>
                            <a:srgbClr val="24211D"/>
                          </a:solidFill>
                          <a:latin typeface="맑은 고딕" pitchFamily="34" charset="0"/>
                          <a:ea typeface="맑은 고딕" pitchFamily="34" charset="-122"/>
                          <a:cs typeface="맑은 고딕" pitchFamily="34" charset="-120"/>
                        </a:rPr>
                        <a:t>다른 서비스 연결</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4211D"/>
                          </a:solidFill>
                          <a:latin typeface="맑은 고딕" pitchFamily="34" charset="0"/>
                          <a:ea typeface="맑은 고딕" pitchFamily="34" charset="-122"/>
                          <a:cs typeface="맑은 고딕" pitchFamily="34" charset="-120"/>
                        </a:rPr>
                        <a:t>가능</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4211D"/>
                          </a:solidFill>
                          <a:latin typeface="맑은 고딕" pitchFamily="34" charset="0"/>
                          <a:ea typeface="맑은 고딕" pitchFamily="34" charset="-122"/>
                          <a:cs typeface="맑은 고딕" pitchFamily="34" charset="-120"/>
                        </a:rPr>
                        <a:t>가능</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buNone/>
                      </a:pPr>
                      <a:r>
                        <a:rPr lang="en-US" sz="1600" dirty="0">
                          <a:solidFill>
                            <a:srgbClr val="24211D"/>
                          </a:solidFill>
                          <a:latin typeface="맑은 고딕" pitchFamily="34" charset="0"/>
                          <a:ea typeface="맑은 고딕" pitchFamily="34" charset="-122"/>
                          <a:cs typeface="맑은 고딕" pitchFamily="34" charset="-120"/>
                        </a:rPr>
                        <a:t>오늘 · MCP 붙일 때</a:t>
                      </a:r>
                      <a:endParaRPr lang="en-US" sz="1500" dirty="0">
                        <a:latin typeface="맑은 고딕" charset="0"/>
                        <a:ea typeface="맑은 고딕" charset="0"/>
                        <a:cs typeface="맑은 고딕" charset="0"/>
                      </a:endParaRPr>
                    </a:p>
                  </a:txBody>
                  <a:tcPr marL="152400" marR="1524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66928" y="5029200"/>
            <a:ext cx="11064240" cy="868680"/>
          </a:xfrm>
          <a:prstGeom prst="roundRect">
            <a:avLst>
              <a:gd name="adj" fmla="val 5263"/>
            </a:avLst>
          </a:prstGeom>
          <a:solidFill>
            <a:srgbClr val="24211D"/>
          </a:solidFill>
          <a:ln w="12700">
            <a:solidFill>
              <a:srgbClr val="24211D"/>
            </a:solidFill>
            <a:prstDash val="solid"/>
          </a:ln>
        </p:spPr>
        <p:txBody>
          <a:bodyPr/>
          <a:lstStyle/>
          <a:p>
            <a:endParaRPr/>
          </a:p>
        </p:txBody>
      </p:sp>
      <p:sp>
        <p:nvSpPr>
          <p:cNvPr id="6" name="Text 3"/>
          <p:cNvSpPr/>
          <p:nvPr/>
        </p:nvSpPr>
        <p:spPr>
          <a:xfrm>
            <a:off x="914400" y="5029200"/>
            <a:ext cx="10424160" cy="86868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오늘은 무료 계정으로도 끝까지 따라올 수 있습니다.  결제는 파일 작업 전까지 하시면 됩니다.</a:t>
            </a:r>
            <a:endParaRPr lang="en-US" sz="1600" dirty="0"/>
          </a:p>
        </p:txBody>
      </p:sp>
      <p:sp>
        <p:nvSpPr>
          <p:cNvPr id="4" name="Text 4"/>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출처: support.claude.com/en/articles/10065433 · 11176164 (2026-08-06 확인)</a:t>
            </a:r>
            <a:endParaRPr lang="en-US" sz="1000" dirty="0"/>
          </a:p>
        </p:txBody>
      </p:sp>
      <p:sp>
        <p:nvSpPr>
          <p:cNvPr id="8" name="TextBox 7">
            <a:extLst>
              <a:ext uri="{FF2B5EF4-FFF2-40B4-BE49-F238E27FC236}">
                <a16:creationId xmlns:a16="http://schemas.microsoft.com/office/drawing/2014/main" id="{192389E7-52E9-29FF-602C-1BABDD2B9D2A}"/>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01 · Claude </a:t>
            </a:r>
            <a:r>
              <a:rPr lang="ko-KR" altLang="en-US" sz="1200">
                <a:solidFill>
                  <a:srgbClr val="A69C90"/>
                </a:solidFill>
                <a:latin typeface="맑은 고딕" panose="020B0503020000020004" pitchFamily="50" charset="-127"/>
                <a:ea typeface="맑은 고딕" panose="020B0503020000020004" pitchFamily="50" charset="-127"/>
              </a:rPr>
              <a:t>시작하기          </a:t>
            </a:r>
            <a:r>
              <a:rPr lang="en-US" altLang="ko-KR" sz="1200">
                <a:solidFill>
                  <a:srgbClr val="A69C90"/>
                </a:solidFill>
                <a:latin typeface="맑은 고딕" panose="020B0503020000020004" pitchFamily="50" charset="-127"/>
                <a:ea typeface="맑은 고딕" panose="020B0503020000020004" pitchFamily="50" charset="-127"/>
              </a:rPr>
              <a:t>8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그래서 뭘 결제하면 되나요</a:t>
            </a:r>
            <a:endParaRPr lang="en-US" sz="3400" dirty="0"/>
          </a:p>
        </p:txBody>
      </p:sp>
      <p:sp>
        <p:nvSpPr>
          <p:cNvPr id="3" name="Shape 1"/>
          <p:cNvSpPr/>
          <p:nvPr/>
        </p:nvSpPr>
        <p:spPr>
          <a:xfrm>
            <a:off x="566928" y="1554480"/>
            <a:ext cx="5029200" cy="3931920"/>
          </a:xfrm>
          <a:prstGeom prst="roundRect">
            <a:avLst>
              <a:gd name="adj" fmla="val 1395"/>
            </a:avLst>
          </a:prstGeom>
          <a:solidFill>
            <a:srgbClr val="24211D"/>
          </a:solidFill>
          <a:ln w="12700">
            <a:solidFill>
              <a:srgbClr val="24211D"/>
            </a:solidFill>
            <a:prstDash val="solid"/>
          </a:ln>
        </p:spPr>
        <p:txBody>
          <a:bodyPr/>
          <a:lstStyle/>
          <a:p>
            <a:endParaRPr/>
          </a:p>
        </p:txBody>
      </p:sp>
      <p:sp>
        <p:nvSpPr>
          <p:cNvPr id="4" name="Text 2"/>
          <p:cNvSpPr/>
          <p:nvPr/>
        </p:nvSpPr>
        <p:spPr>
          <a:xfrm>
            <a:off x="914400" y="1828800"/>
            <a:ext cx="4297680" cy="365760"/>
          </a:xfrm>
          <a:prstGeom prst="rect">
            <a:avLst/>
          </a:prstGeom>
          <a:noFill/>
          <a:ln/>
        </p:spPr>
        <p:txBody>
          <a:bodyPr wrap="square" lIns="0" tIns="0" rIns="0" bIns="0" rtlCol="0" anchor="ctr"/>
          <a:lstStyle/>
          <a:p>
            <a:pPr marL="0" indent="0">
              <a:buNone/>
            </a:pPr>
            <a:r>
              <a:rPr lang="en-US" sz="1700" b="1" kern="0" spc="200" dirty="0">
                <a:solidFill>
                  <a:srgbClr val="D97757"/>
                </a:solidFill>
                <a:latin typeface="맑은 고딕" pitchFamily="34" charset="0"/>
                <a:ea typeface="맑은 고딕" pitchFamily="34" charset="-122"/>
                <a:cs typeface="맑은 고딕" pitchFamily="34" charset="-120"/>
              </a:rPr>
              <a:t>권장</a:t>
            </a:r>
            <a:endParaRPr lang="en-US" sz="1400" dirty="0"/>
          </a:p>
        </p:txBody>
      </p:sp>
      <p:sp>
        <p:nvSpPr>
          <p:cNvPr id="5" name="Text 3"/>
          <p:cNvSpPr/>
          <p:nvPr/>
        </p:nvSpPr>
        <p:spPr>
          <a:xfrm>
            <a:off x="914400" y="2240280"/>
            <a:ext cx="4297680" cy="1005840"/>
          </a:xfrm>
          <a:prstGeom prst="rect">
            <a:avLst/>
          </a:prstGeom>
          <a:noFill/>
          <a:ln/>
        </p:spPr>
        <p:txBody>
          <a:bodyPr wrap="square" lIns="0" tIns="0" rIns="0" bIns="0" rtlCol="0" anchor="ctr"/>
          <a:lstStyle/>
          <a:p>
            <a:pPr marL="0" indent="0">
              <a:buNone/>
            </a:pPr>
            <a:r>
              <a:rPr lang="en-US" sz="5800" b="1" dirty="0">
                <a:solidFill>
                  <a:srgbClr val="FFFFFF"/>
                </a:solidFill>
                <a:latin typeface="맑은 고딕" pitchFamily="34" charset="0"/>
                <a:ea typeface="맑은 고딕" pitchFamily="34" charset="-122"/>
                <a:cs typeface="맑은 고딕" pitchFamily="34" charset="-120"/>
              </a:rPr>
              <a:t>Pro</a:t>
            </a:r>
            <a:endParaRPr lang="en-US" sz="5800" dirty="0"/>
          </a:p>
        </p:txBody>
      </p:sp>
      <p:sp>
        <p:nvSpPr>
          <p:cNvPr id="6" name="Text 4"/>
          <p:cNvSpPr/>
          <p:nvPr/>
        </p:nvSpPr>
        <p:spPr>
          <a:xfrm>
            <a:off x="914400" y="3291840"/>
            <a:ext cx="4297680" cy="411480"/>
          </a:xfrm>
          <a:prstGeom prst="rect">
            <a:avLst/>
          </a:prstGeom>
          <a:noFill/>
          <a:ln/>
        </p:spPr>
        <p:txBody>
          <a:bodyPr wrap="square" lIns="0" tIns="0" rIns="0" bIns="0" rtlCol="0" anchor="ctr"/>
          <a:lstStyle/>
          <a:p>
            <a:pPr marL="0" indent="0">
              <a:buNone/>
            </a:pPr>
            <a:r>
              <a:rPr lang="en-US" sz="1900" dirty="0">
                <a:solidFill>
                  <a:srgbClr val="E2DBD1"/>
                </a:solidFill>
                <a:latin typeface="맑은 고딕" pitchFamily="34" charset="0"/>
                <a:ea typeface="맑은 고딕" pitchFamily="34" charset="-122"/>
                <a:cs typeface="맑은 고딕" pitchFamily="34" charset="-120"/>
              </a:rPr>
              <a:t>월 $20 · 연 $200</a:t>
            </a:r>
            <a:endParaRPr lang="en-US" sz="1700" dirty="0"/>
          </a:p>
        </p:txBody>
      </p:sp>
      <p:sp>
        <p:nvSpPr>
          <p:cNvPr id="7" name="Text 5"/>
          <p:cNvSpPr/>
          <p:nvPr/>
        </p:nvSpPr>
        <p:spPr>
          <a:xfrm>
            <a:off x="914400" y="3840480"/>
            <a:ext cx="4297680" cy="1554480"/>
          </a:xfrm>
          <a:prstGeom prst="rect">
            <a:avLst/>
          </a:prstGeom>
          <a:noFill/>
          <a:ln/>
        </p:spPr>
        <p:txBody>
          <a:bodyPr wrap="square" lIns="0" tIns="0" rIns="0" bIns="0" rtlCol="0" anchor="t"/>
          <a:lstStyle/>
          <a:p>
            <a:pPr marL="0" indent="0">
              <a:lnSpc>
                <a:spcPts val="2000"/>
              </a:lnSpc>
              <a:buNone/>
            </a:pPr>
            <a:r>
              <a:rPr lang="en-US" sz="1550" dirty="0">
                <a:solidFill>
                  <a:srgbClr val="F6F1EA"/>
                </a:solidFill>
                <a:latin typeface="맑은 고딕" pitchFamily="34" charset="0"/>
                <a:ea typeface="맑은 고딕" pitchFamily="34" charset="-122"/>
                <a:cs typeface="맑은 고딕" pitchFamily="34" charset="-120"/>
              </a:rPr>
              <a:t>이 교육 전 과정을 따라오려면</a:t>
            </a:r>
            <a:endParaRPr lang="en-US" sz="1300" dirty="0"/>
          </a:p>
          <a:p>
            <a:pPr marL="0" indent="0">
              <a:lnSpc>
                <a:spcPts val="2000"/>
              </a:lnSpc>
              <a:buNone/>
            </a:pPr>
            <a:r>
              <a:rPr lang="en-US" sz="1550" dirty="0">
                <a:solidFill>
                  <a:srgbClr val="F6F1EA"/>
                </a:solidFill>
                <a:latin typeface="맑은 고딕" pitchFamily="34" charset="0"/>
                <a:ea typeface="맑은 고딕" pitchFamily="34" charset="-122"/>
                <a:cs typeface="맑은 고딕" pitchFamily="34" charset="-120"/>
              </a:rPr>
              <a:t>최소 이것이 필요합니다.</a:t>
            </a:r>
            <a:endParaRPr lang="en-US" sz="1300" dirty="0"/>
          </a:p>
          <a:p>
            <a:pPr marL="0" indent="0">
              <a:lnSpc>
                <a:spcPts val="2000"/>
              </a:lnSpc>
              <a:buNone/>
            </a:pPr>
            <a:endParaRPr lang="en-US" sz="1300" dirty="0"/>
          </a:p>
          <a:p>
            <a:pPr marL="0" indent="0">
              <a:lnSpc>
                <a:spcPts val="2000"/>
              </a:lnSpc>
              <a:buNone/>
            </a:pPr>
            <a:r>
              <a:rPr lang="en-US" sz="1550" dirty="0">
                <a:solidFill>
                  <a:srgbClr val="F6F1EA"/>
                </a:solidFill>
                <a:latin typeface="맑은 고딕" pitchFamily="34" charset="0"/>
                <a:ea typeface="맑은 고딕" pitchFamily="34" charset="-122"/>
                <a:cs typeface="맑은 고딕" pitchFamily="34" charset="-120"/>
              </a:rPr>
              <a:t>먼저 월 단위로 써보고,</a:t>
            </a:r>
            <a:endParaRPr lang="en-US" sz="1300" dirty="0"/>
          </a:p>
          <a:p>
            <a:pPr marL="0" indent="0">
              <a:lnSpc>
                <a:spcPts val="2000"/>
              </a:lnSpc>
              <a:buNone/>
            </a:pPr>
            <a:r>
              <a:rPr lang="en-US" sz="1550" dirty="0">
                <a:solidFill>
                  <a:srgbClr val="F6F1EA"/>
                </a:solidFill>
                <a:latin typeface="맑은 고딕" pitchFamily="34" charset="0"/>
                <a:ea typeface="맑은 고딕" pitchFamily="34" charset="-122"/>
                <a:cs typeface="맑은 고딕" pitchFamily="34" charset="-120"/>
              </a:rPr>
              <a:t>계속 쓸 것 같으면 그때</a:t>
            </a:r>
            <a:endParaRPr lang="en-US" sz="1300" dirty="0"/>
          </a:p>
          <a:p>
            <a:pPr marL="0" indent="0">
              <a:lnSpc>
                <a:spcPts val="2000"/>
              </a:lnSpc>
              <a:buNone/>
            </a:pPr>
            <a:r>
              <a:rPr lang="en-US" sz="1550" dirty="0">
                <a:solidFill>
                  <a:srgbClr val="F6F1EA"/>
                </a:solidFill>
                <a:latin typeface="맑은 고딕" pitchFamily="34" charset="0"/>
                <a:ea typeface="맑은 고딕" pitchFamily="34" charset="-122"/>
                <a:cs typeface="맑은 고딕" pitchFamily="34" charset="-120"/>
              </a:rPr>
              <a:t>연 단위로 바꾸세요.</a:t>
            </a:r>
            <a:endParaRPr lang="en-US" sz="1300" dirty="0"/>
          </a:p>
        </p:txBody>
      </p:sp>
      <p:sp>
        <p:nvSpPr>
          <p:cNvPr id="8" name="Text 6"/>
          <p:cNvSpPr/>
          <p:nvPr/>
        </p:nvSpPr>
        <p:spPr>
          <a:xfrm>
            <a:off x="5943600" y="1600200"/>
            <a:ext cx="5669280" cy="411480"/>
          </a:xfrm>
          <a:prstGeom prst="rect">
            <a:avLst/>
          </a:prstGeom>
          <a:noFill/>
          <a:ln/>
        </p:spPr>
        <p:txBody>
          <a:bodyPr wrap="square" lIns="0" tIns="0" rIns="0" bIns="0" rtlCol="0" anchor="ctr"/>
          <a:lstStyle/>
          <a:p>
            <a:pPr marL="0" indent="0">
              <a:buNone/>
            </a:pPr>
            <a:r>
              <a:rPr lang="en-US" sz="2100" b="1" dirty="0">
                <a:solidFill>
                  <a:srgbClr val="24211D"/>
                </a:solidFill>
                <a:latin typeface="맑은 고딕" pitchFamily="34" charset="0"/>
                <a:ea typeface="맑은 고딕" pitchFamily="34" charset="-122"/>
                <a:cs typeface="맑은 고딕" pitchFamily="34" charset="-120"/>
              </a:rPr>
              <a:t>이렇게 하세요</a:t>
            </a:r>
            <a:endParaRPr lang="en-US" sz="2000" dirty="0"/>
          </a:p>
        </p:txBody>
      </p:sp>
      <p:sp>
        <p:nvSpPr>
          <p:cNvPr id="9" name="Shape 7"/>
          <p:cNvSpPr/>
          <p:nvPr/>
        </p:nvSpPr>
        <p:spPr>
          <a:xfrm>
            <a:off x="5943600" y="2194560"/>
            <a:ext cx="5687568" cy="896112"/>
          </a:xfrm>
          <a:prstGeom prst="roundRect">
            <a:avLst>
              <a:gd name="adj" fmla="val 5102"/>
            </a:avLst>
          </a:prstGeom>
          <a:solidFill>
            <a:srgbClr val="F5F1EB"/>
          </a:solidFill>
          <a:ln w="9525">
            <a:solidFill>
              <a:srgbClr val="DCD4C9"/>
            </a:solidFill>
            <a:prstDash val="solid"/>
          </a:ln>
        </p:spPr>
        <p:txBody>
          <a:bodyPr/>
          <a:lstStyle/>
          <a:p>
            <a:endParaRPr/>
          </a:p>
        </p:txBody>
      </p:sp>
      <p:sp>
        <p:nvSpPr>
          <p:cNvPr id="10" name="Text 8"/>
          <p:cNvSpPr/>
          <p:nvPr/>
        </p:nvSpPr>
        <p:spPr>
          <a:xfrm>
            <a:off x="6236208" y="2194560"/>
            <a:ext cx="2286000" cy="896112"/>
          </a:xfrm>
          <a:prstGeom prst="rect">
            <a:avLst/>
          </a:prstGeom>
          <a:noFill/>
          <a:ln/>
        </p:spPr>
        <p:txBody>
          <a:bodyPr wrap="square" lIns="0" tIns="0" rIns="0" bIns="0" rtlCol="0" anchor="ctr"/>
          <a:lstStyle/>
          <a:p>
            <a:pPr marL="0" indent="0">
              <a:buNone/>
            </a:pPr>
            <a:r>
              <a:rPr lang="en-US" sz="1650" dirty="0">
                <a:solidFill>
                  <a:srgbClr val="514B43"/>
                </a:solidFill>
                <a:latin typeface="맑은 고딕" pitchFamily="34" charset="0"/>
                <a:ea typeface="맑은 고딕" pitchFamily="34" charset="-122"/>
                <a:cs typeface="맑은 고딕" pitchFamily="34" charset="-120"/>
              </a:rPr>
              <a:t>오늘 ~ 당분간</a:t>
            </a:r>
            <a:endParaRPr lang="en-US" sz="1300" dirty="0"/>
          </a:p>
        </p:txBody>
      </p:sp>
      <p:sp>
        <p:nvSpPr>
          <p:cNvPr id="11" name="Text 9"/>
          <p:cNvSpPr/>
          <p:nvPr/>
        </p:nvSpPr>
        <p:spPr>
          <a:xfrm>
            <a:off x="8522208" y="2194560"/>
            <a:ext cx="2834640" cy="896112"/>
          </a:xfrm>
          <a:prstGeom prst="rect">
            <a:avLst/>
          </a:prstGeom>
          <a:noFill/>
          <a:ln/>
        </p:spPr>
        <p:txBody>
          <a:bodyPr wrap="square" lIns="0" tIns="0" rIns="0" bIns="0" rtlCol="0" anchor="ctr"/>
          <a:lstStyle/>
          <a:p>
            <a:pPr marL="0" indent="0">
              <a:buNone/>
            </a:pPr>
            <a:r>
              <a:rPr lang="en-US" sz="1800" b="1" dirty="0">
                <a:solidFill>
                  <a:srgbClr val="514B43"/>
                </a:solidFill>
                <a:latin typeface="맑은 고딕" pitchFamily="34" charset="0"/>
                <a:ea typeface="맑은 고딕" pitchFamily="34" charset="-122"/>
                <a:cs typeface="맑은 고딕" pitchFamily="34" charset="-120"/>
              </a:rPr>
              <a:t>무료로 충분합니다</a:t>
            </a:r>
            <a:endParaRPr lang="en-US" sz="1600" dirty="0"/>
          </a:p>
        </p:txBody>
      </p:sp>
      <p:sp>
        <p:nvSpPr>
          <p:cNvPr id="12" name="Shape 10"/>
          <p:cNvSpPr/>
          <p:nvPr/>
        </p:nvSpPr>
        <p:spPr>
          <a:xfrm>
            <a:off x="5943600" y="3273552"/>
            <a:ext cx="5687568" cy="896112"/>
          </a:xfrm>
          <a:prstGeom prst="roundRect">
            <a:avLst>
              <a:gd name="adj" fmla="val 5102"/>
            </a:avLst>
          </a:prstGeom>
          <a:solidFill>
            <a:srgbClr val="F5F1EB"/>
          </a:solidFill>
          <a:ln w="9525">
            <a:solidFill>
              <a:srgbClr val="DCD4C9"/>
            </a:solidFill>
            <a:prstDash val="solid"/>
          </a:ln>
        </p:spPr>
        <p:txBody>
          <a:bodyPr/>
          <a:lstStyle/>
          <a:p>
            <a:endParaRPr/>
          </a:p>
        </p:txBody>
      </p:sp>
      <p:sp>
        <p:nvSpPr>
          <p:cNvPr id="13" name="Text 11"/>
          <p:cNvSpPr/>
          <p:nvPr/>
        </p:nvSpPr>
        <p:spPr>
          <a:xfrm>
            <a:off x="6236208" y="3273552"/>
            <a:ext cx="2286000" cy="896112"/>
          </a:xfrm>
          <a:prstGeom prst="rect">
            <a:avLst/>
          </a:prstGeom>
          <a:noFill/>
          <a:ln/>
        </p:spPr>
        <p:txBody>
          <a:bodyPr wrap="square" lIns="0" tIns="0" rIns="0" bIns="0" rtlCol="0" anchor="ctr"/>
          <a:lstStyle/>
          <a:p>
            <a:pPr marL="0" indent="0">
              <a:buNone/>
            </a:pPr>
            <a:r>
              <a:rPr lang="en-US" sz="1650" dirty="0">
                <a:solidFill>
                  <a:srgbClr val="514B43"/>
                </a:solidFill>
                <a:latin typeface="맑은 고딕" pitchFamily="34" charset="0"/>
                <a:ea typeface="맑은 고딕" pitchFamily="34" charset="-122"/>
                <a:cs typeface="맑은 고딕" pitchFamily="34" charset="-120"/>
              </a:rPr>
              <a:t>파일 작업 전</a:t>
            </a:r>
            <a:endParaRPr lang="en-US" sz="1300" dirty="0"/>
          </a:p>
        </p:txBody>
      </p:sp>
      <p:sp>
        <p:nvSpPr>
          <p:cNvPr id="14" name="Text 12"/>
          <p:cNvSpPr/>
          <p:nvPr/>
        </p:nvSpPr>
        <p:spPr>
          <a:xfrm>
            <a:off x="8522208" y="3273552"/>
            <a:ext cx="2834640" cy="896112"/>
          </a:xfrm>
          <a:prstGeom prst="rect">
            <a:avLst/>
          </a:prstGeom>
          <a:noFill/>
          <a:ln/>
        </p:spPr>
        <p:txBody>
          <a:bodyPr wrap="square" lIns="0" tIns="0" rIns="0" bIns="0" rtlCol="0" anchor="ctr"/>
          <a:lstStyle/>
          <a:p>
            <a:pPr marL="0" indent="0">
              <a:buNone/>
            </a:pPr>
            <a:r>
              <a:rPr lang="en-US" sz="1800" b="1" dirty="0">
                <a:solidFill>
                  <a:srgbClr val="A8462A"/>
                </a:solidFill>
                <a:latin typeface="맑은 고딕" pitchFamily="34" charset="0"/>
                <a:ea typeface="맑은 고딕" pitchFamily="34" charset="-122"/>
                <a:cs typeface="맑은 고딕" pitchFamily="34" charset="-120"/>
              </a:rPr>
              <a:t>Pro로 올리세요</a:t>
            </a:r>
            <a:endParaRPr lang="en-US" sz="1600" dirty="0"/>
          </a:p>
        </p:txBody>
      </p:sp>
      <p:sp>
        <p:nvSpPr>
          <p:cNvPr id="15" name="Shape 13"/>
          <p:cNvSpPr/>
          <p:nvPr/>
        </p:nvSpPr>
        <p:spPr>
          <a:xfrm>
            <a:off x="5943600" y="4352544"/>
            <a:ext cx="5687568" cy="896112"/>
          </a:xfrm>
          <a:prstGeom prst="roundRect">
            <a:avLst>
              <a:gd name="adj" fmla="val 5102"/>
            </a:avLst>
          </a:prstGeom>
          <a:solidFill>
            <a:srgbClr val="F5F1EB"/>
          </a:solidFill>
          <a:ln w="9525">
            <a:solidFill>
              <a:srgbClr val="DCD4C9"/>
            </a:solidFill>
            <a:prstDash val="solid"/>
          </a:ln>
        </p:spPr>
        <p:txBody>
          <a:bodyPr/>
          <a:lstStyle/>
          <a:p>
            <a:endParaRPr/>
          </a:p>
        </p:txBody>
      </p:sp>
      <p:sp>
        <p:nvSpPr>
          <p:cNvPr id="16" name="Text 14"/>
          <p:cNvSpPr/>
          <p:nvPr/>
        </p:nvSpPr>
        <p:spPr>
          <a:xfrm>
            <a:off x="6236208" y="4352544"/>
            <a:ext cx="2286000" cy="896112"/>
          </a:xfrm>
          <a:prstGeom prst="rect">
            <a:avLst/>
          </a:prstGeom>
          <a:noFill/>
          <a:ln/>
        </p:spPr>
        <p:txBody>
          <a:bodyPr wrap="square" lIns="0" tIns="0" rIns="0" bIns="0" rtlCol="0" anchor="ctr"/>
          <a:lstStyle/>
          <a:p>
            <a:pPr marL="0" indent="0">
              <a:buNone/>
            </a:pPr>
            <a:r>
              <a:rPr lang="en-US" sz="1650" dirty="0">
                <a:solidFill>
                  <a:srgbClr val="514B43"/>
                </a:solidFill>
                <a:latin typeface="맑은 고딕" pitchFamily="34" charset="0"/>
                <a:ea typeface="맑은 고딕" pitchFamily="34" charset="-122"/>
                <a:cs typeface="맑은 고딕" pitchFamily="34" charset="-120"/>
              </a:rPr>
              <a:t>많이 부족하다 싶으면</a:t>
            </a:r>
            <a:endParaRPr lang="en-US" sz="1300" dirty="0"/>
          </a:p>
        </p:txBody>
      </p:sp>
      <p:sp>
        <p:nvSpPr>
          <p:cNvPr id="17" name="Text 15"/>
          <p:cNvSpPr/>
          <p:nvPr/>
        </p:nvSpPr>
        <p:spPr>
          <a:xfrm>
            <a:off x="8522208" y="4352544"/>
            <a:ext cx="2834640" cy="896112"/>
          </a:xfrm>
          <a:prstGeom prst="rect">
            <a:avLst/>
          </a:prstGeom>
          <a:noFill/>
          <a:ln/>
        </p:spPr>
        <p:txBody>
          <a:bodyPr wrap="square" lIns="0" tIns="0" rIns="0" bIns="0" rtlCol="0" anchor="ctr"/>
          <a:lstStyle/>
          <a:p>
            <a:pPr marL="0" indent="0">
              <a:buNone/>
            </a:pPr>
            <a:r>
              <a:rPr lang="en-US" sz="1800" b="1" dirty="0">
                <a:solidFill>
                  <a:srgbClr val="514B43"/>
                </a:solidFill>
                <a:latin typeface="맑은 고딕" pitchFamily="34" charset="0"/>
                <a:ea typeface="맑은 고딕" pitchFamily="34" charset="-122"/>
                <a:cs typeface="맑은 고딕" pitchFamily="34" charset="-120"/>
              </a:rPr>
              <a:t>그때 Max를 보세요</a:t>
            </a:r>
            <a:endParaRPr lang="en-US" sz="1600" dirty="0"/>
          </a:p>
        </p:txBody>
      </p:sp>
      <p:sp>
        <p:nvSpPr>
          <p:cNvPr id="18" name="Text 16"/>
          <p:cNvSpPr/>
          <p:nvPr/>
        </p:nvSpPr>
        <p:spPr>
          <a:xfrm>
            <a:off x="5943600" y="5440680"/>
            <a:ext cx="5687568" cy="457200"/>
          </a:xfrm>
          <a:prstGeom prst="rect">
            <a:avLst/>
          </a:prstGeom>
          <a:noFill/>
          <a:ln/>
        </p:spPr>
        <p:txBody>
          <a:bodyPr wrap="square" lIns="0" tIns="0" rIns="0" bIns="0" rtlCol="0" anchor="ctr"/>
          <a:lstStyle/>
          <a:p>
            <a:pPr marL="0" indent="0">
              <a:buNone/>
            </a:pPr>
            <a:r>
              <a:rPr lang="en-US" sz="1650" i="1" dirty="0">
                <a:solidFill>
                  <a:srgbClr val="D97757"/>
                </a:solidFill>
                <a:latin typeface="맑은 고딕" pitchFamily="34" charset="0"/>
                <a:ea typeface="맑은 고딕" pitchFamily="34" charset="-122"/>
                <a:cs typeface="맑은 고딕" pitchFamily="34" charset="-120"/>
              </a:rPr>
              <a:t>Max는 지금 필요 없습니다. 처음부터 크게 지르지 마세요.</a:t>
            </a:r>
            <a:endParaRPr lang="en-US" sz="1300" dirty="0"/>
          </a:p>
        </p:txBody>
      </p:sp>
      <p:sp>
        <p:nvSpPr>
          <p:cNvPr id="19" name="Text 17"/>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가격은 변경될 수 있습니다. 결제 전 anthropic.com/pricing 에서 확인하세요.</a:t>
            </a:r>
            <a:endParaRPr lang="en-US" sz="1000" dirty="0"/>
          </a:p>
        </p:txBody>
      </p:sp>
      <p:sp>
        <p:nvSpPr>
          <p:cNvPr id="20" name="TextBox 19">
            <a:extLst>
              <a:ext uri="{FF2B5EF4-FFF2-40B4-BE49-F238E27FC236}">
                <a16:creationId xmlns:a16="http://schemas.microsoft.com/office/drawing/2014/main" id="{DE0B6D11-C76A-90E9-98BC-ED09EB028739}"/>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01 · Claude </a:t>
            </a:r>
            <a:r>
              <a:rPr lang="ko-KR" altLang="en-US" sz="1200">
                <a:solidFill>
                  <a:srgbClr val="A69C90"/>
                </a:solidFill>
                <a:latin typeface="맑은 고딕" panose="020B0503020000020004" pitchFamily="50" charset="-127"/>
                <a:ea typeface="맑은 고딕" panose="020B0503020000020004" pitchFamily="50" charset="-127"/>
              </a:rPr>
              <a:t>시작하기          </a:t>
            </a:r>
            <a:r>
              <a:rPr lang="en-US" altLang="ko-KR" sz="1200">
                <a:solidFill>
                  <a:srgbClr val="A69C90"/>
                </a:solidFill>
                <a:latin typeface="맑은 고딕" panose="020B0503020000020004" pitchFamily="50" charset="-127"/>
                <a:ea typeface="맑은 고딕" panose="020B0503020000020004" pitchFamily="50" charset="-127"/>
              </a:rPr>
              <a:t>9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갑자기 안 될 때가 있습니다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고장이 아니라 한도입니다. 미리 알고 계시면 당황하지 않습니다</a:t>
            </a:r>
            <a:endParaRPr lang="en-US" sz="1500" dirty="0"/>
          </a:p>
        </p:txBody>
      </p:sp>
      <p:sp>
        <p:nvSpPr>
          <p:cNvPr id="4" name="Shape 2"/>
          <p:cNvSpPr/>
          <p:nvPr/>
        </p:nvSpPr>
        <p:spPr>
          <a:xfrm>
            <a:off x="658368" y="1984248"/>
            <a:ext cx="512064" cy="512064"/>
          </a:xfrm>
          <a:prstGeom prst="ellipse">
            <a:avLst/>
          </a:prstGeom>
          <a:solidFill>
            <a:srgbClr val="D97757"/>
          </a:solidFill>
          <a:ln/>
        </p:spPr>
        <p:txBody>
          <a:bodyPr/>
          <a:lstStyle/>
          <a:p>
            <a:endParaRPr/>
          </a:p>
        </p:txBody>
      </p:sp>
      <p:sp>
        <p:nvSpPr>
          <p:cNvPr id="5" name="Text 3"/>
          <p:cNvSpPr/>
          <p:nvPr/>
        </p:nvSpPr>
        <p:spPr>
          <a:xfrm>
            <a:off x="658368" y="1984248"/>
            <a:ext cx="512064" cy="512064"/>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1</a:t>
            </a:r>
            <a:endParaRPr lang="en-US" sz="2000" dirty="0"/>
          </a:p>
        </p:txBody>
      </p:sp>
      <p:sp>
        <p:nvSpPr>
          <p:cNvPr id="6" name="Text 4"/>
          <p:cNvSpPr/>
          <p:nvPr/>
        </p:nvSpPr>
        <p:spPr>
          <a:xfrm>
            <a:off x="1426464" y="1874520"/>
            <a:ext cx="9966960" cy="411480"/>
          </a:xfrm>
          <a:prstGeom prst="rect">
            <a:avLst/>
          </a:prstGeom>
          <a:noFill/>
          <a:ln/>
        </p:spPr>
        <p:txBody>
          <a:bodyPr wrap="square" lIns="0" tIns="0" rIns="0" bIns="0" rtlCol="0" anchor="ctr"/>
          <a:lstStyle/>
          <a:p>
            <a:pPr marL="0" indent="0">
              <a:buNone/>
            </a:pPr>
            <a:r>
              <a:rPr lang="en-US" sz="2150" b="1" dirty="0">
                <a:solidFill>
                  <a:srgbClr val="24211D"/>
                </a:solidFill>
                <a:latin typeface="맑은 고딕" pitchFamily="34" charset="0"/>
                <a:ea typeface="맑은 고딕" pitchFamily="34" charset="-122"/>
                <a:cs typeface="맑은 고딕" pitchFamily="34" charset="-120"/>
              </a:rPr>
              <a:t>5시간마다 초기화됩니다</a:t>
            </a:r>
            <a:endParaRPr lang="en-US" sz="1900" dirty="0"/>
          </a:p>
        </p:txBody>
      </p:sp>
      <p:sp>
        <p:nvSpPr>
          <p:cNvPr id="7" name="Text 5"/>
          <p:cNvSpPr/>
          <p:nvPr/>
        </p:nvSpPr>
        <p:spPr>
          <a:xfrm>
            <a:off x="1426464" y="2313432"/>
            <a:ext cx="9966960" cy="411480"/>
          </a:xfrm>
          <a:prstGeom prst="rect">
            <a:avLst/>
          </a:prstGeom>
          <a:noFill/>
          <a:ln/>
        </p:spPr>
        <p:txBody>
          <a:bodyPr wrap="square" lIns="0" tIns="0" rIns="0" bIns="0" rtlCol="0" anchor="t"/>
          <a:lstStyle/>
          <a:p>
            <a:pPr marL="0" indent="0">
              <a:buNone/>
            </a:pPr>
            <a:r>
              <a:rPr lang="en-US" sz="1700" dirty="0">
                <a:solidFill>
                  <a:srgbClr val="514B43"/>
                </a:solidFill>
                <a:latin typeface="맑은 고딕" pitchFamily="34" charset="0"/>
                <a:ea typeface="맑은 고딕" pitchFamily="34" charset="-122"/>
                <a:cs typeface="맑은 고딕" pitchFamily="34" charset="-120"/>
              </a:rPr>
              <a:t>한도에 걸려도 기다리면 다시 풀립니다. 결제한 게 날아간 게 아닙니다.</a:t>
            </a:r>
            <a:endParaRPr lang="en-US" sz="1400" dirty="0"/>
          </a:p>
        </p:txBody>
      </p:sp>
      <p:sp>
        <p:nvSpPr>
          <p:cNvPr id="8" name="Shape 6"/>
          <p:cNvSpPr/>
          <p:nvPr/>
        </p:nvSpPr>
        <p:spPr>
          <a:xfrm>
            <a:off x="658368" y="2788920"/>
            <a:ext cx="10789920" cy="0"/>
          </a:xfrm>
          <a:prstGeom prst="line">
            <a:avLst/>
          </a:prstGeom>
          <a:noFill/>
          <a:ln w="12700">
            <a:solidFill>
              <a:srgbClr val="DCD4C9"/>
            </a:solidFill>
            <a:prstDash val="solid"/>
          </a:ln>
        </p:spPr>
        <p:txBody>
          <a:bodyPr/>
          <a:lstStyle/>
          <a:p>
            <a:endParaRPr/>
          </a:p>
        </p:txBody>
      </p:sp>
      <p:sp>
        <p:nvSpPr>
          <p:cNvPr id="9" name="Shape 7"/>
          <p:cNvSpPr/>
          <p:nvPr/>
        </p:nvSpPr>
        <p:spPr>
          <a:xfrm>
            <a:off x="658368" y="3035808"/>
            <a:ext cx="512064" cy="512064"/>
          </a:xfrm>
          <a:prstGeom prst="ellipse">
            <a:avLst/>
          </a:prstGeom>
          <a:solidFill>
            <a:srgbClr val="D97757"/>
          </a:solidFill>
          <a:ln/>
        </p:spPr>
        <p:txBody>
          <a:bodyPr/>
          <a:lstStyle/>
          <a:p>
            <a:endParaRPr/>
          </a:p>
        </p:txBody>
      </p:sp>
      <p:sp>
        <p:nvSpPr>
          <p:cNvPr id="10" name="Text 8"/>
          <p:cNvSpPr/>
          <p:nvPr/>
        </p:nvSpPr>
        <p:spPr>
          <a:xfrm>
            <a:off x="658368" y="3035808"/>
            <a:ext cx="512064" cy="512064"/>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2</a:t>
            </a:r>
            <a:endParaRPr lang="en-US" sz="2000" dirty="0"/>
          </a:p>
        </p:txBody>
      </p:sp>
      <p:sp>
        <p:nvSpPr>
          <p:cNvPr id="11" name="Text 9"/>
          <p:cNvSpPr/>
          <p:nvPr/>
        </p:nvSpPr>
        <p:spPr>
          <a:xfrm>
            <a:off x="1426464" y="2926080"/>
            <a:ext cx="9966960" cy="411480"/>
          </a:xfrm>
          <a:prstGeom prst="rect">
            <a:avLst/>
          </a:prstGeom>
          <a:noFill/>
          <a:ln/>
        </p:spPr>
        <p:txBody>
          <a:bodyPr wrap="square" lIns="0" tIns="0" rIns="0" bIns="0" rtlCol="0" anchor="ctr"/>
          <a:lstStyle/>
          <a:p>
            <a:pPr marL="0" indent="0">
              <a:buNone/>
            </a:pPr>
            <a:r>
              <a:rPr lang="en-US" sz="2150" b="1" dirty="0">
                <a:solidFill>
                  <a:srgbClr val="24211D"/>
                </a:solidFill>
                <a:latin typeface="맑은 고딕" pitchFamily="34" charset="0"/>
                <a:ea typeface="맑은 고딕" pitchFamily="34" charset="-122"/>
                <a:cs typeface="맑은 고딕" pitchFamily="34" charset="-120"/>
              </a:rPr>
              <a:t>유료 요금제는 주간 한도도 있습니다</a:t>
            </a:r>
            <a:endParaRPr lang="en-US" sz="1900" dirty="0"/>
          </a:p>
        </p:txBody>
      </p:sp>
      <p:sp>
        <p:nvSpPr>
          <p:cNvPr id="12" name="Text 10"/>
          <p:cNvSpPr/>
          <p:nvPr/>
        </p:nvSpPr>
        <p:spPr>
          <a:xfrm>
            <a:off x="1426464" y="3364992"/>
            <a:ext cx="9966960" cy="411480"/>
          </a:xfrm>
          <a:prstGeom prst="rect">
            <a:avLst/>
          </a:prstGeom>
          <a:noFill/>
          <a:ln/>
        </p:spPr>
        <p:txBody>
          <a:bodyPr wrap="square" lIns="0" tIns="0" rIns="0" bIns="0" rtlCol="0" anchor="t"/>
          <a:lstStyle/>
          <a:p>
            <a:pPr marL="0" indent="0">
              <a:buNone/>
            </a:pPr>
            <a:r>
              <a:rPr lang="en-US" sz="1700" dirty="0">
                <a:solidFill>
                  <a:srgbClr val="514B43"/>
                </a:solidFill>
                <a:latin typeface="맑은 고딕" pitchFamily="34" charset="0"/>
                <a:ea typeface="맑은 고딕" pitchFamily="34" charset="-122"/>
                <a:cs typeface="맑은 고딕" pitchFamily="34" charset="-120"/>
              </a:rPr>
              <a:t>매주 정해진 시각에 초기화됩니다. 내 초기화 시각은 설정에서 볼 수 있습니다.</a:t>
            </a:r>
            <a:endParaRPr lang="en-US" sz="1400" dirty="0"/>
          </a:p>
        </p:txBody>
      </p:sp>
      <p:sp>
        <p:nvSpPr>
          <p:cNvPr id="13" name="Shape 11"/>
          <p:cNvSpPr/>
          <p:nvPr/>
        </p:nvSpPr>
        <p:spPr>
          <a:xfrm>
            <a:off x="658368" y="3840480"/>
            <a:ext cx="10789920" cy="0"/>
          </a:xfrm>
          <a:prstGeom prst="line">
            <a:avLst/>
          </a:prstGeom>
          <a:noFill/>
          <a:ln w="12700">
            <a:solidFill>
              <a:srgbClr val="DCD4C9"/>
            </a:solidFill>
            <a:prstDash val="solid"/>
          </a:ln>
        </p:spPr>
        <p:txBody>
          <a:bodyPr/>
          <a:lstStyle/>
          <a:p>
            <a:endParaRPr/>
          </a:p>
        </p:txBody>
      </p:sp>
      <p:sp>
        <p:nvSpPr>
          <p:cNvPr id="14" name="Shape 12"/>
          <p:cNvSpPr/>
          <p:nvPr/>
        </p:nvSpPr>
        <p:spPr>
          <a:xfrm>
            <a:off x="658368" y="4087368"/>
            <a:ext cx="512064" cy="512064"/>
          </a:xfrm>
          <a:prstGeom prst="ellipse">
            <a:avLst/>
          </a:prstGeom>
          <a:solidFill>
            <a:srgbClr val="D97757"/>
          </a:solidFill>
          <a:ln/>
        </p:spPr>
        <p:txBody>
          <a:bodyPr/>
          <a:lstStyle/>
          <a:p>
            <a:endParaRPr/>
          </a:p>
        </p:txBody>
      </p:sp>
      <p:sp>
        <p:nvSpPr>
          <p:cNvPr id="15" name="Text 13"/>
          <p:cNvSpPr/>
          <p:nvPr/>
        </p:nvSpPr>
        <p:spPr>
          <a:xfrm>
            <a:off x="658368" y="4087368"/>
            <a:ext cx="512064" cy="512064"/>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3</a:t>
            </a:r>
            <a:endParaRPr lang="en-US" sz="2000" dirty="0"/>
          </a:p>
        </p:txBody>
      </p:sp>
      <p:sp>
        <p:nvSpPr>
          <p:cNvPr id="16" name="Text 14"/>
          <p:cNvSpPr/>
          <p:nvPr/>
        </p:nvSpPr>
        <p:spPr>
          <a:xfrm>
            <a:off x="1426464" y="3977640"/>
            <a:ext cx="9966960" cy="411480"/>
          </a:xfrm>
          <a:prstGeom prst="rect">
            <a:avLst/>
          </a:prstGeom>
          <a:noFill/>
          <a:ln/>
        </p:spPr>
        <p:txBody>
          <a:bodyPr wrap="square" lIns="0" tIns="0" rIns="0" bIns="0" rtlCol="0" anchor="ctr"/>
          <a:lstStyle/>
          <a:p>
            <a:pPr marL="0" indent="0">
              <a:buNone/>
            </a:pPr>
            <a:r>
              <a:rPr lang="en-US" sz="2150" b="1" dirty="0">
                <a:solidFill>
                  <a:srgbClr val="24211D"/>
                </a:solidFill>
                <a:latin typeface="맑은 고딕" pitchFamily="34" charset="0"/>
                <a:ea typeface="맑은 고딕" pitchFamily="34" charset="-122"/>
                <a:cs typeface="맑은 고딕" pitchFamily="34" charset="-120"/>
              </a:rPr>
              <a:t>대화가 길수록 빨리 닳습니다</a:t>
            </a:r>
            <a:endParaRPr lang="en-US" sz="1900" dirty="0"/>
          </a:p>
        </p:txBody>
      </p:sp>
      <p:sp>
        <p:nvSpPr>
          <p:cNvPr id="17" name="Text 15"/>
          <p:cNvSpPr/>
          <p:nvPr/>
        </p:nvSpPr>
        <p:spPr>
          <a:xfrm>
            <a:off x="1426464" y="4416552"/>
            <a:ext cx="9966960" cy="411480"/>
          </a:xfrm>
          <a:prstGeom prst="rect">
            <a:avLst/>
          </a:prstGeom>
          <a:noFill/>
          <a:ln/>
        </p:spPr>
        <p:txBody>
          <a:bodyPr wrap="square" lIns="0" tIns="0" rIns="0" bIns="0" rtlCol="0" anchor="t"/>
          <a:lstStyle/>
          <a:p>
            <a:pPr marL="0" indent="0">
              <a:buNone/>
            </a:pPr>
            <a:r>
              <a:rPr lang="en-US" sz="1700" dirty="0">
                <a:solidFill>
                  <a:srgbClr val="514B43"/>
                </a:solidFill>
                <a:latin typeface="맑은 고딕" pitchFamily="34" charset="0"/>
                <a:ea typeface="맑은 고딕" pitchFamily="34" charset="-122"/>
                <a:cs typeface="맑은 고딕" pitchFamily="34" charset="-120"/>
              </a:rPr>
              <a:t>한 대화에 계속 이어 쓰면 이전 내용을 매번 다시 읽습니다.</a:t>
            </a:r>
            <a:endParaRPr lang="en-US" sz="1400" dirty="0"/>
          </a:p>
        </p:txBody>
      </p:sp>
      <p:sp>
        <p:nvSpPr>
          <p:cNvPr id="18" name="Shape 16"/>
          <p:cNvSpPr/>
          <p:nvPr/>
        </p:nvSpPr>
        <p:spPr>
          <a:xfrm>
            <a:off x="566928" y="5074920"/>
            <a:ext cx="11064240" cy="1051560"/>
          </a:xfrm>
          <a:prstGeom prst="roundRect">
            <a:avLst>
              <a:gd name="adj" fmla="val 5217"/>
            </a:avLst>
          </a:prstGeom>
          <a:solidFill>
            <a:srgbClr val="24211D"/>
          </a:solidFill>
          <a:ln w="12700">
            <a:solidFill>
              <a:srgbClr val="24211D"/>
            </a:solidFill>
            <a:prstDash val="solid"/>
          </a:ln>
        </p:spPr>
        <p:txBody>
          <a:bodyPr/>
          <a:lstStyle/>
          <a:p>
            <a:endParaRPr/>
          </a:p>
        </p:txBody>
      </p:sp>
      <p:sp>
        <p:nvSpPr>
          <p:cNvPr id="19" name="Text 17"/>
          <p:cNvSpPr/>
          <p:nvPr/>
        </p:nvSpPr>
        <p:spPr>
          <a:xfrm>
            <a:off x="914400" y="5230368"/>
            <a:ext cx="10424160"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주제가 바뀌면 새 대화를 시작하세요.  그것만으로 사용량이 크게 절약됩니다.</a:t>
            </a:r>
            <a:endParaRPr lang="en-US" sz="1600" dirty="0"/>
          </a:p>
        </p:txBody>
      </p:sp>
      <p:sp>
        <p:nvSpPr>
          <p:cNvPr id="20" name="Text 18"/>
          <p:cNvSpPr/>
          <p:nvPr/>
        </p:nvSpPr>
        <p:spPr>
          <a:xfrm>
            <a:off x="914400" y="5623560"/>
            <a:ext cx="10424160" cy="365760"/>
          </a:xfrm>
          <a:prstGeom prst="rect">
            <a:avLst/>
          </a:prstGeom>
          <a:noFill/>
          <a:ln/>
        </p:spPr>
        <p:txBody>
          <a:bodyPr wrap="square" lIns="0" tIns="0" rIns="0" bIns="0" rtlCol="0" anchor="ctr"/>
          <a:lstStyle/>
          <a:p>
            <a:pPr marL="0" indent="0">
              <a:buNone/>
            </a:pPr>
            <a:r>
              <a:rPr lang="en-US" sz="1700" dirty="0">
                <a:solidFill>
                  <a:srgbClr val="E2DBD1"/>
                </a:solidFill>
                <a:latin typeface="맑은 고딕" pitchFamily="34" charset="0"/>
                <a:ea typeface="맑은 고딕" pitchFamily="34" charset="-122"/>
                <a:cs typeface="맑은 고딕" pitchFamily="34" charset="-120"/>
              </a:rPr>
              <a:t>남은 사용량은  설정 &gt; 사용량  에서 볼 수 있습니다.</a:t>
            </a:r>
            <a:endParaRPr lang="en-US" sz="1400" dirty="0"/>
          </a:p>
        </p:txBody>
      </p:sp>
      <p:sp>
        <p:nvSpPr>
          <p:cNvPr id="21" name="Text 19"/>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출처: support.claude.com/en/articles/8325606 (2026-08-06 확인) · 버전에 따라 메뉴 위치가 다를 수 있습니다</a:t>
            </a:r>
            <a:endParaRPr lang="en-US" sz="1000" dirty="0"/>
          </a:p>
        </p:txBody>
      </p:sp>
      <p:sp>
        <p:nvSpPr>
          <p:cNvPr id="22" name="TextBox 21">
            <a:extLst>
              <a:ext uri="{FF2B5EF4-FFF2-40B4-BE49-F238E27FC236}">
                <a16:creationId xmlns:a16="http://schemas.microsoft.com/office/drawing/2014/main" id="{BAF2AAE8-3164-2728-686E-40D8EE375665}"/>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01 · Claude </a:t>
            </a:r>
            <a:r>
              <a:rPr lang="ko-KR" altLang="en-US" sz="1200">
                <a:solidFill>
                  <a:srgbClr val="A69C90"/>
                </a:solidFill>
                <a:latin typeface="맑은 고딕" panose="020B0503020000020004" pitchFamily="50" charset="-127"/>
                <a:ea typeface="맑은 고딕" panose="020B0503020000020004" pitchFamily="50" charset="-127"/>
              </a:rPr>
              <a:t>시작하기          </a:t>
            </a:r>
            <a:r>
              <a:rPr lang="en-US" altLang="ko-KR" sz="1200">
                <a:solidFill>
                  <a:srgbClr val="A69C90"/>
                </a:solidFill>
                <a:latin typeface="맑은 고딕" panose="020B0503020000020004" pitchFamily="50" charset="-127"/>
                <a:ea typeface="맑은 고딕" panose="020B0503020000020004" pitchFamily="50" charset="-127"/>
              </a:rPr>
              <a:t>10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4211D"/>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6643929-5B45-1C83-DF63-455C001C908F}"/>
              </a:ext>
            </a:extLst>
          </p:cNvPr>
          <p:cNvSpPr/>
          <p:nvPr/>
        </p:nvSpPr>
        <p:spPr>
          <a:xfrm>
            <a:off x="8128000" y="0"/>
            <a:ext cx="4064000" cy="6858000"/>
          </a:xfrm>
          <a:prstGeom prst="rect">
            <a:avLst/>
          </a:prstGeom>
          <a:solidFill>
            <a:srgbClr val="302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9BFD9DA7-8168-77CD-238D-692C992E2872}"/>
              </a:ext>
            </a:extLst>
          </p:cNvPr>
          <p:cNvSpPr txBox="1"/>
          <p:nvPr/>
        </p:nvSpPr>
        <p:spPr>
          <a:xfrm>
            <a:off x="8128000" y="1905000"/>
            <a:ext cx="4064000" cy="3016210"/>
          </a:xfrm>
          <a:prstGeom prst="rect">
            <a:avLst/>
          </a:prstGeom>
          <a:noFill/>
        </p:spPr>
        <p:txBody>
          <a:bodyPr vert="horz" rtlCol="0" anchor="ctr">
            <a:spAutoFit/>
          </a:bodyPr>
          <a:lstStyle/>
          <a:p>
            <a:pPr algn="ctr"/>
            <a:r>
              <a:rPr lang="en-US" altLang="ko-KR" sz="19000" b="1">
                <a:solidFill>
                  <a:srgbClr val="4A4239"/>
                </a:solidFill>
                <a:latin typeface="맑은 고딕" panose="020B0503020000020004" pitchFamily="50" charset="-127"/>
                <a:ea typeface="맑은 고딕" panose="020B0503020000020004" pitchFamily="50" charset="-127"/>
              </a:rPr>
              <a:t>02</a:t>
            </a:r>
            <a:endParaRPr lang="ko-KR" altLang="en-US" sz="19000" b="1">
              <a:solidFill>
                <a:srgbClr val="4A4239"/>
              </a:solidFill>
              <a:latin typeface="맑은 고딕" panose="020B0503020000020004" pitchFamily="50" charset="-127"/>
              <a:ea typeface="맑은 고딕" panose="020B0503020000020004" pitchFamily="50" charset="-127"/>
            </a:endParaRPr>
          </a:p>
        </p:txBody>
      </p:sp>
      <p:sp>
        <p:nvSpPr>
          <p:cNvPr id="4" name="TextBox 3">
            <a:extLst>
              <a:ext uri="{FF2B5EF4-FFF2-40B4-BE49-F238E27FC236}">
                <a16:creationId xmlns:a16="http://schemas.microsoft.com/office/drawing/2014/main" id="{378F55B2-574E-8C0B-7AAF-8BD32B5D1652}"/>
              </a:ext>
            </a:extLst>
          </p:cNvPr>
          <p:cNvSpPr txBox="1"/>
          <p:nvPr/>
        </p:nvSpPr>
        <p:spPr>
          <a:xfrm>
            <a:off x="863600" y="2235200"/>
            <a:ext cx="5842000" cy="353943"/>
          </a:xfrm>
          <a:prstGeom prst="rect">
            <a:avLst/>
          </a:prstGeom>
          <a:noFill/>
        </p:spPr>
        <p:txBody>
          <a:bodyPr vert="horz" rtlCol="0" anchor="ctr">
            <a:spAutoFit/>
          </a:bodyPr>
          <a:lstStyle/>
          <a:p>
            <a:r>
              <a:rPr lang="en-US" altLang="ko-KR" sz="1700" b="1">
                <a:solidFill>
                  <a:srgbClr val="D97757"/>
                </a:solidFill>
                <a:latin typeface="맑은 고딕" panose="020B0503020000020004" pitchFamily="50" charset="-127"/>
                <a:ea typeface="맑은 고딕" panose="020B0503020000020004" pitchFamily="50" charset="-127"/>
              </a:rPr>
              <a:t>SECTION 02</a:t>
            </a:r>
            <a:endParaRPr lang="ko-KR" altLang="en-US" sz="1700" b="1">
              <a:solidFill>
                <a:srgbClr val="D97757"/>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CE60D38-708F-0ACC-AD36-63E86B791A3D}"/>
              </a:ext>
            </a:extLst>
          </p:cNvPr>
          <p:cNvSpPr txBox="1"/>
          <p:nvPr/>
        </p:nvSpPr>
        <p:spPr>
          <a:xfrm>
            <a:off x="863600" y="2616200"/>
            <a:ext cx="6921500" cy="769441"/>
          </a:xfrm>
          <a:prstGeom prst="rect">
            <a:avLst/>
          </a:prstGeom>
          <a:noFill/>
        </p:spPr>
        <p:txBody>
          <a:bodyPr vert="horz" rtlCol="0" anchor="t">
            <a:spAutoFit/>
          </a:bodyPr>
          <a:lstStyle/>
          <a:p>
            <a:r>
              <a:rPr lang="ko-KR" altLang="en-US" sz="4400" b="1">
                <a:solidFill>
                  <a:srgbClr val="FFFFFF"/>
                </a:solidFill>
                <a:latin typeface="맑은 고딕" panose="020B0503020000020004" pitchFamily="50" charset="-127"/>
                <a:ea typeface="맑은 고딕" panose="020B0503020000020004" pitchFamily="50" charset="-127"/>
              </a:rPr>
              <a:t>설치하기</a:t>
            </a:r>
          </a:p>
        </p:txBody>
      </p:sp>
      <p:sp>
        <p:nvSpPr>
          <p:cNvPr id="6" name="직사각형 5">
            <a:extLst>
              <a:ext uri="{FF2B5EF4-FFF2-40B4-BE49-F238E27FC236}">
                <a16:creationId xmlns:a16="http://schemas.microsoft.com/office/drawing/2014/main" id="{DD183382-56CD-B055-AE31-221491A9C213}"/>
              </a:ext>
            </a:extLst>
          </p:cNvPr>
          <p:cNvSpPr/>
          <p:nvPr/>
        </p:nvSpPr>
        <p:spPr>
          <a:xfrm>
            <a:off x="914400" y="3810000"/>
            <a:ext cx="812800" cy="508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E9FED234-C09F-4AB0-73A7-A1079BC9CE1B}"/>
              </a:ext>
            </a:extLst>
          </p:cNvPr>
          <p:cNvSpPr txBox="1"/>
          <p:nvPr/>
        </p:nvSpPr>
        <p:spPr>
          <a:xfrm>
            <a:off x="863600" y="4114800"/>
            <a:ext cx="6921500" cy="1523494"/>
          </a:xfrm>
          <a:prstGeom prst="rect">
            <a:avLst/>
          </a:prstGeom>
          <a:noFill/>
        </p:spPr>
        <p:txBody>
          <a:bodyPr vert="horz" rtlCol="0" anchor="t">
            <a:spAutoFit/>
          </a:bodyPr>
          <a:lstStyle/>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계정 만들기 </a:t>
            </a:r>
            <a:r>
              <a:rPr lang="en-US" altLang="ko-KR" sz="1700">
                <a:solidFill>
                  <a:srgbClr val="C9C0B4"/>
                </a:solidFill>
                <a:latin typeface="맑은 고딕" panose="020B0503020000020004" pitchFamily="50" charset="-127"/>
                <a:ea typeface="맑은 고딕" panose="020B0503020000020004" pitchFamily="50" charset="-127"/>
              </a:rPr>
              <a:t>— </a:t>
            </a:r>
            <a:r>
              <a:rPr lang="ko-KR" altLang="en-US" sz="1700">
                <a:solidFill>
                  <a:srgbClr val="C9C0B4"/>
                </a:solidFill>
                <a:latin typeface="맑은 고딕" panose="020B0503020000020004" pitchFamily="50" charset="-127"/>
                <a:ea typeface="맑은 고딕" panose="020B0503020000020004" pitchFamily="50" charset="-127"/>
              </a:rPr>
              <a:t>앱을 깔기 전에 먼저</a:t>
            </a:r>
          </a:p>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다운로드부터 설치 실행까지</a:t>
            </a:r>
          </a:p>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첫 번째 함정과 두 번째 함정</a:t>
            </a:r>
          </a:p>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파일 작업 기능이 안 켜질 때 응급처치</a:t>
            </a:r>
          </a:p>
        </p:txBody>
      </p:sp>
      <p:sp>
        <p:nvSpPr>
          <p:cNvPr id="8" name="TextBox 7">
            <a:extLst>
              <a:ext uri="{FF2B5EF4-FFF2-40B4-BE49-F238E27FC236}">
                <a16:creationId xmlns:a16="http://schemas.microsoft.com/office/drawing/2014/main" id="{C0002559-B967-2887-69BE-F3A1DD341FD3}"/>
              </a:ext>
            </a:extLst>
          </p:cNvPr>
          <p:cNvSpPr txBox="1"/>
          <p:nvPr/>
        </p:nvSpPr>
        <p:spPr>
          <a:xfrm>
            <a:off x="863600" y="6172200"/>
            <a:ext cx="5842000" cy="292388"/>
          </a:xfrm>
          <a:prstGeom prst="rect">
            <a:avLst/>
          </a:prstGeom>
          <a:noFill/>
        </p:spPr>
        <p:txBody>
          <a:bodyPr vert="horz" rtlCol="0" anchor="ctr">
            <a:spAutoFit/>
          </a:bodyPr>
          <a:lstStyle/>
          <a:p>
            <a:r>
              <a:rPr lang="en-US" altLang="ko-KR" sz="1300">
                <a:solidFill>
                  <a:srgbClr val="726859"/>
                </a:solidFill>
                <a:latin typeface="맑은 고딕" panose="020B0503020000020004" pitchFamily="50" charset="-127"/>
                <a:ea typeface="맑은 고딕" panose="020B0503020000020004" pitchFamily="50" charset="-127"/>
              </a:rPr>
              <a:t>Claude 데스크탑 시작하기</a:t>
            </a:r>
          </a:p>
        </p:txBody>
      </p:sp>
      <p:pic>
        <p:nvPicPr>
          <p:cNvPr id="10" name="그래픽 9">
            <a:extLst>
              <a:ext uri="{FF2B5EF4-FFF2-40B4-BE49-F238E27FC236}">
                <a16:creationId xmlns:a16="http://schemas.microsoft.com/office/drawing/2014/main" id="{B3BA7036-30D6-4350-66DB-F97E189BAB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600" y="889000"/>
            <a:ext cx="812800" cy="812800"/>
          </a:xfrm>
          <a:prstGeom prst="rect">
            <a:avLst/>
          </a:prstGeom>
        </p:spPr>
      </p:pic>
    </p:spTree>
    <p:extLst>
      <p:ext uri="{BB962C8B-B14F-4D97-AF65-F5344CB8AC3E}">
        <p14:creationId xmlns:p14="http://schemas.microsoft.com/office/powerpoint/2010/main" val="2747021934"/>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384048"/>
            <a:ext cx="621792" cy="621792"/>
          </a:xfrm>
          <a:prstGeom prst="ellipse">
            <a:avLst/>
          </a:prstGeom>
          <a:solidFill>
            <a:srgbClr val="D97757"/>
          </a:solidFill>
          <a:ln/>
        </p:spPr>
        <p:txBody>
          <a:bodyPr/>
          <a:lstStyle/>
          <a:p>
            <a:endParaRPr/>
          </a:p>
        </p:txBody>
      </p:sp>
      <p:sp>
        <p:nvSpPr>
          <p:cNvPr id="3" name="Text 1"/>
          <p:cNvSpPr/>
          <p:nvPr/>
        </p:nvSpPr>
        <p:spPr>
          <a:xfrm>
            <a:off x="566928" y="384048"/>
            <a:ext cx="621792" cy="621792"/>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1</a:t>
            </a:r>
            <a:endParaRPr lang="en-US" sz="2000" dirty="0"/>
          </a:p>
        </p:txBody>
      </p:sp>
      <p:sp>
        <p:nvSpPr>
          <p:cNvPr id="4" name="Text 2"/>
          <p:cNvSpPr/>
          <p:nvPr/>
        </p:nvSpPr>
        <p:spPr>
          <a:xfrm>
            <a:off x="1371600" y="384048"/>
            <a:ext cx="10241280" cy="621792"/>
          </a:xfrm>
          <a:prstGeom prst="rect">
            <a:avLst/>
          </a:prstGeom>
          <a:noFill/>
          <a:ln/>
        </p:spPr>
        <p:txBody>
          <a:bodyPr wrap="square" lIns="0" tIns="0" rIns="0" bIns="0" rtlCol="0" anchor="ctr"/>
          <a:lstStyle/>
          <a:p>
            <a:pPr marL="0" indent="0">
              <a:buNone/>
            </a:pPr>
            <a:r>
              <a:rPr lang="en-US" sz="3200" b="1" dirty="0">
                <a:solidFill>
                  <a:srgbClr val="24211D"/>
                </a:solidFill>
                <a:latin typeface="맑은 고딕" pitchFamily="34" charset="0"/>
                <a:ea typeface="맑은 고딕" pitchFamily="34" charset="-122"/>
                <a:cs typeface="맑은 고딕" pitchFamily="34" charset="-120"/>
              </a:rPr>
              <a:t>계정 만들기</a:t>
            </a:r>
            <a:endParaRPr lang="en-US" sz="3000" dirty="0"/>
          </a:p>
        </p:txBody>
      </p:sp>
      <p:sp>
        <p:nvSpPr>
          <p:cNvPr id="5" name="Text 3"/>
          <p:cNvSpPr/>
          <p:nvPr/>
        </p:nvSpPr>
        <p:spPr>
          <a:xfrm>
            <a:off x="1371600" y="1042416"/>
            <a:ext cx="10241280" cy="365760"/>
          </a:xfrm>
          <a:prstGeom prst="rect">
            <a:avLst/>
          </a:prstGeom>
          <a:noFill/>
          <a:ln/>
        </p:spPr>
        <p:txBody>
          <a:bodyPr wrap="square" lIns="0" tIns="0" rIns="0" bIns="0" rtlCol="0" anchor="ctr"/>
          <a:lstStyle/>
          <a:p>
            <a:pPr marL="0" indent="0">
              <a:buNone/>
            </a:pPr>
            <a:r>
              <a:rPr lang="en-US" sz="1700" dirty="0">
                <a:solidFill>
                  <a:srgbClr val="514B43"/>
                </a:solidFill>
                <a:latin typeface="맑은 고딕" pitchFamily="34" charset="0"/>
                <a:ea typeface="맑은 고딕" pitchFamily="34" charset="-122"/>
                <a:cs typeface="맑은 고딕" pitchFamily="34" charset="-120"/>
              </a:rPr>
              <a:t>앱을 깔기 전에 계정부터 만듭니다</a:t>
            </a:r>
            <a:endParaRPr lang="en-US" sz="1400" dirty="0"/>
          </a:p>
        </p:txBody>
      </p:sp>
      <p:sp>
        <p:nvSpPr>
          <p:cNvPr id="6" name="Shape 4"/>
          <p:cNvSpPr/>
          <p:nvPr/>
        </p:nvSpPr>
        <p:spPr>
          <a:xfrm>
            <a:off x="658368" y="1645920"/>
            <a:ext cx="329184" cy="329184"/>
          </a:xfrm>
          <a:prstGeom prst="ellipse">
            <a:avLst/>
          </a:prstGeom>
          <a:solidFill>
            <a:srgbClr val="F5F1EB"/>
          </a:solidFill>
          <a:ln w="12700">
            <a:solidFill>
              <a:srgbClr val="DCD4C9"/>
            </a:solidFill>
            <a:prstDash val="solid"/>
          </a:ln>
        </p:spPr>
        <p:txBody>
          <a:bodyPr/>
          <a:lstStyle/>
          <a:p>
            <a:endParaRPr/>
          </a:p>
        </p:txBody>
      </p:sp>
      <p:sp>
        <p:nvSpPr>
          <p:cNvPr id="7" name="Text 5"/>
          <p:cNvSpPr/>
          <p:nvPr/>
        </p:nvSpPr>
        <p:spPr>
          <a:xfrm>
            <a:off x="658368" y="1645920"/>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1</a:t>
            </a:r>
            <a:endParaRPr lang="en-US" sz="1200" dirty="0"/>
          </a:p>
        </p:txBody>
      </p:sp>
      <p:sp>
        <p:nvSpPr>
          <p:cNvPr id="8" name="Text 6"/>
          <p:cNvSpPr/>
          <p:nvPr/>
        </p:nvSpPr>
        <p:spPr>
          <a:xfrm>
            <a:off x="1152144" y="1600200"/>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브라우저에서  claude.ai  로 들어갑니다</a:t>
            </a:r>
            <a:endParaRPr lang="en-US" sz="1500" dirty="0"/>
          </a:p>
        </p:txBody>
      </p:sp>
      <p:sp>
        <p:nvSpPr>
          <p:cNvPr id="9" name="Shape 7"/>
          <p:cNvSpPr/>
          <p:nvPr/>
        </p:nvSpPr>
        <p:spPr>
          <a:xfrm>
            <a:off x="658368" y="2212848"/>
            <a:ext cx="329184" cy="329184"/>
          </a:xfrm>
          <a:prstGeom prst="ellipse">
            <a:avLst/>
          </a:prstGeom>
          <a:solidFill>
            <a:srgbClr val="F5F1EB"/>
          </a:solidFill>
          <a:ln w="12700">
            <a:solidFill>
              <a:srgbClr val="DCD4C9"/>
            </a:solidFill>
            <a:prstDash val="solid"/>
          </a:ln>
        </p:spPr>
        <p:txBody>
          <a:bodyPr/>
          <a:lstStyle/>
          <a:p>
            <a:endParaRPr/>
          </a:p>
        </p:txBody>
      </p:sp>
      <p:sp>
        <p:nvSpPr>
          <p:cNvPr id="10" name="Text 8"/>
          <p:cNvSpPr/>
          <p:nvPr/>
        </p:nvSpPr>
        <p:spPr>
          <a:xfrm>
            <a:off x="658368" y="2212848"/>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2</a:t>
            </a:r>
            <a:endParaRPr lang="en-US" sz="1200" dirty="0"/>
          </a:p>
        </p:txBody>
      </p:sp>
      <p:sp>
        <p:nvSpPr>
          <p:cNvPr id="11" name="Text 9"/>
          <p:cNvSpPr/>
          <p:nvPr/>
        </p:nvSpPr>
        <p:spPr>
          <a:xfrm>
            <a:off x="1152144" y="2167128"/>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“Sign up” 을 누릅니다</a:t>
            </a:r>
            <a:endParaRPr lang="en-US" sz="1500" dirty="0"/>
          </a:p>
        </p:txBody>
      </p:sp>
      <p:sp>
        <p:nvSpPr>
          <p:cNvPr id="12" name="Shape 10"/>
          <p:cNvSpPr/>
          <p:nvPr/>
        </p:nvSpPr>
        <p:spPr>
          <a:xfrm>
            <a:off x="658368" y="2779776"/>
            <a:ext cx="329184" cy="329184"/>
          </a:xfrm>
          <a:prstGeom prst="ellipse">
            <a:avLst/>
          </a:prstGeom>
          <a:solidFill>
            <a:srgbClr val="F5F1EB"/>
          </a:solidFill>
          <a:ln w="12700">
            <a:solidFill>
              <a:srgbClr val="DCD4C9"/>
            </a:solidFill>
            <a:prstDash val="solid"/>
          </a:ln>
        </p:spPr>
        <p:txBody>
          <a:bodyPr/>
          <a:lstStyle/>
          <a:p>
            <a:endParaRPr/>
          </a:p>
        </p:txBody>
      </p:sp>
      <p:sp>
        <p:nvSpPr>
          <p:cNvPr id="13" name="Text 11"/>
          <p:cNvSpPr/>
          <p:nvPr/>
        </p:nvSpPr>
        <p:spPr>
          <a:xfrm>
            <a:off x="658368" y="2779776"/>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3</a:t>
            </a:r>
            <a:endParaRPr lang="en-US" sz="1200" dirty="0"/>
          </a:p>
        </p:txBody>
      </p:sp>
      <p:sp>
        <p:nvSpPr>
          <p:cNvPr id="14" name="Text 12"/>
          <p:cNvSpPr/>
          <p:nvPr/>
        </p:nvSpPr>
        <p:spPr>
          <a:xfrm>
            <a:off x="1152144" y="2734056"/>
            <a:ext cx="5029200" cy="420624"/>
          </a:xfrm>
          <a:prstGeom prst="rect">
            <a:avLst/>
          </a:prstGeom>
          <a:noFill/>
          <a:ln/>
        </p:spPr>
        <p:txBody>
          <a:bodyPr wrap="square" lIns="0" tIns="0" rIns="0" bIns="0" rtlCol="0" anchor="ctr"/>
          <a:lstStyle/>
          <a:p>
            <a:pPr marL="0" indent="0">
              <a:buNone/>
            </a:pPr>
            <a:r>
              <a:rPr lang="en-US" sz="1750" dirty="0">
                <a:solidFill>
                  <a:srgbClr val="24211D"/>
                </a:solidFill>
                <a:latin typeface="맑은 고딕" pitchFamily="34" charset="0"/>
                <a:ea typeface="맑은 고딕" pitchFamily="34" charset="-122"/>
                <a:cs typeface="맑은 고딕" pitchFamily="34" charset="-120"/>
              </a:rPr>
              <a:t>이메일 주소를 넣거나 구글 계정으로 가입합니다</a:t>
            </a:r>
            <a:endParaRPr lang="en-US" sz="1500" dirty="0"/>
          </a:p>
        </p:txBody>
      </p:sp>
      <p:sp>
        <p:nvSpPr>
          <p:cNvPr id="15" name="Shape 13"/>
          <p:cNvSpPr/>
          <p:nvPr/>
        </p:nvSpPr>
        <p:spPr>
          <a:xfrm>
            <a:off x="658368" y="3346704"/>
            <a:ext cx="329184" cy="329184"/>
          </a:xfrm>
          <a:prstGeom prst="ellipse">
            <a:avLst/>
          </a:prstGeom>
          <a:solidFill>
            <a:srgbClr val="F5F1EB"/>
          </a:solidFill>
          <a:ln w="12700">
            <a:solidFill>
              <a:srgbClr val="DCD4C9"/>
            </a:solidFill>
            <a:prstDash val="solid"/>
          </a:ln>
        </p:spPr>
        <p:txBody>
          <a:bodyPr/>
          <a:lstStyle/>
          <a:p>
            <a:endParaRPr/>
          </a:p>
        </p:txBody>
      </p:sp>
      <p:sp>
        <p:nvSpPr>
          <p:cNvPr id="16" name="Text 14"/>
          <p:cNvSpPr/>
          <p:nvPr/>
        </p:nvSpPr>
        <p:spPr>
          <a:xfrm>
            <a:off x="658368" y="3346704"/>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4</a:t>
            </a:r>
            <a:endParaRPr lang="en-US" sz="1200" dirty="0"/>
          </a:p>
        </p:txBody>
      </p:sp>
      <p:sp>
        <p:nvSpPr>
          <p:cNvPr id="17" name="Text 15"/>
          <p:cNvSpPr/>
          <p:nvPr/>
        </p:nvSpPr>
        <p:spPr>
          <a:xfrm>
            <a:off x="1152144" y="3300984"/>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메일로 온 인증 번호를 넣습니다</a:t>
            </a:r>
            <a:endParaRPr lang="en-US" sz="1500" dirty="0"/>
          </a:p>
        </p:txBody>
      </p:sp>
      <p:sp>
        <p:nvSpPr>
          <p:cNvPr id="18" name="Shape 16"/>
          <p:cNvSpPr/>
          <p:nvPr/>
        </p:nvSpPr>
        <p:spPr>
          <a:xfrm>
            <a:off x="658368" y="3913632"/>
            <a:ext cx="329184" cy="329184"/>
          </a:xfrm>
          <a:prstGeom prst="ellipse">
            <a:avLst/>
          </a:prstGeom>
          <a:solidFill>
            <a:srgbClr val="F5F1EB"/>
          </a:solidFill>
          <a:ln w="12700">
            <a:solidFill>
              <a:srgbClr val="DCD4C9"/>
            </a:solidFill>
            <a:prstDash val="solid"/>
          </a:ln>
        </p:spPr>
        <p:txBody>
          <a:bodyPr/>
          <a:lstStyle/>
          <a:p>
            <a:endParaRPr/>
          </a:p>
        </p:txBody>
      </p:sp>
      <p:sp>
        <p:nvSpPr>
          <p:cNvPr id="19" name="Text 17"/>
          <p:cNvSpPr/>
          <p:nvPr/>
        </p:nvSpPr>
        <p:spPr>
          <a:xfrm>
            <a:off x="658368" y="3913632"/>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5</a:t>
            </a:r>
            <a:endParaRPr lang="en-US" sz="1200" dirty="0"/>
          </a:p>
        </p:txBody>
      </p:sp>
      <p:sp>
        <p:nvSpPr>
          <p:cNvPr id="20" name="Text 18"/>
          <p:cNvSpPr/>
          <p:nvPr/>
        </p:nvSpPr>
        <p:spPr>
          <a:xfrm>
            <a:off x="1152144" y="3867912"/>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이름과 사용 목적을 물으면 대충 답해도 됩니다</a:t>
            </a:r>
            <a:endParaRPr lang="en-US" sz="1500" dirty="0"/>
          </a:p>
        </p:txBody>
      </p:sp>
      <p:sp>
        <p:nvSpPr>
          <p:cNvPr id="21" name="Shape 19"/>
          <p:cNvSpPr/>
          <p:nvPr/>
        </p:nvSpPr>
        <p:spPr>
          <a:xfrm>
            <a:off x="6675120" y="1600200"/>
            <a:ext cx="4956048" cy="3566160"/>
          </a:xfrm>
          <a:prstGeom prst="roundRect">
            <a:avLst>
              <a:gd name="adj" fmla="val 1538"/>
            </a:avLst>
          </a:prstGeom>
          <a:solidFill>
            <a:srgbClr val="F5F1EB"/>
          </a:solidFill>
          <a:ln w="15875">
            <a:solidFill>
              <a:srgbClr val="DCD4C9"/>
            </a:solidFill>
            <a:prstDash val="dash"/>
          </a:ln>
        </p:spPr>
        <p:txBody>
          <a:bodyPr/>
          <a:lstStyle/>
          <a:p>
            <a:endParaRPr/>
          </a:p>
        </p:txBody>
      </p:sp>
      <p:sp>
        <p:nvSpPr>
          <p:cNvPr id="22" name="Text 20"/>
          <p:cNvSpPr/>
          <p:nvPr/>
        </p:nvSpPr>
        <p:spPr>
          <a:xfrm>
            <a:off x="6675120" y="1600200"/>
            <a:ext cx="4956048" cy="3566160"/>
          </a:xfrm>
          <a:prstGeom prst="rect">
            <a:avLst/>
          </a:prstGeom>
          <a:noFill/>
          <a:ln/>
        </p:spPr>
        <p:txBody>
          <a:bodyPr wrap="square" lIns="0" tIns="0" rIns="0" bIns="0" rtlCol="0" anchor="ctr"/>
          <a:lstStyle/>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[스크린샷 삽입]</a:t>
            </a:r>
            <a:endParaRPr lang="en-US" sz="1200" dirty="0"/>
          </a:p>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claude.ai 첫 화면</a:t>
            </a:r>
            <a:endParaRPr lang="en-US" sz="1200" dirty="0"/>
          </a:p>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(Sign up 버튼이 보이게)</a:t>
            </a:r>
            <a:endParaRPr lang="en-US" sz="1200" dirty="0"/>
          </a:p>
        </p:txBody>
      </p:sp>
      <p:sp>
        <p:nvSpPr>
          <p:cNvPr id="23" name="Text 21"/>
          <p:cNvSpPr/>
          <p:nvPr/>
        </p:nvSpPr>
        <p:spPr>
          <a:xfrm>
            <a:off x="566928" y="5120640"/>
            <a:ext cx="5852160" cy="457200"/>
          </a:xfrm>
          <a:prstGeom prst="rect">
            <a:avLst/>
          </a:prstGeom>
          <a:noFill/>
          <a:ln/>
        </p:spPr>
        <p:txBody>
          <a:bodyPr wrap="square" lIns="0" tIns="0" rIns="0" bIns="0" rtlCol="0" anchor="ctr"/>
          <a:lstStyle/>
          <a:p>
            <a:pPr marL="0" indent="0">
              <a:buNone/>
            </a:pPr>
            <a:r>
              <a:rPr lang="en-US" sz="1700" i="1" dirty="0">
                <a:solidFill>
                  <a:srgbClr val="D97757"/>
                </a:solidFill>
                <a:latin typeface="맑은 고딕" pitchFamily="34" charset="0"/>
                <a:ea typeface="맑은 고딕" pitchFamily="34" charset="-122"/>
                <a:cs typeface="맑은 고딕" pitchFamily="34" charset="-120"/>
              </a:rPr>
              <a:t>이 단계에서는 결제 정보를 넣지 않습니다.</a:t>
            </a:r>
            <a:endParaRPr lang="en-US" sz="1400" dirty="0"/>
          </a:p>
        </p:txBody>
      </p:sp>
      <p:sp>
        <p:nvSpPr>
          <p:cNvPr id="24" name="Text 22"/>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버전에 따라 화면이 다를 수 있습니다</a:t>
            </a:r>
            <a:endParaRPr lang="en-US" sz="1000" dirty="0"/>
          </a:p>
        </p:txBody>
      </p:sp>
      <p:sp>
        <p:nvSpPr>
          <p:cNvPr id="25" name="TextBox 24">
            <a:extLst>
              <a:ext uri="{FF2B5EF4-FFF2-40B4-BE49-F238E27FC236}">
                <a16:creationId xmlns:a16="http://schemas.microsoft.com/office/drawing/2014/main" id="{D635C8C2-1BCB-F285-7CE6-6862A9CE1880}"/>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02 · </a:t>
            </a:r>
            <a:r>
              <a:rPr lang="ko-KR" altLang="en-US" sz="1200">
                <a:solidFill>
                  <a:srgbClr val="A69C90"/>
                </a:solidFill>
                <a:latin typeface="맑은 고딕" panose="020B0503020000020004" pitchFamily="50" charset="-127"/>
                <a:ea typeface="맑은 고딕" panose="020B0503020000020004" pitchFamily="50" charset="-127"/>
              </a:rPr>
              <a:t>설치하기          </a:t>
            </a:r>
            <a:r>
              <a:rPr lang="en-US" altLang="ko-KR" sz="1200">
                <a:solidFill>
                  <a:srgbClr val="A69C90"/>
                </a:solidFill>
                <a:latin typeface="맑은 고딕" panose="020B0503020000020004" pitchFamily="50" charset="-127"/>
                <a:ea typeface="맑은 고딕" panose="020B0503020000020004" pitchFamily="50" charset="-127"/>
              </a:rPr>
              <a:t>12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384048"/>
            <a:ext cx="621792" cy="621792"/>
          </a:xfrm>
          <a:prstGeom prst="ellipse">
            <a:avLst/>
          </a:prstGeom>
          <a:solidFill>
            <a:srgbClr val="D97757"/>
          </a:solidFill>
          <a:ln/>
        </p:spPr>
        <p:txBody>
          <a:bodyPr/>
          <a:lstStyle/>
          <a:p>
            <a:endParaRPr/>
          </a:p>
        </p:txBody>
      </p:sp>
      <p:sp>
        <p:nvSpPr>
          <p:cNvPr id="3" name="Text 1"/>
          <p:cNvSpPr/>
          <p:nvPr/>
        </p:nvSpPr>
        <p:spPr>
          <a:xfrm>
            <a:off x="566928" y="384048"/>
            <a:ext cx="621792" cy="621792"/>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2</a:t>
            </a:r>
            <a:endParaRPr lang="en-US" sz="2000" dirty="0"/>
          </a:p>
        </p:txBody>
      </p:sp>
      <p:sp>
        <p:nvSpPr>
          <p:cNvPr id="4" name="Text 2"/>
          <p:cNvSpPr/>
          <p:nvPr/>
        </p:nvSpPr>
        <p:spPr>
          <a:xfrm>
            <a:off x="1371600" y="384048"/>
            <a:ext cx="10241280" cy="621792"/>
          </a:xfrm>
          <a:prstGeom prst="rect">
            <a:avLst/>
          </a:prstGeom>
          <a:noFill/>
          <a:ln/>
        </p:spPr>
        <p:txBody>
          <a:bodyPr wrap="square" lIns="0" tIns="0" rIns="0" bIns="0" rtlCol="0" anchor="ctr"/>
          <a:lstStyle/>
          <a:p>
            <a:pPr marL="0" indent="0">
              <a:buNone/>
            </a:pPr>
            <a:r>
              <a:rPr lang="en-US" sz="3200" b="1" dirty="0">
                <a:solidFill>
                  <a:srgbClr val="24211D"/>
                </a:solidFill>
                <a:latin typeface="맑은 고딕" pitchFamily="34" charset="0"/>
                <a:ea typeface="맑은 고딕" pitchFamily="34" charset="-122"/>
                <a:cs typeface="맑은 고딕" pitchFamily="34" charset="-120"/>
              </a:rPr>
              <a:t>다운로드 페이지 열기</a:t>
            </a:r>
            <a:endParaRPr lang="en-US" sz="3000" dirty="0"/>
          </a:p>
        </p:txBody>
      </p:sp>
      <p:sp>
        <p:nvSpPr>
          <p:cNvPr id="5" name="Shape 3"/>
          <p:cNvSpPr/>
          <p:nvPr/>
        </p:nvSpPr>
        <p:spPr>
          <a:xfrm>
            <a:off x="658368" y="1417320"/>
            <a:ext cx="329184" cy="329184"/>
          </a:xfrm>
          <a:prstGeom prst="ellipse">
            <a:avLst/>
          </a:prstGeom>
          <a:solidFill>
            <a:srgbClr val="F5F1EB"/>
          </a:solidFill>
          <a:ln w="12700">
            <a:solidFill>
              <a:srgbClr val="DCD4C9"/>
            </a:solidFill>
            <a:prstDash val="solid"/>
          </a:ln>
        </p:spPr>
        <p:txBody>
          <a:bodyPr/>
          <a:lstStyle/>
          <a:p>
            <a:endParaRPr/>
          </a:p>
        </p:txBody>
      </p:sp>
      <p:sp>
        <p:nvSpPr>
          <p:cNvPr id="6" name="Text 4"/>
          <p:cNvSpPr/>
          <p:nvPr/>
        </p:nvSpPr>
        <p:spPr>
          <a:xfrm>
            <a:off x="658368" y="1417320"/>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1</a:t>
            </a:r>
            <a:endParaRPr lang="en-US" sz="1200" dirty="0"/>
          </a:p>
        </p:txBody>
      </p:sp>
      <p:sp>
        <p:nvSpPr>
          <p:cNvPr id="7" name="Text 5"/>
          <p:cNvSpPr/>
          <p:nvPr/>
        </p:nvSpPr>
        <p:spPr>
          <a:xfrm>
            <a:off x="1152144" y="1371600"/>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로그인한 상태에서 주소창에 아래를 칩니다</a:t>
            </a:r>
            <a:endParaRPr lang="en-US" sz="1500" dirty="0"/>
          </a:p>
        </p:txBody>
      </p:sp>
      <p:sp>
        <p:nvSpPr>
          <p:cNvPr id="8" name="Shape 6"/>
          <p:cNvSpPr/>
          <p:nvPr/>
        </p:nvSpPr>
        <p:spPr>
          <a:xfrm>
            <a:off x="658368" y="1984248"/>
            <a:ext cx="329184" cy="329184"/>
          </a:xfrm>
          <a:prstGeom prst="ellipse">
            <a:avLst/>
          </a:prstGeom>
          <a:solidFill>
            <a:srgbClr val="F5F1EB"/>
          </a:solidFill>
          <a:ln w="12700">
            <a:solidFill>
              <a:srgbClr val="DCD4C9"/>
            </a:solidFill>
            <a:prstDash val="solid"/>
          </a:ln>
        </p:spPr>
        <p:txBody>
          <a:bodyPr/>
          <a:lstStyle/>
          <a:p>
            <a:endParaRPr/>
          </a:p>
        </p:txBody>
      </p:sp>
      <p:sp>
        <p:nvSpPr>
          <p:cNvPr id="9" name="Text 7"/>
          <p:cNvSpPr/>
          <p:nvPr/>
        </p:nvSpPr>
        <p:spPr>
          <a:xfrm>
            <a:off x="658368" y="1984248"/>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2</a:t>
            </a:r>
            <a:endParaRPr lang="en-US" sz="1200" dirty="0"/>
          </a:p>
        </p:txBody>
      </p:sp>
      <p:sp>
        <p:nvSpPr>
          <p:cNvPr id="10" name="Text 8"/>
          <p:cNvSpPr/>
          <p:nvPr/>
        </p:nvSpPr>
        <p:spPr>
          <a:xfrm>
            <a:off x="1152144" y="1938528"/>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여러 운영체제 목록이 나옵니다</a:t>
            </a:r>
            <a:endParaRPr lang="en-US" sz="1500" dirty="0"/>
          </a:p>
        </p:txBody>
      </p:sp>
      <p:sp>
        <p:nvSpPr>
          <p:cNvPr id="11" name="Shape 9"/>
          <p:cNvSpPr/>
          <p:nvPr/>
        </p:nvSpPr>
        <p:spPr>
          <a:xfrm>
            <a:off x="658368" y="2551176"/>
            <a:ext cx="329184" cy="329184"/>
          </a:xfrm>
          <a:prstGeom prst="ellipse">
            <a:avLst/>
          </a:prstGeom>
          <a:solidFill>
            <a:srgbClr val="F5F1EB"/>
          </a:solidFill>
          <a:ln w="12700">
            <a:solidFill>
              <a:srgbClr val="DCD4C9"/>
            </a:solidFill>
            <a:prstDash val="solid"/>
          </a:ln>
        </p:spPr>
        <p:txBody>
          <a:bodyPr/>
          <a:lstStyle/>
          <a:p>
            <a:endParaRPr/>
          </a:p>
        </p:txBody>
      </p:sp>
      <p:sp>
        <p:nvSpPr>
          <p:cNvPr id="12" name="Text 10"/>
          <p:cNvSpPr/>
          <p:nvPr/>
        </p:nvSpPr>
        <p:spPr>
          <a:xfrm>
            <a:off x="658368" y="2551176"/>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3</a:t>
            </a:r>
            <a:endParaRPr lang="en-US" sz="1200" dirty="0"/>
          </a:p>
        </p:txBody>
      </p:sp>
      <p:sp>
        <p:nvSpPr>
          <p:cNvPr id="13" name="Text 11"/>
          <p:cNvSpPr/>
          <p:nvPr/>
        </p:nvSpPr>
        <p:spPr>
          <a:xfrm>
            <a:off x="1152144" y="2505456"/>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그중  Windows  를 찾습니다</a:t>
            </a:r>
            <a:endParaRPr lang="en-US" sz="1500" dirty="0"/>
          </a:p>
        </p:txBody>
      </p:sp>
      <p:sp>
        <p:nvSpPr>
          <p:cNvPr id="14" name="Shape 12"/>
          <p:cNvSpPr/>
          <p:nvPr/>
        </p:nvSpPr>
        <p:spPr>
          <a:xfrm>
            <a:off x="6675120" y="1371600"/>
            <a:ext cx="4956048" cy="3566160"/>
          </a:xfrm>
          <a:prstGeom prst="roundRect">
            <a:avLst>
              <a:gd name="adj" fmla="val 1538"/>
            </a:avLst>
          </a:prstGeom>
          <a:solidFill>
            <a:srgbClr val="F5F1EB"/>
          </a:solidFill>
          <a:ln w="15875">
            <a:solidFill>
              <a:srgbClr val="DCD4C9"/>
            </a:solidFill>
            <a:prstDash val="dash"/>
          </a:ln>
        </p:spPr>
        <p:txBody>
          <a:bodyPr/>
          <a:lstStyle/>
          <a:p>
            <a:endParaRPr/>
          </a:p>
        </p:txBody>
      </p:sp>
      <p:sp>
        <p:nvSpPr>
          <p:cNvPr id="15" name="Text 13"/>
          <p:cNvSpPr/>
          <p:nvPr/>
        </p:nvSpPr>
        <p:spPr>
          <a:xfrm>
            <a:off x="6675120" y="1371600"/>
            <a:ext cx="4956048" cy="3566160"/>
          </a:xfrm>
          <a:prstGeom prst="rect">
            <a:avLst/>
          </a:prstGeom>
          <a:noFill/>
          <a:ln/>
        </p:spPr>
        <p:txBody>
          <a:bodyPr wrap="square" lIns="0" tIns="0" rIns="0" bIns="0" rtlCol="0" anchor="ctr"/>
          <a:lstStyle/>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[스크린샷 삽입]</a:t>
            </a:r>
            <a:endParaRPr lang="en-US" sz="1200" dirty="0"/>
          </a:p>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claude.ai/download 화면</a:t>
            </a:r>
            <a:endParaRPr lang="en-US" sz="1200" dirty="0"/>
          </a:p>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(Windows 항목이 보이게)</a:t>
            </a:r>
            <a:endParaRPr lang="en-US" sz="1200" dirty="0"/>
          </a:p>
        </p:txBody>
      </p:sp>
      <p:sp>
        <p:nvSpPr>
          <p:cNvPr id="16" name="Shape 14"/>
          <p:cNvSpPr/>
          <p:nvPr/>
        </p:nvSpPr>
        <p:spPr>
          <a:xfrm>
            <a:off x="1152144" y="3246120"/>
            <a:ext cx="4023360" cy="548640"/>
          </a:xfrm>
          <a:prstGeom prst="roundRect">
            <a:avLst>
              <a:gd name="adj" fmla="val 6667"/>
            </a:avLst>
          </a:prstGeom>
          <a:solidFill>
            <a:srgbClr val="24211D"/>
          </a:solidFill>
          <a:ln w="6350">
            <a:solidFill>
              <a:srgbClr val="24211D"/>
            </a:solidFill>
            <a:prstDash val="solid"/>
          </a:ln>
        </p:spPr>
        <p:txBody>
          <a:bodyPr/>
          <a:lstStyle/>
          <a:p>
            <a:endParaRPr/>
          </a:p>
        </p:txBody>
      </p:sp>
      <p:sp>
        <p:nvSpPr>
          <p:cNvPr id="17" name="Text 15"/>
          <p:cNvSpPr/>
          <p:nvPr/>
        </p:nvSpPr>
        <p:spPr>
          <a:xfrm>
            <a:off x="1316736" y="3246120"/>
            <a:ext cx="3694176" cy="548640"/>
          </a:xfrm>
          <a:prstGeom prst="rect">
            <a:avLst/>
          </a:prstGeom>
          <a:noFill/>
          <a:ln/>
        </p:spPr>
        <p:txBody>
          <a:bodyPr wrap="square" lIns="0" tIns="0" rIns="0" bIns="0" rtlCol="0" anchor="ctr"/>
          <a:lstStyle/>
          <a:p>
            <a:pPr marL="0" indent="0">
              <a:lnSpc>
                <a:spcPts val="1800"/>
              </a:lnSpc>
              <a:buNone/>
            </a:pPr>
            <a:r>
              <a:rPr lang="en-US" sz="1800" dirty="0">
                <a:solidFill>
                  <a:srgbClr val="F2E9E1"/>
                </a:solidFill>
                <a:latin typeface="Consolas" pitchFamily="34" charset="0"/>
                <a:ea typeface="Consolas" pitchFamily="34" charset="-122"/>
                <a:cs typeface="Consolas" pitchFamily="34" charset="-120"/>
              </a:rPr>
              <a:t>claude.ai/download</a:t>
            </a:r>
            <a:endParaRPr lang="en-US" sz="1600" dirty="0"/>
          </a:p>
        </p:txBody>
      </p:sp>
      <p:sp>
        <p:nvSpPr>
          <p:cNvPr id="18" name="Text 16"/>
          <p:cNvSpPr/>
          <p:nvPr/>
        </p:nvSpPr>
        <p:spPr>
          <a:xfrm>
            <a:off x="1152144" y="3931920"/>
            <a:ext cx="4937760" cy="731520"/>
          </a:xfrm>
          <a:prstGeom prst="rect">
            <a:avLst/>
          </a:prstGeom>
          <a:noFill/>
          <a:ln/>
        </p:spPr>
        <p:txBody>
          <a:bodyPr wrap="square" lIns="0" tIns="0" rIns="0" bIns="0" rtlCol="0" anchor="t"/>
          <a:lstStyle/>
          <a:p>
            <a:pPr marL="0" indent="0">
              <a:lnSpc>
                <a:spcPts val="2200"/>
              </a:lnSpc>
              <a:buNone/>
            </a:pPr>
            <a:r>
              <a:rPr lang="en-US" sz="1650" dirty="0">
                <a:solidFill>
                  <a:srgbClr val="514B43"/>
                </a:solidFill>
                <a:latin typeface="맑은 고딕" pitchFamily="34" charset="0"/>
                <a:ea typeface="맑은 고딕" pitchFamily="34" charset="-122"/>
                <a:cs typeface="맑은 고딕" pitchFamily="34" charset="-120"/>
              </a:rPr>
              <a:t>주소창에 그대로 치세요.</a:t>
            </a:r>
            <a:endParaRPr lang="en-US" sz="1300" dirty="0"/>
          </a:p>
          <a:p>
            <a:pPr marL="0" indent="0">
              <a:lnSpc>
                <a:spcPts val="2200"/>
              </a:lnSpc>
              <a:buNone/>
            </a:pPr>
            <a:r>
              <a:rPr lang="en-US" sz="1650" dirty="0">
                <a:solidFill>
                  <a:srgbClr val="514B43"/>
                </a:solidFill>
                <a:latin typeface="맑은 고딕" pitchFamily="34" charset="0"/>
                <a:ea typeface="맑은 고딕" pitchFamily="34" charset="-122"/>
                <a:cs typeface="맑은 고딕" pitchFamily="34" charset="-120"/>
              </a:rPr>
              <a:t>검색창이 아니라 주소창입니다.</a:t>
            </a:r>
            <a:endParaRPr lang="en-US" sz="1300" dirty="0"/>
          </a:p>
        </p:txBody>
      </p:sp>
      <p:sp>
        <p:nvSpPr>
          <p:cNvPr id="19" name="Text 17"/>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출처: support.claude.com/en/articles/10065433 (2026-08-06 확인)</a:t>
            </a:r>
            <a:endParaRPr lang="en-US" sz="1000" dirty="0"/>
          </a:p>
        </p:txBody>
      </p:sp>
      <p:sp>
        <p:nvSpPr>
          <p:cNvPr id="20" name="TextBox 19">
            <a:extLst>
              <a:ext uri="{FF2B5EF4-FFF2-40B4-BE49-F238E27FC236}">
                <a16:creationId xmlns:a16="http://schemas.microsoft.com/office/drawing/2014/main" id="{217FF5E4-F274-2446-7E9D-EB6B3EE29648}"/>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02 · </a:t>
            </a:r>
            <a:r>
              <a:rPr lang="ko-KR" altLang="en-US" sz="1200">
                <a:solidFill>
                  <a:srgbClr val="A69C90"/>
                </a:solidFill>
                <a:latin typeface="맑은 고딕" panose="020B0503020000020004" pitchFamily="50" charset="-127"/>
                <a:ea typeface="맑은 고딕" panose="020B0503020000020004" pitchFamily="50" charset="-127"/>
              </a:rPr>
              <a:t>설치하기          </a:t>
            </a:r>
            <a:r>
              <a:rPr lang="en-US" altLang="ko-KR" sz="1200">
                <a:solidFill>
                  <a:srgbClr val="A69C90"/>
                </a:solidFill>
                <a:latin typeface="맑은 고딕" panose="020B0503020000020004" pitchFamily="50" charset="-127"/>
                <a:ea typeface="맑은 고딕" panose="020B0503020000020004" pitchFamily="50" charset="-127"/>
              </a:rPr>
              <a:t>13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384048"/>
            <a:ext cx="621792" cy="621792"/>
          </a:xfrm>
          <a:prstGeom prst="ellipse">
            <a:avLst/>
          </a:prstGeom>
          <a:solidFill>
            <a:srgbClr val="D97757"/>
          </a:solidFill>
          <a:ln/>
        </p:spPr>
        <p:txBody>
          <a:bodyPr/>
          <a:lstStyle/>
          <a:p>
            <a:endParaRPr/>
          </a:p>
        </p:txBody>
      </p:sp>
      <p:sp>
        <p:nvSpPr>
          <p:cNvPr id="3" name="Text 1"/>
          <p:cNvSpPr/>
          <p:nvPr/>
        </p:nvSpPr>
        <p:spPr>
          <a:xfrm>
            <a:off x="566928" y="384048"/>
            <a:ext cx="621792" cy="621792"/>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3</a:t>
            </a:r>
            <a:endParaRPr lang="en-US" sz="2000" dirty="0"/>
          </a:p>
        </p:txBody>
      </p:sp>
      <p:sp>
        <p:nvSpPr>
          <p:cNvPr id="4" name="Text 2"/>
          <p:cNvSpPr/>
          <p:nvPr/>
        </p:nvSpPr>
        <p:spPr>
          <a:xfrm>
            <a:off x="1371600" y="384048"/>
            <a:ext cx="10241280" cy="621792"/>
          </a:xfrm>
          <a:prstGeom prst="rect">
            <a:avLst/>
          </a:prstGeom>
          <a:noFill/>
          <a:ln/>
        </p:spPr>
        <p:txBody>
          <a:bodyPr wrap="square" lIns="0" tIns="0" rIns="0" bIns="0" rtlCol="0" anchor="ctr"/>
          <a:lstStyle/>
          <a:p>
            <a:pPr marL="0" indent="0">
              <a:buNone/>
            </a:pPr>
            <a:r>
              <a:rPr lang="en-US" sz="3200" b="1" dirty="0">
                <a:solidFill>
                  <a:srgbClr val="24211D"/>
                </a:solidFill>
                <a:latin typeface="맑은 고딕" pitchFamily="34" charset="0"/>
                <a:ea typeface="맑은 고딕" pitchFamily="34" charset="-122"/>
                <a:cs typeface="맑은 고딕" pitchFamily="34" charset="-120"/>
              </a:rPr>
              <a:t>Windows용 내려받기</a:t>
            </a:r>
            <a:endParaRPr lang="en-US" sz="3000" dirty="0"/>
          </a:p>
        </p:txBody>
      </p:sp>
      <p:sp>
        <p:nvSpPr>
          <p:cNvPr id="5" name="Shape 3"/>
          <p:cNvSpPr/>
          <p:nvPr/>
        </p:nvSpPr>
        <p:spPr>
          <a:xfrm>
            <a:off x="658368" y="1417320"/>
            <a:ext cx="329184" cy="329184"/>
          </a:xfrm>
          <a:prstGeom prst="ellipse">
            <a:avLst/>
          </a:prstGeom>
          <a:solidFill>
            <a:srgbClr val="F5F1EB"/>
          </a:solidFill>
          <a:ln w="12700">
            <a:solidFill>
              <a:srgbClr val="DCD4C9"/>
            </a:solidFill>
            <a:prstDash val="solid"/>
          </a:ln>
        </p:spPr>
        <p:txBody>
          <a:bodyPr/>
          <a:lstStyle/>
          <a:p>
            <a:endParaRPr/>
          </a:p>
        </p:txBody>
      </p:sp>
      <p:sp>
        <p:nvSpPr>
          <p:cNvPr id="6" name="Text 4"/>
          <p:cNvSpPr/>
          <p:nvPr/>
        </p:nvSpPr>
        <p:spPr>
          <a:xfrm>
            <a:off x="658368" y="1417320"/>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1</a:t>
            </a:r>
            <a:endParaRPr lang="en-US" sz="1200" dirty="0"/>
          </a:p>
        </p:txBody>
      </p:sp>
      <p:sp>
        <p:nvSpPr>
          <p:cNvPr id="7" name="Text 5"/>
          <p:cNvSpPr/>
          <p:nvPr/>
        </p:nvSpPr>
        <p:spPr>
          <a:xfrm>
            <a:off x="1152144" y="1371600"/>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Windows 옆의  Download  를 누릅니다</a:t>
            </a:r>
            <a:endParaRPr lang="en-US" sz="1500" dirty="0"/>
          </a:p>
        </p:txBody>
      </p:sp>
      <p:sp>
        <p:nvSpPr>
          <p:cNvPr id="8" name="Shape 6"/>
          <p:cNvSpPr/>
          <p:nvPr/>
        </p:nvSpPr>
        <p:spPr>
          <a:xfrm>
            <a:off x="658368" y="1984248"/>
            <a:ext cx="329184" cy="329184"/>
          </a:xfrm>
          <a:prstGeom prst="ellipse">
            <a:avLst/>
          </a:prstGeom>
          <a:solidFill>
            <a:srgbClr val="F5F1EB"/>
          </a:solidFill>
          <a:ln w="12700">
            <a:solidFill>
              <a:srgbClr val="DCD4C9"/>
            </a:solidFill>
            <a:prstDash val="solid"/>
          </a:ln>
        </p:spPr>
        <p:txBody>
          <a:bodyPr/>
          <a:lstStyle/>
          <a:p>
            <a:endParaRPr/>
          </a:p>
        </p:txBody>
      </p:sp>
      <p:sp>
        <p:nvSpPr>
          <p:cNvPr id="9" name="Text 7"/>
          <p:cNvSpPr/>
          <p:nvPr/>
        </p:nvSpPr>
        <p:spPr>
          <a:xfrm>
            <a:off x="658368" y="1984248"/>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2</a:t>
            </a:r>
            <a:endParaRPr lang="en-US" sz="1200" dirty="0"/>
          </a:p>
        </p:txBody>
      </p:sp>
      <p:sp>
        <p:nvSpPr>
          <p:cNvPr id="10" name="Text 8"/>
          <p:cNvSpPr/>
          <p:nvPr/>
        </p:nvSpPr>
        <p:spPr>
          <a:xfrm>
            <a:off x="1152144" y="1938528"/>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브라우저 아래쪽에 내려받기 표시가 뜹니다</a:t>
            </a:r>
            <a:endParaRPr lang="en-US" sz="1500" dirty="0"/>
          </a:p>
        </p:txBody>
      </p:sp>
      <p:sp>
        <p:nvSpPr>
          <p:cNvPr id="11" name="Shape 9"/>
          <p:cNvSpPr/>
          <p:nvPr/>
        </p:nvSpPr>
        <p:spPr>
          <a:xfrm>
            <a:off x="658368" y="2551176"/>
            <a:ext cx="329184" cy="329184"/>
          </a:xfrm>
          <a:prstGeom prst="ellipse">
            <a:avLst/>
          </a:prstGeom>
          <a:solidFill>
            <a:srgbClr val="F5F1EB"/>
          </a:solidFill>
          <a:ln w="12700">
            <a:solidFill>
              <a:srgbClr val="DCD4C9"/>
            </a:solidFill>
            <a:prstDash val="solid"/>
          </a:ln>
        </p:spPr>
        <p:txBody>
          <a:bodyPr/>
          <a:lstStyle/>
          <a:p>
            <a:endParaRPr/>
          </a:p>
        </p:txBody>
      </p:sp>
      <p:sp>
        <p:nvSpPr>
          <p:cNvPr id="12" name="Text 10"/>
          <p:cNvSpPr/>
          <p:nvPr/>
        </p:nvSpPr>
        <p:spPr>
          <a:xfrm>
            <a:off x="658368" y="2551176"/>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3</a:t>
            </a:r>
            <a:endParaRPr lang="en-US" sz="1200" dirty="0"/>
          </a:p>
        </p:txBody>
      </p:sp>
      <p:sp>
        <p:nvSpPr>
          <p:cNvPr id="13" name="Text 11"/>
          <p:cNvSpPr/>
          <p:nvPr/>
        </p:nvSpPr>
        <p:spPr>
          <a:xfrm>
            <a:off x="1152144" y="2505456"/>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다 받아질 때까지 기다립니다</a:t>
            </a:r>
            <a:endParaRPr lang="en-US" sz="1500" dirty="0"/>
          </a:p>
        </p:txBody>
      </p:sp>
      <p:sp>
        <p:nvSpPr>
          <p:cNvPr id="14" name="Shape 12"/>
          <p:cNvSpPr/>
          <p:nvPr/>
        </p:nvSpPr>
        <p:spPr>
          <a:xfrm>
            <a:off x="658368" y="3118104"/>
            <a:ext cx="329184" cy="329184"/>
          </a:xfrm>
          <a:prstGeom prst="ellipse">
            <a:avLst/>
          </a:prstGeom>
          <a:solidFill>
            <a:srgbClr val="F5F1EB"/>
          </a:solidFill>
          <a:ln w="12700">
            <a:solidFill>
              <a:srgbClr val="DCD4C9"/>
            </a:solidFill>
            <a:prstDash val="solid"/>
          </a:ln>
        </p:spPr>
        <p:txBody>
          <a:bodyPr/>
          <a:lstStyle/>
          <a:p>
            <a:endParaRPr/>
          </a:p>
        </p:txBody>
      </p:sp>
      <p:sp>
        <p:nvSpPr>
          <p:cNvPr id="15" name="Text 13"/>
          <p:cNvSpPr/>
          <p:nvPr/>
        </p:nvSpPr>
        <p:spPr>
          <a:xfrm>
            <a:off x="658368" y="3118104"/>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4</a:t>
            </a:r>
            <a:endParaRPr lang="en-US" sz="1200" dirty="0"/>
          </a:p>
        </p:txBody>
      </p:sp>
      <p:sp>
        <p:nvSpPr>
          <p:cNvPr id="16" name="Text 14"/>
          <p:cNvSpPr/>
          <p:nvPr/>
        </p:nvSpPr>
        <p:spPr>
          <a:xfrm>
            <a:off x="1152144" y="3072384"/>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받은 파일을 두 번 눌러 엽니다</a:t>
            </a:r>
            <a:endParaRPr lang="en-US" sz="1500" dirty="0"/>
          </a:p>
        </p:txBody>
      </p:sp>
      <p:sp>
        <p:nvSpPr>
          <p:cNvPr id="17" name="Shape 15"/>
          <p:cNvSpPr/>
          <p:nvPr/>
        </p:nvSpPr>
        <p:spPr>
          <a:xfrm>
            <a:off x="6675120" y="1371600"/>
            <a:ext cx="4956048" cy="3566160"/>
          </a:xfrm>
          <a:prstGeom prst="roundRect">
            <a:avLst>
              <a:gd name="adj" fmla="val 1538"/>
            </a:avLst>
          </a:prstGeom>
          <a:solidFill>
            <a:srgbClr val="F5F1EB"/>
          </a:solidFill>
          <a:ln w="15875">
            <a:solidFill>
              <a:srgbClr val="DCD4C9"/>
            </a:solidFill>
            <a:prstDash val="dash"/>
          </a:ln>
        </p:spPr>
        <p:txBody>
          <a:bodyPr/>
          <a:lstStyle/>
          <a:p>
            <a:endParaRPr/>
          </a:p>
        </p:txBody>
      </p:sp>
      <p:sp>
        <p:nvSpPr>
          <p:cNvPr id="18" name="Text 16"/>
          <p:cNvSpPr/>
          <p:nvPr/>
        </p:nvSpPr>
        <p:spPr>
          <a:xfrm>
            <a:off x="6675120" y="1371600"/>
            <a:ext cx="4956048" cy="3566160"/>
          </a:xfrm>
          <a:prstGeom prst="rect">
            <a:avLst/>
          </a:prstGeom>
          <a:noFill/>
          <a:ln/>
        </p:spPr>
        <p:txBody>
          <a:bodyPr wrap="square" lIns="0" tIns="0" rIns="0" bIns="0" rtlCol="0" anchor="ctr"/>
          <a:lstStyle/>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[스크린샷 삽입]</a:t>
            </a:r>
            <a:endParaRPr lang="en-US" sz="1200" dirty="0"/>
          </a:p>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다운로드 진행 화면</a:t>
            </a:r>
            <a:endParaRPr lang="en-US" sz="1200" dirty="0"/>
          </a:p>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(받은 파일이 보이게)</a:t>
            </a:r>
            <a:endParaRPr lang="en-US" sz="1200" dirty="0"/>
          </a:p>
        </p:txBody>
      </p:sp>
      <p:sp>
        <p:nvSpPr>
          <p:cNvPr id="19" name="Text 17"/>
          <p:cNvSpPr/>
          <p:nvPr/>
        </p:nvSpPr>
        <p:spPr>
          <a:xfrm>
            <a:off x="1152144" y="3749040"/>
            <a:ext cx="4937760" cy="731520"/>
          </a:xfrm>
          <a:prstGeom prst="rect">
            <a:avLst/>
          </a:prstGeom>
          <a:noFill/>
          <a:ln/>
        </p:spPr>
        <p:txBody>
          <a:bodyPr wrap="square" lIns="0" tIns="0" rIns="0" bIns="0" rtlCol="0" anchor="t"/>
          <a:lstStyle/>
          <a:p>
            <a:pPr marL="0" indent="0">
              <a:lnSpc>
                <a:spcPts val="2200"/>
              </a:lnSpc>
              <a:buNone/>
            </a:pPr>
            <a:r>
              <a:rPr lang="en-US" sz="1650" dirty="0">
                <a:solidFill>
                  <a:srgbClr val="514B43"/>
                </a:solidFill>
                <a:latin typeface="맑은 고딕" pitchFamily="34" charset="0"/>
                <a:ea typeface="맑은 고딕" pitchFamily="34" charset="-122"/>
                <a:cs typeface="맑은 고딕" pitchFamily="34" charset="-120"/>
              </a:rPr>
              <a:t>파일 크기가 있어서 인터넷이 느리면</a:t>
            </a:r>
            <a:endParaRPr lang="en-US" sz="1300" dirty="0"/>
          </a:p>
          <a:p>
            <a:pPr marL="0" indent="0">
              <a:lnSpc>
                <a:spcPts val="2200"/>
              </a:lnSpc>
              <a:buNone/>
            </a:pPr>
            <a:r>
              <a:rPr lang="en-US" sz="1650" dirty="0">
                <a:solidFill>
                  <a:srgbClr val="514B43"/>
                </a:solidFill>
                <a:latin typeface="맑은 고딕" pitchFamily="34" charset="0"/>
                <a:ea typeface="맑은 고딕" pitchFamily="34" charset="-122"/>
                <a:cs typeface="맑은 고딕" pitchFamily="34" charset="-120"/>
              </a:rPr>
              <a:t>몇 분 걸릴 수 있습니다.</a:t>
            </a:r>
            <a:endParaRPr lang="en-US" sz="1300" dirty="0"/>
          </a:p>
        </p:txBody>
      </p:sp>
      <p:sp>
        <p:nvSpPr>
          <p:cNvPr id="20" name="Text 18"/>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버전에 따라 화면이 다를 수 있습니다</a:t>
            </a:r>
            <a:endParaRPr lang="en-US" sz="1000" dirty="0"/>
          </a:p>
        </p:txBody>
      </p:sp>
      <p:sp>
        <p:nvSpPr>
          <p:cNvPr id="21" name="TextBox 20">
            <a:extLst>
              <a:ext uri="{FF2B5EF4-FFF2-40B4-BE49-F238E27FC236}">
                <a16:creationId xmlns:a16="http://schemas.microsoft.com/office/drawing/2014/main" id="{9DA4E230-C530-C020-4310-9C82A9AD505E}"/>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02 · </a:t>
            </a:r>
            <a:r>
              <a:rPr lang="ko-KR" altLang="en-US" sz="1200">
                <a:solidFill>
                  <a:srgbClr val="A69C90"/>
                </a:solidFill>
                <a:latin typeface="맑은 고딕" panose="020B0503020000020004" pitchFamily="50" charset="-127"/>
                <a:ea typeface="맑은 고딕" panose="020B0503020000020004" pitchFamily="50" charset="-127"/>
              </a:rPr>
              <a:t>설치하기          </a:t>
            </a:r>
            <a:r>
              <a:rPr lang="en-US" altLang="ko-KR" sz="1200">
                <a:solidFill>
                  <a:srgbClr val="A69C90"/>
                </a:solidFill>
                <a:latin typeface="맑은 고딕" panose="020B0503020000020004" pitchFamily="50" charset="-127"/>
                <a:ea typeface="맑은 고딕" panose="020B0503020000020004" pitchFamily="50" charset="-127"/>
              </a:rPr>
              <a:t>14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384048"/>
            <a:ext cx="621792" cy="621792"/>
          </a:xfrm>
          <a:prstGeom prst="ellipse">
            <a:avLst/>
          </a:prstGeom>
          <a:solidFill>
            <a:srgbClr val="D97757"/>
          </a:solidFill>
          <a:ln/>
        </p:spPr>
        <p:txBody>
          <a:bodyPr/>
          <a:lstStyle/>
          <a:p>
            <a:endParaRPr/>
          </a:p>
        </p:txBody>
      </p:sp>
      <p:sp>
        <p:nvSpPr>
          <p:cNvPr id="3" name="Text 1"/>
          <p:cNvSpPr/>
          <p:nvPr/>
        </p:nvSpPr>
        <p:spPr>
          <a:xfrm>
            <a:off x="566928" y="384048"/>
            <a:ext cx="621792" cy="621792"/>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4</a:t>
            </a:r>
            <a:endParaRPr lang="en-US" sz="2000" dirty="0"/>
          </a:p>
        </p:txBody>
      </p:sp>
      <p:sp>
        <p:nvSpPr>
          <p:cNvPr id="4" name="Text 2"/>
          <p:cNvSpPr/>
          <p:nvPr/>
        </p:nvSpPr>
        <p:spPr>
          <a:xfrm>
            <a:off x="1371600" y="384048"/>
            <a:ext cx="10241280" cy="621792"/>
          </a:xfrm>
          <a:prstGeom prst="rect">
            <a:avLst/>
          </a:prstGeom>
          <a:noFill/>
          <a:ln/>
        </p:spPr>
        <p:txBody>
          <a:bodyPr wrap="square" lIns="0" tIns="0" rIns="0" bIns="0" rtlCol="0" anchor="ctr"/>
          <a:lstStyle/>
          <a:p>
            <a:pPr marL="0" indent="0">
              <a:buNone/>
            </a:pPr>
            <a:r>
              <a:rPr lang="en-US" sz="3200" b="1" dirty="0">
                <a:solidFill>
                  <a:srgbClr val="24211D"/>
                </a:solidFill>
                <a:latin typeface="맑은 고딕" pitchFamily="34" charset="0"/>
                <a:ea typeface="맑은 고딕" pitchFamily="34" charset="-122"/>
                <a:cs typeface="맑은 고딕" pitchFamily="34" charset="-120"/>
              </a:rPr>
              <a:t>설치 실행하기</a:t>
            </a:r>
            <a:endParaRPr lang="en-US" sz="3000" dirty="0"/>
          </a:p>
        </p:txBody>
      </p:sp>
      <p:sp>
        <p:nvSpPr>
          <p:cNvPr id="5" name="Text 3"/>
          <p:cNvSpPr/>
          <p:nvPr/>
        </p:nvSpPr>
        <p:spPr>
          <a:xfrm>
            <a:off x="1371600" y="1042416"/>
            <a:ext cx="10241280" cy="365760"/>
          </a:xfrm>
          <a:prstGeom prst="rect">
            <a:avLst/>
          </a:prstGeom>
          <a:noFill/>
          <a:ln/>
        </p:spPr>
        <p:txBody>
          <a:bodyPr wrap="square" lIns="0" tIns="0" rIns="0" bIns="0" rtlCol="0" anchor="ctr"/>
          <a:lstStyle/>
          <a:p>
            <a:pPr marL="0" indent="0">
              <a:buNone/>
            </a:pPr>
            <a:r>
              <a:rPr lang="en-US" sz="1700" dirty="0">
                <a:solidFill>
                  <a:srgbClr val="514B43"/>
                </a:solidFill>
                <a:latin typeface="맑은 고딕" pitchFamily="34" charset="0"/>
                <a:ea typeface="맑은 고딕" pitchFamily="34" charset="-122"/>
                <a:cs typeface="맑은 고딕" pitchFamily="34" charset="-120"/>
              </a:rPr>
              <a:t>여기가 첫 번째 함정입니다</a:t>
            </a:r>
            <a:endParaRPr lang="en-US" sz="1400" dirty="0"/>
          </a:p>
        </p:txBody>
      </p:sp>
      <p:sp>
        <p:nvSpPr>
          <p:cNvPr id="6" name="Shape 4"/>
          <p:cNvSpPr/>
          <p:nvPr/>
        </p:nvSpPr>
        <p:spPr>
          <a:xfrm>
            <a:off x="658368" y="1645920"/>
            <a:ext cx="329184" cy="329184"/>
          </a:xfrm>
          <a:prstGeom prst="ellipse">
            <a:avLst/>
          </a:prstGeom>
          <a:solidFill>
            <a:srgbClr val="F5F1EB"/>
          </a:solidFill>
          <a:ln w="12700">
            <a:solidFill>
              <a:srgbClr val="DCD4C9"/>
            </a:solidFill>
            <a:prstDash val="solid"/>
          </a:ln>
        </p:spPr>
        <p:txBody>
          <a:bodyPr/>
          <a:lstStyle/>
          <a:p>
            <a:endParaRPr/>
          </a:p>
        </p:txBody>
      </p:sp>
      <p:sp>
        <p:nvSpPr>
          <p:cNvPr id="7" name="Text 5"/>
          <p:cNvSpPr/>
          <p:nvPr/>
        </p:nvSpPr>
        <p:spPr>
          <a:xfrm>
            <a:off x="658368" y="1645920"/>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1</a:t>
            </a:r>
            <a:endParaRPr lang="en-US" sz="1200" dirty="0"/>
          </a:p>
        </p:txBody>
      </p:sp>
      <p:sp>
        <p:nvSpPr>
          <p:cNvPr id="8" name="Text 6"/>
          <p:cNvSpPr/>
          <p:nvPr/>
        </p:nvSpPr>
        <p:spPr>
          <a:xfrm>
            <a:off x="1152144" y="1600200"/>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받은 파일을 두 번 누릅니다</a:t>
            </a:r>
            <a:endParaRPr lang="en-US" sz="1500" dirty="0"/>
          </a:p>
        </p:txBody>
      </p:sp>
      <p:sp>
        <p:nvSpPr>
          <p:cNvPr id="9" name="Shape 7"/>
          <p:cNvSpPr/>
          <p:nvPr/>
        </p:nvSpPr>
        <p:spPr>
          <a:xfrm>
            <a:off x="658368" y="2212848"/>
            <a:ext cx="329184" cy="329184"/>
          </a:xfrm>
          <a:prstGeom prst="ellipse">
            <a:avLst/>
          </a:prstGeom>
          <a:solidFill>
            <a:srgbClr val="F5F1EB"/>
          </a:solidFill>
          <a:ln w="12700">
            <a:solidFill>
              <a:srgbClr val="DCD4C9"/>
            </a:solidFill>
            <a:prstDash val="solid"/>
          </a:ln>
        </p:spPr>
        <p:txBody>
          <a:bodyPr/>
          <a:lstStyle/>
          <a:p>
            <a:endParaRPr/>
          </a:p>
        </p:txBody>
      </p:sp>
      <p:sp>
        <p:nvSpPr>
          <p:cNvPr id="10" name="Text 8"/>
          <p:cNvSpPr/>
          <p:nvPr/>
        </p:nvSpPr>
        <p:spPr>
          <a:xfrm>
            <a:off x="658368" y="2212848"/>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2</a:t>
            </a:r>
            <a:endParaRPr lang="en-US" sz="1200" dirty="0"/>
          </a:p>
        </p:txBody>
      </p:sp>
      <p:sp>
        <p:nvSpPr>
          <p:cNvPr id="11" name="Text 9"/>
          <p:cNvSpPr/>
          <p:nvPr/>
        </p:nvSpPr>
        <p:spPr>
          <a:xfrm>
            <a:off x="1152144" y="2167128"/>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설치가 시작됩니다</a:t>
            </a:r>
            <a:endParaRPr lang="en-US" sz="1500" dirty="0"/>
          </a:p>
        </p:txBody>
      </p:sp>
      <p:sp>
        <p:nvSpPr>
          <p:cNvPr id="12" name="Shape 10"/>
          <p:cNvSpPr/>
          <p:nvPr/>
        </p:nvSpPr>
        <p:spPr>
          <a:xfrm>
            <a:off x="658368" y="2779776"/>
            <a:ext cx="329184" cy="329184"/>
          </a:xfrm>
          <a:prstGeom prst="ellipse">
            <a:avLst/>
          </a:prstGeom>
          <a:solidFill>
            <a:srgbClr val="F5F1EB"/>
          </a:solidFill>
          <a:ln w="12700">
            <a:solidFill>
              <a:srgbClr val="DCD4C9"/>
            </a:solidFill>
            <a:prstDash val="solid"/>
          </a:ln>
        </p:spPr>
        <p:txBody>
          <a:bodyPr/>
          <a:lstStyle/>
          <a:p>
            <a:endParaRPr/>
          </a:p>
        </p:txBody>
      </p:sp>
      <p:sp>
        <p:nvSpPr>
          <p:cNvPr id="13" name="Text 11"/>
          <p:cNvSpPr/>
          <p:nvPr/>
        </p:nvSpPr>
        <p:spPr>
          <a:xfrm>
            <a:off x="658368" y="2779776"/>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3</a:t>
            </a:r>
            <a:endParaRPr lang="en-US" sz="1200" dirty="0"/>
          </a:p>
        </p:txBody>
      </p:sp>
      <p:sp>
        <p:nvSpPr>
          <p:cNvPr id="14" name="Text 12"/>
          <p:cNvSpPr/>
          <p:nvPr/>
        </p:nvSpPr>
        <p:spPr>
          <a:xfrm>
            <a:off x="1152144" y="2734056"/>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화면이 어두워지면서 창이 하나 뜹니다</a:t>
            </a:r>
            <a:endParaRPr lang="en-US" sz="1500" dirty="0"/>
          </a:p>
        </p:txBody>
      </p:sp>
      <p:sp>
        <p:nvSpPr>
          <p:cNvPr id="15" name="Shape 13"/>
          <p:cNvSpPr/>
          <p:nvPr/>
        </p:nvSpPr>
        <p:spPr>
          <a:xfrm>
            <a:off x="658368" y="3346704"/>
            <a:ext cx="329184" cy="329184"/>
          </a:xfrm>
          <a:prstGeom prst="ellipse">
            <a:avLst/>
          </a:prstGeom>
          <a:solidFill>
            <a:srgbClr val="F5F1EB"/>
          </a:solidFill>
          <a:ln w="12700">
            <a:solidFill>
              <a:srgbClr val="DCD4C9"/>
            </a:solidFill>
            <a:prstDash val="solid"/>
          </a:ln>
        </p:spPr>
        <p:txBody>
          <a:bodyPr/>
          <a:lstStyle/>
          <a:p>
            <a:endParaRPr/>
          </a:p>
        </p:txBody>
      </p:sp>
      <p:sp>
        <p:nvSpPr>
          <p:cNvPr id="16" name="Text 14"/>
          <p:cNvSpPr/>
          <p:nvPr/>
        </p:nvSpPr>
        <p:spPr>
          <a:xfrm>
            <a:off x="658368" y="3346704"/>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4</a:t>
            </a:r>
            <a:endParaRPr lang="en-US" sz="1200" dirty="0"/>
          </a:p>
        </p:txBody>
      </p:sp>
      <p:sp>
        <p:nvSpPr>
          <p:cNvPr id="17" name="Text 15"/>
          <p:cNvSpPr/>
          <p:nvPr/>
        </p:nvSpPr>
        <p:spPr>
          <a:xfrm>
            <a:off x="1152144" y="3300984"/>
            <a:ext cx="5029200" cy="420624"/>
          </a:xfrm>
          <a:prstGeom prst="rect">
            <a:avLst/>
          </a:prstGeom>
          <a:noFill/>
          <a:ln/>
        </p:spPr>
        <p:txBody>
          <a:bodyPr wrap="square" lIns="0" tIns="0" rIns="0" bIns="0" rtlCol="0" anchor="ctr"/>
          <a:lstStyle/>
          <a:p>
            <a:pPr marL="0" indent="0">
              <a:buNone/>
            </a:pPr>
            <a:r>
              <a:rPr lang="en-US" sz="1600" dirty="0">
                <a:solidFill>
                  <a:srgbClr val="24211D"/>
                </a:solidFill>
                <a:latin typeface="맑은 고딕" pitchFamily="34" charset="0"/>
                <a:ea typeface="맑은 고딕" pitchFamily="34" charset="-122"/>
                <a:cs typeface="맑은 고딕" pitchFamily="34" charset="-120"/>
              </a:rPr>
              <a:t>“이 앱이 디바이스를 변경하도록 허용하시겠어요?”</a:t>
            </a:r>
            <a:endParaRPr lang="en-US" sz="1500" dirty="0"/>
          </a:p>
        </p:txBody>
      </p:sp>
      <p:sp>
        <p:nvSpPr>
          <p:cNvPr id="18" name="Shape 16"/>
          <p:cNvSpPr/>
          <p:nvPr/>
        </p:nvSpPr>
        <p:spPr>
          <a:xfrm>
            <a:off x="658368" y="3913632"/>
            <a:ext cx="329184" cy="329184"/>
          </a:xfrm>
          <a:prstGeom prst="ellipse">
            <a:avLst/>
          </a:prstGeom>
          <a:solidFill>
            <a:srgbClr val="F5F1EB"/>
          </a:solidFill>
          <a:ln w="12700">
            <a:solidFill>
              <a:srgbClr val="DCD4C9"/>
            </a:solidFill>
            <a:prstDash val="solid"/>
          </a:ln>
        </p:spPr>
        <p:txBody>
          <a:bodyPr/>
          <a:lstStyle/>
          <a:p>
            <a:endParaRPr/>
          </a:p>
        </p:txBody>
      </p:sp>
      <p:sp>
        <p:nvSpPr>
          <p:cNvPr id="19" name="Text 17"/>
          <p:cNvSpPr/>
          <p:nvPr/>
        </p:nvSpPr>
        <p:spPr>
          <a:xfrm>
            <a:off x="658368" y="3913632"/>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5</a:t>
            </a:r>
            <a:endParaRPr lang="en-US" sz="1200" dirty="0"/>
          </a:p>
        </p:txBody>
      </p:sp>
      <p:sp>
        <p:nvSpPr>
          <p:cNvPr id="20" name="Text 18"/>
          <p:cNvSpPr/>
          <p:nvPr/>
        </p:nvSpPr>
        <p:spPr>
          <a:xfrm>
            <a:off x="1152144" y="3867912"/>
            <a:ext cx="5029200" cy="42062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반드시  예  를 누릅니다</a:t>
            </a:r>
            <a:endParaRPr lang="en-US" sz="1500" dirty="0"/>
          </a:p>
        </p:txBody>
      </p:sp>
      <p:sp>
        <p:nvSpPr>
          <p:cNvPr id="21" name="Shape 19"/>
          <p:cNvSpPr/>
          <p:nvPr/>
        </p:nvSpPr>
        <p:spPr>
          <a:xfrm>
            <a:off x="6675120" y="1600200"/>
            <a:ext cx="4956048" cy="3200400"/>
          </a:xfrm>
          <a:prstGeom prst="roundRect">
            <a:avLst>
              <a:gd name="adj" fmla="val 1714"/>
            </a:avLst>
          </a:prstGeom>
          <a:solidFill>
            <a:srgbClr val="F5F1EB"/>
          </a:solidFill>
          <a:ln w="15875">
            <a:solidFill>
              <a:srgbClr val="DCD4C9"/>
            </a:solidFill>
            <a:prstDash val="dash"/>
          </a:ln>
        </p:spPr>
        <p:txBody>
          <a:bodyPr/>
          <a:lstStyle/>
          <a:p>
            <a:endParaRPr/>
          </a:p>
        </p:txBody>
      </p:sp>
      <p:sp>
        <p:nvSpPr>
          <p:cNvPr id="22" name="Text 20"/>
          <p:cNvSpPr/>
          <p:nvPr/>
        </p:nvSpPr>
        <p:spPr>
          <a:xfrm>
            <a:off x="6675120" y="1600200"/>
            <a:ext cx="4956048" cy="3200400"/>
          </a:xfrm>
          <a:prstGeom prst="rect">
            <a:avLst/>
          </a:prstGeom>
          <a:noFill/>
          <a:ln/>
        </p:spPr>
        <p:txBody>
          <a:bodyPr wrap="square" lIns="0" tIns="0" rIns="0" bIns="0" rtlCol="0" anchor="ctr"/>
          <a:lstStyle/>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[스크린샷 삽입]</a:t>
            </a:r>
            <a:endParaRPr lang="en-US" sz="1200" dirty="0"/>
          </a:p>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UAC 허용 창</a:t>
            </a:r>
            <a:endParaRPr lang="en-US" sz="1200" dirty="0"/>
          </a:p>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(“예 / 아니요” 버튼이 보이게)</a:t>
            </a:r>
            <a:endParaRPr lang="en-US" sz="1200" dirty="0"/>
          </a:p>
        </p:txBody>
      </p:sp>
      <p:sp>
        <p:nvSpPr>
          <p:cNvPr id="23" name="Shape 21"/>
          <p:cNvSpPr/>
          <p:nvPr/>
        </p:nvSpPr>
        <p:spPr>
          <a:xfrm>
            <a:off x="566928" y="5029200"/>
            <a:ext cx="11064240" cy="868680"/>
          </a:xfrm>
          <a:prstGeom prst="roundRect">
            <a:avLst>
              <a:gd name="adj" fmla="val 5263"/>
            </a:avLst>
          </a:prstGeom>
          <a:solidFill>
            <a:srgbClr val="24211D"/>
          </a:solidFill>
          <a:ln w="12700">
            <a:solidFill>
              <a:srgbClr val="24211D"/>
            </a:solidFill>
            <a:prstDash val="solid"/>
          </a:ln>
        </p:spPr>
        <p:txBody>
          <a:bodyPr/>
          <a:lstStyle/>
          <a:p>
            <a:endParaRPr/>
          </a:p>
        </p:txBody>
      </p:sp>
      <p:sp>
        <p:nvSpPr>
          <p:cNvPr id="24" name="Text 22"/>
          <p:cNvSpPr/>
          <p:nvPr/>
        </p:nvSpPr>
        <p:spPr>
          <a:xfrm>
            <a:off x="914400" y="5029200"/>
            <a:ext cx="10424160" cy="86868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“아니요”를 누르면 설치는 되지만 파일 작업 기능이 빠집니다.  반드시  예  입니다.</a:t>
            </a:r>
            <a:endParaRPr lang="en-US" sz="1600" dirty="0"/>
          </a:p>
        </p:txBody>
      </p:sp>
      <p:sp>
        <p:nvSpPr>
          <p:cNvPr id="25" name="Text 23"/>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출처: support.claude.com/en/articles/12622703 (2026-08-06 확인)</a:t>
            </a:r>
            <a:endParaRPr lang="en-US" sz="1000" dirty="0"/>
          </a:p>
        </p:txBody>
      </p:sp>
      <p:sp>
        <p:nvSpPr>
          <p:cNvPr id="26" name="TextBox 25">
            <a:extLst>
              <a:ext uri="{FF2B5EF4-FFF2-40B4-BE49-F238E27FC236}">
                <a16:creationId xmlns:a16="http://schemas.microsoft.com/office/drawing/2014/main" id="{B1C6DF76-2790-651E-0220-419821AC3DA2}"/>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02 · </a:t>
            </a:r>
            <a:r>
              <a:rPr lang="ko-KR" altLang="en-US" sz="1200">
                <a:solidFill>
                  <a:srgbClr val="A69C90"/>
                </a:solidFill>
                <a:latin typeface="맑은 고딕" panose="020B0503020000020004" pitchFamily="50" charset="-127"/>
                <a:ea typeface="맑은 고딕" panose="020B0503020000020004" pitchFamily="50" charset="-127"/>
              </a:rPr>
              <a:t>설치하기          </a:t>
            </a:r>
            <a:r>
              <a:rPr lang="en-US" altLang="ko-KR" sz="1200">
                <a:solidFill>
                  <a:srgbClr val="A69C90"/>
                </a:solidFill>
                <a:latin typeface="맑은 고딕" panose="020B0503020000020004" pitchFamily="50" charset="-127"/>
                <a:ea typeface="맑은 고딕" panose="020B0503020000020004" pitchFamily="50" charset="-127"/>
              </a:rPr>
              <a:t>15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384048"/>
            <a:ext cx="621792" cy="621792"/>
          </a:xfrm>
          <a:prstGeom prst="ellipse">
            <a:avLst/>
          </a:prstGeom>
          <a:solidFill>
            <a:srgbClr val="D97757"/>
          </a:solidFill>
          <a:ln/>
        </p:spPr>
        <p:txBody>
          <a:bodyPr/>
          <a:lstStyle/>
          <a:p>
            <a:endParaRPr/>
          </a:p>
        </p:txBody>
      </p:sp>
      <p:sp>
        <p:nvSpPr>
          <p:cNvPr id="3" name="Text 1"/>
          <p:cNvSpPr/>
          <p:nvPr/>
        </p:nvSpPr>
        <p:spPr>
          <a:xfrm>
            <a:off x="566928" y="384048"/>
            <a:ext cx="621792" cy="621792"/>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5</a:t>
            </a:r>
            <a:endParaRPr lang="en-US" sz="2000" dirty="0"/>
          </a:p>
        </p:txBody>
      </p:sp>
      <p:sp>
        <p:nvSpPr>
          <p:cNvPr id="4" name="Text 2"/>
          <p:cNvSpPr/>
          <p:nvPr/>
        </p:nvSpPr>
        <p:spPr>
          <a:xfrm>
            <a:off x="1371600" y="384048"/>
            <a:ext cx="10241280" cy="621792"/>
          </a:xfrm>
          <a:prstGeom prst="rect">
            <a:avLst/>
          </a:prstGeom>
          <a:noFill/>
          <a:ln/>
        </p:spPr>
        <p:txBody>
          <a:bodyPr wrap="square" lIns="0" tIns="0" rIns="0" bIns="0" rtlCol="0" anchor="ctr"/>
          <a:lstStyle/>
          <a:p>
            <a:pPr marL="0" indent="0">
              <a:buNone/>
            </a:pPr>
            <a:r>
              <a:rPr lang="en-US" sz="3200" b="1" dirty="0">
                <a:solidFill>
                  <a:srgbClr val="24211D"/>
                </a:solidFill>
                <a:latin typeface="맑은 고딕" pitchFamily="34" charset="0"/>
                <a:ea typeface="맑은 고딕" pitchFamily="34" charset="-122"/>
                <a:cs typeface="맑은 고딕" pitchFamily="34" charset="-120"/>
              </a:rPr>
              <a:t>컴퓨터를 다시 시작합니다</a:t>
            </a:r>
            <a:endParaRPr lang="en-US" sz="3000" dirty="0"/>
          </a:p>
        </p:txBody>
      </p:sp>
      <p:sp>
        <p:nvSpPr>
          <p:cNvPr id="5" name="Text 3"/>
          <p:cNvSpPr/>
          <p:nvPr/>
        </p:nvSpPr>
        <p:spPr>
          <a:xfrm>
            <a:off x="1371600" y="1042416"/>
            <a:ext cx="10241280" cy="365760"/>
          </a:xfrm>
          <a:prstGeom prst="rect">
            <a:avLst/>
          </a:prstGeom>
          <a:noFill/>
          <a:ln/>
        </p:spPr>
        <p:txBody>
          <a:bodyPr wrap="square" lIns="0" tIns="0" rIns="0" bIns="0" rtlCol="0" anchor="ctr"/>
          <a:lstStyle/>
          <a:p>
            <a:pPr marL="0" indent="0">
              <a:buNone/>
            </a:pPr>
            <a:r>
              <a:rPr lang="en-US" sz="1700" dirty="0">
                <a:solidFill>
                  <a:srgbClr val="514B43"/>
                </a:solidFill>
                <a:latin typeface="맑은 고딕" pitchFamily="34" charset="0"/>
                <a:ea typeface="맑은 고딕" pitchFamily="34" charset="-122"/>
                <a:cs typeface="맑은 고딕" pitchFamily="34" charset="-120"/>
              </a:rPr>
              <a:t>여기가 두 번째 함정입니다. 설치의 마지막 단계입니다</a:t>
            </a:r>
            <a:endParaRPr lang="en-US" sz="1400" dirty="0"/>
          </a:p>
        </p:txBody>
      </p:sp>
      <p:sp>
        <p:nvSpPr>
          <p:cNvPr id="6" name="Shape 4"/>
          <p:cNvSpPr/>
          <p:nvPr/>
        </p:nvSpPr>
        <p:spPr>
          <a:xfrm>
            <a:off x="566928" y="1737360"/>
            <a:ext cx="5394960" cy="2651760"/>
          </a:xfrm>
          <a:prstGeom prst="roundRect">
            <a:avLst>
              <a:gd name="adj" fmla="val 2069"/>
            </a:avLst>
          </a:prstGeom>
          <a:solidFill>
            <a:srgbClr val="24211D"/>
          </a:solidFill>
          <a:ln w="12700">
            <a:solidFill>
              <a:srgbClr val="24211D"/>
            </a:solidFill>
            <a:prstDash val="solid"/>
          </a:ln>
        </p:spPr>
        <p:txBody>
          <a:bodyPr/>
          <a:lstStyle/>
          <a:p>
            <a:endParaRPr/>
          </a:p>
        </p:txBody>
      </p:sp>
      <p:sp>
        <p:nvSpPr>
          <p:cNvPr id="7" name="Text 5"/>
          <p:cNvSpPr/>
          <p:nvPr/>
        </p:nvSpPr>
        <p:spPr>
          <a:xfrm>
            <a:off x="914400" y="2011680"/>
            <a:ext cx="4663440" cy="411480"/>
          </a:xfrm>
          <a:prstGeom prst="rect">
            <a:avLst/>
          </a:prstGeom>
          <a:noFill/>
          <a:ln/>
        </p:spPr>
        <p:txBody>
          <a:bodyPr wrap="square" lIns="0" tIns="0" rIns="0" bIns="0" rtlCol="0" anchor="ctr"/>
          <a:lstStyle/>
          <a:p>
            <a:pPr marL="0" indent="0">
              <a:buNone/>
            </a:pPr>
            <a:r>
              <a:rPr lang="en-US" sz="1800" b="1" dirty="0">
                <a:solidFill>
                  <a:srgbClr val="D97757"/>
                </a:solidFill>
                <a:latin typeface="맑은 고딕" pitchFamily="34" charset="0"/>
                <a:ea typeface="맑은 고딕" pitchFamily="34" charset="-122"/>
                <a:cs typeface="맑은 고딕" pitchFamily="34" charset="-120"/>
              </a:rPr>
              <a:t>이렇게 하세요</a:t>
            </a:r>
            <a:endParaRPr lang="en-US" sz="1500" dirty="0"/>
          </a:p>
        </p:txBody>
      </p:sp>
      <p:sp>
        <p:nvSpPr>
          <p:cNvPr id="8" name="Text 6"/>
          <p:cNvSpPr/>
          <p:nvPr/>
        </p:nvSpPr>
        <p:spPr>
          <a:xfrm>
            <a:off x="914400" y="2468880"/>
            <a:ext cx="4663440" cy="777240"/>
          </a:xfrm>
          <a:prstGeom prst="rect">
            <a:avLst/>
          </a:prstGeom>
          <a:noFill/>
          <a:ln/>
        </p:spPr>
        <p:txBody>
          <a:bodyPr wrap="square" lIns="0" tIns="0" rIns="0" bIns="0" rtlCol="0" anchor="ctr"/>
          <a:lstStyle/>
          <a:p>
            <a:pPr marL="0" indent="0">
              <a:buNone/>
            </a:pPr>
            <a:r>
              <a:rPr lang="en-US" sz="4000" b="1" dirty="0">
                <a:solidFill>
                  <a:srgbClr val="FFFFFF"/>
                </a:solidFill>
                <a:latin typeface="맑은 고딕" pitchFamily="34" charset="0"/>
                <a:ea typeface="맑은 고딕" pitchFamily="34" charset="-122"/>
                <a:cs typeface="맑은 고딕" pitchFamily="34" charset="-120"/>
              </a:rPr>
              <a:t>다시 시작</a:t>
            </a:r>
            <a:endParaRPr lang="en-US" sz="4000" dirty="0"/>
          </a:p>
        </p:txBody>
      </p:sp>
      <p:sp>
        <p:nvSpPr>
          <p:cNvPr id="9" name="Text 7"/>
          <p:cNvSpPr/>
          <p:nvPr/>
        </p:nvSpPr>
        <p:spPr>
          <a:xfrm>
            <a:off x="914400" y="3337560"/>
            <a:ext cx="4663440" cy="365760"/>
          </a:xfrm>
          <a:prstGeom prst="rect">
            <a:avLst/>
          </a:prstGeom>
          <a:noFill/>
          <a:ln/>
        </p:spPr>
        <p:txBody>
          <a:bodyPr wrap="square" lIns="0" tIns="0" rIns="0" bIns="0" rtlCol="0" anchor="ctr"/>
          <a:lstStyle/>
          <a:p>
            <a:pPr marL="0" indent="0">
              <a:buNone/>
            </a:pPr>
            <a:r>
              <a:rPr lang="en-US" sz="1700" dirty="0">
                <a:solidFill>
                  <a:srgbClr val="E2DBD1"/>
                </a:solidFill>
                <a:latin typeface="맑은 고딕" pitchFamily="34" charset="0"/>
                <a:ea typeface="맑은 고딕" pitchFamily="34" charset="-122"/>
                <a:cs typeface="맑은 고딕" pitchFamily="34" charset="-120"/>
              </a:rPr>
              <a:t>시작 메뉴 &gt; 전원 &gt; 다시 시작</a:t>
            </a:r>
            <a:endParaRPr lang="en-US" sz="1400" dirty="0"/>
          </a:p>
        </p:txBody>
      </p:sp>
      <p:sp>
        <p:nvSpPr>
          <p:cNvPr id="10" name="Text 8"/>
          <p:cNvSpPr/>
          <p:nvPr/>
        </p:nvSpPr>
        <p:spPr>
          <a:xfrm>
            <a:off x="914400" y="3749040"/>
            <a:ext cx="4663440" cy="457200"/>
          </a:xfrm>
          <a:prstGeom prst="rect">
            <a:avLst/>
          </a:prstGeom>
          <a:noFill/>
          <a:ln/>
        </p:spPr>
        <p:txBody>
          <a:bodyPr wrap="square" lIns="0" tIns="0" rIns="0" bIns="0" rtlCol="0" anchor="t"/>
          <a:lstStyle/>
          <a:p>
            <a:pPr marL="0" indent="0">
              <a:lnSpc>
                <a:spcPts val="2000"/>
              </a:lnSpc>
              <a:buNone/>
            </a:pPr>
            <a:r>
              <a:rPr lang="en-US" sz="1650" dirty="0">
                <a:solidFill>
                  <a:srgbClr val="F6F1EA"/>
                </a:solidFill>
                <a:latin typeface="맑은 고딕" pitchFamily="34" charset="0"/>
                <a:ea typeface="맑은 고딕" pitchFamily="34" charset="-122"/>
                <a:cs typeface="맑은 고딕" pitchFamily="34" charset="-120"/>
              </a:rPr>
              <a:t>이렇게 해야 설정이 실제로 적용됩니다.</a:t>
            </a:r>
            <a:endParaRPr lang="en-US" sz="1300" dirty="0"/>
          </a:p>
        </p:txBody>
      </p:sp>
      <p:sp>
        <p:nvSpPr>
          <p:cNvPr id="11" name="Shape 9"/>
          <p:cNvSpPr/>
          <p:nvPr/>
        </p:nvSpPr>
        <p:spPr>
          <a:xfrm>
            <a:off x="6236208" y="1737360"/>
            <a:ext cx="5394960" cy="2651760"/>
          </a:xfrm>
          <a:prstGeom prst="roundRect">
            <a:avLst>
              <a:gd name="adj" fmla="val 1724"/>
            </a:avLst>
          </a:prstGeom>
          <a:solidFill>
            <a:srgbClr val="F5F1EB"/>
          </a:solidFill>
          <a:ln w="9525">
            <a:solidFill>
              <a:srgbClr val="DCD4C9"/>
            </a:solidFill>
            <a:prstDash val="solid"/>
          </a:ln>
        </p:spPr>
        <p:txBody>
          <a:bodyPr/>
          <a:lstStyle/>
          <a:p>
            <a:endParaRPr/>
          </a:p>
        </p:txBody>
      </p:sp>
      <p:sp>
        <p:nvSpPr>
          <p:cNvPr id="12" name="Text 10"/>
          <p:cNvSpPr/>
          <p:nvPr/>
        </p:nvSpPr>
        <p:spPr>
          <a:xfrm>
            <a:off x="6583680" y="2011680"/>
            <a:ext cx="4663440" cy="411480"/>
          </a:xfrm>
          <a:prstGeom prst="rect">
            <a:avLst/>
          </a:prstGeom>
          <a:noFill/>
          <a:ln/>
        </p:spPr>
        <p:txBody>
          <a:bodyPr wrap="square" lIns="0" tIns="0" rIns="0" bIns="0" rtlCol="0" anchor="ctr"/>
          <a:lstStyle/>
          <a:p>
            <a:pPr marL="0" indent="0">
              <a:buNone/>
            </a:pPr>
            <a:r>
              <a:rPr lang="en-US" sz="1800" b="1" dirty="0">
                <a:solidFill>
                  <a:srgbClr val="A8462A"/>
                </a:solidFill>
                <a:latin typeface="맑은 고딕" pitchFamily="34" charset="0"/>
                <a:ea typeface="맑은 고딕" pitchFamily="34" charset="-122"/>
                <a:cs typeface="맑은 고딕" pitchFamily="34" charset="-120"/>
              </a:rPr>
              <a:t>이러면 안 됩니다</a:t>
            </a:r>
            <a:endParaRPr lang="en-US" sz="1500" dirty="0"/>
          </a:p>
        </p:txBody>
      </p:sp>
      <p:sp>
        <p:nvSpPr>
          <p:cNvPr id="13" name="Text 11"/>
          <p:cNvSpPr/>
          <p:nvPr/>
        </p:nvSpPr>
        <p:spPr>
          <a:xfrm>
            <a:off x="6583680" y="2468880"/>
            <a:ext cx="4663440" cy="777240"/>
          </a:xfrm>
          <a:prstGeom prst="rect">
            <a:avLst/>
          </a:prstGeom>
          <a:noFill/>
          <a:ln/>
        </p:spPr>
        <p:txBody>
          <a:bodyPr wrap="square" lIns="0" tIns="0" rIns="0" bIns="0" rtlCol="0" anchor="ctr"/>
          <a:lstStyle/>
          <a:p>
            <a:pPr marL="0" indent="0">
              <a:buNone/>
            </a:pPr>
            <a:r>
              <a:rPr lang="en-US" sz="2850" b="1" dirty="0">
                <a:solidFill>
                  <a:srgbClr val="514B43"/>
                </a:solidFill>
                <a:latin typeface="맑은 고딕" pitchFamily="34" charset="0"/>
                <a:ea typeface="맑은 고딕" pitchFamily="34" charset="-122"/>
                <a:cs typeface="맑은 고딕" pitchFamily="34" charset="-120"/>
              </a:rPr>
              <a:t>시스템 종료 후 켜기</a:t>
            </a:r>
            <a:endParaRPr lang="en-US" sz="2700" dirty="0"/>
          </a:p>
        </p:txBody>
      </p:sp>
      <p:sp>
        <p:nvSpPr>
          <p:cNvPr id="14" name="Text 12"/>
          <p:cNvSpPr/>
          <p:nvPr/>
        </p:nvSpPr>
        <p:spPr>
          <a:xfrm>
            <a:off x="6583680" y="3337560"/>
            <a:ext cx="4663440" cy="365760"/>
          </a:xfrm>
          <a:prstGeom prst="rect">
            <a:avLst/>
          </a:prstGeom>
          <a:noFill/>
          <a:ln/>
        </p:spPr>
        <p:txBody>
          <a:bodyPr wrap="square" lIns="0" tIns="0" rIns="0" bIns="0" rtlCol="0" anchor="ctr"/>
          <a:lstStyle/>
          <a:p>
            <a:pPr marL="0" indent="0">
              <a:buNone/>
            </a:pPr>
            <a:r>
              <a:rPr lang="en-US" sz="1700" dirty="0">
                <a:solidFill>
                  <a:srgbClr val="514B43"/>
                </a:solidFill>
                <a:latin typeface="맑은 고딕" pitchFamily="34" charset="0"/>
                <a:ea typeface="맑은 고딕" pitchFamily="34" charset="-122"/>
                <a:cs typeface="맑은 고딕" pitchFamily="34" charset="-120"/>
              </a:rPr>
              <a:t>전원을 껐다 켜는 것</a:t>
            </a:r>
            <a:endParaRPr lang="en-US" sz="1400" dirty="0"/>
          </a:p>
        </p:txBody>
      </p:sp>
      <p:sp>
        <p:nvSpPr>
          <p:cNvPr id="15" name="Text 13"/>
          <p:cNvSpPr/>
          <p:nvPr/>
        </p:nvSpPr>
        <p:spPr>
          <a:xfrm>
            <a:off x="6583680" y="3749040"/>
            <a:ext cx="4663440" cy="548640"/>
          </a:xfrm>
          <a:prstGeom prst="rect">
            <a:avLst/>
          </a:prstGeom>
          <a:noFill/>
          <a:ln/>
        </p:spPr>
        <p:txBody>
          <a:bodyPr wrap="square" lIns="0" tIns="0" rIns="0" bIns="0" rtlCol="0" anchor="t"/>
          <a:lstStyle/>
          <a:p>
            <a:pPr marL="0" indent="0">
              <a:lnSpc>
                <a:spcPts val="2000"/>
              </a:lnSpc>
              <a:buNone/>
            </a:pPr>
            <a:r>
              <a:rPr lang="en-US" sz="1450" dirty="0">
                <a:solidFill>
                  <a:srgbClr val="24211D"/>
                </a:solidFill>
                <a:latin typeface="맑은 고딕" pitchFamily="34" charset="0"/>
                <a:ea typeface="맑은 고딕" pitchFamily="34" charset="-122"/>
                <a:cs typeface="맑은 고딕" pitchFamily="34" charset="-120"/>
              </a:rPr>
              <a:t>윈도우의 “빠른 시작” 때문에</a:t>
            </a:r>
            <a:endParaRPr lang="en-US" sz="1300" dirty="0"/>
          </a:p>
          <a:p>
            <a:pPr marL="0" indent="0">
              <a:lnSpc>
                <a:spcPts val="2000"/>
              </a:lnSpc>
              <a:buNone/>
            </a:pPr>
            <a:r>
              <a:rPr lang="en-US" sz="1450" dirty="0">
                <a:solidFill>
                  <a:srgbClr val="24211D"/>
                </a:solidFill>
                <a:latin typeface="맑은 고딕" pitchFamily="34" charset="0"/>
                <a:ea typeface="맑은 고딕" pitchFamily="34" charset="-122"/>
                <a:cs typeface="맑은 고딕" pitchFamily="34" charset="-120"/>
              </a:rPr>
              <a:t>설정이 적용되지 않습니다.</a:t>
            </a:r>
            <a:endParaRPr lang="en-US" sz="1300" dirty="0"/>
          </a:p>
        </p:txBody>
      </p:sp>
      <p:sp>
        <p:nvSpPr>
          <p:cNvPr id="16" name="Shape 14"/>
          <p:cNvSpPr/>
          <p:nvPr/>
        </p:nvSpPr>
        <p:spPr>
          <a:xfrm>
            <a:off x="566928" y="4709160"/>
            <a:ext cx="11064240" cy="1143000"/>
          </a:xfrm>
          <a:prstGeom prst="roundRect">
            <a:avLst>
              <a:gd name="adj" fmla="val 4000"/>
            </a:avLst>
          </a:prstGeom>
          <a:solidFill>
            <a:srgbClr val="F5F1EB"/>
          </a:solidFill>
          <a:ln w="9525">
            <a:solidFill>
              <a:srgbClr val="DCD4C9"/>
            </a:solidFill>
            <a:prstDash val="solid"/>
          </a:ln>
        </p:spPr>
        <p:txBody>
          <a:bodyPr/>
          <a:lstStyle/>
          <a:p>
            <a:endParaRPr/>
          </a:p>
        </p:txBody>
      </p:sp>
      <p:sp>
        <p:nvSpPr>
          <p:cNvPr id="17" name="Text 15"/>
          <p:cNvSpPr/>
          <p:nvPr/>
        </p:nvSpPr>
        <p:spPr>
          <a:xfrm>
            <a:off x="914400" y="4709160"/>
            <a:ext cx="10424160" cy="1143000"/>
          </a:xfrm>
          <a:prstGeom prst="rect">
            <a:avLst/>
          </a:prstGeom>
          <a:noFill/>
          <a:ln/>
        </p:spPr>
        <p:txBody>
          <a:bodyPr wrap="square" lIns="0" tIns="0" rIns="0" bIns="0" rtlCol="0" anchor="ctr"/>
          <a:lstStyle/>
          <a:p>
            <a:pPr marL="0" indent="0">
              <a:lnSpc>
                <a:spcPts val="2600"/>
              </a:lnSpc>
              <a:buNone/>
            </a:pPr>
            <a:r>
              <a:rPr lang="en-US" sz="1800" b="1" dirty="0">
                <a:solidFill>
                  <a:srgbClr val="24211D"/>
                </a:solidFill>
                <a:latin typeface="맑은 고딕" pitchFamily="34" charset="0"/>
                <a:ea typeface="맑은 고딕" pitchFamily="34" charset="-122"/>
                <a:cs typeface="맑은 고딕" pitchFamily="34" charset="-120"/>
              </a:rPr>
              <a:t>껐다 켜는 것과 다시 시작하는 것은 윈도우에서 서로 다른 동작입니다.</a:t>
            </a:r>
            <a:endParaRPr lang="en-US" sz="1600" dirty="0"/>
          </a:p>
          <a:p>
            <a:pPr marL="0" indent="0">
              <a:lnSpc>
                <a:spcPts val="2600"/>
              </a:lnSpc>
              <a:buNone/>
            </a:pPr>
            <a:r>
              <a:rPr lang="en-US" sz="1800" b="1" dirty="0">
                <a:solidFill>
                  <a:srgbClr val="24211D"/>
                </a:solidFill>
                <a:latin typeface="맑은 고딕" pitchFamily="34" charset="0"/>
                <a:ea typeface="맑은 고딕" pitchFamily="34" charset="-122"/>
                <a:cs typeface="맑은 고딕" pitchFamily="34" charset="-120"/>
              </a:rPr>
              <a:t>반드시  다시 시작  을 고르세요.</a:t>
            </a:r>
            <a:endParaRPr lang="en-US" sz="1600" dirty="0"/>
          </a:p>
        </p:txBody>
      </p:sp>
      <p:sp>
        <p:nvSpPr>
          <p:cNvPr id="18" name="Text 16"/>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출처: support.claude.com/en/articles/12622703 (2026-08-06 확인)</a:t>
            </a:r>
            <a:endParaRPr lang="en-US" sz="1000" dirty="0"/>
          </a:p>
        </p:txBody>
      </p:sp>
      <p:sp>
        <p:nvSpPr>
          <p:cNvPr id="19" name="TextBox 18">
            <a:extLst>
              <a:ext uri="{FF2B5EF4-FFF2-40B4-BE49-F238E27FC236}">
                <a16:creationId xmlns:a16="http://schemas.microsoft.com/office/drawing/2014/main" id="{4D27B414-13AB-7E53-E128-0B6791AD1F83}"/>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02 · </a:t>
            </a:r>
            <a:r>
              <a:rPr lang="ko-KR" altLang="en-US" sz="1200">
                <a:solidFill>
                  <a:srgbClr val="A69C90"/>
                </a:solidFill>
                <a:latin typeface="맑은 고딕" panose="020B0503020000020004" pitchFamily="50" charset="-127"/>
                <a:ea typeface="맑은 고딕" panose="020B0503020000020004" pitchFamily="50" charset="-127"/>
              </a:rPr>
              <a:t>설치하기          </a:t>
            </a:r>
            <a:r>
              <a:rPr lang="en-US" altLang="ko-KR" sz="1200">
                <a:solidFill>
                  <a:srgbClr val="A69C90"/>
                </a:solidFill>
                <a:latin typeface="맑은 고딕" panose="020B0503020000020004" pitchFamily="50" charset="-127"/>
                <a:ea typeface="맑은 고딕" panose="020B0503020000020004" pitchFamily="50" charset="-127"/>
              </a:rPr>
              <a:t>16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파일 작업 기능이 안 켜질 때</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설치는 됐는데 파일 작업 기능이 작동하지 않는 경우의 응급처치입니다</a:t>
            </a:r>
            <a:endParaRPr lang="en-US" sz="1500" dirty="0"/>
          </a:p>
        </p:txBody>
      </p:sp>
      <p:sp>
        <p:nvSpPr>
          <p:cNvPr id="4" name="Shape 2"/>
          <p:cNvSpPr/>
          <p:nvPr/>
        </p:nvSpPr>
        <p:spPr>
          <a:xfrm>
            <a:off x="566928" y="1874520"/>
            <a:ext cx="4937760" cy="3703320"/>
          </a:xfrm>
          <a:prstGeom prst="roundRect">
            <a:avLst>
              <a:gd name="adj" fmla="val 1235"/>
            </a:avLst>
          </a:prstGeom>
          <a:solidFill>
            <a:srgbClr val="F5F1EB"/>
          </a:solidFill>
          <a:ln w="9525">
            <a:solidFill>
              <a:srgbClr val="DCD4C9"/>
            </a:solidFill>
            <a:prstDash val="solid"/>
          </a:ln>
        </p:spPr>
        <p:txBody>
          <a:bodyPr/>
          <a:lstStyle/>
          <a:p>
            <a:endParaRPr/>
          </a:p>
        </p:txBody>
      </p:sp>
      <p:sp>
        <p:nvSpPr>
          <p:cNvPr id="5" name="Text 3"/>
          <p:cNvSpPr/>
          <p:nvPr/>
        </p:nvSpPr>
        <p:spPr>
          <a:xfrm>
            <a:off x="914400" y="2148840"/>
            <a:ext cx="4297680" cy="411480"/>
          </a:xfrm>
          <a:prstGeom prst="rect">
            <a:avLst/>
          </a:prstGeom>
          <a:noFill/>
          <a:ln/>
        </p:spPr>
        <p:txBody>
          <a:bodyPr wrap="square" lIns="0" tIns="0" rIns="0" bIns="0" rtlCol="0" anchor="ctr"/>
          <a:lstStyle/>
          <a:p>
            <a:pPr marL="0" indent="0">
              <a:buNone/>
            </a:pPr>
            <a:r>
              <a:rPr lang="en-US" sz="2000" b="1" dirty="0">
                <a:solidFill>
                  <a:srgbClr val="A8462A"/>
                </a:solidFill>
                <a:latin typeface="맑은 고딕" pitchFamily="34" charset="0"/>
                <a:ea typeface="맑은 고딕" pitchFamily="34" charset="-122"/>
                <a:cs typeface="맑은 고딕" pitchFamily="34" charset="-120"/>
              </a:rPr>
              <a:t>이런 증상이면</a:t>
            </a:r>
            <a:endParaRPr lang="en-US" sz="1800" dirty="0"/>
          </a:p>
        </p:txBody>
      </p:sp>
      <p:sp>
        <p:nvSpPr>
          <p:cNvPr id="6" name="Text 4"/>
          <p:cNvSpPr/>
          <p:nvPr/>
        </p:nvSpPr>
        <p:spPr>
          <a:xfrm>
            <a:off x="914400" y="2697480"/>
            <a:ext cx="4297680" cy="1554480"/>
          </a:xfrm>
          <a:prstGeom prst="rect">
            <a:avLst/>
          </a:prstGeom>
          <a:noFill/>
          <a:ln/>
        </p:spPr>
        <p:txBody>
          <a:bodyPr wrap="square" lIns="0" tIns="0" rIns="0" bIns="0" rtlCol="0" anchor="t"/>
          <a:lstStyle/>
          <a:p>
            <a:pPr marL="342900" indent="-342900">
              <a:lnSpc>
                <a:spcPts val="22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파일 작업(Cowork)이 시작되지 않는다</a:t>
            </a:r>
            <a:endParaRPr lang="en-US" sz="1400" dirty="0"/>
          </a:p>
          <a:p>
            <a:pPr marL="342900" indent="-342900">
              <a:lnSpc>
                <a:spcPts val="22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“Missing HCS services” 오류가 뜬다</a:t>
            </a:r>
            <a:endParaRPr lang="en-US" sz="1400" dirty="0"/>
          </a:p>
          <a:p>
            <a:pPr marL="342900" indent="-342900">
              <a:lnSpc>
                <a:spcPts val="22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폴더를 연결해도 아무 반응이 없다</a:t>
            </a:r>
            <a:endParaRPr lang="en-US" sz="1400" dirty="0"/>
          </a:p>
        </p:txBody>
      </p:sp>
      <p:sp>
        <p:nvSpPr>
          <p:cNvPr id="7" name="Text 5"/>
          <p:cNvSpPr/>
          <p:nvPr/>
        </p:nvSpPr>
        <p:spPr>
          <a:xfrm>
            <a:off x="914400" y="3977640"/>
            <a:ext cx="4297680" cy="365760"/>
          </a:xfrm>
          <a:prstGeom prst="rect">
            <a:avLst/>
          </a:prstGeom>
          <a:noFill/>
          <a:ln/>
        </p:spPr>
        <p:txBody>
          <a:bodyPr wrap="square" lIns="0" tIns="0" rIns="0" bIns="0" rtlCol="0" anchor="ctr"/>
          <a:lstStyle/>
          <a:p>
            <a:pPr marL="0" indent="0">
              <a:buNone/>
            </a:pPr>
            <a:r>
              <a:rPr lang="en-US" sz="1800" b="1" dirty="0">
                <a:solidFill>
                  <a:srgbClr val="514B43"/>
                </a:solidFill>
                <a:latin typeface="맑은 고딕" pitchFamily="34" charset="0"/>
                <a:ea typeface="맑은 고딕" pitchFamily="34" charset="-122"/>
                <a:cs typeface="맑은 고딕" pitchFamily="34" charset="-120"/>
              </a:rPr>
              <a:t>원인</a:t>
            </a:r>
            <a:endParaRPr lang="en-US" sz="1500" dirty="0"/>
          </a:p>
        </p:txBody>
      </p:sp>
      <p:sp>
        <p:nvSpPr>
          <p:cNvPr id="8" name="Text 6"/>
          <p:cNvSpPr/>
          <p:nvPr/>
        </p:nvSpPr>
        <p:spPr>
          <a:xfrm>
            <a:off x="914400" y="4370832"/>
            <a:ext cx="4297680" cy="1097280"/>
          </a:xfrm>
          <a:prstGeom prst="rect">
            <a:avLst/>
          </a:prstGeom>
          <a:noFill/>
          <a:ln/>
        </p:spPr>
        <p:txBody>
          <a:bodyPr wrap="square" lIns="0" tIns="0" rIns="0" bIns="0" rtlCol="0" anchor="t"/>
          <a:lstStyle/>
          <a:p>
            <a:pPr marL="0" indent="0">
              <a:lnSpc>
                <a:spcPts val="2000"/>
              </a:lnSpc>
              <a:buNone/>
            </a:pPr>
            <a:r>
              <a:rPr lang="en-US" sz="1650" dirty="0">
                <a:solidFill>
                  <a:srgbClr val="514B43"/>
                </a:solidFill>
                <a:latin typeface="맑은 고딕" pitchFamily="34" charset="0"/>
                <a:ea typeface="맑은 고딕" pitchFamily="34" charset="-122"/>
                <a:cs typeface="맑은 고딕" pitchFamily="34" charset="-120"/>
              </a:rPr>
              <a:t>윈도우의 가상 머신 플랫폼이 꺼져 있어서입니다. Claude가 파일을 다룰 때 격리된 공간이 필요한데, 그 기능입니다.</a:t>
            </a:r>
            <a:endParaRPr lang="en-US" sz="1300" dirty="0"/>
          </a:p>
        </p:txBody>
      </p:sp>
      <p:sp>
        <p:nvSpPr>
          <p:cNvPr id="9" name="Text 7"/>
          <p:cNvSpPr/>
          <p:nvPr/>
        </p:nvSpPr>
        <p:spPr>
          <a:xfrm>
            <a:off x="5852160" y="1965960"/>
            <a:ext cx="5779008" cy="411480"/>
          </a:xfrm>
          <a:prstGeom prst="rect">
            <a:avLst/>
          </a:prstGeom>
          <a:noFill/>
          <a:ln/>
        </p:spPr>
        <p:txBody>
          <a:bodyPr wrap="square" lIns="0" tIns="0" rIns="0" bIns="0" rtlCol="0" anchor="ctr"/>
          <a:lstStyle/>
          <a:p>
            <a:pPr marL="0" indent="0">
              <a:buNone/>
            </a:pPr>
            <a:r>
              <a:rPr lang="en-US" sz="2000" b="1" dirty="0">
                <a:solidFill>
                  <a:srgbClr val="24211D"/>
                </a:solidFill>
                <a:latin typeface="맑은 고딕" pitchFamily="34" charset="0"/>
                <a:ea typeface="맑은 고딕" pitchFamily="34" charset="-122"/>
                <a:cs typeface="맑은 고딕" pitchFamily="34" charset="-120"/>
              </a:rPr>
              <a:t>이렇게 하세요</a:t>
            </a:r>
            <a:endParaRPr lang="en-US" sz="1800" dirty="0"/>
          </a:p>
        </p:txBody>
      </p:sp>
      <p:sp>
        <p:nvSpPr>
          <p:cNvPr id="10" name="Shape 8"/>
          <p:cNvSpPr/>
          <p:nvPr/>
        </p:nvSpPr>
        <p:spPr>
          <a:xfrm>
            <a:off x="5943600" y="2514600"/>
            <a:ext cx="310896" cy="310896"/>
          </a:xfrm>
          <a:prstGeom prst="ellipse">
            <a:avLst/>
          </a:prstGeom>
          <a:solidFill>
            <a:srgbClr val="F5F1EB"/>
          </a:solidFill>
          <a:ln w="12700">
            <a:solidFill>
              <a:srgbClr val="DCD4C9"/>
            </a:solidFill>
            <a:prstDash val="solid"/>
          </a:ln>
        </p:spPr>
        <p:txBody>
          <a:bodyPr/>
          <a:lstStyle/>
          <a:p>
            <a:endParaRPr/>
          </a:p>
        </p:txBody>
      </p:sp>
      <p:sp>
        <p:nvSpPr>
          <p:cNvPr id="11" name="Text 9"/>
          <p:cNvSpPr/>
          <p:nvPr/>
        </p:nvSpPr>
        <p:spPr>
          <a:xfrm>
            <a:off x="5943600" y="2514600"/>
            <a:ext cx="310896" cy="310896"/>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1</a:t>
            </a:r>
            <a:endParaRPr lang="en-US" sz="1100" dirty="0"/>
          </a:p>
        </p:txBody>
      </p:sp>
      <p:sp>
        <p:nvSpPr>
          <p:cNvPr id="12" name="Text 10"/>
          <p:cNvSpPr/>
          <p:nvPr/>
        </p:nvSpPr>
        <p:spPr>
          <a:xfrm>
            <a:off x="6400800" y="2487168"/>
            <a:ext cx="5212080" cy="365760"/>
          </a:xfrm>
          <a:prstGeom prst="rect">
            <a:avLst/>
          </a:prstGeom>
          <a:noFill/>
          <a:ln/>
        </p:spPr>
        <p:txBody>
          <a:bodyPr wrap="square" lIns="0" tIns="0" rIns="0" bIns="0" rtlCol="0" anchor="ctr"/>
          <a:lstStyle/>
          <a:p>
            <a:pPr marL="0" indent="0">
              <a:buNone/>
            </a:pPr>
            <a:r>
              <a:rPr lang="en-US" sz="1700" dirty="0">
                <a:solidFill>
                  <a:srgbClr val="24211D"/>
                </a:solidFill>
                <a:latin typeface="맑은 고딕" pitchFamily="34" charset="0"/>
                <a:ea typeface="맑은 고딕" pitchFamily="34" charset="-122"/>
                <a:cs typeface="맑은 고딕" pitchFamily="34" charset="-120"/>
              </a:rPr>
              <a:t>시작 메뉴에서  Windows PowerShell  을 찾습니다</a:t>
            </a:r>
            <a:endParaRPr lang="en-US" sz="1400" dirty="0"/>
          </a:p>
        </p:txBody>
      </p:sp>
      <p:sp>
        <p:nvSpPr>
          <p:cNvPr id="13" name="Shape 11"/>
          <p:cNvSpPr/>
          <p:nvPr/>
        </p:nvSpPr>
        <p:spPr>
          <a:xfrm>
            <a:off x="5943600" y="3017520"/>
            <a:ext cx="310896" cy="310896"/>
          </a:xfrm>
          <a:prstGeom prst="ellipse">
            <a:avLst/>
          </a:prstGeom>
          <a:solidFill>
            <a:srgbClr val="F5F1EB"/>
          </a:solidFill>
          <a:ln w="12700">
            <a:solidFill>
              <a:srgbClr val="DCD4C9"/>
            </a:solidFill>
            <a:prstDash val="solid"/>
          </a:ln>
        </p:spPr>
        <p:txBody>
          <a:bodyPr/>
          <a:lstStyle/>
          <a:p>
            <a:endParaRPr/>
          </a:p>
        </p:txBody>
      </p:sp>
      <p:sp>
        <p:nvSpPr>
          <p:cNvPr id="14" name="Text 12"/>
          <p:cNvSpPr/>
          <p:nvPr/>
        </p:nvSpPr>
        <p:spPr>
          <a:xfrm>
            <a:off x="5943600" y="3017520"/>
            <a:ext cx="310896" cy="310896"/>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2</a:t>
            </a:r>
            <a:endParaRPr lang="en-US" sz="1100" dirty="0"/>
          </a:p>
        </p:txBody>
      </p:sp>
      <p:sp>
        <p:nvSpPr>
          <p:cNvPr id="15" name="Text 13"/>
          <p:cNvSpPr/>
          <p:nvPr/>
        </p:nvSpPr>
        <p:spPr>
          <a:xfrm>
            <a:off x="6400800" y="2990088"/>
            <a:ext cx="5212080" cy="365760"/>
          </a:xfrm>
          <a:prstGeom prst="rect">
            <a:avLst/>
          </a:prstGeom>
          <a:noFill/>
          <a:ln/>
        </p:spPr>
        <p:txBody>
          <a:bodyPr wrap="square" lIns="0" tIns="0" rIns="0" bIns="0" rtlCol="0" anchor="ctr"/>
          <a:lstStyle/>
          <a:p>
            <a:pPr marL="0" indent="0">
              <a:buNone/>
            </a:pPr>
            <a:r>
              <a:rPr lang="en-US" sz="1700" dirty="0">
                <a:solidFill>
                  <a:srgbClr val="24211D"/>
                </a:solidFill>
                <a:latin typeface="맑은 고딕" pitchFamily="34" charset="0"/>
                <a:ea typeface="맑은 고딕" pitchFamily="34" charset="-122"/>
                <a:cs typeface="맑은 고딕" pitchFamily="34" charset="-120"/>
              </a:rPr>
              <a:t>오른쪽 눌러  관리자 권한으로 실행</a:t>
            </a:r>
            <a:endParaRPr lang="en-US" sz="1400" dirty="0"/>
          </a:p>
        </p:txBody>
      </p:sp>
      <p:sp>
        <p:nvSpPr>
          <p:cNvPr id="16" name="Shape 14"/>
          <p:cNvSpPr/>
          <p:nvPr/>
        </p:nvSpPr>
        <p:spPr>
          <a:xfrm>
            <a:off x="5943600" y="3520440"/>
            <a:ext cx="310896" cy="310896"/>
          </a:xfrm>
          <a:prstGeom prst="ellipse">
            <a:avLst/>
          </a:prstGeom>
          <a:solidFill>
            <a:srgbClr val="F5F1EB"/>
          </a:solidFill>
          <a:ln w="12700">
            <a:solidFill>
              <a:srgbClr val="DCD4C9"/>
            </a:solidFill>
            <a:prstDash val="solid"/>
          </a:ln>
        </p:spPr>
        <p:txBody>
          <a:bodyPr/>
          <a:lstStyle/>
          <a:p>
            <a:endParaRPr/>
          </a:p>
        </p:txBody>
      </p:sp>
      <p:sp>
        <p:nvSpPr>
          <p:cNvPr id="17" name="Text 15"/>
          <p:cNvSpPr/>
          <p:nvPr/>
        </p:nvSpPr>
        <p:spPr>
          <a:xfrm>
            <a:off x="5943600" y="3520440"/>
            <a:ext cx="310896" cy="310896"/>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3</a:t>
            </a:r>
            <a:endParaRPr lang="en-US" sz="1100" dirty="0"/>
          </a:p>
        </p:txBody>
      </p:sp>
      <p:sp>
        <p:nvSpPr>
          <p:cNvPr id="18" name="Text 16"/>
          <p:cNvSpPr/>
          <p:nvPr/>
        </p:nvSpPr>
        <p:spPr>
          <a:xfrm>
            <a:off x="6400800" y="3493008"/>
            <a:ext cx="5212080" cy="365760"/>
          </a:xfrm>
          <a:prstGeom prst="rect">
            <a:avLst/>
          </a:prstGeom>
          <a:noFill/>
          <a:ln/>
        </p:spPr>
        <p:txBody>
          <a:bodyPr wrap="square" lIns="0" tIns="0" rIns="0" bIns="0" rtlCol="0" anchor="ctr"/>
          <a:lstStyle/>
          <a:p>
            <a:pPr marL="0" indent="0">
              <a:buNone/>
            </a:pPr>
            <a:r>
              <a:rPr lang="en-US" sz="1700" dirty="0">
                <a:solidFill>
                  <a:srgbClr val="24211D"/>
                </a:solidFill>
                <a:latin typeface="맑은 고딕" pitchFamily="34" charset="0"/>
                <a:ea typeface="맑은 고딕" pitchFamily="34" charset="-122"/>
                <a:cs typeface="맑은 고딕" pitchFamily="34" charset="-120"/>
              </a:rPr>
              <a:t>아래 문장을 복사해 붙여넣고 엔터</a:t>
            </a:r>
            <a:endParaRPr lang="en-US" sz="1400" dirty="0"/>
          </a:p>
        </p:txBody>
      </p:sp>
      <p:sp>
        <p:nvSpPr>
          <p:cNvPr id="19" name="Shape 17"/>
          <p:cNvSpPr/>
          <p:nvPr/>
        </p:nvSpPr>
        <p:spPr>
          <a:xfrm>
            <a:off x="5943600" y="4023360"/>
            <a:ext cx="310896" cy="310896"/>
          </a:xfrm>
          <a:prstGeom prst="ellipse">
            <a:avLst/>
          </a:prstGeom>
          <a:solidFill>
            <a:srgbClr val="F5F1EB"/>
          </a:solidFill>
          <a:ln w="12700">
            <a:solidFill>
              <a:srgbClr val="DCD4C9"/>
            </a:solidFill>
            <a:prstDash val="solid"/>
          </a:ln>
        </p:spPr>
        <p:txBody>
          <a:bodyPr/>
          <a:lstStyle/>
          <a:p>
            <a:endParaRPr/>
          </a:p>
        </p:txBody>
      </p:sp>
      <p:sp>
        <p:nvSpPr>
          <p:cNvPr id="20" name="Text 18"/>
          <p:cNvSpPr/>
          <p:nvPr/>
        </p:nvSpPr>
        <p:spPr>
          <a:xfrm>
            <a:off x="5943600" y="4023360"/>
            <a:ext cx="310896" cy="310896"/>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4</a:t>
            </a:r>
            <a:endParaRPr lang="en-US" sz="1100" dirty="0"/>
          </a:p>
        </p:txBody>
      </p:sp>
      <p:sp>
        <p:nvSpPr>
          <p:cNvPr id="21" name="Text 19"/>
          <p:cNvSpPr/>
          <p:nvPr/>
        </p:nvSpPr>
        <p:spPr>
          <a:xfrm>
            <a:off x="6400800" y="3995928"/>
            <a:ext cx="5212080" cy="365760"/>
          </a:xfrm>
          <a:prstGeom prst="rect">
            <a:avLst/>
          </a:prstGeom>
          <a:noFill/>
          <a:ln/>
        </p:spPr>
        <p:txBody>
          <a:bodyPr wrap="square" lIns="0" tIns="0" rIns="0" bIns="0" rtlCol="0" anchor="ctr"/>
          <a:lstStyle/>
          <a:p>
            <a:pPr marL="0" indent="0">
              <a:buNone/>
            </a:pPr>
            <a:r>
              <a:rPr lang="en-US" sz="1700" dirty="0">
                <a:solidFill>
                  <a:srgbClr val="24211D"/>
                </a:solidFill>
                <a:latin typeface="맑은 고딕" pitchFamily="34" charset="0"/>
                <a:ea typeface="맑은 고딕" pitchFamily="34" charset="-122"/>
                <a:cs typeface="맑은 고딕" pitchFamily="34" charset="-120"/>
              </a:rPr>
              <a:t>끝나면  다시 시작  (전원 끄기 아님)</a:t>
            </a:r>
            <a:endParaRPr lang="en-US" sz="1400" dirty="0"/>
          </a:p>
        </p:txBody>
      </p:sp>
      <p:sp>
        <p:nvSpPr>
          <p:cNvPr id="22" name="Shape 20"/>
          <p:cNvSpPr/>
          <p:nvPr/>
        </p:nvSpPr>
        <p:spPr>
          <a:xfrm>
            <a:off x="5943600" y="4617720"/>
            <a:ext cx="5687568" cy="822960"/>
          </a:xfrm>
          <a:prstGeom prst="roundRect">
            <a:avLst>
              <a:gd name="adj" fmla="val 4444"/>
            </a:avLst>
          </a:prstGeom>
          <a:solidFill>
            <a:srgbClr val="24211D"/>
          </a:solidFill>
          <a:ln w="6350">
            <a:solidFill>
              <a:srgbClr val="24211D"/>
            </a:solidFill>
            <a:prstDash val="solid"/>
          </a:ln>
        </p:spPr>
        <p:txBody>
          <a:bodyPr/>
          <a:lstStyle/>
          <a:p>
            <a:endParaRPr/>
          </a:p>
        </p:txBody>
      </p:sp>
      <p:sp>
        <p:nvSpPr>
          <p:cNvPr id="23" name="Text 21"/>
          <p:cNvSpPr/>
          <p:nvPr/>
        </p:nvSpPr>
        <p:spPr>
          <a:xfrm>
            <a:off x="6108192" y="4617720"/>
            <a:ext cx="5358384" cy="822960"/>
          </a:xfrm>
          <a:prstGeom prst="rect">
            <a:avLst/>
          </a:prstGeom>
          <a:noFill/>
          <a:ln/>
        </p:spPr>
        <p:txBody>
          <a:bodyPr wrap="square" lIns="0" tIns="0" rIns="0" bIns="0" rtlCol="0" anchor="ctr"/>
          <a:lstStyle/>
          <a:p>
            <a:pPr marL="0" indent="0">
              <a:lnSpc>
                <a:spcPts val="1800"/>
              </a:lnSpc>
              <a:buNone/>
            </a:pPr>
            <a:r>
              <a:rPr lang="en-US" sz="1550" dirty="0">
                <a:solidFill>
                  <a:srgbClr val="F2E9E1"/>
                </a:solidFill>
                <a:latin typeface="Consolas" pitchFamily="34" charset="0"/>
                <a:ea typeface="Consolas" pitchFamily="34" charset="-122"/>
                <a:cs typeface="Consolas" pitchFamily="34" charset="-120"/>
              </a:rPr>
              <a:t>Enable-WindowsOptionalFeature -Online</a:t>
            </a:r>
            <a:endParaRPr lang="en-US" sz="1100" dirty="0"/>
          </a:p>
          <a:p>
            <a:pPr marL="0" indent="0">
              <a:lnSpc>
                <a:spcPts val="1800"/>
              </a:lnSpc>
              <a:buNone/>
            </a:pPr>
            <a:r>
              <a:rPr lang="en-US" sz="1550" dirty="0">
                <a:solidFill>
                  <a:srgbClr val="F2E9E1"/>
                </a:solidFill>
                <a:latin typeface="Consolas" pitchFamily="34" charset="0"/>
                <a:ea typeface="Consolas" pitchFamily="34" charset="-122"/>
                <a:cs typeface="Consolas" pitchFamily="34" charset="-120"/>
              </a:rPr>
              <a:t>  -FeatureName VirtualMachinePlatform -All</a:t>
            </a:r>
            <a:endParaRPr lang="en-US" sz="1100" dirty="0"/>
          </a:p>
        </p:txBody>
      </p:sp>
      <p:sp>
        <p:nvSpPr>
          <p:cNvPr id="24" name="Text 22"/>
          <p:cNvSpPr/>
          <p:nvPr/>
        </p:nvSpPr>
        <p:spPr>
          <a:xfrm>
            <a:off x="5943600" y="5504688"/>
            <a:ext cx="5687568" cy="365760"/>
          </a:xfrm>
          <a:prstGeom prst="rect">
            <a:avLst/>
          </a:prstGeom>
          <a:noFill/>
          <a:ln/>
        </p:spPr>
        <p:txBody>
          <a:bodyPr wrap="square" lIns="0" tIns="0" rIns="0" bIns="0" rtlCol="0" anchor="ctr"/>
          <a:lstStyle/>
          <a:p>
            <a:pPr marL="0" indent="0">
              <a:buNone/>
            </a:pPr>
            <a:r>
              <a:rPr lang="en-US" sz="1550" i="1" dirty="0">
                <a:solidFill>
                  <a:srgbClr val="D97757"/>
                </a:solidFill>
                <a:latin typeface="맑은 고딕" pitchFamily="34" charset="0"/>
                <a:ea typeface="맑은 고딕" pitchFamily="34" charset="-122"/>
                <a:cs typeface="맑은 고딕" pitchFamily="34" charset="-120"/>
              </a:rPr>
              <a:t>외울 필요 없습니다. 강사가 채팅방에 올려드립니다.</a:t>
            </a:r>
            <a:endParaRPr lang="en-US" sz="1200" dirty="0"/>
          </a:p>
        </p:txBody>
      </p:sp>
      <p:sp>
        <p:nvSpPr>
          <p:cNvPr id="25" name="Text 23"/>
          <p:cNvSpPr/>
          <p:nvPr/>
        </p:nvSpPr>
        <p:spPr>
          <a:xfrm>
            <a:off x="566928" y="6272784"/>
            <a:ext cx="11064240" cy="310896"/>
          </a:xfrm>
          <a:prstGeom prst="rect">
            <a:avLst/>
          </a:prstGeom>
          <a:noFill/>
          <a:ln/>
        </p:spPr>
        <p:txBody>
          <a:bodyPr wrap="square" lIns="0" tIns="0" rIns="0" bIns="0" rtlCol="0" anchor="ctr"/>
          <a:lstStyle/>
          <a:p>
            <a:pPr marL="0" indent="0">
              <a:buNone/>
            </a:pPr>
            <a:r>
              <a:rPr lang="en-US" sz="1300" i="1" dirty="0">
                <a:solidFill>
                  <a:srgbClr val="514B43"/>
                </a:solidFill>
                <a:latin typeface="맑은 고딕" pitchFamily="34" charset="0"/>
                <a:ea typeface="맑은 고딕" pitchFamily="34" charset="-122"/>
                <a:cs typeface="맑은 고딕" pitchFamily="34" charset="-120"/>
              </a:rPr>
              <a:t>출처: support.claude.com/en/articles/12622703 (2026-08-06 확인) · 대부분은 설치할 때 자동으로 처리되므로 이 장은 안 될 때만 보세요</a:t>
            </a:r>
            <a:endParaRPr lang="en-US" sz="1000" dirty="0"/>
          </a:p>
        </p:txBody>
      </p:sp>
      <p:sp>
        <p:nvSpPr>
          <p:cNvPr id="26" name="TextBox 25">
            <a:extLst>
              <a:ext uri="{FF2B5EF4-FFF2-40B4-BE49-F238E27FC236}">
                <a16:creationId xmlns:a16="http://schemas.microsoft.com/office/drawing/2014/main" id="{5CF73DD7-A41A-693A-394F-E4A5A968ADD0}"/>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02 · </a:t>
            </a:r>
            <a:r>
              <a:rPr lang="ko-KR" altLang="en-US" sz="1200">
                <a:solidFill>
                  <a:srgbClr val="A69C90"/>
                </a:solidFill>
                <a:latin typeface="맑은 고딕" panose="020B0503020000020004" pitchFamily="50" charset="-127"/>
                <a:ea typeface="맑은 고딕" panose="020B0503020000020004" pitchFamily="50" charset="-127"/>
              </a:rPr>
              <a:t>설치하기          </a:t>
            </a:r>
            <a:r>
              <a:rPr lang="en-US" altLang="ko-KR" sz="1200">
                <a:solidFill>
                  <a:srgbClr val="A69C90"/>
                </a:solidFill>
                <a:latin typeface="맑은 고딕" panose="020B0503020000020004" pitchFamily="50" charset="-127"/>
                <a:ea typeface="맑은 고딕" panose="020B0503020000020004" pitchFamily="50" charset="-127"/>
              </a:rPr>
              <a:t>17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4211D"/>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6643929-5B45-1C83-DF63-455C001C908F}"/>
              </a:ext>
            </a:extLst>
          </p:cNvPr>
          <p:cNvSpPr/>
          <p:nvPr/>
        </p:nvSpPr>
        <p:spPr>
          <a:xfrm>
            <a:off x="8128000" y="0"/>
            <a:ext cx="4064000" cy="6858000"/>
          </a:xfrm>
          <a:prstGeom prst="rect">
            <a:avLst/>
          </a:prstGeom>
          <a:solidFill>
            <a:srgbClr val="302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9BFD9DA7-8168-77CD-238D-692C992E2872}"/>
              </a:ext>
            </a:extLst>
          </p:cNvPr>
          <p:cNvSpPr txBox="1"/>
          <p:nvPr/>
        </p:nvSpPr>
        <p:spPr>
          <a:xfrm>
            <a:off x="8128000" y="1905000"/>
            <a:ext cx="4064000" cy="3016210"/>
          </a:xfrm>
          <a:prstGeom prst="rect">
            <a:avLst/>
          </a:prstGeom>
          <a:noFill/>
        </p:spPr>
        <p:txBody>
          <a:bodyPr vert="horz" rtlCol="0" anchor="ctr">
            <a:spAutoFit/>
          </a:bodyPr>
          <a:lstStyle/>
          <a:p>
            <a:pPr algn="ctr"/>
            <a:r>
              <a:rPr lang="en-US" altLang="ko-KR" sz="19000" b="1">
                <a:solidFill>
                  <a:srgbClr val="4A4239"/>
                </a:solidFill>
                <a:latin typeface="맑은 고딕" panose="020B0503020000020004" pitchFamily="50" charset="-127"/>
                <a:ea typeface="맑은 고딕" panose="020B0503020000020004" pitchFamily="50" charset="-127"/>
              </a:rPr>
              <a:t>03</a:t>
            </a:r>
            <a:endParaRPr lang="ko-KR" altLang="en-US" sz="19000" b="1">
              <a:solidFill>
                <a:srgbClr val="4A4239"/>
              </a:solidFill>
              <a:latin typeface="맑은 고딕" panose="020B0503020000020004" pitchFamily="50" charset="-127"/>
              <a:ea typeface="맑은 고딕" panose="020B0503020000020004" pitchFamily="50" charset="-127"/>
            </a:endParaRPr>
          </a:p>
        </p:txBody>
      </p:sp>
      <p:sp>
        <p:nvSpPr>
          <p:cNvPr id="4" name="TextBox 3">
            <a:extLst>
              <a:ext uri="{FF2B5EF4-FFF2-40B4-BE49-F238E27FC236}">
                <a16:creationId xmlns:a16="http://schemas.microsoft.com/office/drawing/2014/main" id="{378F55B2-574E-8C0B-7AAF-8BD32B5D1652}"/>
              </a:ext>
            </a:extLst>
          </p:cNvPr>
          <p:cNvSpPr txBox="1"/>
          <p:nvPr/>
        </p:nvSpPr>
        <p:spPr>
          <a:xfrm>
            <a:off x="863600" y="2235200"/>
            <a:ext cx="5842000" cy="353943"/>
          </a:xfrm>
          <a:prstGeom prst="rect">
            <a:avLst/>
          </a:prstGeom>
          <a:noFill/>
        </p:spPr>
        <p:txBody>
          <a:bodyPr vert="horz" rtlCol="0" anchor="ctr">
            <a:spAutoFit/>
          </a:bodyPr>
          <a:lstStyle/>
          <a:p>
            <a:r>
              <a:rPr lang="en-US" altLang="ko-KR" sz="1700" b="1">
                <a:solidFill>
                  <a:srgbClr val="D97757"/>
                </a:solidFill>
                <a:latin typeface="맑은 고딕" panose="020B0503020000020004" pitchFamily="50" charset="-127"/>
                <a:ea typeface="맑은 고딕" panose="020B0503020000020004" pitchFamily="50" charset="-127"/>
              </a:rPr>
              <a:t>SECTION 03</a:t>
            </a:r>
            <a:endParaRPr lang="ko-KR" altLang="en-US" sz="1700" b="1">
              <a:solidFill>
                <a:srgbClr val="D97757"/>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CE60D38-708F-0ACC-AD36-63E86B791A3D}"/>
              </a:ext>
            </a:extLst>
          </p:cNvPr>
          <p:cNvSpPr txBox="1"/>
          <p:nvPr/>
        </p:nvSpPr>
        <p:spPr>
          <a:xfrm>
            <a:off x="863600" y="2616200"/>
            <a:ext cx="6921500" cy="769441"/>
          </a:xfrm>
          <a:prstGeom prst="rect">
            <a:avLst/>
          </a:prstGeom>
          <a:noFill/>
        </p:spPr>
        <p:txBody>
          <a:bodyPr vert="horz" rtlCol="0" anchor="t">
            <a:spAutoFit/>
          </a:bodyPr>
          <a:lstStyle/>
          <a:p>
            <a:r>
              <a:rPr lang="ko-KR" altLang="en-US" sz="4400" b="1">
                <a:solidFill>
                  <a:srgbClr val="FFFFFF"/>
                </a:solidFill>
                <a:latin typeface="맑은 고딕" panose="020B0503020000020004" pitchFamily="50" charset="-127"/>
                <a:ea typeface="맑은 고딕" panose="020B0503020000020004" pitchFamily="50" charset="-127"/>
              </a:rPr>
              <a:t>사전 준비 프로그램</a:t>
            </a:r>
          </a:p>
        </p:txBody>
      </p:sp>
      <p:sp>
        <p:nvSpPr>
          <p:cNvPr id="6" name="직사각형 5">
            <a:extLst>
              <a:ext uri="{FF2B5EF4-FFF2-40B4-BE49-F238E27FC236}">
                <a16:creationId xmlns:a16="http://schemas.microsoft.com/office/drawing/2014/main" id="{DD183382-56CD-B055-AE31-221491A9C213}"/>
              </a:ext>
            </a:extLst>
          </p:cNvPr>
          <p:cNvSpPr/>
          <p:nvPr/>
        </p:nvSpPr>
        <p:spPr>
          <a:xfrm>
            <a:off x="914400" y="3810000"/>
            <a:ext cx="812800" cy="508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E9FED234-C09F-4AB0-73A7-A1079BC9CE1B}"/>
              </a:ext>
            </a:extLst>
          </p:cNvPr>
          <p:cNvSpPr txBox="1"/>
          <p:nvPr/>
        </p:nvSpPr>
        <p:spPr>
          <a:xfrm>
            <a:off x="863600" y="4114800"/>
            <a:ext cx="6921500" cy="1708160"/>
          </a:xfrm>
          <a:prstGeom prst="rect">
            <a:avLst/>
          </a:prstGeom>
          <a:noFill/>
        </p:spPr>
        <p:txBody>
          <a:bodyPr vert="horz" rtlCol="0" anchor="t">
            <a:spAutoFit/>
          </a:bodyPr>
          <a:lstStyle/>
          <a:p>
            <a:pPr>
              <a:spcAft>
                <a:spcPts val="600"/>
              </a:spcAft>
            </a:pPr>
            <a:r>
              <a:rPr lang="ko-KR" altLang="en-US" sz="1700">
                <a:solidFill>
                  <a:srgbClr val="C9C0B4"/>
                </a:solidFill>
                <a:latin typeface="맑은 고딕" panose="020B0503020000020004" pitchFamily="50" charset="-127"/>
                <a:ea typeface="맑은 고딕" panose="020B0503020000020004" pitchFamily="50" charset="-127"/>
              </a:rPr>
              <a:t>오피스 프로그램은 하나 있어야 합니다</a:t>
            </a:r>
          </a:p>
          <a:p>
            <a:pPr>
              <a:spcAft>
                <a:spcPts val="600"/>
              </a:spcAft>
            </a:pPr>
            <a:r>
              <a:rPr lang="ko-KR" altLang="en-US" sz="1700">
                <a:solidFill>
                  <a:srgbClr val="C9C0B4"/>
                </a:solidFill>
                <a:latin typeface="맑은 고딕" panose="020B0503020000020004" pitchFamily="50" charset="-127"/>
                <a:ea typeface="맑은 고딕" panose="020B0503020000020004" pitchFamily="50" charset="-127"/>
              </a:rPr>
              <a:t>미리 깔아두면 좋은 무료 프로그램</a:t>
            </a:r>
          </a:p>
          <a:p>
            <a:pPr>
              <a:spcAft>
                <a:spcPts val="600"/>
              </a:spcAft>
            </a:pPr>
            <a:r>
              <a:rPr lang="en-US" altLang="ko-KR" sz="1700">
                <a:solidFill>
                  <a:srgbClr val="C9C0B4"/>
                </a:solidFill>
                <a:latin typeface="맑은 고딕" panose="020B0503020000020004" pitchFamily="50" charset="-127"/>
                <a:ea typeface="맑은 고딕" panose="020B0503020000020004" pitchFamily="50" charset="-127"/>
              </a:rPr>
              <a:t>Node.js </a:t>
            </a:r>
            <a:r>
              <a:rPr lang="ko-KR" altLang="en-US" sz="1700">
                <a:solidFill>
                  <a:srgbClr val="C9C0B4"/>
                </a:solidFill>
                <a:latin typeface="맑은 고딕" panose="020B0503020000020004" pitchFamily="50" charset="-127"/>
                <a:ea typeface="맑은 고딕" panose="020B0503020000020004" pitchFamily="50" charset="-127"/>
              </a:rPr>
              <a:t>와 </a:t>
            </a:r>
            <a:r>
              <a:rPr lang="en-US" altLang="ko-KR" sz="1700">
                <a:solidFill>
                  <a:srgbClr val="C9C0B4"/>
                </a:solidFill>
                <a:latin typeface="맑은 고딕" panose="020B0503020000020004" pitchFamily="50" charset="-127"/>
                <a:ea typeface="맑은 고딕" panose="020B0503020000020004" pitchFamily="50" charset="-127"/>
              </a:rPr>
              <a:t>uv — </a:t>
            </a:r>
            <a:r>
              <a:rPr lang="ko-KR" altLang="en-US" sz="1700">
                <a:solidFill>
                  <a:srgbClr val="C9C0B4"/>
                </a:solidFill>
                <a:latin typeface="맑은 고딕" panose="020B0503020000020004" pitchFamily="50" charset="-127"/>
                <a:ea typeface="맑은 고딕" panose="020B0503020000020004" pitchFamily="50" charset="-127"/>
              </a:rPr>
              <a:t>없으면 </a:t>
            </a:r>
            <a:r>
              <a:rPr lang="en-US" altLang="ko-KR" sz="1700">
                <a:solidFill>
                  <a:srgbClr val="C9C0B4"/>
                </a:solidFill>
                <a:latin typeface="맑은 고딕" panose="020B0503020000020004" pitchFamily="50" charset="-127"/>
                <a:ea typeface="맑은 고딕" panose="020B0503020000020004" pitchFamily="50" charset="-127"/>
              </a:rPr>
              <a:t>MCP</a:t>
            </a:r>
            <a:r>
              <a:rPr lang="ko-KR" altLang="en-US" sz="1700">
                <a:solidFill>
                  <a:srgbClr val="C9C0B4"/>
                </a:solidFill>
                <a:latin typeface="맑은 고딕" panose="020B0503020000020004" pitchFamily="50" charset="-127"/>
                <a:ea typeface="맑은 고딕" panose="020B0503020000020004" pitchFamily="50" charset="-127"/>
              </a:rPr>
              <a:t>가 하나도 안 붙습니다</a:t>
            </a:r>
          </a:p>
          <a:p>
            <a:pPr>
              <a:spcAft>
                <a:spcPts val="600"/>
              </a:spcAft>
            </a:pPr>
            <a:r>
              <a:rPr lang="en-US" altLang="ko-KR" sz="1700">
                <a:solidFill>
                  <a:srgbClr val="C9C0B4"/>
                </a:solidFill>
                <a:latin typeface="맑은 고딕" panose="020B0503020000020004" pitchFamily="50" charset="-127"/>
                <a:ea typeface="맑은 고딕" panose="020B0503020000020004" pitchFamily="50" charset="-127"/>
              </a:rPr>
              <a:t>uv </a:t>
            </a:r>
            <a:r>
              <a:rPr lang="ko-KR" altLang="en-US" sz="1700">
                <a:solidFill>
                  <a:srgbClr val="C9C0B4"/>
                </a:solidFill>
                <a:latin typeface="맑은 고딕" panose="020B0503020000020004" pitchFamily="50" charset="-127"/>
                <a:ea typeface="맑은 고딕" panose="020B0503020000020004" pitchFamily="50" charset="-127"/>
              </a:rPr>
              <a:t>설치 한 줄</a:t>
            </a:r>
            <a:r>
              <a:rPr lang="en-US" altLang="ko-KR" sz="1700">
                <a:solidFill>
                  <a:srgbClr val="C9C0B4"/>
                </a:solidFill>
                <a:latin typeface="맑은 고딕" panose="020B0503020000020004" pitchFamily="50" charset="-127"/>
                <a:ea typeface="맑은 고딕" panose="020B0503020000020004" pitchFamily="50" charset="-127"/>
              </a:rPr>
              <a:t>, </a:t>
            </a:r>
            <a:r>
              <a:rPr lang="ko-KR" altLang="en-US" sz="1700">
                <a:solidFill>
                  <a:srgbClr val="C9C0B4"/>
                </a:solidFill>
                <a:latin typeface="맑은 고딕" panose="020B0503020000020004" pitchFamily="50" charset="-127"/>
                <a:ea typeface="맑은 고딕" panose="020B0503020000020004" pitchFamily="50" charset="-127"/>
              </a:rPr>
              <a:t>그리고 오류 세 가지</a:t>
            </a:r>
          </a:p>
          <a:p>
            <a:pPr>
              <a:spcAft>
                <a:spcPts val="600"/>
              </a:spcAft>
            </a:pPr>
            <a:r>
              <a:rPr lang="ko-KR" altLang="en-US" sz="1700">
                <a:solidFill>
                  <a:srgbClr val="C9C0B4"/>
                </a:solidFill>
                <a:latin typeface="맑은 고딕" panose="020B0503020000020004" pitchFamily="50" charset="-127"/>
                <a:ea typeface="맑은 고딕" panose="020B0503020000020004" pitchFamily="50" charset="-127"/>
              </a:rPr>
              <a:t>설치 자료는 </a:t>
            </a:r>
            <a:r>
              <a:rPr lang="en-US" altLang="ko-KR" sz="1700">
                <a:solidFill>
                  <a:srgbClr val="C9C0B4"/>
                </a:solidFill>
                <a:latin typeface="맑은 고딕" panose="020B0503020000020004" pitchFamily="50" charset="-127"/>
                <a:ea typeface="맑은 고딕" panose="020B0503020000020004" pitchFamily="50" charset="-127"/>
              </a:rPr>
              <a:t>GitHub </a:t>
            </a:r>
            <a:r>
              <a:rPr lang="ko-KR" altLang="en-US" sz="1700">
                <a:solidFill>
                  <a:srgbClr val="C9C0B4"/>
                </a:solidFill>
                <a:latin typeface="맑은 고딕" panose="020B0503020000020004" pitchFamily="50" charset="-127"/>
                <a:ea typeface="맑은 고딕" panose="020B0503020000020004" pitchFamily="50" charset="-127"/>
              </a:rPr>
              <a:t>에 있습니다</a:t>
            </a:r>
          </a:p>
        </p:txBody>
      </p:sp>
      <p:sp>
        <p:nvSpPr>
          <p:cNvPr id="8" name="TextBox 7">
            <a:extLst>
              <a:ext uri="{FF2B5EF4-FFF2-40B4-BE49-F238E27FC236}">
                <a16:creationId xmlns:a16="http://schemas.microsoft.com/office/drawing/2014/main" id="{C0002559-B967-2887-69BE-F3A1DD341FD3}"/>
              </a:ext>
            </a:extLst>
          </p:cNvPr>
          <p:cNvSpPr txBox="1"/>
          <p:nvPr/>
        </p:nvSpPr>
        <p:spPr>
          <a:xfrm>
            <a:off x="863600" y="6172200"/>
            <a:ext cx="5842000" cy="292388"/>
          </a:xfrm>
          <a:prstGeom prst="rect">
            <a:avLst/>
          </a:prstGeom>
          <a:noFill/>
        </p:spPr>
        <p:txBody>
          <a:bodyPr vert="horz" rtlCol="0" anchor="ctr">
            <a:spAutoFit/>
          </a:bodyPr>
          <a:lstStyle/>
          <a:p>
            <a:r>
              <a:rPr lang="en-US" altLang="ko-KR" sz="1300">
                <a:solidFill>
                  <a:srgbClr val="726859"/>
                </a:solidFill>
                <a:latin typeface="맑은 고딕" panose="020B0503020000020004" pitchFamily="50" charset="-127"/>
                <a:ea typeface="맑은 고딕" panose="020B0503020000020004" pitchFamily="50" charset="-127"/>
              </a:rPr>
              <a:t>Claude 데스크탑 시작하기</a:t>
            </a:r>
          </a:p>
        </p:txBody>
      </p:sp>
      <p:pic>
        <p:nvPicPr>
          <p:cNvPr id="10" name="그래픽 9">
            <a:extLst>
              <a:ext uri="{FF2B5EF4-FFF2-40B4-BE49-F238E27FC236}">
                <a16:creationId xmlns:a16="http://schemas.microsoft.com/office/drawing/2014/main" id="{D6A04133-158B-D466-5543-EA1F9403E0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600" y="889000"/>
            <a:ext cx="812800" cy="812800"/>
          </a:xfrm>
          <a:prstGeom prst="rect">
            <a:avLst/>
          </a:prstGeom>
        </p:spPr>
      </p:pic>
    </p:spTree>
    <p:extLst>
      <p:ext uri="{BB962C8B-B14F-4D97-AF65-F5344CB8AC3E}">
        <p14:creationId xmlns:p14="http://schemas.microsoft.com/office/powerpoint/2010/main" val="698628896"/>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미리 해두면 나중이 훨씬 편합니다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나중에 하나씩 하다 막히는 것보다, 오늘 한꺼번에 끝내는 편이 낫습니다</a:t>
            </a:r>
            <a:endParaRPr lang="en-US" sz="1500" dirty="0"/>
          </a:p>
        </p:txBody>
      </p:sp>
      <p:sp>
        <p:nvSpPr>
          <p:cNvPr id="4" name="Shape 2"/>
          <p:cNvSpPr/>
          <p:nvPr/>
        </p:nvSpPr>
        <p:spPr>
          <a:xfrm>
            <a:off x="566928" y="1874520"/>
            <a:ext cx="3493008" cy="3566160"/>
          </a:xfrm>
          <a:prstGeom prst="roundRect">
            <a:avLst>
              <a:gd name="adj" fmla="val 1571"/>
            </a:avLst>
          </a:prstGeom>
          <a:solidFill>
            <a:srgbClr val="24211D"/>
          </a:solidFill>
          <a:ln w="12700">
            <a:solidFill>
              <a:srgbClr val="24211D"/>
            </a:solidFill>
            <a:prstDash val="solid"/>
          </a:ln>
        </p:spPr>
        <p:txBody>
          <a:bodyPr/>
          <a:lstStyle/>
          <a:p>
            <a:endParaRPr/>
          </a:p>
        </p:txBody>
      </p:sp>
      <p:sp>
        <p:nvSpPr>
          <p:cNvPr id="5" name="Text 3"/>
          <p:cNvSpPr/>
          <p:nvPr/>
        </p:nvSpPr>
        <p:spPr>
          <a:xfrm>
            <a:off x="914400" y="2148840"/>
            <a:ext cx="2834640" cy="365760"/>
          </a:xfrm>
          <a:prstGeom prst="rect">
            <a:avLst/>
          </a:prstGeom>
          <a:noFill/>
          <a:ln/>
        </p:spPr>
        <p:txBody>
          <a:bodyPr wrap="square" lIns="0" tIns="0" rIns="0" bIns="0" rtlCol="0" anchor="ctr"/>
          <a:lstStyle/>
          <a:p>
            <a:pPr marL="0" indent="0">
              <a:buNone/>
            </a:pPr>
            <a:r>
              <a:rPr lang="en-US" sz="1700" b="1" kern="0" spc="100" dirty="0">
                <a:solidFill>
                  <a:srgbClr val="D97757"/>
                </a:solidFill>
                <a:latin typeface="맑은 고딕" pitchFamily="34" charset="0"/>
                <a:ea typeface="맑은 고딕" pitchFamily="34" charset="-122"/>
                <a:cs typeface="맑은 고딕" pitchFamily="34" charset="-120"/>
              </a:rPr>
              <a:t>1  꼭 필요</a:t>
            </a:r>
            <a:endParaRPr lang="en-US" sz="1400" dirty="0"/>
          </a:p>
        </p:txBody>
      </p:sp>
      <p:sp>
        <p:nvSpPr>
          <p:cNvPr id="6" name="Text 4"/>
          <p:cNvSpPr/>
          <p:nvPr/>
        </p:nvSpPr>
        <p:spPr>
          <a:xfrm>
            <a:off x="914400" y="2487168"/>
            <a:ext cx="2834640" cy="320040"/>
          </a:xfrm>
          <a:prstGeom prst="rect">
            <a:avLst/>
          </a:prstGeom>
          <a:noFill/>
          <a:ln/>
        </p:spPr>
        <p:txBody>
          <a:bodyPr wrap="square" lIns="0" tIns="0" rIns="0" bIns="0" rtlCol="0" anchor="ctr"/>
          <a:lstStyle/>
          <a:p>
            <a:pPr marL="0" indent="0">
              <a:buNone/>
            </a:pPr>
            <a:r>
              <a:rPr lang="en-US" sz="1550" dirty="0">
                <a:solidFill>
                  <a:srgbClr val="6E675D"/>
                </a:solidFill>
                <a:latin typeface="맑은 고딕" pitchFamily="34" charset="0"/>
                <a:ea typeface="맑은 고딕" pitchFamily="34" charset="-122"/>
                <a:cs typeface="맑은 고딕" pitchFamily="34" charset="-120"/>
              </a:rPr>
              <a:t>오늘 ~ 당분간</a:t>
            </a:r>
            <a:endParaRPr lang="en-US" sz="1200" dirty="0"/>
          </a:p>
        </p:txBody>
      </p:sp>
      <p:sp>
        <p:nvSpPr>
          <p:cNvPr id="7" name="Text 5"/>
          <p:cNvSpPr/>
          <p:nvPr/>
        </p:nvSpPr>
        <p:spPr>
          <a:xfrm>
            <a:off x="914400" y="2926080"/>
            <a:ext cx="2834640" cy="822960"/>
          </a:xfrm>
          <a:prstGeom prst="rect">
            <a:avLst/>
          </a:prstGeom>
          <a:noFill/>
          <a:ln/>
        </p:spPr>
        <p:txBody>
          <a:bodyPr wrap="square" lIns="0" tIns="0" rIns="0" bIns="0" rtlCol="0" anchor="t"/>
          <a:lstStyle/>
          <a:p>
            <a:pPr marL="0" indent="0">
              <a:lnSpc>
                <a:spcPts val="2700"/>
              </a:lnSpc>
              <a:buNone/>
            </a:pPr>
            <a:r>
              <a:rPr lang="en-US" sz="2250" b="1" dirty="0">
                <a:solidFill>
                  <a:srgbClr val="FFFFFF"/>
                </a:solidFill>
                <a:latin typeface="맑은 고딕" pitchFamily="34" charset="0"/>
                <a:ea typeface="맑은 고딕" pitchFamily="34" charset="-122"/>
                <a:cs typeface="맑은 고딕" pitchFamily="34" charset="-120"/>
              </a:rPr>
              <a:t>오피스 프로그램</a:t>
            </a:r>
            <a:endParaRPr lang="en-US" sz="2000" dirty="0"/>
          </a:p>
          <a:p>
            <a:pPr marL="0" indent="0">
              <a:lnSpc>
                <a:spcPts val="2700"/>
              </a:lnSpc>
              <a:buNone/>
            </a:pPr>
            <a:r>
              <a:rPr lang="en-US" sz="2250" b="1" dirty="0">
                <a:solidFill>
                  <a:srgbClr val="FFFFFF"/>
                </a:solidFill>
                <a:latin typeface="맑은 고딕" pitchFamily="34" charset="0"/>
                <a:ea typeface="맑은 고딕" pitchFamily="34" charset="-122"/>
                <a:cs typeface="맑은 고딕" pitchFamily="34" charset="-120"/>
              </a:rPr>
              <a:t>Claude 계정</a:t>
            </a:r>
            <a:endParaRPr lang="en-US" sz="2000" dirty="0"/>
          </a:p>
        </p:txBody>
      </p:sp>
      <p:sp>
        <p:nvSpPr>
          <p:cNvPr id="8" name="Text 6"/>
          <p:cNvSpPr/>
          <p:nvPr/>
        </p:nvSpPr>
        <p:spPr>
          <a:xfrm>
            <a:off x="914400" y="3749040"/>
            <a:ext cx="2834640" cy="1280160"/>
          </a:xfrm>
          <a:prstGeom prst="rect">
            <a:avLst/>
          </a:prstGeom>
          <a:noFill/>
          <a:ln/>
        </p:spPr>
        <p:txBody>
          <a:bodyPr wrap="square" lIns="0" tIns="0" rIns="0" bIns="0" rtlCol="0" anchor="t"/>
          <a:lstStyle/>
          <a:p>
            <a:pPr marL="0" indent="0">
              <a:lnSpc>
                <a:spcPts val="2100"/>
              </a:lnSpc>
              <a:buNone/>
            </a:pPr>
            <a:r>
              <a:rPr lang="en-US" sz="1650" dirty="0">
                <a:solidFill>
                  <a:srgbClr val="F6F1EA"/>
                </a:solidFill>
                <a:latin typeface="맑은 고딕" pitchFamily="34" charset="0"/>
                <a:ea typeface="맑은 고딕" pitchFamily="34" charset="-122"/>
                <a:cs typeface="맑은 고딕" pitchFamily="34" charset="-120"/>
              </a:rPr>
              <a:t>Claude가 만든 엑셀·워드를</a:t>
            </a:r>
            <a:endParaRPr lang="en-US" sz="1300" dirty="0"/>
          </a:p>
          <a:p>
            <a:pPr marL="0" indent="0">
              <a:lnSpc>
                <a:spcPts val="2100"/>
              </a:lnSpc>
              <a:buNone/>
            </a:pPr>
            <a:r>
              <a:rPr lang="en-US" sz="1650" dirty="0">
                <a:solidFill>
                  <a:srgbClr val="F6F1EA"/>
                </a:solidFill>
                <a:latin typeface="맑은 고딕" pitchFamily="34" charset="0"/>
                <a:ea typeface="맑은 고딕" pitchFamily="34" charset="-122"/>
                <a:cs typeface="맑은 고딕" pitchFamily="34" charset="-120"/>
              </a:rPr>
              <a:t>열려면 있어야 합니다.</a:t>
            </a:r>
            <a:endParaRPr lang="en-US" sz="1300" dirty="0"/>
          </a:p>
          <a:p>
            <a:pPr marL="0" indent="0">
              <a:lnSpc>
                <a:spcPts val="2100"/>
              </a:lnSpc>
              <a:buNone/>
            </a:pPr>
            <a:r>
              <a:rPr lang="en-US" sz="1650" dirty="0">
                <a:solidFill>
                  <a:srgbClr val="F6F1EA"/>
                </a:solidFill>
                <a:latin typeface="맑은 고딕" pitchFamily="34" charset="0"/>
                <a:ea typeface="맑은 고딕" pitchFamily="34" charset="-122"/>
                <a:cs typeface="맑은 고딕" pitchFamily="34" charset="-120"/>
              </a:rPr>
              <a:t>이미 있으면 넘어가세요.</a:t>
            </a:r>
            <a:endParaRPr lang="en-US" sz="1300" dirty="0"/>
          </a:p>
        </p:txBody>
      </p:sp>
      <p:sp>
        <p:nvSpPr>
          <p:cNvPr id="9" name="Shape 7"/>
          <p:cNvSpPr/>
          <p:nvPr/>
        </p:nvSpPr>
        <p:spPr>
          <a:xfrm>
            <a:off x="4334256" y="1874520"/>
            <a:ext cx="3493008" cy="3566160"/>
          </a:xfrm>
          <a:prstGeom prst="roundRect">
            <a:avLst>
              <a:gd name="adj" fmla="val 1309"/>
            </a:avLst>
          </a:prstGeom>
          <a:solidFill>
            <a:srgbClr val="F5F1EB"/>
          </a:solidFill>
          <a:ln w="9525">
            <a:solidFill>
              <a:srgbClr val="DCD4C9"/>
            </a:solidFill>
            <a:prstDash val="solid"/>
          </a:ln>
        </p:spPr>
        <p:txBody>
          <a:bodyPr/>
          <a:lstStyle/>
          <a:p>
            <a:endParaRPr/>
          </a:p>
        </p:txBody>
      </p:sp>
      <p:sp>
        <p:nvSpPr>
          <p:cNvPr id="10" name="Text 8"/>
          <p:cNvSpPr/>
          <p:nvPr/>
        </p:nvSpPr>
        <p:spPr>
          <a:xfrm>
            <a:off x="4681728" y="2148840"/>
            <a:ext cx="2834640" cy="365760"/>
          </a:xfrm>
          <a:prstGeom prst="rect">
            <a:avLst/>
          </a:prstGeom>
          <a:noFill/>
          <a:ln/>
        </p:spPr>
        <p:txBody>
          <a:bodyPr wrap="square" lIns="0" tIns="0" rIns="0" bIns="0" rtlCol="0" anchor="ctr"/>
          <a:lstStyle/>
          <a:p>
            <a:pPr marL="0" indent="0">
              <a:buNone/>
            </a:pPr>
            <a:r>
              <a:rPr lang="en-US" sz="1700" b="1" kern="0" spc="100" dirty="0">
                <a:solidFill>
                  <a:srgbClr val="24211D"/>
                </a:solidFill>
                <a:latin typeface="맑은 고딕" pitchFamily="34" charset="0"/>
                <a:ea typeface="맑은 고딕" pitchFamily="34" charset="-122"/>
                <a:cs typeface="맑은 고딕" pitchFamily="34" charset="-120"/>
              </a:rPr>
              <a:t>2  미리 해두세요</a:t>
            </a:r>
            <a:endParaRPr lang="en-US" sz="1400" dirty="0"/>
          </a:p>
        </p:txBody>
      </p:sp>
      <p:sp>
        <p:nvSpPr>
          <p:cNvPr id="11" name="Text 9"/>
          <p:cNvSpPr/>
          <p:nvPr/>
        </p:nvSpPr>
        <p:spPr>
          <a:xfrm>
            <a:off x="4681728" y="2487168"/>
            <a:ext cx="2834640" cy="320040"/>
          </a:xfrm>
          <a:prstGeom prst="rect">
            <a:avLst/>
          </a:prstGeom>
          <a:noFill/>
          <a:ln/>
        </p:spPr>
        <p:txBody>
          <a:bodyPr wrap="square" lIns="0" tIns="0" rIns="0" bIns="0" rtlCol="0" anchor="ctr"/>
          <a:lstStyle/>
          <a:p>
            <a:pPr marL="0" indent="0">
              <a:buNone/>
            </a:pPr>
            <a:r>
              <a:rPr lang="en-US" sz="1550" dirty="0">
                <a:solidFill>
                  <a:srgbClr val="514B43"/>
                </a:solidFill>
                <a:latin typeface="맑은 고딕" pitchFamily="34" charset="0"/>
                <a:ea typeface="맑은 고딕" pitchFamily="34" charset="-122"/>
                <a:cs typeface="맑은 고딕" pitchFamily="34" charset="-120"/>
              </a:rPr>
              <a:t>MCP 붙일 때가 편해집니다</a:t>
            </a:r>
            <a:endParaRPr lang="en-US" sz="1200" dirty="0"/>
          </a:p>
        </p:txBody>
      </p:sp>
      <p:sp>
        <p:nvSpPr>
          <p:cNvPr id="12" name="Text 10"/>
          <p:cNvSpPr/>
          <p:nvPr/>
        </p:nvSpPr>
        <p:spPr>
          <a:xfrm>
            <a:off x="4681728" y="2926080"/>
            <a:ext cx="2834640" cy="822960"/>
          </a:xfrm>
          <a:prstGeom prst="rect">
            <a:avLst/>
          </a:prstGeom>
          <a:noFill/>
          <a:ln/>
        </p:spPr>
        <p:txBody>
          <a:bodyPr wrap="square" lIns="0" tIns="0" rIns="0" bIns="0" rtlCol="0" anchor="t"/>
          <a:lstStyle/>
          <a:p>
            <a:pPr marL="0" indent="0">
              <a:lnSpc>
                <a:spcPts val="2700"/>
              </a:lnSpc>
              <a:buNone/>
            </a:pPr>
            <a:r>
              <a:rPr lang="en-US" sz="2250" b="1" dirty="0">
                <a:solidFill>
                  <a:srgbClr val="24211D"/>
                </a:solidFill>
                <a:latin typeface="맑은 고딕" pitchFamily="34" charset="0"/>
                <a:ea typeface="맑은 고딕" pitchFamily="34" charset="-122"/>
                <a:cs typeface="맑은 고딕" pitchFamily="34" charset="-120"/>
              </a:rPr>
              <a:t>Node.js · VS Code</a:t>
            </a:r>
            <a:endParaRPr lang="en-US" sz="2000" dirty="0"/>
          </a:p>
          <a:p>
            <a:pPr marL="0" indent="0">
              <a:lnSpc>
                <a:spcPts val="2700"/>
              </a:lnSpc>
              <a:buNone/>
            </a:pPr>
            <a:r>
              <a:rPr lang="en-US" sz="2250" b="1" dirty="0">
                <a:solidFill>
                  <a:srgbClr val="24211D"/>
                </a:solidFill>
                <a:latin typeface="맑은 고딕" pitchFamily="34" charset="0"/>
                <a:ea typeface="맑은 고딕" pitchFamily="34" charset="-122"/>
                <a:cs typeface="맑은 고딕" pitchFamily="34" charset="-120"/>
              </a:rPr>
              <a:t>GitHub · 구글 계정</a:t>
            </a:r>
            <a:endParaRPr lang="en-US" sz="2000" dirty="0"/>
          </a:p>
        </p:txBody>
      </p:sp>
      <p:sp>
        <p:nvSpPr>
          <p:cNvPr id="13" name="Text 11"/>
          <p:cNvSpPr/>
          <p:nvPr/>
        </p:nvSpPr>
        <p:spPr>
          <a:xfrm>
            <a:off x="4681728" y="3749040"/>
            <a:ext cx="2834640" cy="1280160"/>
          </a:xfrm>
          <a:prstGeom prst="rect">
            <a:avLst/>
          </a:prstGeom>
          <a:noFill/>
          <a:ln/>
        </p:spPr>
        <p:txBody>
          <a:bodyPr wrap="square" lIns="0" tIns="0" rIns="0" bIns="0" rtlCol="0" anchor="t"/>
          <a:lstStyle/>
          <a:p>
            <a:pPr marL="0" indent="0">
              <a:lnSpc>
                <a:spcPts val="2100"/>
              </a:lnSpc>
              <a:buNone/>
            </a:pPr>
            <a:r>
              <a:rPr lang="en-US" sz="1650" dirty="0">
                <a:solidFill>
                  <a:srgbClr val="514B43"/>
                </a:solidFill>
                <a:latin typeface="맑은 고딕" pitchFamily="34" charset="0"/>
                <a:ea typeface="맑은 고딕" pitchFamily="34" charset="-122"/>
                <a:cs typeface="맑은 고딕" pitchFamily="34" charset="-120"/>
              </a:rPr>
              <a:t>지금 깔아두면</a:t>
            </a:r>
            <a:endParaRPr lang="en-US" sz="1300" dirty="0"/>
          </a:p>
          <a:p>
            <a:pPr marL="0" indent="0">
              <a:lnSpc>
                <a:spcPts val="2100"/>
              </a:lnSpc>
              <a:buNone/>
            </a:pPr>
            <a:r>
              <a:rPr lang="en-US" sz="1650" dirty="0">
                <a:solidFill>
                  <a:srgbClr val="514B43"/>
                </a:solidFill>
                <a:latin typeface="맑은 고딕" pitchFamily="34" charset="0"/>
                <a:ea typeface="맑은 고딕" pitchFamily="34" charset="-122"/>
                <a:cs typeface="맑은 고딕" pitchFamily="34" charset="-120"/>
              </a:rPr>
              <a:t>나중에 30분은</a:t>
            </a:r>
            <a:endParaRPr lang="en-US" sz="1300" dirty="0"/>
          </a:p>
          <a:p>
            <a:pPr marL="0" indent="0">
              <a:lnSpc>
                <a:spcPts val="2100"/>
              </a:lnSpc>
              <a:buNone/>
            </a:pPr>
            <a:r>
              <a:rPr lang="en-US" sz="1650" dirty="0">
                <a:solidFill>
                  <a:srgbClr val="514B43"/>
                </a:solidFill>
                <a:latin typeface="맑은 고딕" pitchFamily="34" charset="0"/>
                <a:ea typeface="맑은 고딕" pitchFamily="34" charset="-122"/>
                <a:cs typeface="맑은 고딕" pitchFamily="34" charset="-120"/>
              </a:rPr>
              <a:t>아낍니다.</a:t>
            </a:r>
            <a:endParaRPr lang="en-US" sz="1300" dirty="0"/>
          </a:p>
        </p:txBody>
      </p:sp>
      <p:sp>
        <p:nvSpPr>
          <p:cNvPr id="14" name="Shape 12"/>
          <p:cNvSpPr/>
          <p:nvPr/>
        </p:nvSpPr>
        <p:spPr>
          <a:xfrm>
            <a:off x="8101584" y="1874520"/>
            <a:ext cx="3493008" cy="3566160"/>
          </a:xfrm>
          <a:prstGeom prst="roundRect">
            <a:avLst>
              <a:gd name="adj" fmla="val 1309"/>
            </a:avLst>
          </a:prstGeom>
          <a:solidFill>
            <a:srgbClr val="F5F1EB"/>
          </a:solidFill>
          <a:ln w="9525">
            <a:solidFill>
              <a:srgbClr val="DCD4C9"/>
            </a:solidFill>
            <a:prstDash val="solid"/>
          </a:ln>
        </p:spPr>
        <p:txBody>
          <a:bodyPr/>
          <a:lstStyle/>
          <a:p>
            <a:endParaRPr/>
          </a:p>
        </p:txBody>
      </p:sp>
      <p:sp>
        <p:nvSpPr>
          <p:cNvPr id="15" name="Text 13"/>
          <p:cNvSpPr/>
          <p:nvPr/>
        </p:nvSpPr>
        <p:spPr>
          <a:xfrm>
            <a:off x="8449056" y="2148840"/>
            <a:ext cx="2834640" cy="365760"/>
          </a:xfrm>
          <a:prstGeom prst="rect">
            <a:avLst/>
          </a:prstGeom>
          <a:noFill/>
          <a:ln/>
        </p:spPr>
        <p:txBody>
          <a:bodyPr wrap="square" lIns="0" tIns="0" rIns="0" bIns="0" rtlCol="0" anchor="ctr"/>
          <a:lstStyle/>
          <a:p>
            <a:pPr marL="0" indent="0">
              <a:buNone/>
            </a:pPr>
            <a:r>
              <a:rPr lang="en-US" sz="1700" b="1" kern="0" spc="100" dirty="0">
                <a:solidFill>
                  <a:srgbClr val="514B43"/>
                </a:solidFill>
                <a:latin typeface="맑은 고딕" pitchFamily="34" charset="0"/>
                <a:ea typeface="맑은 고딕" pitchFamily="34" charset="-122"/>
                <a:cs typeface="맑은 고딕" pitchFamily="34" charset="-120"/>
              </a:rPr>
              <a:t>3  나중에 함께</a:t>
            </a:r>
            <a:endParaRPr lang="en-US" sz="1400" dirty="0"/>
          </a:p>
        </p:txBody>
      </p:sp>
      <p:sp>
        <p:nvSpPr>
          <p:cNvPr id="16" name="Text 14"/>
          <p:cNvSpPr/>
          <p:nvPr/>
        </p:nvSpPr>
        <p:spPr>
          <a:xfrm>
            <a:off x="8449056" y="2487168"/>
            <a:ext cx="2834640" cy="320040"/>
          </a:xfrm>
          <a:prstGeom prst="rect">
            <a:avLst/>
          </a:prstGeom>
          <a:noFill/>
          <a:ln/>
        </p:spPr>
        <p:txBody>
          <a:bodyPr wrap="square" lIns="0" tIns="0" rIns="0" bIns="0" rtlCol="0" anchor="ctr"/>
          <a:lstStyle/>
          <a:p>
            <a:pPr marL="0" indent="0">
              <a:buNone/>
            </a:pPr>
            <a:r>
              <a:rPr lang="en-US" sz="1550" dirty="0">
                <a:solidFill>
                  <a:srgbClr val="514B43"/>
                </a:solidFill>
                <a:latin typeface="맑은 고딕" pitchFamily="34" charset="0"/>
                <a:ea typeface="맑은 고딕" pitchFamily="34" charset="-122"/>
                <a:cs typeface="맑은 고딕" pitchFamily="34" charset="-120"/>
              </a:rPr>
              <a:t>혼자 하지 마세요</a:t>
            </a:r>
            <a:endParaRPr lang="en-US" sz="1200" dirty="0"/>
          </a:p>
        </p:txBody>
      </p:sp>
      <p:sp>
        <p:nvSpPr>
          <p:cNvPr id="17" name="Text 15"/>
          <p:cNvSpPr/>
          <p:nvPr/>
        </p:nvSpPr>
        <p:spPr>
          <a:xfrm>
            <a:off x="8449056" y="2926080"/>
            <a:ext cx="2834640" cy="822960"/>
          </a:xfrm>
          <a:prstGeom prst="rect">
            <a:avLst/>
          </a:prstGeom>
          <a:noFill/>
          <a:ln/>
        </p:spPr>
        <p:txBody>
          <a:bodyPr wrap="square" lIns="0" tIns="0" rIns="0" bIns="0" rtlCol="0" anchor="t"/>
          <a:lstStyle/>
          <a:p>
            <a:pPr marL="0" indent="0">
              <a:lnSpc>
                <a:spcPts val="2700"/>
              </a:lnSpc>
              <a:buNone/>
            </a:pPr>
            <a:r>
              <a:rPr lang="en-US" sz="2250" b="1" dirty="0">
                <a:solidFill>
                  <a:srgbClr val="24211D"/>
                </a:solidFill>
                <a:latin typeface="맑은 고딕" pitchFamily="34" charset="0"/>
                <a:ea typeface="맑은 고딕" pitchFamily="34" charset="-122"/>
                <a:cs typeface="맑은 고딕" pitchFamily="34" charset="-120"/>
              </a:rPr>
              <a:t>API 키 신청</a:t>
            </a:r>
            <a:endParaRPr lang="en-US" sz="2000" dirty="0"/>
          </a:p>
          <a:p>
            <a:pPr marL="0" indent="0">
              <a:lnSpc>
                <a:spcPts val="2700"/>
              </a:lnSpc>
              <a:buNone/>
            </a:pPr>
            <a:r>
              <a:rPr lang="en-US" sz="2250" b="1" dirty="0">
                <a:solidFill>
                  <a:srgbClr val="24211D"/>
                </a:solidFill>
                <a:latin typeface="맑은 고딕" pitchFamily="34" charset="0"/>
                <a:ea typeface="맑은 고딕" pitchFamily="34" charset="-122"/>
                <a:cs typeface="맑은 고딕" pitchFamily="34" charset="-120"/>
              </a:rPr>
              <a:t>MCP 연결</a:t>
            </a:r>
            <a:endParaRPr lang="en-US" sz="2000" dirty="0"/>
          </a:p>
        </p:txBody>
      </p:sp>
      <p:sp>
        <p:nvSpPr>
          <p:cNvPr id="18" name="Text 16"/>
          <p:cNvSpPr/>
          <p:nvPr/>
        </p:nvSpPr>
        <p:spPr>
          <a:xfrm>
            <a:off x="8449056" y="3749040"/>
            <a:ext cx="2834640" cy="1280160"/>
          </a:xfrm>
          <a:prstGeom prst="rect">
            <a:avLst/>
          </a:prstGeom>
          <a:noFill/>
          <a:ln/>
        </p:spPr>
        <p:txBody>
          <a:bodyPr wrap="square" lIns="0" tIns="0" rIns="0" bIns="0" rtlCol="0" anchor="t"/>
          <a:lstStyle/>
          <a:p>
            <a:pPr marL="0" indent="0">
              <a:lnSpc>
                <a:spcPts val="2100"/>
              </a:lnSpc>
              <a:buNone/>
            </a:pPr>
            <a:r>
              <a:rPr lang="en-US" sz="1650" dirty="0">
                <a:solidFill>
                  <a:srgbClr val="514B43"/>
                </a:solidFill>
                <a:latin typeface="맑은 고딕" pitchFamily="34" charset="0"/>
                <a:ea typeface="맑은 고딕" pitchFamily="34" charset="-122"/>
                <a:cs typeface="맑은 고딕" pitchFamily="34" charset="-120"/>
              </a:rPr>
              <a:t>어떤 걸 쓸지 정한 뒤에</a:t>
            </a:r>
            <a:endParaRPr lang="en-US" sz="1300" dirty="0"/>
          </a:p>
          <a:p>
            <a:pPr marL="0" indent="0">
              <a:lnSpc>
                <a:spcPts val="2100"/>
              </a:lnSpc>
              <a:buNone/>
            </a:pPr>
            <a:r>
              <a:rPr lang="en-US" sz="1650" dirty="0">
                <a:solidFill>
                  <a:srgbClr val="514B43"/>
                </a:solidFill>
                <a:latin typeface="맑은 고딕" pitchFamily="34" charset="0"/>
                <a:ea typeface="맑은 고딕" pitchFamily="34" charset="-122"/>
                <a:cs typeface="맑은 고딕" pitchFamily="34" charset="-120"/>
              </a:rPr>
              <a:t>필요한 것만</a:t>
            </a:r>
            <a:endParaRPr lang="en-US" sz="1300" dirty="0"/>
          </a:p>
          <a:p>
            <a:pPr marL="0" indent="0">
              <a:lnSpc>
                <a:spcPts val="2100"/>
              </a:lnSpc>
              <a:buNone/>
            </a:pPr>
            <a:r>
              <a:rPr lang="en-US" sz="1650" dirty="0">
                <a:solidFill>
                  <a:srgbClr val="514B43"/>
                </a:solidFill>
                <a:latin typeface="맑은 고딕" pitchFamily="34" charset="0"/>
                <a:ea typeface="맑은 고딕" pitchFamily="34" charset="-122"/>
                <a:cs typeface="맑은 고딕" pitchFamily="34" charset="-120"/>
              </a:rPr>
              <a:t>같이 발급받습니다.</a:t>
            </a:r>
            <a:endParaRPr lang="en-US" sz="1300" dirty="0"/>
          </a:p>
        </p:txBody>
      </p:sp>
      <p:sp>
        <p:nvSpPr>
          <p:cNvPr id="19" name="Text 17"/>
          <p:cNvSpPr/>
          <p:nvPr/>
        </p:nvSpPr>
        <p:spPr>
          <a:xfrm>
            <a:off x="566928" y="5623560"/>
            <a:ext cx="11064240" cy="457200"/>
          </a:xfrm>
          <a:prstGeom prst="rect">
            <a:avLst/>
          </a:prstGeom>
          <a:noFill/>
          <a:ln/>
        </p:spPr>
        <p:txBody>
          <a:bodyPr wrap="square" lIns="0" tIns="0" rIns="0" bIns="0" rtlCol="0" anchor="ctr"/>
          <a:lstStyle/>
          <a:p>
            <a:pPr marL="0" indent="0">
              <a:buNone/>
            </a:pPr>
            <a:r>
              <a:rPr lang="en-US" sz="1800" i="1" dirty="0">
                <a:solidFill>
                  <a:srgbClr val="D97757"/>
                </a:solidFill>
                <a:latin typeface="맑은 고딕" pitchFamily="34" charset="0"/>
                <a:ea typeface="맑은 고딕" pitchFamily="34" charset="-122"/>
                <a:cs typeface="맑은 고딕" pitchFamily="34" charset="-120"/>
              </a:rPr>
              <a:t>2번을 오늘 해두시면, MCP 붙일 때 막히는 일이 크게 줄어듭니다.</a:t>
            </a:r>
            <a:endParaRPr lang="en-US" sz="1600" dirty="0"/>
          </a:p>
        </p:txBody>
      </p:sp>
      <p:sp>
        <p:nvSpPr>
          <p:cNvPr id="20" name="TextBox 19">
            <a:extLst>
              <a:ext uri="{FF2B5EF4-FFF2-40B4-BE49-F238E27FC236}">
                <a16:creationId xmlns:a16="http://schemas.microsoft.com/office/drawing/2014/main" id="{AFEE8B63-8D3A-ED0A-710E-47B69013DC7F}"/>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03 · </a:t>
            </a:r>
            <a:r>
              <a:rPr lang="ko-KR" altLang="en-US" sz="1200">
                <a:solidFill>
                  <a:srgbClr val="A69C90"/>
                </a:solidFill>
                <a:latin typeface="맑은 고딕" panose="020B0503020000020004" pitchFamily="50" charset="-127"/>
                <a:ea typeface="맑은 고딕" panose="020B0503020000020004" pitchFamily="50" charset="-127"/>
              </a:rPr>
              <a:t>사전 준비 프로그램          </a:t>
            </a:r>
            <a:r>
              <a:rPr lang="en-US" altLang="ko-KR" sz="1200">
                <a:solidFill>
                  <a:srgbClr val="A69C90"/>
                </a:solidFill>
                <a:latin typeface="맑은 고딕" panose="020B0503020000020004" pitchFamily="50" charset="-127"/>
                <a:ea typeface="맑은 고딕" panose="020B0503020000020004" pitchFamily="50" charset="-127"/>
              </a:rPr>
              <a:t>19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오피스 프로그램은 하나 있어야 합니다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Claude가 엑셀·워드를 만들어 줘도, 열 프로그램이 없으면 못 봅니다</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64240" cy="2834640"/>
        </p:xfrm>
        <a:graphic>
          <a:graphicData uri="http://schemas.openxmlformats.org/drawingml/2006/table">
            <a:tbl>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66928">
                <a:tc>
                  <a:txBody>
                    <a:bodyPr/>
                    <a:lstStyle/>
                    <a:p>
                      <a:pPr marL="0" indent="0" algn="l">
                        <a:buNone/>
                      </a:pPr>
                      <a:r>
                        <a:rPr lang="en-US" sz="1450" b="1" dirty="0">
                          <a:solidFill>
                            <a:srgbClr val="FFFFFF"/>
                          </a:solidFill>
                          <a:latin typeface="맑은 고딕" pitchFamily="34" charset="0"/>
                          <a:ea typeface="맑은 고딕" pitchFamily="34" charset="-122"/>
                          <a:cs typeface="맑은 고딕" pitchFamily="34" charset="-120"/>
                        </a:rPr>
                        <a:t>무엇</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l">
                        <a:buNone/>
                      </a:pPr>
                      <a:r>
                        <a:rPr lang="en-US" sz="1450" b="1" dirty="0">
                          <a:solidFill>
                            <a:srgbClr val="FFFFFF"/>
                          </a:solidFill>
                          <a:latin typeface="맑은 고딕" pitchFamily="34" charset="0"/>
                          <a:ea typeface="맑은 고딕" pitchFamily="34" charset="-122"/>
                          <a:cs typeface="맑은 고딕" pitchFamily="34" charset="-120"/>
                        </a:rPr>
                        <a:t>비용</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l">
                        <a:buNone/>
                      </a:pPr>
                      <a:r>
                        <a:rPr lang="en-US" sz="1450" b="1" dirty="0">
                          <a:solidFill>
                            <a:srgbClr val="FFFFFF"/>
                          </a:solidFill>
                          <a:latin typeface="맑은 고딕" pitchFamily="34" charset="0"/>
                          <a:ea typeface="맑은 고딕" pitchFamily="34" charset="-122"/>
                          <a:cs typeface="맑은 고딕" pitchFamily="34" charset="-120"/>
                        </a:rPr>
                        <a:t>이런 분께</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l">
                        <a:buNone/>
                      </a:pPr>
                      <a:r>
                        <a:rPr lang="en-US" sz="1450" b="1" dirty="0">
                          <a:solidFill>
                            <a:srgbClr val="FFFFFF"/>
                          </a:solidFill>
                          <a:latin typeface="맑은 고딕" pitchFamily="34" charset="0"/>
                          <a:ea typeface="맑은 고딕" pitchFamily="34" charset="-122"/>
                          <a:cs typeface="맑은 고딕" pitchFamily="34" charset="-120"/>
                        </a:rPr>
                        <a:t>받는 곳</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extLst>
                  <a:ext uri="{0D108BD9-81ED-4DB2-BD59-A6C34878D82A}">
                    <a16:rowId xmlns:a16="http://schemas.microsoft.com/office/drawing/2014/main" val="10000"/>
                  </a:ext>
                </a:extLst>
              </a:tr>
              <a:tr h="566928">
                <a:tc>
                  <a:txBody>
                    <a:bodyPr/>
                    <a:lstStyle/>
                    <a:p>
                      <a:pPr marL="0" indent="0" algn="l">
                        <a:buNone/>
                      </a:pPr>
                      <a:r>
                        <a:rPr lang="en-US" sz="1450" b="1" dirty="0">
                          <a:solidFill>
                            <a:srgbClr val="24211D"/>
                          </a:solidFill>
                          <a:latin typeface="맑은 고딕" pitchFamily="34" charset="0"/>
                          <a:ea typeface="맑은 고딕" pitchFamily="34" charset="-122"/>
                          <a:cs typeface="맑은 고딕" pitchFamily="34" charset="-120"/>
                        </a:rPr>
                        <a:t>Microsoft 365</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b="1" dirty="0">
                          <a:solidFill>
                            <a:srgbClr val="24211D"/>
                          </a:solidFill>
                          <a:latin typeface="맑은 고딕" pitchFamily="34" charset="0"/>
                          <a:ea typeface="맑은 고딕" pitchFamily="34" charset="-122"/>
                          <a:cs typeface="맑은 고딕" pitchFamily="34" charset="-120"/>
                        </a:rPr>
                        <a:t>유료 구독</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b="1" dirty="0">
                          <a:solidFill>
                            <a:srgbClr val="A8462A"/>
                          </a:solidFill>
                          <a:latin typeface="맑은 고딕" pitchFamily="34" charset="0"/>
                          <a:ea typeface="맑은 고딕" pitchFamily="34" charset="-122"/>
                          <a:cs typeface="맑은 고딕" pitchFamily="34" charset="-120"/>
                        </a:rPr>
                        <a:t>회사·실무의 표준. 이미 쓰시면 끝</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microsoft.com/ko-kr/microsoft-365</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리브레오피스</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무료</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돈 안 쓰고 시작하고 싶다면</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ko.libreoffice.org</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구글 문서·스프레드시트</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무료</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설치 없이 웹에서 열고 싶다면</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docs.google.com</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한글(HWP)</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유료</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경매 서류가 한글 파일일 때만</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hancom.com</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66928" y="4892040"/>
            <a:ext cx="11064240" cy="1005840"/>
          </a:xfrm>
          <a:prstGeom prst="roundRect">
            <a:avLst>
              <a:gd name="adj" fmla="val 4545"/>
            </a:avLst>
          </a:prstGeom>
          <a:solidFill>
            <a:srgbClr val="24211D"/>
          </a:solidFill>
          <a:ln w="12700">
            <a:solidFill>
              <a:srgbClr val="24211D"/>
            </a:solidFill>
            <a:prstDash val="solid"/>
          </a:ln>
        </p:spPr>
        <p:txBody>
          <a:bodyPr/>
          <a:lstStyle/>
          <a:p>
            <a:endParaRPr/>
          </a:p>
        </p:txBody>
      </p:sp>
      <p:sp>
        <p:nvSpPr>
          <p:cNvPr id="6" name="Text 3"/>
          <p:cNvSpPr/>
          <p:nvPr/>
        </p:nvSpPr>
        <p:spPr>
          <a:xfrm>
            <a:off x="914400" y="4892040"/>
            <a:ext cx="10424160" cy="100584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이미 회사 컴퓨터에 오피스가 깔려 있다면, 이 장은 그냥 넘어가세요.  새로 살 필요 없습니다.</a:t>
            </a:r>
            <a:endParaRPr lang="en-US" sz="1600" dirty="0"/>
          </a:p>
        </p:txBody>
      </p:sp>
      <p:sp>
        <p:nvSpPr>
          <p:cNvPr id="7" name="Text 4"/>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가격은 변동되므로 각 공식 사이트에서 확인하세요 · 리브레오피스 무료 배포 확인: ko.libreoffice.org (2026-08-06)</a:t>
            </a:r>
            <a:endParaRPr lang="en-US" sz="1000" dirty="0"/>
          </a:p>
        </p:txBody>
      </p:sp>
      <p:sp>
        <p:nvSpPr>
          <p:cNvPr id="4" name="TextBox 3">
            <a:extLst>
              <a:ext uri="{FF2B5EF4-FFF2-40B4-BE49-F238E27FC236}">
                <a16:creationId xmlns:a16="http://schemas.microsoft.com/office/drawing/2014/main" id="{33312D77-43B8-3968-F634-B3762047A4E6}"/>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03 · </a:t>
            </a:r>
            <a:r>
              <a:rPr lang="ko-KR" altLang="en-US" sz="1200">
                <a:solidFill>
                  <a:srgbClr val="A69C90"/>
                </a:solidFill>
                <a:latin typeface="맑은 고딕" panose="020B0503020000020004" pitchFamily="50" charset="-127"/>
                <a:ea typeface="맑은 고딕" panose="020B0503020000020004" pitchFamily="50" charset="-127"/>
              </a:rPr>
              <a:t>사전 준비 프로그램          </a:t>
            </a:r>
            <a:r>
              <a:rPr lang="en-US" altLang="ko-KR" sz="1200">
                <a:solidFill>
                  <a:srgbClr val="A69C90"/>
                </a:solidFill>
                <a:latin typeface="맑은 고딕" panose="020B0503020000020004" pitchFamily="50" charset="-127"/>
                <a:ea typeface="맑은 고딕" panose="020B0503020000020004" pitchFamily="50" charset="-127"/>
              </a:rPr>
              <a:t>20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미리 깔아두면 좋은 프로그램</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전부 무료입니다. 각각 5분이면 끝납니다</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64240" cy="3401568"/>
        </p:xfrm>
        <a:graphic>
          <a:graphicData uri="http://schemas.openxmlformats.org/drawingml/2006/table">
            <a:tbl>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566928">
                <a:tc>
                  <a:txBody>
                    <a:bodyPr/>
                    <a:lstStyle/>
                    <a:p>
                      <a:pPr marL="0" indent="0" algn="l">
                        <a:buNone/>
                      </a:pPr>
                      <a:r>
                        <a:rPr lang="en-US" sz="1450" b="1" dirty="0">
                          <a:solidFill>
                            <a:srgbClr val="FFFFFF"/>
                          </a:solidFill>
                          <a:latin typeface="맑은 고딕" pitchFamily="34" charset="0"/>
                          <a:ea typeface="맑은 고딕" pitchFamily="34" charset="-122"/>
                          <a:cs typeface="맑은 고딕" pitchFamily="34" charset="-120"/>
                        </a:rPr>
                        <a:t>프로그램</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l">
                        <a:buNone/>
                      </a:pPr>
                      <a:r>
                        <a:rPr lang="en-US" sz="1450" b="1" dirty="0">
                          <a:solidFill>
                            <a:srgbClr val="FFFFFF"/>
                          </a:solidFill>
                          <a:latin typeface="맑은 고딕" pitchFamily="34" charset="0"/>
                          <a:ea typeface="맑은 고딕" pitchFamily="34" charset="-122"/>
                          <a:cs typeface="맑은 고딕" pitchFamily="34" charset="-120"/>
                        </a:rPr>
                        <a:t>왜 필요한가</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l">
                        <a:buNone/>
                      </a:pPr>
                      <a:r>
                        <a:rPr lang="en-US" sz="1450" b="1" dirty="0">
                          <a:solidFill>
                            <a:srgbClr val="FFFFFF"/>
                          </a:solidFill>
                          <a:latin typeface="맑은 고딕" pitchFamily="34" charset="0"/>
                          <a:ea typeface="맑은 고딕" pitchFamily="34" charset="-122"/>
                          <a:cs typeface="맑은 고딕" pitchFamily="34" charset="-120"/>
                        </a:rPr>
                        <a:t>받는 곳</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ctr">
                        <a:buNone/>
                      </a:pP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extLst>
                  <a:ext uri="{0D108BD9-81ED-4DB2-BD59-A6C34878D82A}">
                    <a16:rowId xmlns:a16="http://schemas.microsoft.com/office/drawing/2014/main" val="10000"/>
                  </a:ext>
                </a:extLst>
              </a:tr>
              <a:tr h="566928">
                <a:tc>
                  <a:txBody>
                    <a:bodyPr/>
                    <a:lstStyle/>
                    <a:p>
                      <a:pPr marL="0" indent="0" algn="l">
                        <a:buNone/>
                      </a:pPr>
                      <a:r>
                        <a:rPr lang="en-US" sz="1450" b="1" dirty="0">
                          <a:solidFill>
                            <a:srgbClr val="24211D"/>
                          </a:solidFill>
                          <a:latin typeface="맑은 고딕" pitchFamily="34" charset="0"/>
                          <a:ea typeface="맑은 고딕" pitchFamily="34" charset="-122"/>
                          <a:cs typeface="맑은 고딕" pitchFamily="34" charset="-120"/>
                        </a:rPr>
                        <a:t>Node.js</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b="1" dirty="0">
                          <a:solidFill>
                            <a:srgbClr val="24211D"/>
                          </a:solidFill>
                          <a:latin typeface="맑은 고딕" pitchFamily="34" charset="0"/>
                          <a:ea typeface="맑은 고딕" pitchFamily="34" charset="-122"/>
                          <a:cs typeface="맑은 고딕" pitchFamily="34" charset="-120"/>
                        </a:rPr>
                        <a:t>프로그램 연결(MCP) 대부분이 이걸로 돕니다</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nodejs.org/ko/download</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b="1" dirty="0">
                          <a:solidFill>
                            <a:srgbClr val="A8462A"/>
                          </a:solidFill>
                          <a:latin typeface="맑은 고딕" pitchFamily="34" charset="0"/>
                          <a:ea typeface="맑은 고딕" pitchFamily="34" charset="-122"/>
                          <a:cs typeface="맑은 고딕" pitchFamily="34" charset="-120"/>
                        </a:rPr>
                        <a:t>꼭</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Python</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일부 연결 도구가 파이썬으로 만들어져 있습니다</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python.org/downloads</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4211D"/>
                          </a:solidFill>
                          <a:latin typeface="맑은 고딕" pitchFamily="34" charset="0"/>
                          <a:ea typeface="맑은 고딕" pitchFamily="34" charset="-122"/>
                          <a:cs typeface="맑은 고딕" pitchFamily="34" charset="-120"/>
                        </a:rPr>
                        <a:t>권장</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VS Code</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설정 파일을 안전하게 열고 고칠 때 씁니다</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code.visualstudio.com</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4211D"/>
                          </a:solidFill>
                          <a:latin typeface="맑은 고딕" pitchFamily="34" charset="0"/>
                          <a:ea typeface="맑은 고딕" pitchFamily="34" charset="-122"/>
                          <a:cs typeface="맑은 고딕" pitchFamily="34" charset="-120"/>
                        </a:rPr>
                        <a:t>권장</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Git</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도구 소스를 통째로 내려받을 때 씁니다</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git-scm.com/download/win</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4211D"/>
                          </a:solidFill>
                          <a:latin typeface="맑은 고딕" pitchFamily="34" charset="0"/>
                          <a:ea typeface="맑은 고딕" pitchFamily="34" charset="-122"/>
                          <a:cs typeface="맑은 고딕" pitchFamily="34" charset="-120"/>
                        </a:rPr>
                        <a:t>선택</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Chrome</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브라우저 자동화·확장 기능을 쓸 때 필요합니다</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google.com/chrome</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4211D"/>
                          </a:solidFill>
                          <a:latin typeface="맑은 고딕" pitchFamily="34" charset="0"/>
                          <a:ea typeface="맑은 고딕" pitchFamily="34" charset="-122"/>
                          <a:cs typeface="맑은 고딕" pitchFamily="34" charset="-120"/>
                        </a:rPr>
                        <a:t>선택</a:t>
                      </a:r>
                      <a:endParaRPr lang="en-US" sz="1300" dirty="0">
                        <a:latin typeface="맑은 고딕" charset="0"/>
                        <a:ea typeface="맑은 고딕" charset="0"/>
                        <a:cs typeface="맑은 고딕" charset="0"/>
                      </a:endParaRPr>
                    </a:p>
                  </a:txBody>
                  <a:tcPr marL="127000" marR="127000"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66928" y="4983480"/>
            <a:ext cx="11064240" cy="960120"/>
          </a:xfrm>
          <a:prstGeom prst="roundRect">
            <a:avLst>
              <a:gd name="adj" fmla="val 4762"/>
            </a:avLst>
          </a:prstGeom>
          <a:solidFill>
            <a:srgbClr val="24211D"/>
          </a:solidFill>
          <a:ln w="12700">
            <a:solidFill>
              <a:srgbClr val="24211D"/>
            </a:solidFill>
            <a:prstDash val="solid"/>
          </a:ln>
        </p:spPr>
        <p:txBody>
          <a:bodyPr/>
          <a:lstStyle/>
          <a:p>
            <a:endParaRPr/>
          </a:p>
        </p:txBody>
      </p:sp>
      <p:sp>
        <p:nvSpPr>
          <p:cNvPr id="6" name="Text 3"/>
          <p:cNvSpPr/>
          <p:nvPr/>
        </p:nvSpPr>
        <p:spPr>
          <a:xfrm>
            <a:off x="914400" y="4983480"/>
            <a:ext cx="10424160" cy="96012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Node.js는 초록색 LTS 버튼으로 받으세요.  설치 중 선택지는 전부 기본값 그대로 두시면 됩니다.</a:t>
            </a:r>
            <a:endParaRPr lang="en-US" sz="1600" dirty="0"/>
          </a:p>
        </p:txBody>
      </p:sp>
      <p:sp>
        <p:nvSpPr>
          <p:cNvPr id="7" name="Text 4"/>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Node.js 최신 LTS v24.19.0 (2026-08-06 nodejs.org 확인) · 버전 번호는 계속 올라가니 LTS 표시만 보고 받으세요</a:t>
            </a:r>
            <a:endParaRPr lang="en-US" sz="1000" dirty="0"/>
          </a:p>
        </p:txBody>
      </p:sp>
      <p:sp>
        <p:nvSpPr>
          <p:cNvPr id="4" name="TextBox 3">
            <a:extLst>
              <a:ext uri="{FF2B5EF4-FFF2-40B4-BE49-F238E27FC236}">
                <a16:creationId xmlns:a16="http://schemas.microsoft.com/office/drawing/2014/main" id="{37A0B882-3057-2A53-B1D8-27A8FE427880}"/>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03 · </a:t>
            </a:r>
            <a:r>
              <a:rPr lang="ko-KR" altLang="en-US" sz="1200">
                <a:solidFill>
                  <a:srgbClr val="A69C90"/>
                </a:solidFill>
                <a:latin typeface="맑은 고딕" panose="020B0503020000020004" pitchFamily="50" charset="-127"/>
                <a:ea typeface="맑은 고딕" panose="020B0503020000020004" pitchFamily="50" charset="-127"/>
              </a:rPr>
              <a:t>사전 준비 프로그램          </a:t>
            </a:r>
            <a:r>
              <a:rPr lang="en-US" altLang="ko-KR" sz="1200">
                <a:solidFill>
                  <a:srgbClr val="A69C90"/>
                </a:solidFill>
                <a:latin typeface="맑은 고딕" panose="020B0503020000020004" pitchFamily="50" charset="-127"/>
                <a:ea typeface="맑은 고딕" panose="020B0503020000020004" pitchFamily="50" charset="-127"/>
              </a:rPr>
              <a:t>21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Node.js 와 uv 는 반드시 깔려 있어야 합니다</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둘 중 하나라도 없으면 MCP 는 하나도 연결되지 않습니다</a:t>
            </a:r>
          </a:p>
        </p:txBody>
      </p:sp>
      <p:sp>
        <p:nvSpPr>
          <p:cNvPr id="4" name="Rounded Rectangle 3"/>
          <p:cNvSpPr/>
          <p:nvPr/>
        </p:nvSpPr>
        <p:spPr>
          <a:xfrm>
            <a:off x="566928" y="1874519"/>
            <a:ext cx="5321808" cy="2834640"/>
          </a:xfrm>
          <a:prstGeom prst="roundRect">
            <a:avLst>
              <a:gd name="adj" fmla="val 6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ounded Rectangle 4"/>
          <p:cNvSpPr/>
          <p:nvPr/>
        </p:nvSpPr>
        <p:spPr>
          <a:xfrm>
            <a:off x="4608576" y="2084831"/>
            <a:ext cx="932688" cy="365760"/>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4608576" y="2084831"/>
            <a:ext cx="932688" cy="365760"/>
          </a:xfrm>
          <a:prstGeom prst="rect">
            <a:avLst/>
          </a:prstGeom>
          <a:noFill/>
        </p:spPr>
        <p:txBody>
          <a:bodyPr wrap="square" lIns="0" tIns="0" rIns="0" bIns="0" anchor="ctr">
            <a:spAutoFit/>
          </a:bodyPr>
          <a:lstStyle/>
          <a:p>
            <a:pPr algn="ctr"/>
            <a:r>
              <a:rPr sz="1400" b="1">
                <a:solidFill>
                  <a:srgbClr val="FFFFFF"/>
                </a:solidFill>
                <a:latin typeface="맑은 고딕"/>
              </a:rPr>
              <a:t>필 수</a:t>
            </a:r>
          </a:p>
        </p:txBody>
      </p:sp>
      <p:sp>
        <p:nvSpPr>
          <p:cNvPr id="7" name="Rounded Rectangle 6"/>
          <p:cNvSpPr/>
          <p:nvPr/>
        </p:nvSpPr>
        <p:spPr>
          <a:xfrm>
            <a:off x="914400" y="2084831"/>
            <a:ext cx="3566160" cy="36576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TextBox 7"/>
          <p:cNvSpPr txBox="1"/>
          <p:nvPr/>
        </p:nvSpPr>
        <p:spPr>
          <a:xfrm>
            <a:off x="1133856" y="2084831"/>
            <a:ext cx="3127248" cy="365760"/>
          </a:xfrm>
          <a:prstGeom prst="rect">
            <a:avLst/>
          </a:prstGeom>
          <a:noFill/>
        </p:spPr>
        <p:txBody>
          <a:bodyPr wrap="square" lIns="0" tIns="0" rIns="0" bIns="0" anchor="ctr">
            <a:spAutoFit/>
          </a:bodyPr>
          <a:lstStyle/>
          <a:p>
            <a:pPr algn="l"/>
            <a:r>
              <a:rPr sz="1500" b="0">
                <a:solidFill>
                  <a:srgbClr val="F2E9E1"/>
                </a:solidFill>
                <a:latin typeface="Consolas"/>
              </a:rPr>
              <a:t>"npx"</a:t>
            </a:r>
          </a:p>
        </p:txBody>
      </p:sp>
      <p:sp>
        <p:nvSpPr>
          <p:cNvPr id="9" name="TextBox 8"/>
          <p:cNvSpPr txBox="1"/>
          <p:nvPr/>
        </p:nvSpPr>
        <p:spPr>
          <a:xfrm>
            <a:off x="914400" y="2670048"/>
            <a:ext cx="4626864" cy="310896"/>
          </a:xfrm>
          <a:prstGeom prst="rect">
            <a:avLst/>
          </a:prstGeom>
          <a:noFill/>
        </p:spPr>
        <p:txBody>
          <a:bodyPr wrap="square" lIns="0" tIns="0" rIns="0" bIns="0" anchor="t">
            <a:spAutoFit/>
          </a:bodyPr>
          <a:lstStyle/>
          <a:p>
            <a:pPr algn="l"/>
            <a:r>
              <a:rPr sz="1500" b="0">
                <a:solidFill>
                  <a:srgbClr val="514B43"/>
                </a:solidFill>
                <a:latin typeface="맑은 고딕"/>
              </a:rPr>
              <a:t>자바스크립트로 만든 MCP</a:t>
            </a:r>
          </a:p>
        </p:txBody>
      </p:sp>
      <p:sp>
        <p:nvSpPr>
          <p:cNvPr id="10" name="TextBox 9"/>
          <p:cNvSpPr txBox="1"/>
          <p:nvPr/>
        </p:nvSpPr>
        <p:spPr>
          <a:xfrm>
            <a:off x="914400" y="3072384"/>
            <a:ext cx="4626864" cy="512064"/>
          </a:xfrm>
          <a:prstGeom prst="rect">
            <a:avLst/>
          </a:prstGeom>
          <a:noFill/>
        </p:spPr>
        <p:txBody>
          <a:bodyPr wrap="square" lIns="0" tIns="0" rIns="0" bIns="0" anchor="ctr">
            <a:spAutoFit/>
          </a:bodyPr>
          <a:lstStyle/>
          <a:p>
            <a:pPr algn="l"/>
            <a:r>
              <a:rPr sz="2300" b="1">
                <a:solidFill>
                  <a:srgbClr val="A8462A"/>
                </a:solidFill>
                <a:latin typeface="맑은 고딕"/>
              </a:rPr>
              <a:t>Node.js 가 반드시 필요합니다</a:t>
            </a:r>
          </a:p>
        </p:txBody>
      </p:sp>
      <p:sp>
        <p:nvSpPr>
          <p:cNvPr id="11" name="TextBox 10"/>
          <p:cNvSpPr txBox="1"/>
          <p:nvPr/>
        </p:nvSpPr>
        <p:spPr>
          <a:xfrm>
            <a:off x="914400" y="3712463"/>
            <a:ext cx="4626864" cy="731520"/>
          </a:xfrm>
          <a:prstGeom prst="rect">
            <a:avLst/>
          </a:prstGeom>
          <a:noFill/>
        </p:spPr>
        <p:txBody>
          <a:bodyPr wrap="square" lIns="0" tIns="0" rIns="0" bIns="0" anchor="t">
            <a:spAutoFit/>
          </a:bodyPr>
          <a:lstStyle/>
          <a:p>
            <a:pPr algn="l"/>
            <a:r>
              <a:rPr sz="1600" b="0">
                <a:solidFill>
                  <a:srgbClr val="24211D"/>
                </a:solidFill>
                <a:latin typeface="맑은 고딕"/>
              </a:rPr>
              <a:t>유튜브 · 검색 · 브라우저 자동화</a:t>
            </a:r>
          </a:p>
          <a:p>
            <a:pPr algn="l"/>
            <a:r>
              <a:rPr sz="1600" b="0">
                <a:solidFill>
                  <a:srgbClr val="24211D"/>
                </a:solidFill>
                <a:latin typeface="맑은 고딕"/>
              </a:rPr>
              <a:t>MCP 가 대부분 여기에 해당합니다.</a:t>
            </a:r>
          </a:p>
        </p:txBody>
      </p:sp>
      <p:sp>
        <p:nvSpPr>
          <p:cNvPr id="12" name="Rounded Rectangle 11"/>
          <p:cNvSpPr/>
          <p:nvPr/>
        </p:nvSpPr>
        <p:spPr>
          <a:xfrm>
            <a:off x="6309360" y="1874519"/>
            <a:ext cx="5321808" cy="2834640"/>
          </a:xfrm>
          <a:prstGeom prst="roundRect">
            <a:avLst>
              <a:gd name="adj" fmla="val 6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Rounded Rectangle 12"/>
          <p:cNvSpPr/>
          <p:nvPr/>
        </p:nvSpPr>
        <p:spPr>
          <a:xfrm>
            <a:off x="10351008" y="2084831"/>
            <a:ext cx="932688" cy="365760"/>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TextBox 13"/>
          <p:cNvSpPr txBox="1"/>
          <p:nvPr/>
        </p:nvSpPr>
        <p:spPr>
          <a:xfrm>
            <a:off x="10351008" y="2084831"/>
            <a:ext cx="932688" cy="365760"/>
          </a:xfrm>
          <a:prstGeom prst="rect">
            <a:avLst/>
          </a:prstGeom>
          <a:noFill/>
        </p:spPr>
        <p:txBody>
          <a:bodyPr wrap="square" lIns="0" tIns="0" rIns="0" bIns="0" anchor="ctr">
            <a:spAutoFit/>
          </a:bodyPr>
          <a:lstStyle/>
          <a:p>
            <a:pPr algn="ctr"/>
            <a:r>
              <a:rPr sz="1400" b="1">
                <a:solidFill>
                  <a:srgbClr val="FFFFFF"/>
                </a:solidFill>
                <a:latin typeface="맑은 고딕"/>
              </a:rPr>
              <a:t>필 수</a:t>
            </a:r>
          </a:p>
        </p:txBody>
      </p:sp>
      <p:sp>
        <p:nvSpPr>
          <p:cNvPr id="15" name="Rounded Rectangle 14"/>
          <p:cNvSpPr/>
          <p:nvPr/>
        </p:nvSpPr>
        <p:spPr>
          <a:xfrm>
            <a:off x="6656832" y="2084831"/>
            <a:ext cx="3566160" cy="36576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TextBox 15"/>
          <p:cNvSpPr txBox="1"/>
          <p:nvPr/>
        </p:nvSpPr>
        <p:spPr>
          <a:xfrm>
            <a:off x="6876288" y="2084831"/>
            <a:ext cx="3127248" cy="365760"/>
          </a:xfrm>
          <a:prstGeom prst="rect">
            <a:avLst/>
          </a:prstGeom>
          <a:noFill/>
        </p:spPr>
        <p:txBody>
          <a:bodyPr wrap="square" lIns="0" tIns="0" rIns="0" bIns="0" anchor="ctr">
            <a:spAutoFit/>
          </a:bodyPr>
          <a:lstStyle/>
          <a:p>
            <a:pPr algn="l"/>
            <a:r>
              <a:rPr sz="1500" b="0">
                <a:solidFill>
                  <a:srgbClr val="F2E9E1"/>
                </a:solidFill>
                <a:latin typeface="Consolas"/>
              </a:rPr>
              <a:t>"uvx"  또는  "uv"</a:t>
            </a:r>
          </a:p>
        </p:txBody>
      </p:sp>
      <p:sp>
        <p:nvSpPr>
          <p:cNvPr id="17" name="TextBox 16"/>
          <p:cNvSpPr txBox="1"/>
          <p:nvPr/>
        </p:nvSpPr>
        <p:spPr>
          <a:xfrm>
            <a:off x="6656832" y="2670048"/>
            <a:ext cx="4626864" cy="310896"/>
          </a:xfrm>
          <a:prstGeom prst="rect">
            <a:avLst/>
          </a:prstGeom>
          <a:noFill/>
        </p:spPr>
        <p:txBody>
          <a:bodyPr wrap="square" lIns="0" tIns="0" rIns="0" bIns="0" anchor="t">
            <a:spAutoFit/>
          </a:bodyPr>
          <a:lstStyle/>
          <a:p>
            <a:pPr algn="l"/>
            <a:r>
              <a:rPr sz="1500" b="0">
                <a:solidFill>
                  <a:srgbClr val="514B43"/>
                </a:solidFill>
                <a:latin typeface="맑은 고딕"/>
              </a:rPr>
              <a:t>파이썬으로 만든 MCP</a:t>
            </a:r>
          </a:p>
        </p:txBody>
      </p:sp>
      <p:sp>
        <p:nvSpPr>
          <p:cNvPr id="18" name="TextBox 17"/>
          <p:cNvSpPr txBox="1"/>
          <p:nvPr/>
        </p:nvSpPr>
        <p:spPr>
          <a:xfrm>
            <a:off x="6656832" y="3072384"/>
            <a:ext cx="4626864" cy="512064"/>
          </a:xfrm>
          <a:prstGeom prst="rect">
            <a:avLst/>
          </a:prstGeom>
          <a:noFill/>
        </p:spPr>
        <p:txBody>
          <a:bodyPr wrap="square" lIns="0" tIns="0" rIns="0" bIns="0" anchor="ctr">
            <a:spAutoFit/>
          </a:bodyPr>
          <a:lstStyle/>
          <a:p>
            <a:pPr algn="l"/>
            <a:r>
              <a:rPr sz="2300" b="1">
                <a:solidFill>
                  <a:srgbClr val="A8462A"/>
                </a:solidFill>
                <a:latin typeface="맑은 고딕"/>
              </a:rPr>
              <a:t>uv 가 반드시 필요합니다</a:t>
            </a:r>
          </a:p>
        </p:txBody>
      </p:sp>
      <p:sp>
        <p:nvSpPr>
          <p:cNvPr id="19" name="TextBox 18"/>
          <p:cNvSpPr txBox="1"/>
          <p:nvPr/>
        </p:nvSpPr>
        <p:spPr>
          <a:xfrm>
            <a:off x="6656832" y="3712463"/>
            <a:ext cx="4626864" cy="731520"/>
          </a:xfrm>
          <a:prstGeom prst="rect">
            <a:avLst/>
          </a:prstGeom>
          <a:noFill/>
        </p:spPr>
        <p:txBody>
          <a:bodyPr wrap="square" lIns="0" tIns="0" rIns="0" bIns="0" anchor="t">
            <a:spAutoFit/>
          </a:bodyPr>
          <a:lstStyle/>
          <a:p>
            <a:pPr algn="l"/>
            <a:r>
              <a:rPr sz="1600" b="0">
                <a:solidFill>
                  <a:srgbClr val="24211D"/>
                </a:solidFill>
                <a:latin typeface="맑은 고딕"/>
              </a:rPr>
              <a:t>한글 문서 · 워드 · 공공데이터</a:t>
            </a:r>
          </a:p>
          <a:p>
            <a:pPr algn="l"/>
            <a:r>
              <a:rPr sz="1600" b="0">
                <a:solidFill>
                  <a:srgbClr val="24211D"/>
                </a:solidFill>
                <a:latin typeface="맑은 고딕"/>
              </a:rPr>
              <a:t>MCP 가 여기에 해당합니다.</a:t>
            </a:r>
          </a:p>
        </p:txBody>
      </p:sp>
      <p:sp>
        <p:nvSpPr>
          <p:cNvPr id="20" name="TextBox 19"/>
          <p:cNvSpPr txBox="1"/>
          <p:nvPr/>
        </p:nvSpPr>
        <p:spPr>
          <a:xfrm>
            <a:off x="566928" y="4846320"/>
            <a:ext cx="11064240" cy="310896"/>
          </a:xfrm>
          <a:prstGeom prst="rect">
            <a:avLst/>
          </a:prstGeom>
          <a:noFill/>
        </p:spPr>
        <p:txBody>
          <a:bodyPr wrap="square" lIns="0" tIns="0" rIns="0" bIns="0" anchor="t">
            <a:spAutoFit/>
          </a:bodyPr>
          <a:lstStyle/>
          <a:p>
            <a:pPr algn="l"/>
            <a:r>
              <a:rPr sz="1500" b="0">
                <a:solidFill>
                  <a:srgbClr val="514B43"/>
                </a:solidFill>
                <a:latin typeface="맑은 고딕"/>
              </a:rPr>
              <a:t>uv 는 파이썬 프로그램을 대신 받아서 실행해 주는 도구입니다.  npx 가 자바스크립트에서 하는 일을 파이썬에서 합니다.</a:t>
            </a:r>
          </a:p>
        </p:txBody>
      </p:sp>
      <p:sp>
        <p:nvSpPr>
          <p:cNvPr id="21" name="Rounded Rectangle 20"/>
          <p:cNvSpPr/>
          <p:nvPr/>
        </p:nvSpPr>
        <p:spPr>
          <a:xfrm>
            <a:off x="566928" y="5230368"/>
            <a:ext cx="11064240" cy="91440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TextBox 21"/>
          <p:cNvSpPr txBox="1"/>
          <p:nvPr/>
        </p:nvSpPr>
        <p:spPr>
          <a:xfrm>
            <a:off x="914400" y="5230368"/>
            <a:ext cx="10424160" cy="914400"/>
          </a:xfrm>
          <a:prstGeom prst="rect">
            <a:avLst/>
          </a:prstGeom>
          <a:noFill/>
        </p:spPr>
        <p:txBody>
          <a:bodyPr wrap="square" lIns="0" tIns="0" rIns="0" bIns="0" anchor="ctr">
            <a:spAutoFit/>
          </a:bodyPr>
          <a:lstStyle/>
          <a:p>
            <a:pPr algn="l"/>
            <a:r>
              <a:rPr sz="1800" b="1">
                <a:solidFill>
                  <a:srgbClr val="FFFFFF"/>
                </a:solidFill>
                <a:latin typeface="맑은 고딕"/>
              </a:rPr>
              <a:t>설정 파일을 아무리 잘 붙여넣어도, 이 둘이 없으면 Claude 는 MCP 를 하나도 띄우지 못합니다.</a:t>
            </a:r>
          </a:p>
          <a:p>
            <a:pPr algn="l"/>
            <a:r>
              <a:rPr sz="1800" b="1">
                <a:solidFill>
                  <a:srgbClr val="FFFFFF"/>
                </a:solidFill>
                <a:latin typeface="맑은 고딕"/>
              </a:rPr>
              <a:t>설정 파일을 넣기 전에 먼저 깔아야 합니다.</a:t>
            </a:r>
          </a:p>
        </p:txBody>
      </p:sp>
      <p:sp>
        <p:nvSpPr>
          <p:cNvPr id="23" name="TextBox 22"/>
          <p:cNvSpPr txBox="1"/>
          <p:nvPr/>
        </p:nvSpPr>
        <p:spPr>
          <a:xfrm>
            <a:off x="566928" y="6272784"/>
            <a:ext cx="11064240" cy="310896"/>
          </a:xfrm>
          <a:prstGeom prst="rect">
            <a:avLst/>
          </a:prstGeom>
          <a:noFill/>
        </p:spPr>
        <p:txBody>
          <a:bodyPr wrap="square" lIns="0" tIns="0" rIns="0" bIns="0" anchor="t">
            <a:spAutoFit/>
          </a:bodyPr>
          <a:lstStyle/>
          <a:p>
            <a:pPr algn="l"/>
            <a:r>
              <a:rPr sz="1400" b="0">
                <a:solidFill>
                  <a:srgbClr val="514B43"/>
                </a:solidFill>
                <a:latin typeface="맑은 고딕"/>
              </a:rPr>
              <a:t>출처: docs.astral.sh/uv · nodejs.org (2026-08-07 확인)</a:t>
            </a:r>
          </a:p>
        </p:txBody>
      </p:sp>
      <p:sp>
        <p:nvSpPr>
          <p:cNvPr id="24" name="TextBox 23">
            <a:extLst>
              <a:ext uri="{FF2B5EF4-FFF2-40B4-BE49-F238E27FC236}">
                <a16:creationId xmlns:a16="http://schemas.microsoft.com/office/drawing/2014/main" id="{62B6B642-1736-4904-5520-91F511244844}"/>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03 · </a:t>
            </a:r>
            <a:r>
              <a:rPr lang="ko-KR" altLang="en-US" sz="1200">
                <a:solidFill>
                  <a:srgbClr val="A69C90"/>
                </a:solidFill>
                <a:latin typeface="맑은 고딕" panose="020B0503020000020004" pitchFamily="50" charset="-127"/>
                <a:ea typeface="맑은 고딕" panose="020B0503020000020004" pitchFamily="50" charset="-127"/>
              </a:rPr>
              <a:t>사전 준비 프로그램          </a:t>
            </a:r>
            <a:r>
              <a:rPr lang="en-US" altLang="ko-KR" sz="1200">
                <a:solidFill>
                  <a:srgbClr val="A69C90"/>
                </a:solidFill>
                <a:latin typeface="맑은 고딕" panose="020B0503020000020004" pitchFamily="50" charset="-127"/>
                <a:ea typeface="맑은 고딕" panose="020B0503020000020004" pitchFamily="50" charset="-127"/>
              </a:rPr>
              <a:t>22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uv 설치는 한 줄이면 끝납니다</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PowerShell 에서 실행합니다. 5분이면 됩니다</a:t>
            </a:r>
          </a:p>
        </p:txBody>
      </p:sp>
      <p:sp>
        <p:nvSpPr>
          <p:cNvPr id="4" name="Oval 3"/>
          <p:cNvSpPr/>
          <p:nvPr/>
        </p:nvSpPr>
        <p:spPr>
          <a:xfrm>
            <a:off x="658368" y="1874519"/>
            <a:ext cx="329184" cy="329184"/>
          </a:xfrm>
          <a:prstGeom prst="ellipse">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TextBox 4"/>
          <p:cNvSpPr txBox="1"/>
          <p:nvPr/>
        </p:nvSpPr>
        <p:spPr>
          <a:xfrm>
            <a:off x="658368" y="1874519"/>
            <a:ext cx="329184" cy="329184"/>
          </a:xfrm>
          <a:prstGeom prst="rect">
            <a:avLst/>
          </a:prstGeom>
          <a:noFill/>
        </p:spPr>
        <p:txBody>
          <a:bodyPr wrap="square" lIns="0" tIns="0" rIns="0" bIns="0" anchor="ctr">
            <a:spAutoFit/>
          </a:bodyPr>
          <a:lstStyle/>
          <a:p>
            <a:pPr algn="ctr"/>
            <a:r>
              <a:rPr sz="1550" b="1">
                <a:solidFill>
                  <a:srgbClr val="24211D"/>
                </a:solidFill>
                <a:latin typeface="맑은 고딕"/>
              </a:rPr>
              <a:t>1</a:t>
            </a:r>
          </a:p>
        </p:txBody>
      </p:sp>
      <p:sp>
        <p:nvSpPr>
          <p:cNvPr id="6" name="TextBox 5"/>
          <p:cNvSpPr txBox="1"/>
          <p:nvPr/>
        </p:nvSpPr>
        <p:spPr>
          <a:xfrm>
            <a:off x="1152144" y="1828799"/>
            <a:ext cx="5029200" cy="420624"/>
          </a:xfrm>
          <a:prstGeom prst="rect">
            <a:avLst/>
          </a:prstGeom>
          <a:noFill/>
        </p:spPr>
        <p:txBody>
          <a:bodyPr wrap="square" lIns="0" tIns="0" rIns="0" bIns="0" anchor="ctr">
            <a:spAutoFit/>
          </a:bodyPr>
          <a:lstStyle/>
          <a:p>
            <a:pPr algn="l"/>
            <a:r>
              <a:rPr sz="1800" b="0">
                <a:solidFill>
                  <a:srgbClr val="24211D"/>
                </a:solidFill>
                <a:latin typeface="맑은 고딕"/>
              </a:rPr>
              <a:t>시작 메뉴에  powershell  을 칩니다</a:t>
            </a:r>
          </a:p>
        </p:txBody>
      </p:sp>
      <p:sp>
        <p:nvSpPr>
          <p:cNvPr id="7" name="Oval 6"/>
          <p:cNvSpPr/>
          <p:nvPr/>
        </p:nvSpPr>
        <p:spPr>
          <a:xfrm>
            <a:off x="658368" y="2441448"/>
            <a:ext cx="329184" cy="329184"/>
          </a:xfrm>
          <a:prstGeom prst="ellipse">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TextBox 7"/>
          <p:cNvSpPr txBox="1"/>
          <p:nvPr/>
        </p:nvSpPr>
        <p:spPr>
          <a:xfrm>
            <a:off x="658368" y="2441448"/>
            <a:ext cx="329184" cy="329184"/>
          </a:xfrm>
          <a:prstGeom prst="rect">
            <a:avLst/>
          </a:prstGeom>
          <a:noFill/>
        </p:spPr>
        <p:txBody>
          <a:bodyPr wrap="square" lIns="0" tIns="0" rIns="0" bIns="0" anchor="ctr">
            <a:spAutoFit/>
          </a:bodyPr>
          <a:lstStyle/>
          <a:p>
            <a:pPr algn="ctr"/>
            <a:r>
              <a:rPr sz="1550" b="1">
                <a:solidFill>
                  <a:srgbClr val="24211D"/>
                </a:solidFill>
                <a:latin typeface="맑은 고딕"/>
              </a:rPr>
              <a:t>2</a:t>
            </a:r>
          </a:p>
        </p:txBody>
      </p:sp>
      <p:sp>
        <p:nvSpPr>
          <p:cNvPr id="9" name="TextBox 8"/>
          <p:cNvSpPr txBox="1"/>
          <p:nvPr/>
        </p:nvSpPr>
        <p:spPr>
          <a:xfrm>
            <a:off x="1152144" y="2395728"/>
            <a:ext cx="5029200" cy="420624"/>
          </a:xfrm>
          <a:prstGeom prst="rect">
            <a:avLst/>
          </a:prstGeom>
          <a:noFill/>
        </p:spPr>
        <p:txBody>
          <a:bodyPr wrap="square" lIns="0" tIns="0" rIns="0" bIns="0" anchor="ctr">
            <a:spAutoFit/>
          </a:bodyPr>
          <a:lstStyle/>
          <a:p>
            <a:pPr algn="l"/>
            <a:r>
              <a:rPr sz="1800" b="0">
                <a:solidFill>
                  <a:srgbClr val="24211D"/>
                </a:solidFill>
                <a:latin typeface="맑은 고딕"/>
              </a:rPr>
              <a:t>Windows PowerShell 을 엽니다</a:t>
            </a:r>
          </a:p>
        </p:txBody>
      </p:sp>
      <p:sp>
        <p:nvSpPr>
          <p:cNvPr id="10" name="Oval 9"/>
          <p:cNvSpPr/>
          <p:nvPr/>
        </p:nvSpPr>
        <p:spPr>
          <a:xfrm>
            <a:off x="658368" y="3008376"/>
            <a:ext cx="329184" cy="329184"/>
          </a:xfrm>
          <a:prstGeom prst="ellipse">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TextBox 10"/>
          <p:cNvSpPr txBox="1"/>
          <p:nvPr/>
        </p:nvSpPr>
        <p:spPr>
          <a:xfrm>
            <a:off x="658368" y="3008376"/>
            <a:ext cx="329184" cy="329184"/>
          </a:xfrm>
          <a:prstGeom prst="rect">
            <a:avLst/>
          </a:prstGeom>
          <a:noFill/>
        </p:spPr>
        <p:txBody>
          <a:bodyPr wrap="square" lIns="0" tIns="0" rIns="0" bIns="0" anchor="ctr">
            <a:spAutoFit/>
          </a:bodyPr>
          <a:lstStyle/>
          <a:p>
            <a:pPr algn="ctr"/>
            <a:r>
              <a:rPr sz="1550" b="1">
                <a:solidFill>
                  <a:srgbClr val="24211D"/>
                </a:solidFill>
                <a:latin typeface="맑은 고딕"/>
              </a:rPr>
              <a:t>3</a:t>
            </a:r>
          </a:p>
        </p:txBody>
      </p:sp>
      <p:sp>
        <p:nvSpPr>
          <p:cNvPr id="12" name="TextBox 11"/>
          <p:cNvSpPr txBox="1"/>
          <p:nvPr/>
        </p:nvSpPr>
        <p:spPr>
          <a:xfrm>
            <a:off x="1152144" y="2962656"/>
            <a:ext cx="5029200" cy="420624"/>
          </a:xfrm>
          <a:prstGeom prst="rect">
            <a:avLst/>
          </a:prstGeom>
          <a:noFill/>
        </p:spPr>
        <p:txBody>
          <a:bodyPr wrap="square" lIns="0" tIns="0" rIns="0" bIns="0" anchor="ctr">
            <a:spAutoFit/>
          </a:bodyPr>
          <a:lstStyle/>
          <a:p>
            <a:pPr algn="l"/>
            <a:r>
              <a:rPr sz="1800" b="0">
                <a:solidFill>
                  <a:srgbClr val="24211D"/>
                </a:solidFill>
                <a:latin typeface="맑은 고딕"/>
              </a:rPr>
              <a:t>아래 한 줄을 복사해 붙여넣고 엔터</a:t>
            </a:r>
          </a:p>
        </p:txBody>
      </p:sp>
      <p:sp>
        <p:nvSpPr>
          <p:cNvPr id="13" name="Oval 12"/>
          <p:cNvSpPr/>
          <p:nvPr/>
        </p:nvSpPr>
        <p:spPr>
          <a:xfrm>
            <a:off x="658368" y="3575303"/>
            <a:ext cx="329184" cy="329184"/>
          </a:xfrm>
          <a:prstGeom prst="ellipse">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TextBox 13"/>
          <p:cNvSpPr txBox="1"/>
          <p:nvPr/>
        </p:nvSpPr>
        <p:spPr>
          <a:xfrm>
            <a:off x="658368" y="3575303"/>
            <a:ext cx="329184" cy="329184"/>
          </a:xfrm>
          <a:prstGeom prst="rect">
            <a:avLst/>
          </a:prstGeom>
          <a:noFill/>
        </p:spPr>
        <p:txBody>
          <a:bodyPr wrap="square" lIns="0" tIns="0" rIns="0" bIns="0" anchor="ctr">
            <a:spAutoFit/>
          </a:bodyPr>
          <a:lstStyle/>
          <a:p>
            <a:pPr algn="ctr"/>
            <a:r>
              <a:rPr sz="1550" b="1">
                <a:solidFill>
                  <a:srgbClr val="24211D"/>
                </a:solidFill>
                <a:latin typeface="맑은 고딕"/>
              </a:rPr>
              <a:t>4</a:t>
            </a:r>
          </a:p>
        </p:txBody>
      </p:sp>
      <p:sp>
        <p:nvSpPr>
          <p:cNvPr id="15" name="TextBox 14"/>
          <p:cNvSpPr txBox="1"/>
          <p:nvPr/>
        </p:nvSpPr>
        <p:spPr>
          <a:xfrm>
            <a:off x="1152144" y="3529584"/>
            <a:ext cx="5029200" cy="420624"/>
          </a:xfrm>
          <a:prstGeom prst="rect">
            <a:avLst/>
          </a:prstGeom>
          <a:noFill/>
        </p:spPr>
        <p:txBody>
          <a:bodyPr wrap="square" lIns="0" tIns="0" rIns="0" bIns="0" anchor="ctr">
            <a:spAutoFit/>
          </a:bodyPr>
          <a:lstStyle/>
          <a:p>
            <a:pPr algn="l"/>
            <a:r>
              <a:rPr sz="1800" b="0">
                <a:solidFill>
                  <a:srgbClr val="24211D"/>
                </a:solidFill>
                <a:latin typeface="맑은 고딕"/>
              </a:rPr>
              <a:t>설치가 끝나면 창을 닫고 새로 엽니다</a:t>
            </a:r>
          </a:p>
        </p:txBody>
      </p:sp>
      <p:sp>
        <p:nvSpPr>
          <p:cNvPr id="16" name="TextBox 15"/>
          <p:cNvSpPr txBox="1"/>
          <p:nvPr/>
        </p:nvSpPr>
        <p:spPr>
          <a:xfrm>
            <a:off x="658368" y="4224528"/>
            <a:ext cx="5358384" cy="310896"/>
          </a:xfrm>
          <a:prstGeom prst="rect">
            <a:avLst/>
          </a:prstGeom>
          <a:noFill/>
        </p:spPr>
        <p:txBody>
          <a:bodyPr wrap="square" lIns="0" tIns="0" rIns="0" bIns="0" anchor="t">
            <a:spAutoFit/>
          </a:bodyPr>
          <a:lstStyle/>
          <a:p>
            <a:pPr algn="l"/>
            <a:r>
              <a:rPr sz="1500" b="0">
                <a:solidFill>
                  <a:srgbClr val="514B43"/>
                </a:solidFill>
                <a:latin typeface="맑은 고딕"/>
              </a:rPr>
              <a:t>창에 이렇게 떠 있으면 제대로 연 것입니다</a:t>
            </a:r>
          </a:p>
        </p:txBody>
      </p:sp>
      <p:sp>
        <p:nvSpPr>
          <p:cNvPr id="17" name="Rounded Rectangle 16"/>
          <p:cNvSpPr/>
          <p:nvPr/>
        </p:nvSpPr>
        <p:spPr>
          <a:xfrm>
            <a:off x="658368" y="4590288"/>
            <a:ext cx="5358384" cy="45720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TextBox 17"/>
          <p:cNvSpPr txBox="1"/>
          <p:nvPr/>
        </p:nvSpPr>
        <p:spPr>
          <a:xfrm>
            <a:off x="877824" y="4590288"/>
            <a:ext cx="4919472" cy="457200"/>
          </a:xfrm>
          <a:prstGeom prst="rect">
            <a:avLst/>
          </a:prstGeom>
          <a:noFill/>
        </p:spPr>
        <p:txBody>
          <a:bodyPr wrap="square" lIns="0" tIns="0" rIns="0" bIns="0" anchor="ctr">
            <a:spAutoFit/>
          </a:bodyPr>
          <a:lstStyle/>
          <a:p>
            <a:pPr algn="l"/>
            <a:r>
              <a:rPr sz="1500" b="0">
                <a:solidFill>
                  <a:srgbClr val="F2E9E1"/>
                </a:solidFill>
                <a:latin typeface="Consolas"/>
              </a:rPr>
              <a:t>PS C:\Users\내이름&gt;</a:t>
            </a:r>
          </a:p>
        </p:txBody>
      </p:sp>
      <p:sp>
        <p:nvSpPr>
          <p:cNvPr id="19" name="TextBox 18"/>
          <p:cNvSpPr txBox="1"/>
          <p:nvPr/>
        </p:nvSpPr>
        <p:spPr>
          <a:xfrm>
            <a:off x="6492240" y="1874519"/>
            <a:ext cx="5138928" cy="310896"/>
          </a:xfrm>
          <a:prstGeom prst="rect">
            <a:avLst/>
          </a:prstGeom>
          <a:noFill/>
        </p:spPr>
        <p:txBody>
          <a:bodyPr wrap="square" lIns="0" tIns="0" rIns="0" bIns="0" anchor="t">
            <a:spAutoFit/>
          </a:bodyPr>
          <a:lstStyle/>
          <a:p>
            <a:pPr algn="l"/>
            <a:r>
              <a:rPr sz="1500" b="1">
                <a:solidFill>
                  <a:srgbClr val="A8462A"/>
                </a:solidFill>
                <a:latin typeface="맑은 고딕"/>
              </a:rPr>
              <a:t>붙여넣을 한 줄</a:t>
            </a:r>
          </a:p>
        </p:txBody>
      </p:sp>
      <p:sp>
        <p:nvSpPr>
          <p:cNvPr id="20" name="Rounded Rectangle 19"/>
          <p:cNvSpPr/>
          <p:nvPr/>
        </p:nvSpPr>
        <p:spPr>
          <a:xfrm>
            <a:off x="6492240" y="2240280"/>
            <a:ext cx="5138928" cy="566928"/>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TextBox 20"/>
          <p:cNvSpPr txBox="1"/>
          <p:nvPr/>
        </p:nvSpPr>
        <p:spPr>
          <a:xfrm>
            <a:off x="6711696" y="2240280"/>
            <a:ext cx="4700016" cy="566928"/>
          </a:xfrm>
          <a:prstGeom prst="rect">
            <a:avLst/>
          </a:prstGeom>
          <a:noFill/>
        </p:spPr>
        <p:txBody>
          <a:bodyPr wrap="square" lIns="0" tIns="0" rIns="0" bIns="0" anchor="ctr">
            <a:spAutoFit/>
          </a:bodyPr>
          <a:lstStyle/>
          <a:p>
            <a:pPr algn="l"/>
            <a:r>
              <a:rPr sz="1400" b="0">
                <a:solidFill>
                  <a:srgbClr val="F2E9E1"/>
                </a:solidFill>
                <a:latin typeface="Consolas"/>
              </a:rPr>
              <a:t>irm https://astral.sh/uv/install.ps1 | iex</a:t>
            </a:r>
          </a:p>
        </p:txBody>
      </p:sp>
      <p:sp>
        <p:nvSpPr>
          <p:cNvPr id="22" name="TextBox 21"/>
          <p:cNvSpPr txBox="1"/>
          <p:nvPr/>
        </p:nvSpPr>
        <p:spPr>
          <a:xfrm>
            <a:off x="6492240" y="3063240"/>
            <a:ext cx="5138928" cy="310896"/>
          </a:xfrm>
          <a:prstGeom prst="rect">
            <a:avLst/>
          </a:prstGeom>
          <a:noFill/>
        </p:spPr>
        <p:txBody>
          <a:bodyPr wrap="square" lIns="0" tIns="0" rIns="0" bIns="0" anchor="t">
            <a:spAutoFit/>
          </a:bodyPr>
          <a:lstStyle/>
          <a:p>
            <a:pPr algn="l"/>
            <a:r>
              <a:rPr sz="1500" b="1">
                <a:solidFill>
                  <a:srgbClr val="A8462A"/>
                </a:solidFill>
                <a:latin typeface="맑은 고딕"/>
              </a:rPr>
              <a:t>새 창에서 설치 확인</a:t>
            </a:r>
          </a:p>
        </p:txBody>
      </p:sp>
      <p:sp>
        <p:nvSpPr>
          <p:cNvPr id="23" name="Rounded Rectangle 22"/>
          <p:cNvSpPr/>
          <p:nvPr/>
        </p:nvSpPr>
        <p:spPr>
          <a:xfrm>
            <a:off x="6492240" y="3429000"/>
            <a:ext cx="5138928" cy="45720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TextBox 23"/>
          <p:cNvSpPr txBox="1"/>
          <p:nvPr/>
        </p:nvSpPr>
        <p:spPr>
          <a:xfrm>
            <a:off x="6711696" y="3429000"/>
            <a:ext cx="4700016" cy="457200"/>
          </a:xfrm>
          <a:prstGeom prst="rect">
            <a:avLst/>
          </a:prstGeom>
          <a:noFill/>
        </p:spPr>
        <p:txBody>
          <a:bodyPr wrap="square" lIns="0" tIns="0" rIns="0" bIns="0" anchor="ctr">
            <a:spAutoFit/>
          </a:bodyPr>
          <a:lstStyle/>
          <a:p>
            <a:pPr algn="l"/>
            <a:r>
              <a:rPr sz="1500" b="0">
                <a:solidFill>
                  <a:srgbClr val="F2E9E1"/>
                </a:solidFill>
                <a:latin typeface="Consolas"/>
              </a:rPr>
              <a:t>node -v</a:t>
            </a:r>
          </a:p>
        </p:txBody>
      </p:sp>
      <p:sp>
        <p:nvSpPr>
          <p:cNvPr id="25" name="Rounded Rectangle 24"/>
          <p:cNvSpPr/>
          <p:nvPr/>
        </p:nvSpPr>
        <p:spPr>
          <a:xfrm>
            <a:off x="6492240" y="3995928"/>
            <a:ext cx="5138928" cy="45720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TextBox 25"/>
          <p:cNvSpPr txBox="1"/>
          <p:nvPr/>
        </p:nvSpPr>
        <p:spPr>
          <a:xfrm>
            <a:off x="6711696" y="3995928"/>
            <a:ext cx="4700016" cy="457200"/>
          </a:xfrm>
          <a:prstGeom prst="rect">
            <a:avLst/>
          </a:prstGeom>
          <a:noFill/>
        </p:spPr>
        <p:txBody>
          <a:bodyPr wrap="square" lIns="0" tIns="0" rIns="0" bIns="0" anchor="ctr">
            <a:spAutoFit/>
          </a:bodyPr>
          <a:lstStyle/>
          <a:p>
            <a:pPr algn="l"/>
            <a:r>
              <a:rPr sz="1500" b="0">
                <a:solidFill>
                  <a:srgbClr val="F2E9E1"/>
                </a:solidFill>
                <a:latin typeface="Consolas"/>
              </a:rPr>
              <a:t>uv --version</a:t>
            </a:r>
          </a:p>
        </p:txBody>
      </p:sp>
      <p:sp>
        <p:nvSpPr>
          <p:cNvPr id="27" name="TextBox 26"/>
          <p:cNvSpPr txBox="1"/>
          <p:nvPr/>
        </p:nvSpPr>
        <p:spPr>
          <a:xfrm>
            <a:off x="6492240" y="4590288"/>
            <a:ext cx="5138928" cy="457200"/>
          </a:xfrm>
          <a:prstGeom prst="rect">
            <a:avLst/>
          </a:prstGeom>
          <a:noFill/>
        </p:spPr>
        <p:txBody>
          <a:bodyPr wrap="square" lIns="0" tIns="0" rIns="0" bIns="0" anchor="t">
            <a:spAutoFit/>
          </a:bodyPr>
          <a:lstStyle/>
          <a:p>
            <a:pPr algn="l"/>
            <a:r>
              <a:rPr sz="1500" b="0">
                <a:solidFill>
                  <a:srgbClr val="24211D"/>
                </a:solidFill>
                <a:latin typeface="맑은 고딕"/>
              </a:rPr>
              <a:t>v22.20.0 · uv 0.12.2 처럼 버전 번호가</a:t>
            </a:r>
          </a:p>
          <a:p>
            <a:pPr algn="l"/>
            <a:r>
              <a:rPr sz="1500" b="0">
                <a:solidFill>
                  <a:srgbClr val="24211D"/>
                </a:solidFill>
                <a:latin typeface="맑은 고딕"/>
              </a:rPr>
              <a:t>나오면 성공입니다</a:t>
            </a:r>
          </a:p>
        </p:txBody>
      </p:sp>
      <p:sp>
        <p:nvSpPr>
          <p:cNvPr id="28" name="Rounded Rectangle 27"/>
          <p:cNvSpPr/>
          <p:nvPr/>
        </p:nvSpPr>
        <p:spPr>
          <a:xfrm>
            <a:off x="566928" y="5230368"/>
            <a:ext cx="11064240" cy="68580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TextBox 28"/>
          <p:cNvSpPr txBox="1"/>
          <p:nvPr/>
        </p:nvSpPr>
        <p:spPr>
          <a:xfrm>
            <a:off x="914400" y="5230368"/>
            <a:ext cx="10424160" cy="685800"/>
          </a:xfrm>
          <a:prstGeom prst="rect">
            <a:avLst/>
          </a:prstGeom>
          <a:noFill/>
        </p:spPr>
        <p:txBody>
          <a:bodyPr wrap="square" lIns="0" tIns="0" rIns="0" bIns="0" anchor="ctr">
            <a:spAutoFit/>
          </a:bodyPr>
          <a:lstStyle/>
          <a:p>
            <a:pPr algn="l"/>
            <a:r>
              <a:rPr sz="1800" b="1">
                <a:solidFill>
                  <a:srgbClr val="FFFFFF"/>
                </a:solidFill>
                <a:latin typeface="맑은 고딕"/>
              </a:rPr>
              <a:t>명령어는 GitHub 자료의 복사 버튼을 쓰세요. 손으로 옮겨 적으면 따옴표 하나에서 막힙니다.</a:t>
            </a:r>
          </a:p>
        </p:txBody>
      </p:sp>
      <p:sp>
        <p:nvSpPr>
          <p:cNvPr id="30" name="TextBox 29"/>
          <p:cNvSpPr txBox="1"/>
          <p:nvPr/>
        </p:nvSpPr>
        <p:spPr>
          <a:xfrm>
            <a:off x="566928" y="6272784"/>
            <a:ext cx="11064240" cy="310896"/>
          </a:xfrm>
          <a:prstGeom prst="rect">
            <a:avLst/>
          </a:prstGeom>
          <a:noFill/>
        </p:spPr>
        <p:txBody>
          <a:bodyPr wrap="square" lIns="0" tIns="0" rIns="0" bIns="0" anchor="t">
            <a:spAutoFit/>
          </a:bodyPr>
          <a:lstStyle/>
          <a:p>
            <a:pPr algn="l"/>
            <a:r>
              <a:rPr sz="1400" b="0">
                <a:solidFill>
                  <a:srgbClr val="514B43"/>
                </a:solidFill>
                <a:latin typeface="맑은 고딕"/>
              </a:rPr>
              <a:t>출처: docs.astral.sh/uv/getting-started/installation (2026-08-07 직접 조회)</a:t>
            </a:r>
          </a:p>
        </p:txBody>
      </p:sp>
      <p:sp>
        <p:nvSpPr>
          <p:cNvPr id="31" name="TextBox 30">
            <a:extLst>
              <a:ext uri="{FF2B5EF4-FFF2-40B4-BE49-F238E27FC236}">
                <a16:creationId xmlns:a16="http://schemas.microsoft.com/office/drawing/2014/main" id="{EC039B63-24CD-D32E-BF2E-E17F11BD2E26}"/>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03 · </a:t>
            </a:r>
            <a:r>
              <a:rPr lang="ko-KR" altLang="en-US" sz="1200">
                <a:solidFill>
                  <a:srgbClr val="A69C90"/>
                </a:solidFill>
                <a:latin typeface="맑은 고딕" panose="020B0503020000020004" pitchFamily="50" charset="-127"/>
                <a:ea typeface="맑은 고딕" panose="020B0503020000020004" pitchFamily="50" charset="-127"/>
              </a:rPr>
              <a:t>사전 준비 프로그램          </a:t>
            </a:r>
            <a:r>
              <a:rPr lang="en-US" altLang="ko-KR" sz="1200">
                <a:solidFill>
                  <a:srgbClr val="A69C90"/>
                </a:solidFill>
                <a:latin typeface="맑은 고딕" panose="020B0503020000020004" pitchFamily="50" charset="-127"/>
                <a:ea typeface="맑은 고딕" panose="020B0503020000020004" pitchFamily="50" charset="-127"/>
              </a:rPr>
              <a:t>23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설치가 안 될 때 나오는 세 가지</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셋 다 고장이 아닙니다. 대처법이 정해져 있습니다</a:t>
            </a:r>
          </a:p>
        </p:txBody>
      </p:sp>
      <p:sp>
        <p:nvSpPr>
          <p:cNvPr id="4" name="Rounded Rectangle 3"/>
          <p:cNvSpPr/>
          <p:nvPr/>
        </p:nvSpPr>
        <p:spPr>
          <a:xfrm>
            <a:off x="566928" y="1874519"/>
            <a:ext cx="3529584" cy="3246120"/>
          </a:xfrm>
          <a:prstGeom prst="roundRect">
            <a:avLst>
              <a:gd name="adj" fmla="val 6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TextBox 4"/>
          <p:cNvSpPr txBox="1"/>
          <p:nvPr/>
        </p:nvSpPr>
        <p:spPr>
          <a:xfrm>
            <a:off x="859536" y="2148840"/>
            <a:ext cx="2944368" cy="548640"/>
          </a:xfrm>
          <a:prstGeom prst="rect">
            <a:avLst/>
          </a:prstGeom>
          <a:noFill/>
        </p:spPr>
        <p:txBody>
          <a:bodyPr wrap="square" lIns="0" tIns="0" rIns="0" bIns="0" anchor="ctr">
            <a:spAutoFit/>
          </a:bodyPr>
          <a:lstStyle/>
          <a:p>
            <a:pPr algn="l"/>
            <a:r>
              <a:rPr sz="1800" b="1">
                <a:solidFill>
                  <a:srgbClr val="A8462A"/>
                </a:solidFill>
                <a:latin typeface="맑은 고딕"/>
              </a:rPr>
              <a:t>uv 를 찾을 수 없습니다</a:t>
            </a:r>
          </a:p>
        </p:txBody>
      </p:sp>
      <p:sp>
        <p:nvSpPr>
          <p:cNvPr id="6" name="TextBox 5"/>
          <p:cNvSpPr txBox="1"/>
          <p:nvPr/>
        </p:nvSpPr>
        <p:spPr>
          <a:xfrm>
            <a:off x="859536" y="2816352"/>
            <a:ext cx="2944368" cy="310896"/>
          </a:xfrm>
          <a:prstGeom prst="rect">
            <a:avLst/>
          </a:prstGeom>
          <a:noFill/>
        </p:spPr>
        <p:txBody>
          <a:bodyPr wrap="square" lIns="0" tIns="0" rIns="0" bIns="0" anchor="t">
            <a:spAutoFit/>
          </a:bodyPr>
          <a:lstStyle/>
          <a:p>
            <a:pPr algn="l"/>
            <a:r>
              <a:rPr sz="1400" b="1">
                <a:solidFill>
                  <a:srgbClr val="514B43"/>
                </a:solidFill>
                <a:latin typeface="맑은 고딕"/>
              </a:rPr>
              <a:t>왜 그런가</a:t>
            </a:r>
          </a:p>
        </p:txBody>
      </p:sp>
      <p:sp>
        <p:nvSpPr>
          <p:cNvPr id="7" name="TextBox 6"/>
          <p:cNvSpPr txBox="1"/>
          <p:nvPr/>
        </p:nvSpPr>
        <p:spPr>
          <a:xfrm>
            <a:off x="859536" y="3163824"/>
            <a:ext cx="2944368" cy="640080"/>
          </a:xfrm>
          <a:prstGeom prst="rect">
            <a:avLst/>
          </a:prstGeom>
          <a:noFill/>
        </p:spPr>
        <p:txBody>
          <a:bodyPr wrap="square" lIns="0" tIns="0" rIns="0" bIns="0" anchor="t">
            <a:spAutoFit/>
          </a:bodyPr>
          <a:lstStyle/>
          <a:p>
            <a:pPr algn="l"/>
            <a:r>
              <a:rPr sz="1500" b="0">
                <a:solidFill>
                  <a:srgbClr val="24211D"/>
                </a:solidFill>
                <a:latin typeface="맑은 고딕"/>
              </a:rPr>
              <a:t>설치는 됐는데 열려 있던 창이</a:t>
            </a:r>
          </a:p>
          <a:p>
            <a:pPr algn="l"/>
            <a:r>
              <a:rPr sz="1500" b="0">
                <a:solidFill>
                  <a:srgbClr val="24211D"/>
                </a:solidFill>
                <a:latin typeface="맑은 고딕"/>
              </a:rPr>
              <a:t>예전 경로를 기억하고 있는 것</a:t>
            </a:r>
          </a:p>
        </p:txBody>
      </p:sp>
      <p:sp>
        <p:nvSpPr>
          <p:cNvPr id="8" name="TextBox 7"/>
          <p:cNvSpPr txBox="1"/>
          <p:nvPr/>
        </p:nvSpPr>
        <p:spPr>
          <a:xfrm>
            <a:off x="859536" y="3913632"/>
            <a:ext cx="2944368" cy="310896"/>
          </a:xfrm>
          <a:prstGeom prst="rect">
            <a:avLst/>
          </a:prstGeom>
          <a:noFill/>
        </p:spPr>
        <p:txBody>
          <a:bodyPr wrap="square" lIns="0" tIns="0" rIns="0" bIns="0" anchor="t">
            <a:spAutoFit/>
          </a:bodyPr>
          <a:lstStyle/>
          <a:p>
            <a:pPr algn="l"/>
            <a:r>
              <a:rPr sz="1400" b="1">
                <a:solidFill>
                  <a:srgbClr val="514B43"/>
                </a:solidFill>
                <a:latin typeface="맑은 고딕"/>
              </a:rPr>
              <a:t>이렇게 하세요</a:t>
            </a:r>
          </a:p>
        </p:txBody>
      </p:sp>
      <p:sp>
        <p:nvSpPr>
          <p:cNvPr id="9" name="TextBox 8"/>
          <p:cNvSpPr txBox="1"/>
          <p:nvPr/>
        </p:nvSpPr>
        <p:spPr>
          <a:xfrm>
            <a:off x="859536" y="4261104"/>
            <a:ext cx="2944368" cy="731520"/>
          </a:xfrm>
          <a:prstGeom prst="rect">
            <a:avLst/>
          </a:prstGeom>
          <a:noFill/>
        </p:spPr>
        <p:txBody>
          <a:bodyPr wrap="square" lIns="0" tIns="0" rIns="0" bIns="0" anchor="t">
            <a:spAutoFit/>
          </a:bodyPr>
          <a:lstStyle/>
          <a:p>
            <a:pPr algn="l"/>
            <a:r>
              <a:rPr sz="1500" b="0">
                <a:solidFill>
                  <a:srgbClr val="24211D"/>
                </a:solidFill>
                <a:latin typeface="맑은 고딕"/>
              </a:rPr>
              <a:t>창을 닫고 새로 엽니다.</a:t>
            </a:r>
          </a:p>
          <a:p>
            <a:pPr algn="l"/>
            <a:r>
              <a:rPr sz="1500" b="0">
                <a:solidFill>
                  <a:srgbClr val="24211D"/>
                </a:solidFill>
                <a:latin typeface="맑은 고딕"/>
              </a:rPr>
              <a:t>그래도 안 되면 컴퓨터를</a:t>
            </a:r>
          </a:p>
          <a:p>
            <a:pPr algn="l"/>
            <a:r>
              <a:rPr sz="1500" b="0">
                <a:solidFill>
                  <a:srgbClr val="24211D"/>
                </a:solidFill>
                <a:latin typeface="맑은 고딕"/>
              </a:rPr>
              <a:t>다시 시작합니다.</a:t>
            </a:r>
          </a:p>
        </p:txBody>
      </p:sp>
      <p:sp>
        <p:nvSpPr>
          <p:cNvPr id="10" name="Rounded Rectangle 9"/>
          <p:cNvSpPr/>
          <p:nvPr/>
        </p:nvSpPr>
        <p:spPr>
          <a:xfrm>
            <a:off x="4334256" y="1874519"/>
            <a:ext cx="3529584" cy="3246120"/>
          </a:xfrm>
          <a:prstGeom prst="roundRect">
            <a:avLst>
              <a:gd name="adj" fmla="val 6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TextBox 10"/>
          <p:cNvSpPr txBox="1"/>
          <p:nvPr/>
        </p:nvSpPr>
        <p:spPr>
          <a:xfrm>
            <a:off x="4626864" y="2148840"/>
            <a:ext cx="2944368" cy="548640"/>
          </a:xfrm>
          <a:prstGeom prst="rect">
            <a:avLst/>
          </a:prstGeom>
          <a:noFill/>
        </p:spPr>
        <p:txBody>
          <a:bodyPr wrap="square" lIns="0" tIns="0" rIns="0" bIns="0" anchor="ctr">
            <a:spAutoFit/>
          </a:bodyPr>
          <a:lstStyle/>
          <a:p>
            <a:pPr algn="l"/>
            <a:r>
              <a:rPr sz="1800" b="1">
                <a:solidFill>
                  <a:srgbClr val="A8462A"/>
                </a:solidFill>
                <a:latin typeface="맑은 고딕"/>
              </a:rPr>
              <a:t>다른 프로세스에서 사용 중</a:t>
            </a:r>
          </a:p>
        </p:txBody>
      </p:sp>
      <p:sp>
        <p:nvSpPr>
          <p:cNvPr id="12" name="TextBox 11"/>
          <p:cNvSpPr txBox="1"/>
          <p:nvPr/>
        </p:nvSpPr>
        <p:spPr>
          <a:xfrm>
            <a:off x="4626864" y="2816352"/>
            <a:ext cx="2944368" cy="310896"/>
          </a:xfrm>
          <a:prstGeom prst="rect">
            <a:avLst/>
          </a:prstGeom>
          <a:noFill/>
        </p:spPr>
        <p:txBody>
          <a:bodyPr wrap="square" lIns="0" tIns="0" rIns="0" bIns="0" anchor="t">
            <a:spAutoFit/>
          </a:bodyPr>
          <a:lstStyle/>
          <a:p>
            <a:pPr algn="l"/>
            <a:r>
              <a:rPr sz="1400" b="1">
                <a:solidFill>
                  <a:srgbClr val="514B43"/>
                </a:solidFill>
                <a:latin typeface="맑은 고딕"/>
              </a:rPr>
              <a:t>왜 그런가</a:t>
            </a:r>
          </a:p>
        </p:txBody>
      </p:sp>
      <p:sp>
        <p:nvSpPr>
          <p:cNvPr id="13" name="TextBox 12"/>
          <p:cNvSpPr txBox="1"/>
          <p:nvPr/>
        </p:nvSpPr>
        <p:spPr>
          <a:xfrm>
            <a:off x="4626864" y="3163824"/>
            <a:ext cx="2944368" cy="640080"/>
          </a:xfrm>
          <a:prstGeom prst="rect">
            <a:avLst/>
          </a:prstGeom>
          <a:noFill/>
        </p:spPr>
        <p:txBody>
          <a:bodyPr wrap="square" lIns="0" tIns="0" rIns="0" bIns="0" anchor="t">
            <a:spAutoFit/>
          </a:bodyPr>
          <a:lstStyle/>
          <a:p>
            <a:pPr algn="l"/>
            <a:r>
              <a:rPr sz="1500" b="0">
                <a:solidFill>
                  <a:srgbClr val="24211D"/>
                </a:solidFill>
                <a:latin typeface="맑은 고딕"/>
              </a:rPr>
              <a:t>이미 uv 가 깔려 있고</a:t>
            </a:r>
          </a:p>
          <a:p>
            <a:pPr algn="l"/>
            <a:r>
              <a:rPr sz="1500" b="0">
                <a:solidFill>
                  <a:srgbClr val="24211D"/>
                </a:solidFill>
                <a:latin typeface="맑은 고딕"/>
              </a:rPr>
              <a:t>Claude 가 그 파일을 쓰는 중</a:t>
            </a:r>
          </a:p>
        </p:txBody>
      </p:sp>
      <p:sp>
        <p:nvSpPr>
          <p:cNvPr id="14" name="TextBox 13"/>
          <p:cNvSpPr txBox="1"/>
          <p:nvPr/>
        </p:nvSpPr>
        <p:spPr>
          <a:xfrm>
            <a:off x="4626864" y="3913632"/>
            <a:ext cx="2944368" cy="310896"/>
          </a:xfrm>
          <a:prstGeom prst="rect">
            <a:avLst/>
          </a:prstGeom>
          <a:noFill/>
        </p:spPr>
        <p:txBody>
          <a:bodyPr wrap="square" lIns="0" tIns="0" rIns="0" bIns="0" anchor="t">
            <a:spAutoFit/>
          </a:bodyPr>
          <a:lstStyle/>
          <a:p>
            <a:pPr algn="l"/>
            <a:r>
              <a:rPr sz="1400" b="1">
                <a:solidFill>
                  <a:srgbClr val="514B43"/>
                </a:solidFill>
                <a:latin typeface="맑은 고딕"/>
              </a:rPr>
              <a:t>이렇게 하세요</a:t>
            </a:r>
          </a:p>
        </p:txBody>
      </p:sp>
      <p:sp>
        <p:nvSpPr>
          <p:cNvPr id="15" name="TextBox 14"/>
          <p:cNvSpPr txBox="1"/>
          <p:nvPr/>
        </p:nvSpPr>
        <p:spPr>
          <a:xfrm>
            <a:off x="4626864" y="4261104"/>
            <a:ext cx="2944368" cy="731520"/>
          </a:xfrm>
          <a:prstGeom prst="rect">
            <a:avLst/>
          </a:prstGeom>
          <a:noFill/>
        </p:spPr>
        <p:txBody>
          <a:bodyPr wrap="square" lIns="0" tIns="0" rIns="0" bIns="0" anchor="t">
            <a:spAutoFit/>
          </a:bodyPr>
          <a:lstStyle/>
          <a:p>
            <a:pPr algn="l"/>
            <a:r>
              <a:rPr sz="1500" b="0">
                <a:solidFill>
                  <a:srgbClr val="24211D"/>
                </a:solidFill>
                <a:latin typeface="맑은 고딕"/>
              </a:rPr>
              <a:t>그대로 두셔도 됩니다.</a:t>
            </a:r>
          </a:p>
          <a:p>
            <a:pPr algn="l"/>
            <a:r>
              <a:rPr sz="1500" b="0">
                <a:solidFill>
                  <a:srgbClr val="24211D"/>
                </a:solidFill>
                <a:latin typeface="맑은 고딕"/>
              </a:rPr>
              <a:t>이미 깔린 uv 가</a:t>
            </a:r>
          </a:p>
          <a:p>
            <a:pPr algn="l"/>
            <a:r>
              <a:rPr sz="1500" b="0">
                <a:solidFill>
                  <a:srgbClr val="24211D"/>
                </a:solidFill>
                <a:latin typeface="맑은 고딕"/>
              </a:rPr>
              <a:t>정상 작동합니다.</a:t>
            </a:r>
          </a:p>
        </p:txBody>
      </p:sp>
      <p:sp>
        <p:nvSpPr>
          <p:cNvPr id="16" name="Rounded Rectangle 15"/>
          <p:cNvSpPr/>
          <p:nvPr/>
        </p:nvSpPr>
        <p:spPr>
          <a:xfrm>
            <a:off x="8101583" y="1874519"/>
            <a:ext cx="3529584" cy="3246120"/>
          </a:xfrm>
          <a:prstGeom prst="roundRect">
            <a:avLst>
              <a:gd name="adj" fmla="val 6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TextBox 16"/>
          <p:cNvSpPr txBox="1"/>
          <p:nvPr/>
        </p:nvSpPr>
        <p:spPr>
          <a:xfrm>
            <a:off x="8394192" y="2148840"/>
            <a:ext cx="2944368" cy="548640"/>
          </a:xfrm>
          <a:prstGeom prst="rect">
            <a:avLst/>
          </a:prstGeom>
          <a:noFill/>
        </p:spPr>
        <p:txBody>
          <a:bodyPr wrap="square" lIns="0" tIns="0" rIns="0" bIns="0" anchor="ctr">
            <a:spAutoFit/>
          </a:bodyPr>
          <a:lstStyle/>
          <a:p>
            <a:pPr algn="l"/>
            <a:r>
              <a:rPr sz="1800" b="1">
                <a:solidFill>
                  <a:srgbClr val="A8462A"/>
                </a:solidFill>
                <a:latin typeface="맑은 고딕"/>
              </a:rPr>
              <a:t>&gt;&gt; 만 계속 나옵니다</a:t>
            </a:r>
          </a:p>
        </p:txBody>
      </p:sp>
      <p:sp>
        <p:nvSpPr>
          <p:cNvPr id="18" name="TextBox 17"/>
          <p:cNvSpPr txBox="1"/>
          <p:nvPr/>
        </p:nvSpPr>
        <p:spPr>
          <a:xfrm>
            <a:off x="8394192" y="2816352"/>
            <a:ext cx="2944368" cy="310896"/>
          </a:xfrm>
          <a:prstGeom prst="rect">
            <a:avLst/>
          </a:prstGeom>
          <a:noFill/>
        </p:spPr>
        <p:txBody>
          <a:bodyPr wrap="square" lIns="0" tIns="0" rIns="0" bIns="0" anchor="t">
            <a:spAutoFit/>
          </a:bodyPr>
          <a:lstStyle/>
          <a:p>
            <a:pPr algn="l"/>
            <a:r>
              <a:rPr sz="1400" b="1">
                <a:solidFill>
                  <a:srgbClr val="514B43"/>
                </a:solidFill>
                <a:latin typeface="맑은 고딕"/>
              </a:rPr>
              <a:t>왜 그런가</a:t>
            </a:r>
          </a:p>
        </p:txBody>
      </p:sp>
      <p:sp>
        <p:nvSpPr>
          <p:cNvPr id="19" name="TextBox 18"/>
          <p:cNvSpPr txBox="1"/>
          <p:nvPr/>
        </p:nvSpPr>
        <p:spPr>
          <a:xfrm>
            <a:off x="8394192" y="3163824"/>
            <a:ext cx="2944368" cy="640080"/>
          </a:xfrm>
          <a:prstGeom prst="rect">
            <a:avLst/>
          </a:prstGeom>
          <a:noFill/>
        </p:spPr>
        <p:txBody>
          <a:bodyPr wrap="square" lIns="0" tIns="0" rIns="0" bIns="0" anchor="t">
            <a:spAutoFit/>
          </a:bodyPr>
          <a:lstStyle/>
          <a:p>
            <a:pPr algn="l"/>
            <a:r>
              <a:rPr sz="1500" b="0">
                <a:solidFill>
                  <a:srgbClr val="24211D"/>
                </a:solidFill>
                <a:latin typeface="맑은 고딕"/>
              </a:rPr>
              <a:t>명령어를 중간까지만 붙여넣어</a:t>
            </a:r>
          </a:p>
          <a:p>
            <a:pPr algn="l"/>
            <a:r>
              <a:rPr sz="1500" b="0">
                <a:solidFill>
                  <a:srgbClr val="24211D"/>
                </a:solidFill>
                <a:latin typeface="맑은 고딕"/>
              </a:rPr>
              <a:t>PowerShell 이 나머지를 기다림</a:t>
            </a:r>
          </a:p>
        </p:txBody>
      </p:sp>
      <p:sp>
        <p:nvSpPr>
          <p:cNvPr id="20" name="TextBox 19"/>
          <p:cNvSpPr txBox="1"/>
          <p:nvPr/>
        </p:nvSpPr>
        <p:spPr>
          <a:xfrm>
            <a:off x="8394192" y="3913632"/>
            <a:ext cx="2944368" cy="310896"/>
          </a:xfrm>
          <a:prstGeom prst="rect">
            <a:avLst/>
          </a:prstGeom>
          <a:noFill/>
        </p:spPr>
        <p:txBody>
          <a:bodyPr wrap="square" lIns="0" tIns="0" rIns="0" bIns="0" anchor="t">
            <a:spAutoFit/>
          </a:bodyPr>
          <a:lstStyle/>
          <a:p>
            <a:pPr algn="l"/>
            <a:r>
              <a:rPr sz="1400" b="1">
                <a:solidFill>
                  <a:srgbClr val="514B43"/>
                </a:solidFill>
                <a:latin typeface="맑은 고딕"/>
              </a:rPr>
              <a:t>이렇게 하세요</a:t>
            </a:r>
          </a:p>
        </p:txBody>
      </p:sp>
      <p:sp>
        <p:nvSpPr>
          <p:cNvPr id="21" name="TextBox 20"/>
          <p:cNvSpPr txBox="1"/>
          <p:nvPr/>
        </p:nvSpPr>
        <p:spPr>
          <a:xfrm>
            <a:off x="8394192" y="4261104"/>
            <a:ext cx="2944368" cy="731520"/>
          </a:xfrm>
          <a:prstGeom prst="rect">
            <a:avLst/>
          </a:prstGeom>
          <a:noFill/>
        </p:spPr>
        <p:txBody>
          <a:bodyPr wrap="square" lIns="0" tIns="0" rIns="0" bIns="0" anchor="t">
            <a:spAutoFit/>
          </a:bodyPr>
          <a:lstStyle/>
          <a:p>
            <a:pPr algn="l"/>
            <a:r>
              <a:rPr sz="1500" b="0">
                <a:solidFill>
                  <a:srgbClr val="24211D"/>
                </a:solidFill>
                <a:latin typeface="맑은 고딕"/>
              </a:rPr>
              <a:t>Ctrl + C 로 빠져나온 뒤</a:t>
            </a:r>
          </a:p>
          <a:p>
            <a:pPr algn="l"/>
            <a:r>
              <a:rPr sz="1500" b="0">
                <a:solidFill>
                  <a:srgbClr val="24211D"/>
                </a:solidFill>
                <a:latin typeface="맑은 고딕"/>
              </a:rPr>
              <a:t>처음부터 끝까지</a:t>
            </a:r>
          </a:p>
          <a:p>
            <a:pPr algn="l"/>
            <a:r>
              <a:rPr sz="1500" b="0">
                <a:solidFill>
                  <a:srgbClr val="24211D"/>
                </a:solidFill>
                <a:latin typeface="맑은 고딕"/>
              </a:rPr>
              <a:t>다시 붙여넣습니다.</a:t>
            </a:r>
          </a:p>
        </p:txBody>
      </p:sp>
      <p:sp>
        <p:nvSpPr>
          <p:cNvPr id="22" name="Rounded Rectangle 21"/>
          <p:cNvSpPr/>
          <p:nvPr/>
        </p:nvSpPr>
        <p:spPr>
          <a:xfrm>
            <a:off x="566928" y="5376672"/>
            <a:ext cx="11064240" cy="77724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TextBox 22"/>
          <p:cNvSpPr txBox="1"/>
          <p:nvPr/>
        </p:nvSpPr>
        <p:spPr>
          <a:xfrm>
            <a:off x="914400" y="5376672"/>
            <a:ext cx="10424160" cy="777240"/>
          </a:xfrm>
          <a:prstGeom prst="rect">
            <a:avLst/>
          </a:prstGeom>
          <a:noFill/>
        </p:spPr>
        <p:txBody>
          <a:bodyPr wrap="square" lIns="0" tIns="0" rIns="0" bIns="0" anchor="ctr">
            <a:spAutoFit/>
          </a:bodyPr>
          <a:lstStyle/>
          <a:p>
            <a:pPr algn="l"/>
            <a:r>
              <a:rPr sz="1800" b="1">
                <a:solidFill>
                  <a:srgbClr val="FFFFFF"/>
                </a:solidFill>
                <a:latin typeface="맑은 고딕"/>
              </a:rPr>
              <a:t>Node.js 나 uv 를 새로 깔았다면 Claude 데스크탑을 완전 종료했다 켜야 합니다. 트레이 아이콘까지 종료하세요.</a:t>
            </a:r>
          </a:p>
        </p:txBody>
      </p:sp>
      <p:sp>
        <p:nvSpPr>
          <p:cNvPr id="24" name="TextBox 23"/>
          <p:cNvSpPr txBox="1"/>
          <p:nvPr/>
        </p:nvSpPr>
        <p:spPr>
          <a:xfrm>
            <a:off x="566928" y="6272784"/>
            <a:ext cx="11064240" cy="310896"/>
          </a:xfrm>
          <a:prstGeom prst="rect">
            <a:avLst/>
          </a:prstGeom>
          <a:noFill/>
        </p:spPr>
        <p:txBody>
          <a:bodyPr wrap="square" lIns="0" tIns="0" rIns="0" bIns="0" anchor="t">
            <a:spAutoFit/>
          </a:bodyPr>
          <a:lstStyle/>
          <a:p>
            <a:pPr algn="l"/>
            <a:r>
              <a:rPr sz="1400" b="0">
                <a:solidFill>
                  <a:srgbClr val="514B43"/>
                </a:solidFill>
                <a:latin typeface="맑은 고딕"/>
              </a:rPr>
              <a:t>출처: docs.astral.sh/uv (2026-08-07 확인) · 증상은 윈도우 버전에 따라 문구가 다를 수 있습니다</a:t>
            </a:r>
          </a:p>
        </p:txBody>
      </p:sp>
      <p:sp>
        <p:nvSpPr>
          <p:cNvPr id="25" name="TextBox 24">
            <a:extLst>
              <a:ext uri="{FF2B5EF4-FFF2-40B4-BE49-F238E27FC236}">
                <a16:creationId xmlns:a16="http://schemas.microsoft.com/office/drawing/2014/main" id="{67A8C133-6FBE-ED04-04EC-C0844026B568}"/>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03 · </a:t>
            </a:r>
            <a:r>
              <a:rPr lang="ko-KR" altLang="en-US" sz="1200">
                <a:solidFill>
                  <a:srgbClr val="A69C90"/>
                </a:solidFill>
                <a:latin typeface="맑은 고딕" panose="020B0503020000020004" pitchFamily="50" charset="-127"/>
                <a:ea typeface="맑은 고딕" panose="020B0503020000020004" pitchFamily="50" charset="-127"/>
              </a:rPr>
              <a:t>사전 준비 프로그램          </a:t>
            </a:r>
            <a:r>
              <a:rPr lang="en-US" altLang="ko-KR" sz="1200">
                <a:solidFill>
                  <a:srgbClr val="A69C90"/>
                </a:solidFill>
                <a:latin typeface="맑은 고딕" panose="020B0503020000020004" pitchFamily="50" charset="-127"/>
                <a:ea typeface="맑은 고딕" panose="020B0503020000020004" pitchFamily="50" charset="-127"/>
              </a:rPr>
              <a:t>24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설치 자료는 GitHub 에 올려두었습니다</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외우지 마세요. 필요할 때 열어서 복사하면 됩니다</a:t>
            </a:r>
          </a:p>
        </p:txBody>
      </p:sp>
      <p:sp>
        <p:nvSpPr>
          <p:cNvPr id="4" name="TextBox 3"/>
          <p:cNvSpPr txBox="1"/>
          <p:nvPr/>
        </p:nvSpPr>
        <p:spPr>
          <a:xfrm>
            <a:off x="566928" y="1874519"/>
            <a:ext cx="11064240" cy="329184"/>
          </a:xfrm>
          <a:prstGeom prst="rect">
            <a:avLst/>
          </a:prstGeom>
          <a:noFill/>
        </p:spPr>
        <p:txBody>
          <a:bodyPr wrap="square" lIns="0" tIns="0" rIns="0" bIns="0" anchor="t">
            <a:spAutoFit/>
          </a:bodyPr>
          <a:lstStyle/>
          <a:p>
            <a:pPr algn="l"/>
            <a:r>
              <a:rPr sz="1500" b="1">
                <a:solidFill>
                  <a:srgbClr val="A8462A"/>
                </a:solidFill>
                <a:latin typeface="맑은 고딕"/>
              </a:rPr>
              <a:t>주소</a:t>
            </a:r>
          </a:p>
        </p:txBody>
      </p:sp>
      <p:sp>
        <p:nvSpPr>
          <p:cNvPr id="5" name="Rounded Rectangle 4"/>
          <p:cNvSpPr/>
          <p:nvPr/>
        </p:nvSpPr>
        <p:spPr>
          <a:xfrm>
            <a:off x="566928" y="2240280"/>
            <a:ext cx="11064240" cy="566928"/>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786384" y="2240280"/>
            <a:ext cx="10625328" cy="566928"/>
          </a:xfrm>
          <a:prstGeom prst="rect">
            <a:avLst/>
          </a:prstGeom>
          <a:noFill/>
        </p:spPr>
        <p:txBody>
          <a:bodyPr wrap="square" lIns="0" tIns="0" rIns="0" bIns="0" anchor="ctr">
            <a:spAutoFit/>
          </a:bodyPr>
          <a:lstStyle/>
          <a:p>
            <a:pPr algn="l"/>
            <a:r>
              <a:rPr sz="1800" b="0">
                <a:solidFill>
                  <a:srgbClr val="F2E9E1"/>
                </a:solidFill>
                <a:latin typeface="Consolas"/>
              </a:rPr>
              <a:t>github.com/dgkim3333-hash/claude-guide-kr</a:t>
            </a:r>
          </a:p>
        </p:txBody>
      </p:sp>
      <p:sp>
        <p:nvSpPr>
          <p:cNvPr id="7" name="Rounded Rectangle 6"/>
          <p:cNvSpPr/>
          <p:nvPr/>
        </p:nvSpPr>
        <p:spPr>
          <a:xfrm>
            <a:off x="566928" y="3063240"/>
            <a:ext cx="11064240" cy="603504"/>
          </a:xfrm>
          <a:prstGeom prst="roundRect">
            <a:avLst>
              <a:gd name="adj" fmla="val 1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TextBox 7"/>
          <p:cNvSpPr txBox="1"/>
          <p:nvPr/>
        </p:nvSpPr>
        <p:spPr>
          <a:xfrm>
            <a:off x="877824" y="3063240"/>
            <a:ext cx="4663440" cy="603504"/>
          </a:xfrm>
          <a:prstGeom prst="rect">
            <a:avLst/>
          </a:prstGeom>
          <a:noFill/>
        </p:spPr>
        <p:txBody>
          <a:bodyPr wrap="square" lIns="0" tIns="0" rIns="0" bIns="0" anchor="ctr">
            <a:spAutoFit/>
          </a:bodyPr>
          <a:lstStyle/>
          <a:p>
            <a:pPr algn="l"/>
            <a:r>
              <a:rPr sz="1600" b="1">
                <a:solidFill>
                  <a:srgbClr val="24211D"/>
                </a:solidFill>
                <a:latin typeface="Consolas"/>
              </a:rPr>
              <a:t>사전준비_설치.md</a:t>
            </a:r>
          </a:p>
        </p:txBody>
      </p:sp>
      <p:sp>
        <p:nvSpPr>
          <p:cNvPr id="9" name="TextBox 8"/>
          <p:cNvSpPr txBox="1"/>
          <p:nvPr/>
        </p:nvSpPr>
        <p:spPr>
          <a:xfrm>
            <a:off x="5760720" y="3063240"/>
            <a:ext cx="5577840" cy="603504"/>
          </a:xfrm>
          <a:prstGeom prst="rect">
            <a:avLst/>
          </a:prstGeom>
          <a:noFill/>
        </p:spPr>
        <p:txBody>
          <a:bodyPr wrap="square" lIns="0" tIns="0" rIns="0" bIns="0" anchor="ctr">
            <a:spAutoFit/>
          </a:bodyPr>
          <a:lstStyle/>
          <a:p>
            <a:pPr algn="l"/>
            <a:r>
              <a:rPr sz="1600" b="0">
                <a:solidFill>
                  <a:srgbClr val="514B43"/>
                </a:solidFill>
                <a:latin typeface="맑은 고딕"/>
              </a:rPr>
              <a:t>Node.js · uv 설치와 안 될 때 대처법</a:t>
            </a:r>
          </a:p>
        </p:txBody>
      </p:sp>
      <p:sp>
        <p:nvSpPr>
          <p:cNvPr id="10" name="Rounded Rectangle 9"/>
          <p:cNvSpPr/>
          <p:nvPr/>
        </p:nvSpPr>
        <p:spPr>
          <a:xfrm>
            <a:off x="566928" y="3776472"/>
            <a:ext cx="11064240" cy="603504"/>
          </a:xfrm>
          <a:prstGeom prst="roundRect">
            <a:avLst>
              <a:gd name="adj" fmla="val 1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TextBox 10"/>
          <p:cNvSpPr txBox="1"/>
          <p:nvPr/>
        </p:nvSpPr>
        <p:spPr>
          <a:xfrm>
            <a:off x="877824" y="3776472"/>
            <a:ext cx="4663440" cy="603504"/>
          </a:xfrm>
          <a:prstGeom prst="rect">
            <a:avLst/>
          </a:prstGeom>
          <a:noFill/>
        </p:spPr>
        <p:txBody>
          <a:bodyPr wrap="square" lIns="0" tIns="0" rIns="0" bIns="0" anchor="ctr">
            <a:spAutoFit/>
          </a:bodyPr>
          <a:lstStyle/>
          <a:p>
            <a:pPr algn="l"/>
            <a:r>
              <a:rPr sz="1600" b="1">
                <a:solidFill>
                  <a:srgbClr val="24211D"/>
                </a:solidFill>
                <a:latin typeface="Consolas"/>
              </a:rPr>
              <a:t>claude_desktop_config_실습용.jsonc</a:t>
            </a:r>
          </a:p>
        </p:txBody>
      </p:sp>
      <p:sp>
        <p:nvSpPr>
          <p:cNvPr id="12" name="TextBox 11"/>
          <p:cNvSpPr txBox="1"/>
          <p:nvPr/>
        </p:nvSpPr>
        <p:spPr>
          <a:xfrm>
            <a:off x="5760720" y="3776472"/>
            <a:ext cx="5577840" cy="603504"/>
          </a:xfrm>
          <a:prstGeom prst="rect">
            <a:avLst/>
          </a:prstGeom>
          <a:noFill/>
        </p:spPr>
        <p:txBody>
          <a:bodyPr wrap="square" lIns="0" tIns="0" rIns="0" bIns="0" anchor="ctr">
            <a:spAutoFit/>
          </a:bodyPr>
          <a:lstStyle/>
          <a:p>
            <a:pPr algn="l"/>
            <a:r>
              <a:rPr sz="1600" b="0">
                <a:solidFill>
                  <a:srgbClr val="514B43"/>
                </a:solidFill>
                <a:latin typeface="맑은 고딕"/>
              </a:rPr>
              <a:t>MCP 설정 파일 템플릿 — 넣는 위치와 API 키 발급처</a:t>
            </a:r>
          </a:p>
        </p:txBody>
      </p:sp>
      <p:sp>
        <p:nvSpPr>
          <p:cNvPr id="13" name="Rounded Rectangle 12"/>
          <p:cNvSpPr/>
          <p:nvPr/>
        </p:nvSpPr>
        <p:spPr>
          <a:xfrm>
            <a:off x="566928" y="4489704"/>
            <a:ext cx="11064240" cy="603504"/>
          </a:xfrm>
          <a:prstGeom prst="roundRect">
            <a:avLst>
              <a:gd name="adj" fmla="val 1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TextBox 13"/>
          <p:cNvSpPr txBox="1"/>
          <p:nvPr/>
        </p:nvSpPr>
        <p:spPr>
          <a:xfrm>
            <a:off x="877824" y="4489704"/>
            <a:ext cx="4663440" cy="603504"/>
          </a:xfrm>
          <a:prstGeom prst="rect">
            <a:avLst/>
          </a:prstGeom>
          <a:noFill/>
        </p:spPr>
        <p:txBody>
          <a:bodyPr wrap="square" lIns="0" tIns="0" rIns="0" bIns="0" anchor="ctr">
            <a:spAutoFit/>
          </a:bodyPr>
          <a:lstStyle/>
          <a:p>
            <a:pPr algn="l"/>
            <a:r>
              <a:rPr sz="1600" b="1">
                <a:solidFill>
                  <a:srgbClr val="24211D"/>
                </a:solidFill>
                <a:latin typeface="Consolas"/>
              </a:rPr>
              <a:t>개인설정_A · B · C .md</a:t>
            </a:r>
          </a:p>
        </p:txBody>
      </p:sp>
      <p:sp>
        <p:nvSpPr>
          <p:cNvPr id="15" name="TextBox 14"/>
          <p:cNvSpPr txBox="1"/>
          <p:nvPr/>
        </p:nvSpPr>
        <p:spPr>
          <a:xfrm>
            <a:off x="5760720" y="4489704"/>
            <a:ext cx="5577840" cy="603504"/>
          </a:xfrm>
          <a:prstGeom prst="rect">
            <a:avLst/>
          </a:prstGeom>
          <a:noFill/>
        </p:spPr>
        <p:txBody>
          <a:bodyPr wrap="square" lIns="0" tIns="0" rIns="0" bIns="0" anchor="ctr">
            <a:spAutoFit/>
          </a:bodyPr>
          <a:lstStyle/>
          <a:p>
            <a:pPr algn="l"/>
            <a:r>
              <a:rPr sz="1600" b="0">
                <a:solidFill>
                  <a:srgbClr val="514B43"/>
                </a:solidFill>
                <a:latin typeface="맑은 고딕"/>
              </a:rPr>
              <a:t>내 관심 분야에 맞는 개인 설정 템플릿</a:t>
            </a:r>
          </a:p>
        </p:txBody>
      </p:sp>
      <p:sp>
        <p:nvSpPr>
          <p:cNvPr id="16" name="Rounded Rectangle 15"/>
          <p:cNvSpPr/>
          <p:nvPr/>
        </p:nvSpPr>
        <p:spPr>
          <a:xfrm>
            <a:off x="566928" y="5285232"/>
            <a:ext cx="11064240" cy="77724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TextBox 16"/>
          <p:cNvSpPr txBox="1"/>
          <p:nvPr/>
        </p:nvSpPr>
        <p:spPr>
          <a:xfrm>
            <a:off x="914400" y="5285232"/>
            <a:ext cx="10424160" cy="777240"/>
          </a:xfrm>
          <a:prstGeom prst="rect">
            <a:avLst/>
          </a:prstGeom>
          <a:noFill/>
        </p:spPr>
        <p:txBody>
          <a:bodyPr wrap="square" lIns="0" tIns="0" rIns="0" bIns="0" anchor="ctr">
            <a:spAutoFit/>
          </a:bodyPr>
          <a:lstStyle/>
          <a:p>
            <a:pPr algn="l"/>
            <a:r>
              <a:rPr sz="1800" b="1">
                <a:solidFill>
                  <a:srgbClr val="FFFFFF"/>
                </a:solidFill>
                <a:latin typeface="맑은 고딕"/>
              </a:rPr>
              <a:t>명령어는 회색 상자 오른쪽 위 복사 버튼을 누르세요. 한 글자도 빠지지 않습니다.</a:t>
            </a:r>
          </a:p>
        </p:txBody>
      </p:sp>
      <p:sp>
        <p:nvSpPr>
          <p:cNvPr id="18" name="TextBox 17"/>
          <p:cNvSpPr txBox="1"/>
          <p:nvPr/>
        </p:nvSpPr>
        <p:spPr>
          <a:xfrm>
            <a:off x="566928" y="6272784"/>
            <a:ext cx="11064240" cy="310896"/>
          </a:xfrm>
          <a:prstGeom prst="rect">
            <a:avLst/>
          </a:prstGeom>
          <a:noFill/>
        </p:spPr>
        <p:txBody>
          <a:bodyPr wrap="square" lIns="0" tIns="0" rIns="0" bIns="0" anchor="t">
            <a:spAutoFit/>
          </a:bodyPr>
          <a:lstStyle/>
          <a:p>
            <a:pPr algn="l"/>
            <a:r>
              <a:rPr sz="1400" b="0">
                <a:solidFill>
                  <a:srgbClr val="514B43"/>
                </a:solidFill>
                <a:latin typeface="맑은 고딕"/>
              </a:rPr>
              <a:t>자료는 계속 갱신됩니다 · 화면과 버전 번호는 시점에 따라 다를 수 있습니다</a:t>
            </a:r>
          </a:p>
        </p:txBody>
      </p:sp>
      <p:sp>
        <p:nvSpPr>
          <p:cNvPr id="19" name="TextBox 18">
            <a:extLst>
              <a:ext uri="{FF2B5EF4-FFF2-40B4-BE49-F238E27FC236}">
                <a16:creationId xmlns:a16="http://schemas.microsoft.com/office/drawing/2014/main" id="{21F08A5F-1F77-12E6-D9DD-7CAA23C71355}"/>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03 · </a:t>
            </a:r>
            <a:r>
              <a:rPr lang="ko-KR" altLang="en-US" sz="1200">
                <a:solidFill>
                  <a:srgbClr val="A69C90"/>
                </a:solidFill>
                <a:latin typeface="맑은 고딕" panose="020B0503020000020004" pitchFamily="50" charset="-127"/>
                <a:ea typeface="맑은 고딕" panose="020B0503020000020004" pitchFamily="50" charset="-127"/>
              </a:rPr>
              <a:t>사전 준비 프로그램          </a:t>
            </a:r>
            <a:r>
              <a:rPr lang="en-US" altLang="ko-KR" sz="1200">
                <a:solidFill>
                  <a:srgbClr val="A69C90"/>
                </a:solidFill>
                <a:latin typeface="맑은 고딕" panose="020B0503020000020004" pitchFamily="50" charset="-127"/>
                <a:ea typeface="맑은 고딕" panose="020B0503020000020004" pitchFamily="50" charset="-127"/>
              </a:rPr>
              <a:t>25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4211D"/>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6643929-5B45-1C83-DF63-455C001C908F}"/>
              </a:ext>
            </a:extLst>
          </p:cNvPr>
          <p:cNvSpPr/>
          <p:nvPr/>
        </p:nvSpPr>
        <p:spPr>
          <a:xfrm>
            <a:off x="8128000" y="0"/>
            <a:ext cx="4064000" cy="6858000"/>
          </a:xfrm>
          <a:prstGeom prst="rect">
            <a:avLst/>
          </a:prstGeom>
          <a:solidFill>
            <a:srgbClr val="302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9BFD9DA7-8168-77CD-238D-692C992E2872}"/>
              </a:ext>
            </a:extLst>
          </p:cNvPr>
          <p:cNvSpPr txBox="1"/>
          <p:nvPr/>
        </p:nvSpPr>
        <p:spPr>
          <a:xfrm>
            <a:off x="8128000" y="1905000"/>
            <a:ext cx="4064000" cy="3016210"/>
          </a:xfrm>
          <a:prstGeom prst="rect">
            <a:avLst/>
          </a:prstGeom>
          <a:noFill/>
        </p:spPr>
        <p:txBody>
          <a:bodyPr vert="horz" rtlCol="0" anchor="ctr">
            <a:spAutoFit/>
          </a:bodyPr>
          <a:lstStyle/>
          <a:p>
            <a:pPr algn="ctr"/>
            <a:r>
              <a:rPr lang="en-US" altLang="ko-KR" sz="19000" b="1">
                <a:solidFill>
                  <a:srgbClr val="4A4239"/>
                </a:solidFill>
                <a:latin typeface="맑은 고딕" panose="020B0503020000020004" pitchFamily="50" charset="-127"/>
                <a:ea typeface="맑은 고딕" panose="020B0503020000020004" pitchFamily="50" charset="-127"/>
              </a:rPr>
              <a:t>04</a:t>
            </a:r>
            <a:endParaRPr lang="ko-KR" altLang="en-US" sz="19000" b="1">
              <a:solidFill>
                <a:srgbClr val="4A4239"/>
              </a:solidFill>
              <a:latin typeface="맑은 고딕" panose="020B0503020000020004" pitchFamily="50" charset="-127"/>
              <a:ea typeface="맑은 고딕" panose="020B0503020000020004" pitchFamily="50" charset="-127"/>
            </a:endParaRPr>
          </a:p>
        </p:txBody>
      </p:sp>
      <p:sp>
        <p:nvSpPr>
          <p:cNvPr id="4" name="TextBox 3">
            <a:extLst>
              <a:ext uri="{FF2B5EF4-FFF2-40B4-BE49-F238E27FC236}">
                <a16:creationId xmlns:a16="http://schemas.microsoft.com/office/drawing/2014/main" id="{378F55B2-574E-8C0B-7AAF-8BD32B5D1652}"/>
              </a:ext>
            </a:extLst>
          </p:cNvPr>
          <p:cNvSpPr txBox="1"/>
          <p:nvPr/>
        </p:nvSpPr>
        <p:spPr>
          <a:xfrm>
            <a:off x="863600" y="2235200"/>
            <a:ext cx="5842000" cy="353943"/>
          </a:xfrm>
          <a:prstGeom prst="rect">
            <a:avLst/>
          </a:prstGeom>
          <a:noFill/>
        </p:spPr>
        <p:txBody>
          <a:bodyPr vert="horz" rtlCol="0" anchor="ctr">
            <a:spAutoFit/>
          </a:bodyPr>
          <a:lstStyle/>
          <a:p>
            <a:r>
              <a:rPr lang="en-US" altLang="ko-KR" sz="1700" b="1">
                <a:solidFill>
                  <a:srgbClr val="D97757"/>
                </a:solidFill>
                <a:latin typeface="맑은 고딕" panose="020B0503020000020004" pitchFamily="50" charset="-127"/>
                <a:ea typeface="맑은 고딕" panose="020B0503020000020004" pitchFamily="50" charset="-127"/>
              </a:rPr>
              <a:t>SECTION 04</a:t>
            </a:r>
            <a:endParaRPr lang="ko-KR" altLang="en-US" sz="1700" b="1">
              <a:solidFill>
                <a:srgbClr val="D97757"/>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CE60D38-708F-0ACC-AD36-63E86B791A3D}"/>
              </a:ext>
            </a:extLst>
          </p:cNvPr>
          <p:cNvSpPr txBox="1"/>
          <p:nvPr/>
        </p:nvSpPr>
        <p:spPr>
          <a:xfrm>
            <a:off x="863600" y="2616200"/>
            <a:ext cx="6921500" cy="769441"/>
          </a:xfrm>
          <a:prstGeom prst="rect">
            <a:avLst/>
          </a:prstGeom>
          <a:noFill/>
        </p:spPr>
        <p:txBody>
          <a:bodyPr vert="horz" rtlCol="0" anchor="t">
            <a:spAutoFit/>
          </a:bodyPr>
          <a:lstStyle/>
          <a:p>
            <a:r>
              <a:rPr lang="ko-KR" altLang="en-US" sz="4400" b="1">
                <a:solidFill>
                  <a:srgbClr val="FFFFFF"/>
                </a:solidFill>
                <a:latin typeface="맑은 고딕" panose="020B0503020000020004" pitchFamily="50" charset="-127"/>
                <a:ea typeface="맑은 고딕" panose="020B0503020000020004" pitchFamily="50" charset="-127"/>
              </a:rPr>
              <a:t>회원가입과 커넥터</a:t>
            </a:r>
          </a:p>
        </p:txBody>
      </p:sp>
      <p:sp>
        <p:nvSpPr>
          <p:cNvPr id="6" name="직사각형 5">
            <a:extLst>
              <a:ext uri="{FF2B5EF4-FFF2-40B4-BE49-F238E27FC236}">
                <a16:creationId xmlns:a16="http://schemas.microsoft.com/office/drawing/2014/main" id="{DD183382-56CD-B055-AE31-221491A9C213}"/>
              </a:ext>
            </a:extLst>
          </p:cNvPr>
          <p:cNvSpPr/>
          <p:nvPr/>
        </p:nvSpPr>
        <p:spPr>
          <a:xfrm>
            <a:off x="914400" y="3810000"/>
            <a:ext cx="812800" cy="508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E9FED234-C09F-4AB0-73A7-A1079BC9CE1B}"/>
              </a:ext>
            </a:extLst>
          </p:cNvPr>
          <p:cNvSpPr txBox="1"/>
          <p:nvPr/>
        </p:nvSpPr>
        <p:spPr>
          <a:xfrm>
            <a:off x="863600" y="4114800"/>
            <a:ext cx="6921500" cy="1762021"/>
          </a:xfrm>
          <a:prstGeom prst="rect">
            <a:avLst/>
          </a:prstGeom>
          <a:noFill/>
        </p:spPr>
        <p:txBody>
          <a:bodyPr vert="horz" rtlCol="0" anchor="t">
            <a:spAutoFit/>
          </a:bodyPr>
          <a:lstStyle/>
          <a:p>
            <a:pPr>
              <a:spcAft>
                <a:spcPts val="300"/>
              </a:spcAft>
            </a:pPr>
            <a:r>
              <a:rPr lang="ko-KR" altLang="en-US" sz="1600">
                <a:solidFill>
                  <a:srgbClr val="C9C0B4"/>
                </a:solidFill>
                <a:latin typeface="맑은 고딕" panose="020B0503020000020004" pitchFamily="50" charset="-127"/>
                <a:ea typeface="맑은 고딕" panose="020B0503020000020004" pitchFamily="50" charset="-127"/>
              </a:rPr>
              <a:t>오늘 꼭 가입할 네 곳</a:t>
            </a:r>
          </a:p>
          <a:p>
            <a:pPr>
              <a:spcAft>
                <a:spcPts val="300"/>
              </a:spcAft>
            </a:pPr>
            <a:r>
              <a:rPr lang="ko-KR" altLang="en-US" sz="1600">
                <a:solidFill>
                  <a:srgbClr val="C9C0B4"/>
                </a:solidFill>
                <a:latin typeface="맑은 고딕" panose="020B0503020000020004" pitchFamily="50" charset="-127"/>
                <a:ea typeface="맑은 고딕" panose="020B0503020000020004" pitchFamily="50" charset="-127"/>
              </a:rPr>
              <a:t>관심 분야에 따라 하나씩 더</a:t>
            </a:r>
          </a:p>
          <a:p>
            <a:pPr>
              <a:spcAft>
                <a:spcPts val="300"/>
              </a:spcAft>
            </a:pPr>
            <a:r>
              <a:rPr lang="ko-KR" altLang="en-US" sz="1600">
                <a:solidFill>
                  <a:srgbClr val="C9C0B4"/>
                </a:solidFill>
                <a:latin typeface="맑은 고딕" panose="020B0503020000020004" pitchFamily="50" charset="-127"/>
                <a:ea typeface="맑은 고딕" panose="020B0503020000020004" pitchFamily="50" charset="-127"/>
              </a:rPr>
              <a:t>커넥터 </a:t>
            </a:r>
            <a:r>
              <a:rPr lang="en-US" altLang="ko-KR" sz="1600">
                <a:solidFill>
                  <a:srgbClr val="C9C0B4"/>
                </a:solidFill>
                <a:latin typeface="맑은 고딕" panose="020B0503020000020004" pitchFamily="50" charset="-127"/>
                <a:ea typeface="맑은 고딕" panose="020B0503020000020004" pitchFamily="50" charset="-127"/>
              </a:rPr>
              <a:t>— </a:t>
            </a:r>
            <a:r>
              <a:rPr lang="ko-KR" altLang="en-US" sz="1600">
                <a:solidFill>
                  <a:srgbClr val="C9C0B4"/>
                </a:solidFill>
                <a:latin typeface="맑은 고딕" panose="020B0503020000020004" pitchFamily="50" charset="-127"/>
                <a:ea typeface="맑은 고딕" panose="020B0503020000020004" pitchFamily="50" charset="-127"/>
              </a:rPr>
              <a:t>쓰던 서비스를 </a:t>
            </a:r>
            <a:r>
              <a:rPr lang="en-US" altLang="ko-KR" sz="1600">
                <a:solidFill>
                  <a:srgbClr val="C9C0B4"/>
                </a:solidFill>
                <a:latin typeface="맑은 고딕" panose="020B0503020000020004" pitchFamily="50" charset="-127"/>
                <a:ea typeface="맑은 고딕" panose="020B0503020000020004" pitchFamily="50" charset="-127"/>
              </a:rPr>
              <a:t>Claude </a:t>
            </a:r>
            <a:r>
              <a:rPr lang="ko-KR" altLang="en-US" sz="1600">
                <a:solidFill>
                  <a:srgbClr val="C9C0B4"/>
                </a:solidFill>
                <a:latin typeface="맑은 고딕" panose="020B0503020000020004" pitchFamily="50" charset="-127"/>
                <a:ea typeface="맑은 고딕" panose="020B0503020000020004" pitchFamily="50" charset="-127"/>
              </a:rPr>
              <a:t>에 붙입니다</a:t>
            </a:r>
          </a:p>
          <a:p>
            <a:pPr>
              <a:spcAft>
                <a:spcPts val="300"/>
              </a:spcAft>
            </a:pPr>
            <a:r>
              <a:rPr lang="ko-KR" altLang="en-US" sz="1600">
                <a:solidFill>
                  <a:srgbClr val="C9C0B4"/>
                </a:solidFill>
                <a:latin typeface="맑은 고딕" panose="020B0503020000020004" pitchFamily="50" charset="-127"/>
                <a:ea typeface="맑은 고딕" panose="020B0503020000020004" pitchFamily="50" charset="-127"/>
              </a:rPr>
              <a:t>커넥터와 </a:t>
            </a:r>
            <a:r>
              <a:rPr lang="en-US" altLang="ko-KR" sz="1600">
                <a:solidFill>
                  <a:srgbClr val="C9C0B4"/>
                </a:solidFill>
                <a:latin typeface="맑은 고딕" panose="020B0503020000020004" pitchFamily="50" charset="-127"/>
                <a:ea typeface="맑은 고딕" panose="020B0503020000020004" pitchFamily="50" charset="-127"/>
              </a:rPr>
              <a:t>MCP, </a:t>
            </a:r>
            <a:r>
              <a:rPr lang="ko-KR" altLang="en-US" sz="1600">
                <a:solidFill>
                  <a:srgbClr val="C9C0B4"/>
                </a:solidFill>
                <a:latin typeface="맑은 고딕" panose="020B0503020000020004" pitchFamily="50" charset="-127"/>
                <a:ea typeface="맑은 고딕" panose="020B0503020000020004" pitchFamily="50" charset="-127"/>
              </a:rPr>
              <a:t>무엇이 다른가</a:t>
            </a:r>
          </a:p>
          <a:p>
            <a:pPr>
              <a:spcAft>
                <a:spcPts val="300"/>
              </a:spcAft>
            </a:pPr>
            <a:r>
              <a:rPr lang="ko-KR" altLang="en-US" sz="1600">
                <a:solidFill>
                  <a:srgbClr val="C9C0B4"/>
                </a:solidFill>
                <a:latin typeface="맑은 고딕" panose="020B0503020000020004" pitchFamily="50" charset="-127"/>
                <a:ea typeface="맑은 고딕" panose="020B0503020000020004" pitchFamily="50" charset="-127"/>
              </a:rPr>
              <a:t>대화창에 절대 넣으면 안 되는 것</a:t>
            </a:r>
          </a:p>
          <a:p>
            <a:pPr>
              <a:spcAft>
                <a:spcPts val="300"/>
              </a:spcAft>
            </a:pPr>
            <a:r>
              <a:rPr lang="ko-KR" altLang="en-US" sz="1600">
                <a:solidFill>
                  <a:srgbClr val="C9C0B4"/>
                </a:solidFill>
                <a:latin typeface="맑은 고딕" panose="020B0503020000020004" pitchFamily="50" charset="-127"/>
                <a:ea typeface="맑은 고딕" panose="020B0503020000020004" pitchFamily="50" charset="-127"/>
              </a:rPr>
              <a:t>지침을 어디에 쓰면 어디에 적용되나</a:t>
            </a:r>
          </a:p>
        </p:txBody>
      </p:sp>
      <p:sp>
        <p:nvSpPr>
          <p:cNvPr id="8" name="TextBox 7">
            <a:extLst>
              <a:ext uri="{FF2B5EF4-FFF2-40B4-BE49-F238E27FC236}">
                <a16:creationId xmlns:a16="http://schemas.microsoft.com/office/drawing/2014/main" id="{C0002559-B967-2887-69BE-F3A1DD341FD3}"/>
              </a:ext>
            </a:extLst>
          </p:cNvPr>
          <p:cNvSpPr txBox="1"/>
          <p:nvPr/>
        </p:nvSpPr>
        <p:spPr>
          <a:xfrm>
            <a:off x="863600" y="6172200"/>
            <a:ext cx="5842000" cy="292388"/>
          </a:xfrm>
          <a:prstGeom prst="rect">
            <a:avLst/>
          </a:prstGeom>
          <a:noFill/>
        </p:spPr>
        <p:txBody>
          <a:bodyPr vert="horz" rtlCol="0" anchor="ctr">
            <a:spAutoFit/>
          </a:bodyPr>
          <a:lstStyle/>
          <a:p>
            <a:r>
              <a:rPr lang="en-US" altLang="ko-KR" sz="1300">
                <a:solidFill>
                  <a:srgbClr val="726859"/>
                </a:solidFill>
                <a:latin typeface="맑은 고딕" panose="020B0503020000020004" pitchFamily="50" charset="-127"/>
                <a:ea typeface="맑은 고딕" panose="020B0503020000020004" pitchFamily="50" charset="-127"/>
              </a:rPr>
              <a:t>Claude 데스크탑 시작하기</a:t>
            </a:r>
          </a:p>
        </p:txBody>
      </p:sp>
      <p:pic>
        <p:nvPicPr>
          <p:cNvPr id="10" name="그래픽 9">
            <a:extLst>
              <a:ext uri="{FF2B5EF4-FFF2-40B4-BE49-F238E27FC236}">
                <a16:creationId xmlns:a16="http://schemas.microsoft.com/office/drawing/2014/main" id="{1B1E6763-0323-8EBC-EAA4-D290ED5277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600" y="889000"/>
            <a:ext cx="812800" cy="812800"/>
          </a:xfrm>
          <a:prstGeom prst="rect">
            <a:avLst/>
          </a:prstGeom>
        </p:spPr>
      </p:pic>
    </p:spTree>
    <p:extLst>
      <p:ext uri="{BB962C8B-B14F-4D97-AF65-F5344CB8AC3E}">
        <p14:creationId xmlns:p14="http://schemas.microsoft.com/office/powerpoint/2010/main" val="1047616173"/>
      </p:ext>
    </p:extLst>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회원가입도 미리 해두세요</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가입은 지금, 데이터 키 신청은 나중에 함께</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752600"/>
          <a:ext cx="11064240" cy="3218688"/>
        </p:xfrm>
        <a:graphic>
          <a:graphicData uri="http://schemas.openxmlformats.org/drawingml/2006/table">
            <a:tbl>
              <a:tblPr/>
              <a:tblGrid>
                <a:gridCol w="2377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02336">
                <a:tc>
                  <a:txBody>
                    <a:bodyPr/>
                    <a:lstStyle/>
                    <a:p>
                      <a:pPr marL="0" indent="0" algn="l">
                        <a:buNone/>
                      </a:pPr>
                      <a:r>
                        <a:rPr lang="en-US" sz="1450" b="1" dirty="0">
                          <a:solidFill>
                            <a:srgbClr val="FFFFFF"/>
                          </a:solidFill>
                          <a:latin typeface="맑은 고딕" pitchFamily="34" charset="0"/>
                          <a:ea typeface="맑은 고딕" pitchFamily="34" charset="-122"/>
                          <a:cs typeface="맑은 고딕" pitchFamily="34" charset="-120"/>
                        </a:rPr>
                        <a:t>계정</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l">
                        <a:buNone/>
                      </a:pPr>
                      <a:r>
                        <a:rPr lang="en-US" sz="1450" b="1" dirty="0">
                          <a:solidFill>
                            <a:srgbClr val="FFFFFF"/>
                          </a:solidFill>
                          <a:latin typeface="맑은 고딕" pitchFamily="34" charset="0"/>
                          <a:ea typeface="맑은 고딕" pitchFamily="34" charset="-122"/>
                          <a:cs typeface="맑은 고딕" pitchFamily="34" charset="-120"/>
                        </a:rPr>
                        <a:t>왜 필요한가</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l">
                        <a:buNone/>
                      </a:pPr>
                      <a:r>
                        <a:rPr lang="en-US" sz="1450" b="1" dirty="0">
                          <a:solidFill>
                            <a:srgbClr val="FFFFFF"/>
                          </a:solidFill>
                          <a:latin typeface="맑은 고딕" pitchFamily="34" charset="0"/>
                          <a:ea typeface="맑은 고딕" pitchFamily="34" charset="-122"/>
                          <a:cs typeface="맑은 고딕" pitchFamily="34" charset="-120"/>
                        </a:rPr>
                        <a:t>사이트</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tc>
                  <a:txBody>
                    <a:bodyPr/>
                    <a:lstStyle/>
                    <a:p>
                      <a:pPr marL="0" indent="0" algn="ctr">
                        <a:buNone/>
                      </a:pPr>
                      <a:r>
                        <a:rPr lang="en-US" sz="1450" b="1" dirty="0">
                          <a:solidFill>
                            <a:srgbClr val="FFFFFF"/>
                          </a:solidFill>
                          <a:latin typeface="맑은 고딕" pitchFamily="34" charset="0"/>
                          <a:ea typeface="맑은 고딕" pitchFamily="34" charset="-122"/>
                          <a:cs typeface="맑은 고딕" pitchFamily="34" charset="-120"/>
                        </a:rPr>
                        <a:t>비용</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24211D"/>
                    </a:solidFill>
                  </a:tcPr>
                </a:tc>
                <a:extLst>
                  <a:ext uri="{0D108BD9-81ED-4DB2-BD59-A6C34878D82A}">
                    <a16:rowId xmlns:a16="http://schemas.microsoft.com/office/drawing/2014/main" val="10000"/>
                  </a:ext>
                </a:extLst>
              </a:tr>
              <a:tr h="402336">
                <a:tc>
                  <a:txBody>
                    <a:bodyPr/>
                    <a:lstStyle/>
                    <a:p>
                      <a:pPr marL="0" indent="0" algn="l">
                        <a:buNone/>
                      </a:pPr>
                      <a:r>
                        <a:rPr lang="en-US" sz="1450" b="1" dirty="0">
                          <a:solidFill>
                            <a:srgbClr val="24211D"/>
                          </a:solidFill>
                          <a:latin typeface="맑은 고딕" pitchFamily="34" charset="0"/>
                          <a:ea typeface="맑은 고딕" pitchFamily="34" charset="-122"/>
                          <a:cs typeface="맑은 고딕" pitchFamily="34" charset="-120"/>
                        </a:rPr>
                        <a:t>Claude</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오늘 이미 만들었습니다</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claude.ai</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4211D"/>
                          </a:solidFill>
                          <a:latin typeface="맑은 고딕" pitchFamily="34" charset="0"/>
                          <a:ea typeface="맑은 고딕" pitchFamily="34" charset="-122"/>
                          <a:cs typeface="맑은 고딕" pitchFamily="34" charset="-120"/>
                        </a:rPr>
                        <a:t>무료~</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450" b="1" dirty="0">
                          <a:solidFill>
                            <a:srgbClr val="24211D"/>
                          </a:solidFill>
                          <a:latin typeface="맑은 고딕" pitchFamily="34" charset="0"/>
                          <a:ea typeface="맑은 고딕" pitchFamily="34" charset="-122"/>
                          <a:cs typeface="맑은 고딕" pitchFamily="34" charset="-120"/>
                        </a:rPr>
                        <a:t>구글</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로그인·문서·메일에 두루 씁니다</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accounts.google.com</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4211D"/>
                          </a:solidFill>
                          <a:latin typeface="맑은 고딕" pitchFamily="34" charset="0"/>
                          <a:ea typeface="맑은 고딕" pitchFamily="34" charset="-122"/>
                          <a:cs typeface="맑은 고딕" pitchFamily="34" charset="-120"/>
                        </a:rPr>
                        <a:t>무료</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450" b="1" dirty="0">
                          <a:solidFill>
                            <a:srgbClr val="A8462A"/>
                          </a:solidFill>
                          <a:latin typeface="맑은 고딕" pitchFamily="34" charset="0"/>
                          <a:ea typeface="맑은 고딕" pitchFamily="34" charset="-122"/>
                          <a:cs typeface="맑은 고딕" pitchFamily="34" charset="-120"/>
                        </a:rPr>
                        <a:t>★ GitHub</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b="1" dirty="0">
                          <a:solidFill>
                            <a:srgbClr val="24211D"/>
                          </a:solidFill>
                          <a:latin typeface="맑은 고딕" pitchFamily="34" charset="0"/>
                          <a:ea typeface="맑은 고딕" pitchFamily="34" charset="-122"/>
                          <a:cs typeface="맑은 고딕" pitchFamily="34" charset="-120"/>
                        </a:rPr>
                        <a:t>연결 도구를 내려받는 곳. 토큰 발급에도 필요</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github.com</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4211D"/>
                          </a:solidFill>
                          <a:latin typeface="맑은 고딕" pitchFamily="34" charset="0"/>
                          <a:ea typeface="맑은 고딕" pitchFamily="34" charset="-122"/>
                          <a:cs typeface="맑은 고딕" pitchFamily="34" charset="-120"/>
                        </a:rPr>
                        <a:t>무료</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450" b="1" dirty="0">
                          <a:solidFill>
                            <a:srgbClr val="A8462A"/>
                          </a:solidFill>
                          <a:latin typeface="맑은 고딕" pitchFamily="34" charset="0"/>
                          <a:ea typeface="맑은 고딕" pitchFamily="34" charset="-122"/>
                          <a:cs typeface="맑은 고딕" pitchFamily="34" charset="-120"/>
                        </a:rPr>
                        <a:t>★ 공공데이터포털</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b="1" dirty="0">
                          <a:solidFill>
                            <a:srgbClr val="24211D"/>
                          </a:solidFill>
                          <a:latin typeface="맑은 고딕" pitchFamily="34" charset="0"/>
                          <a:ea typeface="맑은 고딕" pitchFamily="34" charset="-122"/>
                          <a:cs typeface="맑은 고딕" pitchFamily="34" charset="-120"/>
                        </a:rPr>
                        <a:t>부동산 실거래가·공매·기업정보의 출처</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data.go.kr</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4211D"/>
                          </a:solidFill>
                          <a:latin typeface="맑은 고딕" pitchFamily="34" charset="0"/>
                          <a:ea typeface="맑은 고딕" pitchFamily="34" charset="-122"/>
                          <a:cs typeface="맑은 고딕" pitchFamily="34" charset="-120"/>
                        </a:rPr>
                        <a:t>무료</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450" b="1" dirty="0">
                          <a:solidFill>
                            <a:srgbClr val="A8462A"/>
                          </a:solidFill>
                          <a:latin typeface="맑은 고딕" pitchFamily="34" charset="0"/>
                          <a:ea typeface="맑은 고딕" pitchFamily="34" charset="-122"/>
                          <a:cs typeface="맑은 고딕" pitchFamily="34" charset="-120"/>
                        </a:rPr>
                        <a:t>★ Firecrawl</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b="1" dirty="0">
                          <a:solidFill>
                            <a:srgbClr val="24211D"/>
                          </a:solidFill>
                          <a:latin typeface="맑은 고딕" pitchFamily="34" charset="0"/>
                          <a:ea typeface="맑은 고딕" pitchFamily="34" charset="-122"/>
                          <a:cs typeface="맑은 고딕" pitchFamily="34" charset="-120"/>
                        </a:rPr>
                        <a:t>봇을 막는 웹사이트에서 자료를 가져옵니다</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firecrawl.dev</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4211D"/>
                          </a:solidFill>
                          <a:latin typeface="맑은 고딕" pitchFamily="34" charset="0"/>
                          <a:ea typeface="맑은 고딕" pitchFamily="34" charset="-122"/>
                          <a:cs typeface="맑은 고딕" pitchFamily="34" charset="-120"/>
                        </a:rPr>
                        <a:t>무료~</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450" b="1" dirty="0">
                          <a:solidFill>
                            <a:srgbClr val="A8462A"/>
                          </a:solidFill>
                          <a:latin typeface="맑은 고딕" pitchFamily="34" charset="0"/>
                          <a:ea typeface="맑은 고딕" pitchFamily="34" charset="-122"/>
                          <a:cs typeface="맑은 고딕" pitchFamily="34" charset="-120"/>
                        </a:rPr>
                        <a:t>★ 한국투자증권</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b="1" dirty="0">
                          <a:solidFill>
                            <a:srgbClr val="24211D"/>
                          </a:solidFill>
                          <a:latin typeface="맑은 고딕" pitchFamily="34" charset="0"/>
                          <a:ea typeface="맑은 고딕" pitchFamily="34" charset="-122"/>
                          <a:cs typeface="맑은 고딕" pitchFamily="34" charset="-120"/>
                        </a:rPr>
                        <a:t>주식 시세·잔고를 Claude 가 직접 조회합니다</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24211D"/>
                          </a:solidFill>
                          <a:latin typeface="맑은 고딕" pitchFamily="34" charset="0"/>
                          <a:ea typeface="맑은 고딕" pitchFamily="34" charset="-122"/>
                          <a:cs typeface="맑은 고딕" pitchFamily="34" charset="-120"/>
                        </a:rPr>
                        <a:t>apiportal.koreainvestment.com</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4211D"/>
                          </a:solidFill>
                          <a:latin typeface="맑은 고딕" pitchFamily="34" charset="0"/>
                          <a:ea typeface="맑은 고딕" pitchFamily="34" charset="-122"/>
                          <a:cs typeface="맑은 고딕" pitchFamily="34" charset="-120"/>
                        </a:rPr>
                        <a:t>무료</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2149627341"/>
                  </a:ext>
                </a:extLst>
              </a:tr>
              <a:tr h="402336">
                <a:tc>
                  <a:txBody>
                    <a:bodyPr/>
                    <a:lstStyle/>
                    <a:p>
                      <a:pPr marL="0" indent="0" algn="l">
                        <a:buNone/>
                      </a:pPr>
                      <a:r>
                        <a:rPr sz="1450" b="1">
                          <a:solidFill>
                            <a:srgbClr val="A8462A"/>
                          </a:solidFill>
                          <a:latin typeface="맑은 고딕"/>
                          <a:ea typeface="맑은 고딕"/>
                          <a:cs typeface="맑은 고딕"/>
                        </a:rPr>
                        <a:t>★ 카카오</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sz="1450" b="1">
                          <a:solidFill>
                            <a:srgbClr val="24211D"/>
                          </a:solidFill>
                          <a:latin typeface="맑은 고딕"/>
                          <a:ea typeface="맑은 고딕"/>
                          <a:cs typeface="맑은 고딕"/>
                        </a:rPr>
                        <a:t>PlayMCP 도구함을 쓰려면 필요합니다</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sz="1450">
                          <a:solidFill>
                            <a:srgbClr val="24211D"/>
                          </a:solidFill>
                          <a:latin typeface="맑은 고딕"/>
                          <a:ea typeface="맑은 고딕"/>
                          <a:cs typeface="맑은 고딕"/>
                        </a:rPr>
                        <a:t>playmcp.kakao.com</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sz="1450">
                          <a:solidFill>
                            <a:srgbClr val="24211D"/>
                          </a:solidFill>
                          <a:latin typeface="맑은 고딕"/>
                          <a:ea typeface="맑은 고딕"/>
                          <a:cs typeface="맑은 고딕"/>
                        </a:rPr>
                        <a:t>무료</a:t>
                      </a:r>
                      <a:endParaRPr lang="en-US" sz="1300" dirty="0">
                        <a:latin typeface="맑은 고딕" charset="0"/>
                        <a:ea typeface="맑은 고딕" charset="0"/>
                        <a:cs typeface="맑은 고딕" charset="0"/>
                      </a:endParaRPr>
                    </a:p>
                  </a:txBody>
                  <a:tcPr marL="127000" marR="127000" marT="36576" marB="36576" anchor="ctr">
                    <a:lnL w="9525" cap="flat" cmpd="sng" algn="ctr">
                      <a:solidFill>
                        <a:srgbClr val="DCD4C9"/>
                      </a:solidFill>
                      <a:prstDash val="solid"/>
                      <a:round/>
                      <a:headEnd type="none" w="med" len="med"/>
                      <a:tailEnd type="none" w="med" len="med"/>
                    </a:lnL>
                    <a:lnR w="9525" cap="flat" cmpd="sng" algn="ctr">
                      <a:solidFill>
                        <a:srgbClr val="DCD4C9"/>
                      </a:solidFill>
                      <a:prstDash val="solid"/>
                      <a:round/>
                      <a:headEnd type="none" w="med" len="med"/>
                      <a:tailEnd type="none" w="med" len="med"/>
                    </a:lnR>
                    <a:lnT w="9525" cap="flat" cmpd="sng" algn="ctr">
                      <a:solidFill>
                        <a:srgbClr val="DCD4C9"/>
                      </a:solidFill>
                      <a:prstDash val="solid"/>
                      <a:round/>
                      <a:headEnd type="none" w="med" len="med"/>
                      <a:tailEnd type="none" w="med" len="med"/>
                    </a:lnT>
                    <a:lnB w="9525"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3375505355"/>
                  </a:ext>
                </a:extLst>
              </a:tr>
            </a:tbl>
          </a:graphicData>
        </a:graphic>
      </p:graphicFrame>
      <p:sp>
        <p:nvSpPr>
          <p:cNvPr id="5" name="Shape 2"/>
          <p:cNvSpPr/>
          <p:nvPr/>
        </p:nvSpPr>
        <p:spPr>
          <a:xfrm>
            <a:off x="566928" y="5080000"/>
            <a:ext cx="11064240" cy="1016000"/>
          </a:xfrm>
          <a:prstGeom prst="roundRect">
            <a:avLst>
              <a:gd name="adj" fmla="val 4615"/>
            </a:avLst>
          </a:prstGeom>
          <a:solidFill>
            <a:srgbClr val="24211D"/>
          </a:solidFill>
          <a:ln w="12700">
            <a:solidFill>
              <a:srgbClr val="24211D"/>
            </a:solidFill>
            <a:prstDash val="solid"/>
          </a:ln>
        </p:spPr>
        <p:txBody>
          <a:bodyPr/>
          <a:lstStyle/>
          <a:p>
            <a:endParaRPr/>
          </a:p>
        </p:txBody>
      </p:sp>
      <p:sp>
        <p:nvSpPr>
          <p:cNvPr id="6" name="Text 3"/>
          <p:cNvSpPr/>
          <p:nvPr/>
        </p:nvSpPr>
        <p:spPr>
          <a:xfrm>
            <a:off x="914400" y="5207000"/>
            <a:ext cx="10424160" cy="365760"/>
          </a:xfrm>
          <a:prstGeom prst="rect">
            <a:avLst/>
          </a:prstGeom>
          <a:noFill/>
          <a:ln/>
        </p:spPr>
        <p:txBody>
          <a:bodyPr wrap="square" lIns="0" tIns="0" rIns="0" bIns="0" rtlCol="0" anchor="ctr"/>
          <a:lstStyle/>
          <a:p>
            <a:pPr marL="0" indent="0">
              <a:buNone/>
            </a:pPr>
            <a:r>
              <a:rPr sz="1800" b="1">
                <a:solidFill>
                  <a:srgbClr val="D97757"/>
                </a:solidFill>
                <a:latin typeface="맑은 고딕"/>
                <a:ea typeface="맑은 고딕"/>
                <a:cs typeface="맑은 고딕"/>
              </a:rPr>
              <a:t>★ 표시된 다섯 곳은 오늘 꼭 가입하고 오세요</a:t>
            </a:r>
            <a:endParaRPr lang="en-US" sz="1500" dirty="0"/>
          </a:p>
        </p:txBody>
      </p:sp>
      <p:sp>
        <p:nvSpPr>
          <p:cNvPr id="7" name="Text 4"/>
          <p:cNvSpPr/>
          <p:nvPr/>
        </p:nvSpPr>
        <p:spPr>
          <a:xfrm>
            <a:off x="914400" y="5588000"/>
            <a:ext cx="10424160" cy="508000"/>
          </a:xfrm>
          <a:prstGeom prst="rect">
            <a:avLst/>
          </a:prstGeom>
          <a:noFill/>
          <a:ln/>
        </p:spPr>
        <p:txBody>
          <a:bodyPr wrap="square" lIns="0" tIns="0" rIns="0" bIns="0" rtlCol="0" anchor="t"/>
          <a:lstStyle/>
          <a:p>
            <a:pPr marL="0" indent="0">
              <a:lnSpc>
                <a:spcPts val="2200"/>
              </a:lnSpc>
              <a:buNone/>
            </a:pPr>
            <a:r>
              <a:rPr sz="1600">
                <a:solidFill>
                  <a:srgbClr val="F6F1EA"/>
                </a:solidFill>
                <a:latin typeface="맑은 고딕"/>
                <a:ea typeface="맑은 고딕"/>
                <a:cs typeface="맑은 고딕"/>
              </a:rPr>
              <a:t>가입까지만 하시면 됩니다. 카카오는 PlayMCP 로그인에 씁니다.</a:t>
            </a:r>
            <a:endParaRPr lang="en-US" sz="1400" dirty="0"/>
          </a:p>
          <a:p>
            <a:r>
              <a:rPr sz="1600">
                <a:solidFill>
                  <a:srgbClr val="F6F1EA"/>
                </a:solidFill>
                <a:latin typeface="맑은 고딕"/>
                <a:ea typeface="맑은 고딕"/>
                <a:cs typeface="맑은 고딕"/>
              </a:rPr>
              <a:t>키를 어디에 넣을지는 MCP 붙일 때 함께 정합니다.</a:t>
            </a:r>
          </a:p>
        </p:txBody>
      </p:sp>
      <p:sp>
        <p:nvSpPr>
          <p:cNvPr id="8" name="Text 5"/>
          <p:cNvSpPr/>
          <p:nvPr/>
        </p:nvSpPr>
        <p:spPr>
          <a:xfrm>
            <a:off x="566928" y="6272784"/>
            <a:ext cx="11064240" cy="310896"/>
          </a:xfrm>
          <a:prstGeom prst="rect">
            <a:avLst/>
          </a:prstGeom>
          <a:noFill/>
          <a:ln/>
        </p:spPr>
        <p:txBody>
          <a:bodyPr wrap="square" lIns="0" tIns="0" rIns="0" bIns="0" rtlCol="0" anchor="ctr"/>
          <a:lstStyle/>
          <a:p>
            <a:pPr marL="0" indent="0">
              <a:buNone/>
            </a:pPr>
            <a:r>
              <a:rPr lang="en-US" sz="1300" i="1" dirty="0">
                <a:solidFill>
                  <a:srgbClr val="514B43"/>
                </a:solidFill>
                <a:latin typeface="맑은 고딕" pitchFamily="34" charset="0"/>
                <a:ea typeface="맑은 고딕" pitchFamily="34" charset="-122"/>
                <a:cs typeface="맑은 고딕" pitchFamily="34" charset="-120"/>
              </a:rPr>
              <a:t>가입이 아예 필요 없는 것도 많습니다 (유튜브 자막·웹 브라우저 자동화·문서 변환 등) · 출처: data.go.kr · firecrawl.dev · apiportal.koreainvestment.com (2026-08-07 확인)</a:t>
            </a:r>
            <a:endParaRPr lang="en-US" sz="1000" dirty="0"/>
          </a:p>
        </p:txBody>
      </p:sp>
      <p:sp>
        <p:nvSpPr>
          <p:cNvPr id="4" name="TextBox 3">
            <a:extLst>
              <a:ext uri="{FF2B5EF4-FFF2-40B4-BE49-F238E27FC236}">
                <a16:creationId xmlns:a16="http://schemas.microsoft.com/office/drawing/2014/main" id="{27D7D7B9-6862-2699-8B5E-CAE3CD26E201}"/>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04 · </a:t>
            </a:r>
            <a:r>
              <a:rPr lang="ko-KR" altLang="en-US" sz="1200">
                <a:solidFill>
                  <a:srgbClr val="A69C90"/>
                </a:solidFill>
                <a:latin typeface="맑은 고딕" panose="020B0503020000020004" pitchFamily="50" charset="-127"/>
                <a:ea typeface="맑은 고딕" panose="020B0503020000020004" pitchFamily="50" charset="-127"/>
              </a:rPr>
              <a:t>회원가입과 커넥터          </a:t>
            </a:r>
            <a:r>
              <a:rPr lang="en-US" altLang="ko-KR" sz="1200">
                <a:solidFill>
                  <a:srgbClr val="A69C90"/>
                </a:solidFill>
                <a:latin typeface="맑은 고딕" panose="020B0503020000020004" pitchFamily="50" charset="-127"/>
                <a:ea typeface="맑은 고딕" panose="020B0503020000020004" pitchFamily="50" charset="-127"/>
              </a:rPr>
              <a:t>27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관심 분야에 따라 하나씩만 더</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본인 트랙에 해당하는 것만 하시면 됩니다. 둘 다면 둘 다</a:t>
            </a:r>
            <a:endParaRPr lang="en-US" sz="1500" dirty="0"/>
          </a:p>
        </p:txBody>
      </p:sp>
      <p:sp>
        <p:nvSpPr>
          <p:cNvPr id="4" name="Shape 2"/>
          <p:cNvSpPr/>
          <p:nvPr/>
        </p:nvSpPr>
        <p:spPr>
          <a:xfrm>
            <a:off x="566928" y="1874520"/>
            <a:ext cx="5394960" cy="3108960"/>
          </a:xfrm>
          <a:prstGeom prst="roundRect">
            <a:avLst>
              <a:gd name="adj" fmla="val 1765"/>
            </a:avLst>
          </a:prstGeom>
          <a:solidFill>
            <a:srgbClr val="24211D"/>
          </a:solidFill>
          <a:ln w="12700">
            <a:solidFill>
              <a:srgbClr val="24211D"/>
            </a:solidFill>
            <a:prstDash val="solid"/>
          </a:ln>
        </p:spPr>
        <p:txBody>
          <a:bodyPr/>
          <a:lstStyle/>
          <a:p>
            <a:endParaRPr/>
          </a:p>
        </p:txBody>
      </p:sp>
      <p:sp>
        <p:nvSpPr>
          <p:cNvPr id="5" name="Text 3"/>
          <p:cNvSpPr/>
          <p:nvPr/>
        </p:nvSpPr>
        <p:spPr>
          <a:xfrm>
            <a:off x="914400" y="2103120"/>
            <a:ext cx="4663440" cy="411480"/>
          </a:xfrm>
          <a:prstGeom prst="rect">
            <a:avLst/>
          </a:prstGeom>
          <a:noFill/>
          <a:ln/>
        </p:spPr>
        <p:txBody>
          <a:bodyPr wrap="square" lIns="0" tIns="0" rIns="0" bIns="0" rtlCol="0" anchor="ctr"/>
          <a:lstStyle/>
          <a:p>
            <a:pPr marL="0" indent="0">
              <a:buNone/>
            </a:pPr>
            <a:r>
              <a:rPr lang="en-US" sz="1800" b="1" kern="0" spc="200" dirty="0">
                <a:solidFill>
                  <a:srgbClr val="D97757"/>
                </a:solidFill>
                <a:latin typeface="맑은 고딕" pitchFamily="34" charset="0"/>
                <a:ea typeface="맑은 고딕" pitchFamily="34" charset="-122"/>
                <a:cs typeface="맑은 고딕" pitchFamily="34" charset="-120"/>
              </a:rPr>
              <a:t>주식</a:t>
            </a:r>
            <a:endParaRPr lang="en-US" sz="1500" dirty="0"/>
          </a:p>
        </p:txBody>
      </p:sp>
      <p:sp>
        <p:nvSpPr>
          <p:cNvPr id="6" name="Text 4"/>
          <p:cNvSpPr/>
          <p:nvPr/>
        </p:nvSpPr>
        <p:spPr>
          <a:xfrm>
            <a:off x="914400" y="2514600"/>
            <a:ext cx="4663440" cy="502920"/>
          </a:xfrm>
          <a:prstGeom prst="rect">
            <a:avLst/>
          </a:prstGeom>
          <a:noFill/>
          <a:ln/>
        </p:spPr>
        <p:txBody>
          <a:bodyPr wrap="square" lIns="0" tIns="0" rIns="0" bIns="0" rtlCol="0" anchor="ctr"/>
          <a:lstStyle/>
          <a:p>
            <a:pPr marL="0" indent="0">
              <a:buNone/>
            </a:pPr>
            <a:r>
              <a:rPr lang="en-US" sz="2650" b="1" dirty="0">
                <a:solidFill>
                  <a:srgbClr val="FFFFFF"/>
                </a:solidFill>
                <a:latin typeface="맑은 고딕" pitchFamily="34" charset="0"/>
                <a:ea typeface="맑은 고딕" pitchFamily="34" charset="-122"/>
                <a:cs typeface="맑은 고딕" pitchFamily="34" charset="-120"/>
              </a:rPr>
              <a:t>OpenDART</a:t>
            </a:r>
            <a:endParaRPr lang="en-US" sz="2600" dirty="0"/>
          </a:p>
        </p:txBody>
      </p:sp>
      <p:sp>
        <p:nvSpPr>
          <p:cNvPr id="7" name="Text 5"/>
          <p:cNvSpPr/>
          <p:nvPr/>
        </p:nvSpPr>
        <p:spPr>
          <a:xfrm>
            <a:off x="914400" y="3017520"/>
            <a:ext cx="4663440" cy="365760"/>
          </a:xfrm>
          <a:prstGeom prst="rect">
            <a:avLst/>
          </a:prstGeom>
          <a:noFill/>
          <a:ln/>
        </p:spPr>
        <p:txBody>
          <a:bodyPr wrap="square" lIns="0" tIns="0" rIns="0" bIns="0" rtlCol="0" anchor="ctr"/>
          <a:lstStyle/>
          <a:p>
            <a:pPr marL="0" indent="0">
              <a:buNone/>
            </a:pPr>
            <a:r>
              <a:rPr lang="en-US" sz="1650" dirty="0">
                <a:solidFill>
                  <a:srgbClr val="E2DBD1"/>
                </a:solidFill>
                <a:latin typeface="맑은 고딕" pitchFamily="34" charset="0"/>
                <a:ea typeface="맑은 고딕" pitchFamily="34" charset="-122"/>
                <a:cs typeface="맑은 고딕" pitchFamily="34" charset="-120"/>
              </a:rPr>
              <a:t>기업 공시와 재무제표를 원문으로 봅니다</a:t>
            </a:r>
            <a:endParaRPr lang="en-US" sz="1300" dirty="0"/>
          </a:p>
        </p:txBody>
      </p:sp>
      <p:sp>
        <p:nvSpPr>
          <p:cNvPr id="8" name="Shape 6"/>
          <p:cNvSpPr/>
          <p:nvPr/>
        </p:nvSpPr>
        <p:spPr>
          <a:xfrm>
            <a:off x="914400" y="3429000"/>
            <a:ext cx="3108960" cy="438912"/>
          </a:xfrm>
          <a:prstGeom prst="roundRect">
            <a:avLst>
              <a:gd name="adj" fmla="val 8333"/>
            </a:avLst>
          </a:prstGeom>
          <a:solidFill>
            <a:srgbClr val="24211D"/>
          </a:solidFill>
          <a:ln w="6350">
            <a:solidFill>
              <a:srgbClr val="24211D"/>
            </a:solidFill>
            <a:prstDash val="solid"/>
          </a:ln>
        </p:spPr>
        <p:txBody>
          <a:bodyPr/>
          <a:lstStyle/>
          <a:p>
            <a:endParaRPr/>
          </a:p>
        </p:txBody>
      </p:sp>
      <p:sp>
        <p:nvSpPr>
          <p:cNvPr id="9" name="Text 7"/>
          <p:cNvSpPr/>
          <p:nvPr/>
        </p:nvSpPr>
        <p:spPr>
          <a:xfrm>
            <a:off x="1078992" y="3429000"/>
            <a:ext cx="2779776" cy="438912"/>
          </a:xfrm>
          <a:prstGeom prst="rect">
            <a:avLst/>
          </a:prstGeom>
          <a:noFill/>
          <a:ln/>
        </p:spPr>
        <p:txBody>
          <a:bodyPr wrap="square" lIns="0" tIns="0" rIns="0" bIns="0" rtlCol="0" anchor="ctr"/>
          <a:lstStyle/>
          <a:p>
            <a:pPr marL="0" indent="0">
              <a:lnSpc>
                <a:spcPts val="1800"/>
              </a:lnSpc>
              <a:buNone/>
            </a:pPr>
            <a:r>
              <a:rPr lang="en-US" sz="1550" dirty="0">
                <a:solidFill>
                  <a:srgbClr val="F2E9E1"/>
                </a:solidFill>
                <a:latin typeface="Consolas" pitchFamily="34" charset="0"/>
                <a:ea typeface="Consolas" pitchFamily="34" charset="-122"/>
                <a:cs typeface="Consolas" pitchFamily="34" charset="-120"/>
              </a:rPr>
              <a:t>opendart.fss.or.kr</a:t>
            </a:r>
            <a:endParaRPr lang="en-US" sz="1200" dirty="0"/>
          </a:p>
        </p:txBody>
      </p:sp>
      <p:sp>
        <p:nvSpPr>
          <p:cNvPr id="10" name="Text 8"/>
          <p:cNvSpPr/>
          <p:nvPr/>
        </p:nvSpPr>
        <p:spPr>
          <a:xfrm>
            <a:off x="914400" y="3977640"/>
            <a:ext cx="4663440" cy="868680"/>
          </a:xfrm>
          <a:prstGeom prst="rect">
            <a:avLst/>
          </a:prstGeom>
          <a:noFill/>
          <a:ln/>
        </p:spPr>
        <p:txBody>
          <a:bodyPr wrap="square" lIns="0" tIns="0" rIns="0" bIns="0" rtlCol="0" anchor="t"/>
          <a:lstStyle/>
          <a:p>
            <a:pPr marL="0" indent="0">
              <a:lnSpc>
                <a:spcPts val="2100"/>
              </a:lnSpc>
              <a:buNone/>
            </a:pPr>
            <a:r>
              <a:rPr lang="en-US" sz="1600" dirty="0">
                <a:solidFill>
                  <a:srgbClr val="F6F1EA"/>
                </a:solidFill>
                <a:latin typeface="맑은 고딕" pitchFamily="34" charset="0"/>
                <a:ea typeface="맑은 고딕" pitchFamily="34" charset="-122"/>
                <a:cs typeface="맑은 고딕" pitchFamily="34" charset="-120"/>
              </a:rPr>
              <a:t>이메일과 비밀번호만 있으면 됩니다.</a:t>
            </a:r>
            <a:endParaRPr lang="en-US" sz="1300" dirty="0"/>
          </a:p>
          <a:p>
            <a:pPr marL="0" indent="0">
              <a:lnSpc>
                <a:spcPts val="2100"/>
              </a:lnSpc>
              <a:buNone/>
            </a:pPr>
            <a:r>
              <a:rPr lang="en-US" sz="1600" dirty="0">
                <a:solidFill>
                  <a:srgbClr val="F6F1EA"/>
                </a:solidFill>
                <a:latin typeface="맑은 고딕" pitchFamily="34" charset="0"/>
                <a:ea typeface="맑은 고딕" pitchFamily="34" charset="-122"/>
                <a:cs typeface="맑은 고딕" pitchFamily="34" charset="-120"/>
              </a:rPr>
              <a:t>본인인증 없이 신청 즉시 발급됩니다.</a:t>
            </a:r>
            <a:endParaRPr lang="en-US" sz="1300" dirty="0"/>
          </a:p>
          <a:p>
            <a:pPr marL="0" indent="0">
              <a:lnSpc>
                <a:spcPts val="2100"/>
              </a:lnSpc>
              <a:buNone/>
            </a:pPr>
            <a:r>
              <a:rPr lang="en-US" sz="1600" dirty="0">
                <a:solidFill>
                  <a:srgbClr val="F6F1EA"/>
                </a:solidFill>
                <a:latin typeface="맑은 고딕" pitchFamily="34" charset="0"/>
                <a:ea typeface="맑은 고딕" pitchFamily="34" charset="-122"/>
                <a:cs typeface="맑은 고딕" pitchFamily="34" charset="-120"/>
              </a:rPr>
              <a:t>한 사람당 키는 하나입니다.</a:t>
            </a:r>
            <a:endParaRPr lang="en-US" sz="1300" dirty="0"/>
          </a:p>
        </p:txBody>
      </p:sp>
      <p:sp>
        <p:nvSpPr>
          <p:cNvPr id="11" name="Shape 9"/>
          <p:cNvSpPr/>
          <p:nvPr/>
        </p:nvSpPr>
        <p:spPr>
          <a:xfrm>
            <a:off x="6236208" y="1874520"/>
            <a:ext cx="5394960" cy="3108960"/>
          </a:xfrm>
          <a:prstGeom prst="roundRect">
            <a:avLst>
              <a:gd name="adj" fmla="val 1471"/>
            </a:avLst>
          </a:prstGeom>
          <a:solidFill>
            <a:srgbClr val="F5F1EB"/>
          </a:solidFill>
          <a:ln w="9525">
            <a:solidFill>
              <a:srgbClr val="DCD4C9"/>
            </a:solidFill>
            <a:prstDash val="solid"/>
          </a:ln>
        </p:spPr>
        <p:txBody>
          <a:bodyPr/>
          <a:lstStyle/>
          <a:p>
            <a:endParaRPr/>
          </a:p>
        </p:txBody>
      </p:sp>
      <p:sp>
        <p:nvSpPr>
          <p:cNvPr id="12" name="Text 10"/>
          <p:cNvSpPr/>
          <p:nvPr/>
        </p:nvSpPr>
        <p:spPr>
          <a:xfrm>
            <a:off x="6583680" y="2103120"/>
            <a:ext cx="4663440" cy="411480"/>
          </a:xfrm>
          <a:prstGeom prst="rect">
            <a:avLst/>
          </a:prstGeom>
          <a:noFill/>
          <a:ln/>
        </p:spPr>
        <p:txBody>
          <a:bodyPr wrap="square" lIns="0" tIns="0" rIns="0" bIns="0" rtlCol="0" anchor="ctr"/>
          <a:lstStyle/>
          <a:p>
            <a:pPr marL="0" indent="0">
              <a:buNone/>
            </a:pPr>
            <a:r>
              <a:rPr lang="en-US" sz="1800" b="1" kern="0" spc="200" dirty="0">
                <a:solidFill>
                  <a:srgbClr val="A8462A"/>
                </a:solidFill>
                <a:latin typeface="맑은 고딕" pitchFamily="34" charset="0"/>
                <a:ea typeface="맑은 고딕" pitchFamily="34" charset="-122"/>
                <a:cs typeface="맑은 고딕" pitchFamily="34" charset="-120"/>
              </a:rPr>
              <a:t>경매 · 공매</a:t>
            </a:r>
            <a:endParaRPr lang="en-US" sz="1500" dirty="0"/>
          </a:p>
        </p:txBody>
      </p:sp>
      <p:sp>
        <p:nvSpPr>
          <p:cNvPr id="13" name="Text 11"/>
          <p:cNvSpPr/>
          <p:nvPr/>
        </p:nvSpPr>
        <p:spPr>
          <a:xfrm>
            <a:off x="6583680" y="2487168"/>
            <a:ext cx="4663440" cy="457200"/>
          </a:xfrm>
          <a:prstGeom prst="rect">
            <a:avLst/>
          </a:prstGeom>
          <a:noFill/>
          <a:ln/>
        </p:spPr>
        <p:txBody>
          <a:bodyPr wrap="square" lIns="0" tIns="0" rIns="0" bIns="0" rtlCol="0" anchor="ctr"/>
          <a:lstStyle/>
          <a:p>
            <a:pPr marL="0" indent="0">
              <a:buNone/>
            </a:pPr>
            <a:r>
              <a:rPr lang="en-US" sz="2350" b="1" dirty="0">
                <a:solidFill>
                  <a:srgbClr val="24211D"/>
                </a:solidFill>
                <a:latin typeface="맑은 고딕" pitchFamily="34" charset="0"/>
                <a:ea typeface="맑은 고딕" pitchFamily="34" charset="-122"/>
                <a:cs typeface="맑은 고딕" pitchFamily="34" charset="-120"/>
              </a:rPr>
              <a:t>국가법령정보</a:t>
            </a:r>
            <a:endParaRPr lang="en-US" sz="2200" dirty="0"/>
          </a:p>
        </p:txBody>
      </p:sp>
      <p:sp>
        <p:nvSpPr>
          <p:cNvPr id="14" name="Text 12"/>
          <p:cNvSpPr/>
          <p:nvPr/>
        </p:nvSpPr>
        <p:spPr>
          <a:xfrm>
            <a:off x="6583680" y="2907792"/>
            <a:ext cx="4663440" cy="320040"/>
          </a:xfrm>
          <a:prstGeom prst="rect">
            <a:avLst/>
          </a:prstGeom>
          <a:noFill/>
          <a:ln/>
        </p:spPr>
        <p:txBody>
          <a:bodyPr wrap="square" lIns="0" tIns="0" rIns="0" bIns="0" rtlCol="0" anchor="ctr"/>
          <a:lstStyle/>
          <a:p>
            <a:pPr marL="0" indent="0">
              <a:buNone/>
            </a:pPr>
            <a:r>
              <a:rPr lang="en-US" sz="1550" dirty="0">
                <a:solidFill>
                  <a:srgbClr val="514B43"/>
                </a:solidFill>
                <a:latin typeface="맑은 고딕" pitchFamily="34" charset="0"/>
                <a:ea typeface="맑은 고딕" pitchFamily="34" charset="-122"/>
                <a:cs typeface="맑은 고딕" pitchFamily="34" charset="-120"/>
              </a:rPr>
              <a:t>법령·판례 원문 조회</a:t>
            </a:r>
            <a:endParaRPr lang="en-US" sz="1200" dirty="0"/>
          </a:p>
        </p:txBody>
      </p:sp>
      <p:sp>
        <p:nvSpPr>
          <p:cNvPr id="15" name="Shape 13"/>
          <p:cNvSpPr/>
          <p:nvPr/>
        </p:nvSpPr>
        <p:spPr>
          <a:xfrm>
            <a:off x="6583680" y="3246120"/>
            <a:ext cx="2743200" cy="384048"/>
          </a:xfrm>
          <a:prstGeom prst="roundRect">
            <a:avLst>
              <a:gd name="adj" fmla="val 9524"/>
            </a:avLst>
          </a:prstGeom>
          <a:solidFill>
            <a:srgbClr val="24211D"/>
          </a:solidFill>
          <a:ln w="6350">
            <a:solidFill>
              <a:srgbClr val="24211D"/>
            </a:solidFill>
            <a:prstDash val="solid"/>
          </a:ln>
        </p:spPr>
        <p:txBody>
          <a:bodyPr/>
          <a:lstStyle/>
          <a:p>
            <a:endParaRPr/>
          </a:p>
        </p:txBody>
      </p:sp>
      <p:sp>
        <p:nvSpPr>
          <p:cNvPr id="16" name="Text 14"/>
          <p:cNvSpPr/>
          <p:nvPr/>
        </p:nvSpPr>
        <p:spPr>
          <a:xfrm>
            <a:off x="6748272" y="3246120"/>
            <a:ext cx="2414016" cy="384048"/>
          </a:xfrm>
          <a:prstGeom prst="rect">
            <a:avLst/>
          </a:prstGeom>
          <a:noFill/>
          <a:ln/>
        </p:spPr>
        <p:txBody>
          <a:bodyPr wrap="square" lIns="0" tIns="0" rIns="0" bIns="0" rtlCol="0" anchor="ctr"/>
          <a:lstStyle/>
          <a:p>
            <a:pPr marL="0" indent="0">
              <a:lnSpc>
                <a:spcPts val="1800"/>
              </a:lnSpc>
              <a:buNone/>
            </a:pPr>
            <a:r>
              <a:rPr lang="en-US" sz="1550" dirty="0">
                <a:solidFill>
                  <a:srgbClr val="F2E9E1"/>
                </a:solidFill>
                <a:latin typeface="Consolas" pitchFamily="34" charset="0"/>
                <a:ea typeface="Consolas" pitchFamily="34" charset="-122"/>
                <a:cs typeface="Consolas" pitchFamily="34" charset="-120"/>
              </a:rPr>
              <a:t>open.law.go.kr</a:t>
            </a:r>
            <a:endParaRPr lang="en-US" sz="1100" dirty="0"/>
          </a:p>
        </p:txBody>
      </p:sp>
      <p:sp>
        <p:nvSpPr>
          <p:cNvPr id="17" name="Text 15"/>
          <p:cNvSpPr/>
          <p:nvPr/>
        </p:nvSpPr>
        <p:spPr>
          <a:xfrm>
            <a:off x="6583680" y="3767328"/>
            <a:ext cx="4663440" cy="457200"/>
          </a:xfrm>
          <a:prstGeom prst="rect">
            <a:avLst/>
          </a:prstGeom>
          <a:noFill/>
          <a:ln/>
        </p:spPr>
        <p:txBody>
          <a:bodyPr wrap="square" lIns="0" tIns="0" rIns="0" bIns="0" rtlCol="0" anchor="ctr"/>
          <a:lstStyle/>
          <a:p>
            <a:pPr marL="0" indent="0">
              <a:buNone/>
            </a:pPr>
            <a:r>
              <a:rPr lang="en-US" sz="2350" b="1" dirty="0">
                <a:solidFill>
                  <a:srgbClr val="24211D"/>
                </a:solidFill>
                <a:latin typeface="맑은 고딕" pitchFamily="34" charset="0"/>
                <a:ea typeface="맑은 고딕" pitchFamily="34" charset="-122"/>
                <a:cs typeface="맑은 고딕" pitchFamily="34" charset="-120"/>
              </a:rPr>
              <a:t>V-World</a:t>
            </a:r>
            <a:endParaRPr lang="en-US" sz="2200" dirty="0"/>
          </a:p>
        </p:txBody>
      </p:sp>
      <p:sp>
        <p:nvSpPr>
          <p:cNvPr id="18" name="Text 16"/>
          <p:cNvSpPr/>
          <p:nvPr/>
        </p:nvSpPr>
        <p:spPr>
          <a:xfrm>
            <a:off x="6583680" y="4187952"/>
            <a:ext cx="4663440" cy="320040"/>
          </a:xfrm>
          <a:prstGeom prst="rect">
            <a:avLst/>
          </a:prstGeom>
          <a:noFill/>
          <a:ln/>
        </p:spPr>
        <p:txBody>
          <a:bodyPr wrap="square" lIns="0" tIns="0" rIns="0" bIns="0" rtlCol="0" anchor="ctr"/>
          <a:lstStyle/>
          <a:p>
            <a:pPr marL="0" indent="0">
              <a:buNone/>
            </a:pPr>
            <a:r>
              <a:rPr lang="en-US" sz="1550" dirty="0">
                <a:solidFill>
                  <a:srgbClr val="514B43"/>
                </a:solidFill>
                <a:latin typeface="맑은 고딕" pitchFamily="34" charset="0"/>
                <a:ea typeface="맑은 고딕" pitchFamily="34" charset="-122"/>
                <a:cs typeface="맑은 고딕" pitchFamily="34" charset="-120"/>
              </a:rPr>
              <a:t>토지이용계획·지적도  (선택)</a:t>
            </a:r>
            <a:endParaRPr lang="en-US" sz="1200" dirty="0"/>
          </a:p>
        </p:txBody>
      </p:sp>
      <p:sp>
        <p:nvSpPr>
          <p:cNvPr id="19" name="Shape 17"/>
          <p:cNvSpPr/>
          <p:nvPr/>
        </p:nvSpPr>
        <p:spPr>
          <a:xfrm>
            <a:off x="6583680" y="4507992"/>
            <a:ext cx="2743200" cy="384048"/>
          </a:xfrm>
          <a:prstGeom prst="roundRect">
            <a:avLst>
              <a:gd name="adj" fmla="val 9524"/>
            </a:avLst>
          </a:prstGeom>
          <a:solidFill>
            <a:srgbClr val="24211D"/>
          </a:solidFill>
          <a:ln w="6350">
            <a:solidFill>
              <a:srgbClr val="24211D"/>
            </a:solidFill>
            <a:prstDash val="solid"/>
          </a:ln>
        </p:spPr>
        <p:txBody>
          <a:bodyPr/>
          <a:lstStyle/>
          <a:p>
            <a:endParaRPr/>
          </a:p>
        </p:txBody>
      </p:sp>
      <p:sp>
        <p:nvSpPr>
          <p:cNvPr id="20" name="Text 18"/>
          <p:cNvSpPr/>
          <p:nvPr/>
        </p:nvSpPr>
        <p:spPr>
          <a:xfrm>
            <a:off x="6748272" y="4507992"/>
            <a:ext cx="2414016" cy="384048"/>
          </a:xfrm>
          <a:prstGeom prst="rect">
            <a:avLst/>
          </a:prstGeom>
          <a:noFill/>
          <a:ln/>
        </p:spPr>
        <p:txBody>
          <a:bodyPr wrap="square" lIns="0" tIns="0" rIns="0" bIns="0" rtlCol="0" anchor="ctr"/>
          <a:lstStyle/>
          <a:p>
            <a:pPr marL="0" indent="0">
              <a:lnSpc>
                <a:spcPts val="1800"/>
              </a:lnSpc>
              <a:buNone/>
            </a:pPr>
            <a:r>
              <a:rPr lang="en-US" sz="1550" dirty="0">
                <a:solidFill>
                  <a:srgbClr val="F2E9E1"/>
                </a:solidFill>
                <a:latin typeface="Consolas" pitchFamily="34" charset="0"/>
                <a:ea typeface="Consolas" pitchFamily="34" charset="-122"/>
                <a:cs typeface="Consolas" pitchFamily="34" charset="-120"/>
              </a:rPr>
              <a:t>vworld.kr</a:t>
            </a:r>
            <a:endParaRPr lang="en-US" sz="1100" dirty="0"/>
          </a:p>
        </p:txBody>
      </p:sp>
      <p:sp>
        <p:nvSpPr>
          <p:cNvPr id="21" name="Shape 19"/>
          <p:cNvSpPr/>
          <p:nvPr/>
        </p:nvSpPr>
        <p:spPr>
          <a:xfrm>
            <a:off x="566928" y="5166360"/>
            <a:ext cx="11064240" cy="914400"/>
          </a:xfrm>
          <a:prstGeom prst="roundRect">
            <a:avLst>
              <a:gd name="adj" fmla="val 5000"/>
            </a:avLst>
          </a:prstGeom>
          <a:solidFill>
            <a:srgbClr val="24211D"/>
          </a:solidFill>
          <a:ln w="12700">
            <a:solidFill>
              <a:srgbClr val="24211D"/>
            </a:solidFill>
            <a:prstDash val="solid"/>
          </a:ln>
        </p:spPr>
        <p:txBody>
          <a:bodyPr/>
          <a:lstStyle/>
          <a:p>
            <a:endParaRPr/>
          </a:p>
        </p:txBody>
      </p:sp>
      <p:sp>
        <p:nvSpPr>
          <p:cNvPr id="22" name="Text 20"/>
          <p:cNvSpPr/>
          <p:nvPr/>
        </p:nvSpPr>
        <p:spPr>
          <a:xfrm>
            <a:off x="914400" y="5166360"/>
            <a:ext cx="10424160" cy="91440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지금 하지 마세요 — 네이버 검색 API (신규 신청 중단)   ·   한국투자증권 API 는 증권 계좌가 있어야 신청됩니다</a:t>
            </a:r>
            <a:endParaRPr lang="en-US" sz="1600" dirty="0"/>
          </a:p>
        </p:txBody>
      </p:sp>
      <p:sp>
        <p:nvSpPr>
          <p:cNvPr id="23" name="Text 21"/>
          <p:cNvSpPr/>
          <p:nvPr/>
        </p:nvSpPr>
        <p:spPr>
          <a:xfrm>
            <a:off x="566928" y="6272784"/>
            <a:ext cx="11064240" cy="310896"/>
          </a:xfrm>
          <a:prstGeom prst="rect">
            <a:avLst/>
          </a:prstGeom>
          <a:noFill/>
          <a:ln/>
        </p:spPr>
        <p:txBody>
          <a:bodyPr wrap="square" lIns="0" tIns="0" rIns="0" bIns="0" rtlCol="0" anchor="ctr"/>
          <a:lstStyle/>
          <a:p>
            <a:pPr marL="0" indent="0">
              <a:buNone/>
            </a:pPr>
            <a:r>
              <a:rPr lang="en-US" sz="1300" i="1" dirty="0">
                <a:solidFill>
                  <a:srgbClr val="514B43"/>
                </a:solidFill>
                <a:latin typeface="맑은 고딕" pitchFamily="34" charset="0"/>
                <a:ea typeface="맑은 고딕" pitchFamily="34" charset="-122"/>
                <a:cs typeface="맑은 고딕" pitchFamily="34" charset="-120"/>
              </a:rPr>
              <a:t>출처: opendart.fss.or.kr · open.law.go.kr · vworld.kr (2026-08-06 확인) · 네이버 신규 신청 중단은 developers.naver.com 공지 32530</a:t>
            </a:r>
            <a:endParaRPr lang="en-US" sz="1000" dirty="0"/>
          </a:p>
        </p:txBody>
      </p:sp>
      <p:sp>
        <p:nvSpPr>
          <p:cNvPr id="24" name="TextBox 23">
            <a:extLst>
              <a:ext uri="{FF2B5EF4-FFF2-40B4-BE49-F238E27FC236}">
                <a16:creationId xmlns:a16="http://schemas.microsoft.com/office/drawing/2014/main" id="{FF535B45-8EAF-C9B0-F759-2B4EFCF635AE}"/>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04 · </a:t>
            </a:r>
            <a:r>
              <a:rPr lang="ko-KR" altLang="en-US" sz="1200">
                <a:solidFill>
                  <a:srgbClr val="A69C90"/>
                </a:solidFill>
                <a:latin typeface="맑은 고딕" panose="020B0503020000020004" pitchFamily="50" charset="-127"/>
                <a:ea typeface="맑은 고딕" panose="020B0503020000020004" pitchFamily="50" charset="-127"/>
              </a:rPr>
              <a:t>회원가입과 커넥터          </a:t>
            </a:r>
            <a:r>
              <a:rPr lang="en-US" altLang="ko-KR" sz="1200">
                <a:solidFill>
                  <a:srgbClr val="A69C90"/>
                </a:solidFill>
                <a:latin typeface="맑은 고딕" panose="020B0503020000020004" pitchFamily="50" charset="-127"/>
                <a:ea typeface="맑은 고딕" panose="020B0503020000020004" pitchFamily="50" charset="-127"/>
              </a:rPr>
              <a:t>28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커넥터 — 내가 쓰던 서비스를 붙입니다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지메일, 구글 드라이브, 노션처럼 이미 쓰고 계신 것들을 Claude에 연결합니다</a:t>
            </a:r>
            <a:endParaRPr lang="en-US" sz="1500" dirty="0"/>
          </a:p>
        </p:txBody>
      </p:sp>
      <p:sp>
        <p:nvSpPr>
          <p:cNvPr id="4" name="Text 2"/>
          <p:cNvSpPr/>
          <p:nvPr/>
        </p:nvSpPr>
        <p:spPr>
          <a:xfrm>
            <a:off x="566928" y="1874520"/>
            <a:ext cx="6766560" cy="411480"/>
          </a:xfrm>
          <a:prstGeom prst="rect">
            <a:avLst/>
          </a:prstGeom>
          <a:noFill/>
          <a:ln/>
        </p:spPr>
        <p:txBody>
          <a:bodyPr wrap="square" lIns="0" tIns="0" rIns="0" bIns="0" rtlCol="0" anchor="ctr"/>
          <a:lstStyle/>
          <a:p>
            <a:pPr marL="0" indent="0">
              <a:buNone/>
            </a:pPr>
            <a:r>
              <a:rPr lang="en-US" sz="2000" b="1" dirty="0">
                <a:solidFill>
                  <a:srgbClr val="24211D"/>
                </a:solidFill>
                <a:latin typeface="맑은 고딕" pitchFamily="34" charset="0"/>
                <a:ea typeface="맑은 고딕" pitchFamily="34" charset="-122"/>
                <a:cs typeface="맑은 고딕" pitchFamily="34" charset="-120"/>
              </a:rPr>
              <a:t>연결하면 이런 부탁이 됩니다</a:t>
            </a:r>
            <a:endParaRPr lang="en-US" sz="1800" dirty="0"/>
          </a:p>
        </p:txBody>
      </p:sp>
      <p:sp>
        <p:nvSpPr>
          <p:cNvPr id="5" name="Shape 3"/>
          <p:cNvSpPr/>
          <p:nvPr/>
        </p:nvSpPr>
        <p:spPr>
          <a:xfrm>
            <a:off x="566928" y="2395728"/>
            <a:ext cx="6766560" cy="530352"/>
          </a:xfrm>
          <a:prstGeom prst="roundRect">
            <a:avLst>
              <a:gd name="adj" fmla="val 48276"/>
            </a:avLst>
          </a:prstGeom>
          <a:solidFill>
            <a:srgbClr val="F5F1EB"/>
          </a:solidFill>
          <a:ln w="9525">
            <a:solidFill>
              <a:srgbClr val="DCD4C9"/>
            </a:solidFill>
            <a:prstDash val="solid"/>
          </a:ln>
        </p:spPr>
        <p:txBody>
          <a:bodyPr/>
          <a:lstStyle/>
          <a:p>
            <a:endParaRPr/>
          </a:p>
        </p:txBody>
      </p:sp>
      <p:sp>
        <p:nvSpPr>
          <p:cNvPr id="6" name="Text 4"/>
          <p:cNvSpPr/>
          <p:nvPr/>
        </p:nvSpPr>
        <p:spPr>
          <a:xfrm>
            <a:off x="877824" y="2395728"/>
            <a:ext cx="6309360" cy="530352"/>
          </a:xfrm>
          <a:prstGeom prst="rect">
            <a:avLst/>
          </a:prstGeom>
          <a:noFill/>
          <a:ln/>
        </p:spPr>
        <p:txBody>
          <a:bodyPr wrap="square" lIns="0" tIns="0" rIns="0" bIns="0" rtlCol="0" anchor="ctr"/>
          <a:lstStyle/>
          <a:p>
            <a:pPr marL="0" indent="0">
              <a:buNone/>
            </a:pPr>
            <a:r>
              <a:rPr lang="en-US" sz="1700" dirty="0">
                <a:solidFill>
                  <a:srgbClr val="24211D"/>
                </a:solidFill>
                <a:latin typeface="맑은 고딕" pitchFamily="34" charset="0"/>
                <a:ea typeface="맑은 고딕" pitchFamily="34" charset="-122"/>
                <a:cs typeface="맑은 고딕" pitchFamily="34" charset="-120"/>
              </a:rPr>
              <a:t>“지난주 은행에서 온 메일 찾아서 요약해줘”</a:t>
            </a:r>
            <a:endParaRPr lang="en-US" sz="1400" dirty="0"/>
          </a:p>
        </p:txBody>
      </p:sp>
      <p:sp>
        <p:nvSpPr>
          <p:cNvPr id="7" name="Shape 5"/>
          <p:cNvSpPr/>
          <p:nvPr/>
        </p:nvSpPr>
        <p:spPr>
          <a:xfrm>
            <a:off x="566928" y="3054096"/>
            <a:ext cx="6766560" cy="530352"/>
          </a:xfrm>
          <a:prstGeom prst="roundRect">
            <a:avLst>
              <a:gd name="adj" fmla="val 48276"/>
            </a:avLst>
          </a:prstGeom>
          <a:solidFill>
            <a:srgbClr val="F5F1EB"/>
          </a:solidFill>
          <a:ln w="9525">
            <a:solidFill>
              <a:srgbClr val="DCD4C9"/>
            </a:solidFill>
            <a:prstDash val="solid"/>
          </a:ln>
        </p:spPr>
        <p:txBody>
          <a:bodyPr/>
          <a:lstStyle/>
          <a:p>
            <a:endParaRPr/>
          </a:p>
        </p:txBody>
      </p:sp>
      <p:sp>
        <p:nvSpPr>
          <p:cNvPr id="8" name="Text 6"/>
          <p:cNvSpPr/>
          <p:nvPr/>
        </p:nvSpPr>
        <p:spPr>
          <a:xfrm>
            <a:off x="877824" y="3054096"/>
            <a:ext cx="6309360" cy="530352"/>
          </a:xfrm>
          <a:prstGeom prst="rect">
            <a:avLst/>
          </a:prstGeom>
          <a:noFill/>
          <a:ln/>
        </p:spPr>
        <p:txBody>
          <a:bodyPr wrap="square" lIns="0" tIns="0" rIns="0" bIns="0" rtlCol="0" anchor="ctr"/>
          <a:lstStyle/>
          <a:p>
            <a:pPr marL="0" indent="0">
              <a:buNone/>
            </a:pPr>
            <a:r>
              <a:rPr lang="en-US" sz="1700" dirty="0">
                <a:solidFill>
                  <a:srgbClr val="24211D"/>
                </a:solidFill>
                <a:latin typeface="맑은 고딕" pitchFamily="34" charset="0"/>
                <a:ea typeface="맑은 고딕" pitchFamily="34" charset="-122"/>
                <a:cs typeface="맑은 고딕" pitchFamily="34" charset="-120"/>
              </a:rPr>
              <a:t>“드라이브에 있는 계약서에서 위험한 조항 뽑아줘”</a:t>
            </a:r>
            <a:endParaRPr lang="en-US" sz="1400" dirty="0"/>
          </a:p>
        </p:txBody>
      </p:sp>
      <p:sp>
        <p:nvSpPr>
          <p:cNvPr id="9" name="Shape 7"/>
          <p:cNvSpPr/>
          <p:nvPr/>
        </p:nvSpPr>
        <p:spPr>
          <a:xfrm>
            <a:off x="566928" y="3712464"/>
            <a:ext cx="6766560" cy="530352"/>
          </a:xfrm>
          <a:prstGeom prst="roundRect">
            <a:avLst>
              <a:gd name="adj" fmla="val 48276"/>
            </a:avLst>
          </a:prstGeom>
          <a:solidFill>
            <a:srgbClr val="F5F1EB"/>
          </a:solidFill>
          <a:ln w="9525">
            <a:solidFill>
              <a:srgbClr val="DCD4C9"/>
            </a:solidFill>
            <a:prstDash val="solid"/>
          </a:ln>
        </p:spPr>
        <p:txBody>
          <a:bodyPr/>
          <a:lstStyle/>
          <a:p>
            <a:endParaRPr/>
          </a:p>
        </p:txBody>
      </p:sp>
      <p:sp>
        <p:nvSpPr>
          <p:cNvPr id="10" name="Text 8"/>
          <p:cNvSpPr/>
          <p:nvPr/>
        </p:nvSpPr>
        <p:spPr>
          <a:xfrm>
            <a:off x="877824" y="3712464"/>
            <a:ext cx="6309360" cy="530352"/>
          </a:xfrm>
          <a:prstGeom prst="rect">
            <a:avLst/>
          </a:prstGeom>
          <a:noFill/>
          <a:ln/>
        </p:spPr>
        <p:txBody>
          <a:bodyPr wrap="square" lIns="0" tIns="0" rIns="0" bIns="0" rtlCol="0" anchor="ctr"/>
          <a:lstStyle/>
          <a:p>
            <a:pPr marL="0" indent="0">
              <a:buNone/>
            </a:pPr>
            <a:r>
              <a:rPr lang="en-US" sz="1700" dirty="0">
                <a:solidFill>
                  <a:srgbClr val="24211D"/>
                </a:solidFill>
                <a:latin typeface="맑은 고딕" pitchFamily="34" charset="0"/>
                <a:ea typeface="맑은 고딕" pitchFamily="34" charset="-122"/>
                <a:cs typeface="맑은 고딕" pitchFamily="34" charset="-120"/>
              </a:rPr>
              <a:t>“이 내용 정리해서 노션에 새 페이지로 만들어줘”</a:t>
            </a:r>
            <a:endParaRPr lang="en-US" sz="1400" dirty="0"/>
          </a:p>
        </p:txBody>
      </p:sp>
      <p:sp>
        <p:nvSpPr>
          <p:cNvPr id="11" name="Text 9"/>
          <p:cNvSpPr/>
          <p:nvPr/>
        </p:nvSpPr>
        <p:spPr>
          <a:xfrm>
            <a:off x="566928" y="4498848"/>
            <a:ext cx="6766560" cy="411480"/>
          </a:xfrm>
          <a:prstGeom prst="rect">
            <a:avLst/>
          </a:prstGeom>
          <a:noFill/>
          <a:ln/>
        </p:spPr>
        <p:txBody>
          <a:bodyPr wrap="square" lIns="0" tIns="0" rIns="0" bIns="0" rtlCol="0" anchor="ctr"/>
          <a:lstStyle/>
          <a:p>
            <a:pPr marL="0" indent="0">
              <a:buNone/>
            </a:pPr>
            <a:r>
              <a:rPr lang="en-US" sz="1700" i="1" dirty="0">
                <a:solidFill>
                  <a:srgbClr val="D97757"/>
                </a:solidFill>
                <a:latin typeface="맑은 고딕" pitchFamily="34" charset="0"/>
                <a:ea typeface="맑은 고딕" pitchFamily="34" charset="-122"/>
                <a:cs typeface="맑은 고딕" pitchFamily="34" charset="-120"/>
              </a:rPr>
              <a:t>파일을 일일이 찾아서 올릴 필요가 없어집니다.</a:t>
            </a:r>
            <a:endParaRPr lang="en-US" sz="1400" dirty="0"/>
          </a:p>
        </p:txBody>
      </p:sp>
      <p:sp>
        <p:nvSpPr>
          <p:cNvPr id="12" name="Shape 10"/>
          <p:cNvSpPr/>
          <p:nvPr/>
        </p:nvSpPr>
        <p:spPr>
          <a:xfrm>
            <a:off x="7635240" y="1874520"/>
            <a:ext cx="3995928" cy="3749040"/>
          </a:xfrm>
          <a:prstGeom prst="roundRect">
            <a:avLst>
              <a:gd name="adj" fmla="val 1463"/>
            </a:avLst>
          </a:prstGeom>
          <a:solidFill>
            <a:srgbClr val="24211D"/>
          </a:solidFill>
          <a:ln w="12700">
            <a:solidFill>
              <a:srgbClr val="24211D"/>
            </a:solidFill>
            <a:prstDash val="solid"/>
          </a:ln>
        </p:spPr>
        <p:txBody>
          <a:bodyPr/>
          <a:lstStyle/>
          <a:p>
            <a:endParaRPr/>
          </a:p>
        </p:txBody>
      </p:sp>
      <p:sp>
        <p:nvSpPr>
          <p:cNvPr id="13" name="Text 11"/>
          <p:cNvSpPr/>
          <p:nvPr/>
        </p:nvSpPr>
        <p:spPr>
          <a:xfrm>
            <a:off x="7955280" y="2148840"/>
            <a:ext cx="3383280" cy="411480"/>
          </a:xfrm>
          <a:prstGeom prst="rect">
            <a:avLst/>
          </a:prstGeom>
          <a:noFill/>
          <a:ln/>
        </p:spPr>
        <p:txBody>
          <a:bodyPr wrap="square" lIns="0" tIns="0" rIns="0" bIns="0" rtlCol="0" anchor="ctr"/>
          <a:lstStyle/>
          <a:p>
            <a:pPr marL="0" indent="0">
              <a:buNone/>
            </a:pPr>
            <a:r>
              <a:rPr lang="en-US" sz="1900" b="1" dirty="0">
                <a:solidFill>
                  <a:srgbClr val="D97757"/>
                </a:solidFill>
                <a:latin typeface="맑은 고딕" pitchFamily="34" charset="0"/>
                <a:ea typeface="맑은 고딕" pitchFamily="34" charset="-122"/>
                <a:cs typeface="맑은 고딕" pitchFamily="34" charset="-120"/>
              </a:rPr>
              <a:t>안심하셔도 되는 점</a:t>
            </a:r>
            <a:endParaRPr lang="en-US" sz="1700" dirty="0"/>
          </a:p>
        </p:txBody>
      </p:sp>
      <p:sp>
        <p:nvSpPr>
          <p:cNvPr id="14" name="Text 12"/>
          <p:cNvSpPr/>
          <p:nvPr/>
        </p:nvSpPr>
        <p:spPr>
          <a:xfrm>
            <a:off x="7955280" y="2651760"/>
            <a:ext cx="3383280" cy="822960"/>
          </a:xfrm>
          <a:prstGeom prst="rect">
            <a:avLst/>
          </a:prstGeom>
          <a:noFill/>
          <a:ln/>
        </p:spPr>
        <p:txBody>
          <a:bodyPr wrap="square" lIns="0" tIns="0" rIns="0" bIns="0" rtlCol="0" anchor="t"/>
          <a:lstStyle/>
          <a:p>
            <a:pPr marL="0" indent="0">
              <a:lnSpc>
                <a:spcPts val="2600"/>
              </a:lnSpc>
              <a:buNone/>
            </a:pPr>
            <a:r>
              <a:rPr lang="en-US" sz="1900" b="1" dirty="0">
                <a:solidFill>
                  <a:srgbClr val="FFFFFF"/>
                </a:solidFill>
                <a:latin typeface="맑은 고딕" pitchFamily="34" charset="0"/>
                <a:ea typeface="맑은 고딕" pitchFamily="34" charset="-122"/>
                <a:cs typeface="맑은 고딕" pitchFamily="34" charset="-120"/>
              </a:rPr>
              <a:t>내가 볼 수 없는 것은</a:t>
            </a:r>
            <a:endParaRPr lang="en-US" sz="1700" dirty="0"/>
          </a:p>
          <a:p>
            <a:pPr marL="0" indent="0">
              <a:lnSpc>
                <a:spcPts val="2600"/>
              </a:lnSpc>
              <a:buNone/>
            </a:pPr>
            <a:r>
              <a:rPr lang="en-US" sz="1900" b="1" dirty="0">
                <a:solidFill>
                  <a:srgbClr val="FFFFFF"/>
                </a:solidFill>
                <a:latin typeface="맑은 고딕" pitchFamily="34" charset="0"/>
                <a:ea typeface="맑은 고딕" pitchFamily="34" charset="-122"/>
                <a:cs typeface="맑은 고딕" pitchFamily="34" charset="-120"/>
              </a:rPr>
              <a:t>Claude도 볼 수 없습니다.</a:t>
            </a:r>
            <a:endParaRPr lang="en-US" sz="1700" dirty="0"/>
          </a:p>
        </p:txBody>
      </p:sp>
      <p:sp>
        <p:nvSpPr>
          <p:cNvPr id="15" name="Text 13"/>
          <p:cNvSpPr/>
          <p:nvPr/>
        </p:nvSpPr>
        <p:spPr>
          <a:xfrm>
            <a:off x="7955280" y="3657600"/>
            <a:ext cx="3383280" cy="1737360"/>
          </a:xfrm>
          <a:prstGeom prst="rect">
            <a:avLst/>
          </a:prstGeom>
          <a:noFill/>
          <a:ln/>
        </p:spPr>
        <p:txBody>
          <a:bodyPr wrap="square" lIns="0" tIns="0" rIns="0" bIns="0" rtlCol="0" anchor="t"/>
          <a:lstStyle/>
          <a:p>
            <a:pPr marL="0" indent="0">
              <a:lnSpc>
                <a:spcPts val="2100"/>
              </a:lnSpc>
              <a:buNone/>
            </a:pPr>
            <a:r>
              <a:rPr lang="en-US" sz="1500" dirty="0">
                <a:solidFill>
                  <a:srgbClr val="F6F1EA"/>
                </a:solidFill>
                <a:latin typeface="맑은 고딕" pitchFamily="34" charset="0"/>
                <a:ea typeface="맑은 고딕" pitchFamily="34" charset="-122"/>
                <a:cs typeface="맑은 고딕" pitchFamily="34" charset="-120"/>
              </a:rPr>
              <a:t>Claude는 내 권한을 그대로</a:t>
            </a:r>
            <a:endParaRPr lang="en-US" sz="1300" dirty="0"/>
          </a:p>
          <a:p>
            <a:pPr marL="0" indent="0">
              <a:lnSpc>
                <a:spcPts val="2100"/>
              </a:lnSpc>
              <a:buNone/>
            </a:pPr>
            <a:r>
              <a:rPr lang="en-US" sz="1500" dirty="0">
                <a:solidFill>
                  <a:srgbClr val="F6F1EA"/>
                </a:solidFill>
                <a:latin typeface="맑은 고딕" pitchFamily="34" charset="0"/>
                <a:ea typeface="맑은 고딕" pitchFamily="34" charset="-122"/>
                <a:cs typeface="맑은 고딕" pitchFamily="34" charset="-120"/>
              </a:rPr>
              <a:t>물려받습니다. 회사 드라이브에서</a:t>
            </a:r>
            <a:endParaRPr lang="en-US" sz="1300" dirty="0"/>
          </a:p>
          <a:p>
            <a:pPr marL="0" indent="0">
              <a:lnSpc>
                <a:spcPts val="2100"/>
              </a:lnSpc>
              <a:buNone/>
            </a:pPr>
            <a:r>
              <a:rPr lang="en-US" sz="1500" dirty="0">
                <a:solidFill>
                  <a:srgbClr val="F6F1EA"/>
                </a:solidFill>
                <a:latin typeface="맑은 고딕" pitchFamily="34" charset="0"/>
                <a:ea typeface="맑은 고딕" pitchFamily="34" charset="-122"/>
                <a:cs typeface="맑은 고딕" pitchFamily="34" charset="-120"/>
              </a:rPr>
              <a:t>내가 못 여는 폴더는</a:t>
            </a:r>
            <a:endParaRPr lang="en-US" sz="1300" dirty="0"/>
          </a:p>
          <a:p>
            <a:pPr marL="0" indent="0">
              <a:lnSpc>
                <a:spcPts val="2100"/>
              </a:lnSpc>
              <a:buNone/>
            </a:pPr>
            <a:r>
              <a:rPr lang="en-US" sz="1500" dirty="0">
                <a:solidFill>
                  <a:srgbClr val="F6F1EA"/>
                </a:solidFill>
                <a:latin typeface="맑은 고딕" pitchFamily="34" charset="0"/>
                <a:ea typeface="맑은 고딕" pitchFamily="34" charset="-122"/>
                <a:cs typeface="맑은 고딕" pitchFamily="34" charset="-120"/>
              </a:rPr>
              <a:t>Claude도 못 엽니다.</a:t>
            </a:r>
            <a:endParaRPr lang="en-US" sz="1300" dirty="0"/>
          </a:p>
          <a:p>
            <a:pPr marL="0" indent="0">
              <a:lnSpc>
                <a:spcPts val="2100"/>
              </a:lnSpc>
              <a:buNone/>
            </a:pPr>
            <a:endParaRPr lang="en-US" sz="1300" dirty="0"/>
          </a:p>
          <a:p>
            <a:pPr marL="0" indent="0">
              <a:lnSpc>
                <a:spcPts val="2100"/>
              </a:lnSpc>
              <a:buNone/>
            </a:pPr>
            <a:r>
              <a:rPr lang="en-US" sz="1500" dirty="0">
                <a:solidFill>
                  <a:srgbClr val="F6F1EA"/>
                </a:solidFill>
                <a:latin typeface="맑은 고딕" pitchFamily="34" charset="0"/>
                <a:ea typeface="맑은 고딕" pitchFamily="34" charset="-122"/>
                <a:cs typeface="맑은 고딕" pitchFamily="34" charset="-120"/>
              </a:rPr>
              <a:t>주고받는 자료는 모두</a:t>
            </a:r>
            <a:endParaRPr lang="en-US" sz="1300" dirty="0"/>
          </a:p>
          <a:p>
            <a:pPr marL="0" indent="0">
              <a:lnSpc>
                <a:spcPts val="2100"/>
              </a:lnSpc>
              <a:buNone/>
            </a:pPr>
            <a:r>
              <a:rPr lang="en-US" sz="1500" dirty="0">
                <a:solidFill>
                  <a:srgbClr val="F6F1EA"/>
                </a:solidFill>
                <a:latin typeface="맑은 고딕" pitchFamily="34" charset="0"/>
                <a:ea typeface="맑은 고딕" pitchFamily="34" charset="-122"/>
                <a:cs typeface="맑은 고딕" pitchFamily="34" charset="-120"/>
              </a:rPr>
              <a:t>암호화됩니다.</a:t>
            </a:r>
            <a:endParaRPr lang="en-US" sz="1300" dirty="0"/>
          </a:p>
        </p:txBody>
      </p:sp>
      <p:sp>
        <p:nvSpPr>
          <p:cNvPr id="16" name="Text 14"/>
          <p:cNvSpPr/>
          <p:nvPr/>
        </p:nvSpPr>
        <p:spPr>
          <a:xfrm>
            <a:off x="566928" y="5074920"/>
            <a:ext cx="6766560" cy="457200"/>
          </a:xfrm>
          <a:prstGeom prst="rect">
            <a:avLst/>
          </a:prstGeom>
          <a:noFill/>
          <a:ln/>
        </p:spPr>
        <p:txBody>
          <a:bodyPr wrap="square" lIns="0" tIns="0" rIns="0" bIns="0" rtlCol="0" anchor="ctr"/>
          <a:lstStyle/>
          <a:p>
            <a:pPr marL="0" indent="0">
              <a:buNone/>
            </a:pPr>
            <a:r>
              <a:rPr lang="en-US" sz="1800" b="1" dirty="0">
                <a:solidFill>
                  <a:srgbClr val="A8462A"/>
                </a:solidFill>
                <a:latin typeface="맑은 고딕" pitchFamily="34" charset="0"/>
                <a:ea typeface="맑은 고딕" pitchFamily="34" charset="-122"/>
                <a:cs typeface="맑은 고딕" pitchFamily="34" charset="-120"/>
              </a:rPr>
              <a:t>무료 플랜에서도 커넥터는 쓸 수 있습니다.</a:t>
            </a:r>
            <a:endParaRPr lang="en-US" sz="1600" dirty="0"/>
          </a:p>
        </p:txBody>
      </p:sp>
      <p:sp>
        <p:nvSpPr>
          <p:cNvPr id="17" name="Text 15"/>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출처: support.claude.com/en/articles/11176164 (2026-08-06 확인) — “Web connectors are available for all users”</a:t>
            </a:r>
            <a:endParaRPr lang="en-US" sz="1000" dirty="0"/>
          </a:p>
        </p:txBody>
      </p:sp>
      <p:sp>
        <p:nvSpPr>
          <p:cNvPr id="18" name="TextBox 17">
            <a:extLst>
              <a:ext uri="{FF2B5EF4-FFF2-40B4-BE49-F238E27FC236}">
                <a16:creationId xmlns:a16="http://schemas.microsoft.com/office/drawing/2014/main" id="{F79F92D6-DB8E-6E4E-1CC6-75E57237C742}"/>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04 · </a:t>
            </a:r>
            <a:r>
              <a:rPr lang="ko-KR" altLang="en-US" sz="1200">
                <a:solidFill>
                  <a:srgbClr val="A69C90"/>
                </a:solidFill>
                <a:latin typeface="맑은 고딕" panose="020B0503020000020004" pitchFamily="50" charset="-127"/>
                <a:ea typeface="맑은 고딕" panose="020B0503020000020004" pitchFamily="50" charset="-127"/>
              </a:rPr>
              <a:t>회원가입과 커넥터          </a:t>
            </a:r>
            <a:r>
              <a:rPr lang="en-US" altLang="ko-KR" sz="1200">
                <a:solidFill>
                  <a:srgbClr val="A69C90"/>
                </a:solidFill>
                <a:latin typeface="맑은 고딕" panose="020B0503020000020004" pitchFamily="50" charset="-127"/>
                <a:ea typeface="맑은 고딕" panose="020B0503020000020004" pitchFamily="50" charset="-127"/>
              </a:rPr>
              <a:t>29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연결 방식은 두 가지입니다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헷갈리기 쉬운데, 구분은 간단합니다</a:t>
            </a:r>
            <a:endParaRPr lang="en-US" sz="1500" dirty="0"/>
          </a:p>
        </p:txBody>
      </p:sp>
      <p:sp>
        <p:nvSpPr>
          <p:cNvPr id="4" name="Shape 2"/>
          <p:cNvSpPr/>
          <p:nvPr/>
        </p:nvSpPr>
        <p:spPr>
          <a:xfrm>
            <a:off x="566928" y="1874520"/>
            <a:ext cx="5394960" cy="3657600"/>
          </a:xfrm>
          <a:prstGeom prst="roundRect">
            <a:avLst>
              <a:gd name="adj" fmla="val 1500"/>
            </a:avLst>
          </a:prstGeom>
          <a:solidFill>
            <a:srgbClr val="24211D"/>
          </a:solidFill>
          <a:ln w="12700">
            <a:solidFill>
              <a:srgbClr val="24211D"/>
            </a:solidFill>
            <a:prstDash val="solid"/>
          </a:ln>
        </p:spPr>
        <p:txBody>
          <a:bodyPr/>
          <a:lstStyle/>
          <a:p>
            <a:endParaRPr/>
          </a:p>
        </p:txBody>
      </p:sp>
      <p:sp>
        <p:nvSpPr>
          <p:cNvPr id="5" name="Text 3"/>
          <p:cNvSpPr/>
          <p:nvPr/>
        </p:nvSpPr>
        <p:spPr>
          <a:xfrm>
            <a:off x="914400" y="2148840"/>
            <a:ext cx="4663440" cy="502920"/>
          </a:xfrm>
          <a:prstGeom prst="rect">
            <a:avLst/>
          </a:prstGeom>
          <a:noFill/>
          <a:ln/>
        </p:spPr>
        <p:txBody>
          <a:bodyPr wrap="square" lIns="0" tIns="0" rIns="0" bIns="0" rtlCol="0" anchor="ctr"/>
          <a:lstStyle/>
          <a:p>
            <a:pPr marL="0" indent="0">
              <a:buNone/>
            </a:pPr>
            <a:r>
              <a:rPr lang="en-US" sz="2550" b="1" dirty="0">
                <a:solidFill>
                  <a:srgbClr val="FFFFFF"/>
                </a:solidFill>
                <a:latin typeface="맑은 고딕" pitchFamily="34" charset="0"/>
                <a:ea typeface="맑은 고딕" pitchFamily="34" charset="-122"/>
                <a:cs typeface="맑은 고딕" pitchFamily="34" charset="-120"/>
              </a:rPr>
              <a:t>커넥터  (웹)</a:t>
            </a:r>
            <a:endParaRPr lang="en-US" sz="2400" dirty="0"/>
          </a:p>
        </p:txBody>
      </p:sp>
      <p:sp>
        <p:nvSpPr>
          <p:cNvPr id="6" name="Text 4"/>
          <p:cNvSpPr/>
          <p:nvPr/>
        </p:nvSpPr>
        <p:spPr>
          <a:xfrm>
            <a:off x="914400" y="2651760"/>
            <a:ext cx="4663440" cy="365760"/>
          </a:xfrm>
          <a:prstGeom prst="rect">
            <a:avLst/>
          </a:prstGeom>
          <a:noFill/>
          <a:ln/>
        </p:spPr>
        <p:txBody>
          <a:bodyPr wrap="square" lIns="0" tIns="0" rIns="0" bIns="0" rtlCol="0" anchor="ctr"/>
          <a:lstStyle/>
          <a:p>
            <a:pPr marL="0" indent="0">
              <a:buNone/>
            </a:pPr>
            <a:r>
              <a:rPr lang="en-US" sz="1650" dirty="0">
                <a:solidFill>
                  <a:srgbClr val="D97757"/>
                </a:solidFill>
                <a:latin typeface="맑은 고딕" pitchFamily="34" charset="0"/>
                <a:ea typeface="맑은 고딕" pitchFamily="34" charset="-122"/>
                <a:cs typeface="맑은 고딕" pitchFamily="34" charset="-120"/>
              </a:rPr>
              <a:t>인터넷 너머에 있는 서비스</a:t>
            </a:r>
            <a:endParaRPr lang="en-US" sz="1300" dirty="0"/>
          </a:p>
        </p:txBody>
      </p:sp>
      <p:sp>
        <p:nvSpPr>
          <p:cNvPr id="7" name="Text 5"/>
          <p:cNvSpPr/>
          <p:nvPr/>
        </p:nvSpPr>
        <p:spPr>
          <a:xfrm>
            <a:off x="914400" y="3154680"/>
            <a:ext cx="4663440" cy="2103120"/>
          </a:xfrm>
          <a:prstGeom prst="rect">
            <a:avLst/>
          </a:prstGeom>
          <a:noFill/>
          <a:ln/>
        </p:spPr>
        <p:txBody>
          <a:bodyPr wrap="square" lIns="0" tIns="0" rIns="0" bIns="0" rtlCol="0" anchor="t"/>
          <a:lstStyle/>
          <a:p>
            <a:pPr marL="342900" indent="-342900">
              <a:lnSpc>
                <a:spcPts val="2300"/>
              </a:lnSpc>
              <a:spcAft>
                <a:spcPts val="800"/>
              </a:spcAft>
              <a:buSzPct val="100000"/>
              <a:buChar char="•"/>
            </a:pPr>
            <a:r>
              <a:rPr lang="en-US" sz="1700" dirty="0">
                <a:solidFill>
                  <a:srgbClr val="F6F1EA"/>
                </a:solidFill>
                <a:latin typeface="맑은 고딕" pitchFamily="34" charset="0"/>
                <a:ea typeface="맑은 고딕" pitchFamily="34" charset="-122"/>
                <a:cs typeface="맑은 고딕" pitchFamily="34" charset="-120"/>
              </a:rPr>
              <a:t>지메일 · 드라이브 · 노션 · 깃허브</a:t>
            </a:r>
            <a:endParaRPr lang="en-US" sz="1400" dirty="0"/>
          </a:p>
          <a:p>
            <a:pPr marL="342900" indent="-342900">
              <a:lnSpc>
                <a:spcPts val="2300"/>
              </a:lnSpc>
              <a:spcAft>
                <a:spcPts val="800"/>
              </a:spcAft>
              <a:buSzPct val="100000"/>
              <a:buChar char="•"/>
            </a:pPr>
            <a:r>
              <a:rPr lang="en-US" sz="1700" dirty="0">
                <a:solidFill>
                  <a:srgbClr val="F6F1EA"/>
                </a:solidFill>
                <a:latin typeface="맑은 고딕" pitchFamily="34" charset="0"/>
                <a:ea typeface="맑은 고딕" pitchFamily="34" charset="-122"/>
                <a:cs typeface="맑은 고딕" pitchFamily="34" charset="-120"/>
              </a:rPr>
              <a:t>설치할 것이 없다. 로그인만 하면 끝</a:t>
            </a:r>
            <a:endParaRPr lang="en-US" sz="1400" dirty="0"/>
          </a:p>
          <a:p>
            <a:pPr marL="342900" indent="-342900">
              <a:lnSpc>
                <a:spcPts val="2300"/>
              </a:lnSpc>
              <a:spcAft>
                <a:spcPts val="800"/>
              </a:spcAft>
              <a:buSzPct val="100000"/>
              <a:buChar char="•"/>
            </a:pPr>
            <a:r>
              <a:rPr lang="en-US" sz="1700" dirty="0">
                <a:solidFill>
                  <a:srgbClr val="F6F1EA"/>
                </a:solidFill>
                <a:latin typeface="맑은 고딕" pitchFamily="34" charset="0"/>
                <a:ea typeface="맑은 고딕" pitchFamily="34" charset="-122"/>
                <a:cs typeface="맑은 고딕" pitchFamily="34" charset="-120"/>
              </a:rPr>
              <a:t>휴대폰·웹·앱 어디서나 그대로 쓰인다</a:t>
            </a:r>
            <a:endParaRPr lang="en-US" sz="1400" dirty="0"/>
          </a:p>
          <a:p>
            <a:pPr marL="342900" indent="-342900">
              <a:lnSpc>
                <a:spcPts val="2300"/>
              </a:lnSpc>
              <a:spcAft>
                <a:spcPts val="800"/>
              </a:spcAft>
              <a:buSzPct val="100000"/>
              <a:buChar char="•"/>
            </a:pPr>
            <a:r>
              <a:rPr lang="en-US" sz="1700" dirty="0">
                <a:solidFill>
                  <a:srgbClr val="F6F1EA"/>
                </a:solidFill>
                <a:latin typeface="맑은 고딕" pitchFamily="34" charset="0"/>
                <a:ea typeface="맑은 고딕" pitchFamily="34" charset="-122"/>
                <a:cs typeface="맑은 고딕" pitchFamily="34" charset="-120"/>
              </a:rPr>
              <a:t>오늘 바로 해볼 수 있다</a:t>
            </a:r>
            <a:endParaRPr lang="en-US" sz="1400" dirty="0"/>
          </a:p>
        </p:txBody>
      </p:sp>
      <p:sp>
        <p:nvSpPr>
          <p:cNvPr id="8" name="Shape 6"/>
          <p:cNvSpPr/>
          <p:nvPr/>
        </p:nvSpPr>
        <p:spPr>
          <a:xfrm>
            <a:off x="6236208" y="1874520"/>
            <a:ext cx="5394960" cy="3657600"/>
          </a:xfrm>
          <a:prstGeom prst="roundRect">
            <a:avLst>
              <a:gd name="adj" fmla="val 1250"/>
            </a:avLst>
          </a:prstGeom>
          <a:solidFill>
            <a:srgbClr val="F5F1EB"/>
          </a:solidFill>
          <a:ln w="9525">
            <a:solidFill>
              <a:srgbClr val="DCD4C9"/>
            </a:solidFill>
            <a:prstDash val="solid"/>
          </a:ln>
        </p:spPr>
        <p:txBody>
          <a:bodyPr/>
          <a:lstStyle/>
          <a:p>
            <a:endParaRPr/>
          </a:p>
        </p:txBody>
      </p:sp>
      <p:sp>
        <p:nvSpPr>
          <p:cNvPr id="9" name="Text 7"/>
          <p:cNvSpPr/>
          <p:nvPr/>
        </p:nvSpPr>
        <p:spPr>
          <a:xfrm>
            <a:off x="6583680" y="2148840"/>
            <a:ext cx="4663440" cy="502920"/>
          </a:xfrm>
          <a:prstGeom prst="rect">
            <a:avLst/>
          </a:prstGeom>
          <a:noFill/>
          <a:ln/>
        </p:spPr>
        <p:txBody>
          <a:bodyPr wrap="square" lIns="0" tIns="0" rIns="0" bIns="0" rtlCol="0" anchor="ctr"/>
          <a:lstStyle/>
          <a:p>
            <a:pPr marL="0" indent="0">
              <a:buNone/>
            </a:pPr>
            <a:r>
              <a:rPr lang="en-US" sz="2350" b="1" dirty="0">
                <a:solidFill>
                  <a:srgbClr val="24211D"/>
                </a:solidFill>
                <a:latin typeface="맑은 고딕" pitchFamily="34" charset="0"/>
                <a:ea typeface="맑은 고딕" pitchFamily="34" charset="-122"/>
                <a:cs typeface="맑은 고딕" pitchFamily="34" charset="-120"/>
              </a:rPr>
              <a:t>확장 프로그램  (내 컴퓨터)</a:t>
            </a:r>
            <a:endParaRPr lang="en-US" sz="2200" dirty="0"/>
          </a:p>
        </p:txBody>
      </p:sp>
      <p:sp>
        <p:nvSpPr>
          <p:cNvPr id="10" name="Text 8"/>
          <p:cNvSpPr/>
          <p:nvPr/>
        </p:nvSpPr>
        <p:spPr>
          <a:xfrm>
            <a:off x="6583680" y="2651760"/>
            <a:ext cx="4663440" cy="365760"/>
          </a:xfrm>
          <a:prstGeom prst="rect">
            <a:avLst/>
          </a:prstGeom>
          <a:noFill/>
          <a:ln/>
        </p:spPr>
        <p:txBody>
          <a:bodyPr wrap="square" lIns="0" tIns="0" rIns="0" bIns="0" rtlCol="0" anchor="ctr"/>
          <a:lstStyle/>
          <a:p>
            <a:pPr marL="0" indent="0">
              <a:buNone/>
            </a:pPr>
            <a:r>
              <a:rPr lang="en-US" sz="1650" dirty="0">
                <a:solidFill>
                  <a:srgbClr val="514B43"/>
                </a:solidFill>
                <a:latin typeface="맑은 고딕" pitchFamily="34" charset="0"/>
                <a:ea typeface="맑은 고딕" pitchFamily="34" charset="-122"/>
                <a:cs typeface="맑은 고딕" pitchFamily="34" charset="-120"/>
              </a:rPr>
              <a:t>내 컴퓨터 안에서 도는 것</a:t>
            </a:r>
            <a:endParaRPr lang="en-US" sz="1300" dirty="0"/>
          </a:p>
        </p:txBody>
      </p:sp>
      <p:sp>
        <p:nvSpPr>
          <p:cNvPr id="11" name="Text 9"/>
          <p:cNvSpPr/>
          <p:nvPr/>
        </p:nvSpPr>
        <p:spPr>
          <a:xfrm>
            <a:off x="6583680" y="3154680"/>
            <a:ext cx="4663440" cy="2103120"/>
          </a:xfrm>
          <a:prstGeom prst="rect">
            <a:avLst/>
          </a:prstGeom>
          <a:noFill/>
          <a:ln/>
        </p:spPr>
        <p:txBody>
          <a:bodyPr wrap="square" lIns="0" tIns="0" rIns="0" bIns="0" rtlCol="0" anchor="t"/>
          <a:lstStyle/>
          <a:p>
            <a:pPr marL="342900" indent="-342900">
              <a:lnSpc>
                <a:spcPts val="24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내 폴더의 파일 · 내 PC의 프로그램</a:t>
            </a:r>
            <a:endParaRPr lang="en-US" sz="1400" dirty="0"/>
          </a:p>
          <a:p>
            <a:pPr marL="342900" indent="-342900">
              <a:lnSpc>
                <a:spcPts val="24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파일을 받아서 설치해야 한다</a:t>
            </a:r>
            <a:endParaRPr lang="en-US" sz="1400" dirty="0"/>
          </a:p>
          <a:p>
            <a:pPr marL="342900" indent="-342900">
              <a:lnSpc>
                <a:spcPts val="24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데스크탑 앱에서만 쓸 수 있다</a:t>
            </a:r>
            <a:endParaRPr lang="en-US" sz="1400" dirty="0"/>
          </a:p>
          <a:p>
            <a:pPr marL="342900" indent="-342900">
              <a:lnSpc>
                <a:spcPts val="2400"/>
              </a:lnSpc>
              <a:spcAft>
                <a:spcPts val="800"/>
              </a:spcAft>
              <a:buSzPct val="100000"/>
              <a:buChar char="•"/>
            </a:pPr>
            <a:r>
              <a:rPr lang="en-US" sz="1700" dirty="0">
                <a:solidFill>
                  <a:srgbClr val="24211D"/>
                </a:solidFill>
                <a:latin typeface="맑은 고딕" pitchFamily="34" charset="0"/>
                <a:ea typeface="맑은 고딕" pitchFamily="34" charset="-122"/>
                <a:cs typeface="맑은 고딕" pitchFamily="34" charset="-120"/>
              </a:rPr>
              <a:t>MCP 섹션에서 같이 합니다</a:t>
            </a:r>
            <a:endParaRPr lang="en-US" sz="1400" dirty="0"/>
          </a:p>
        </p:txBody>
      </p:sp>
      <p:sp>
        <p:nvSpPr>
          <p:cNvPr id="12" name="Shape 10"/>
          <p:cNvSpPr/>
          <p:nvPr/>
        </p:nvSpPr>
        <p:spPr>
          <a:xfrm>
            <a:off x="566928" y="5669280"/>
            <a:ext cx="11064240" cy="502920"/>
          </a:xfrm>
          <a:prstGeom prst="roundRect">
            <a:avLst>
              <a:gd name="adj" fmla="val 9091"/>
            </a:avLst>
          </a:prstGeom>
          <a:solidFill>
            <a:srgbClr val="F5F1EB"/>
          </a:solidFill>
          <a:ln w="9525">
            <a:solidFill>
              <a:srgbClr val="DCD4C9"/>
            </a:solidFill>
            <a:prstDash val="solid"/>
          </a:ln>
        </p:spPr>
        <p:txBody>
          <a:bodyPr/>
          <a:lstStyle/>
          <a:p>
            <a:endParaRPr/>
          </a:p>
        </p:txBody>
      </p:sp>
      <p:sp>
        <p:nvSpPr>
          <p:cNvPr id="13" name="Text 11"/>
          <p:cNvSpPr/>
          <p:nvPr/>
        </p:nvSpPr>
        <p:spPr>
          <a:xfrm>
            <a:off x="914400" y="5669280"/>
            <a:ext cx="10424160" cy="502920"/>
          </a:xfrm>
          <a:prstGeom prst="rect">
            <a:avLst/>
          </a:prstGeom>
          <a:noFill/>
          <a:ln/>
        </p:spPr>
        <p:txBody>
          <a:bodyPr wrap="square" lIns="0" tIns="0" rIns="0" bIns="0" rtlCol="0" anchor="ctr"/>
          <a:lstStyle/>
          <a:p>
            <a:pPr marL="0" indent="0">
              <a:buNone/>
            </a:pPr>
            <a:r>
              <a:rPr lang="en-US" sz="1800" b="1" dirty="0">
                <a:solidFill>
                  <a:srgbClr val="24211D"/>
                </a:solidFill>
                <a:latin typeface="맑은 고딕" pitchFamily="34" charset="0"/>
                <a:ea typeface="맑은 고딕" pitchFamily="34" charset="-122"/>
                <a:cs typeface="맑은 고딕" pitchFamily="34" charset="-120"/>
              </a:rPr>
              <a:t>구분 기준 한 줄:  인터넷 너머에 있으면 커넥터, 내 컴퓨터 안에 있으면 확장 프로그램.</a:t>
            </a:r>
            <a:endParaRPr lang="en-US" sz="1500" dirty="0"/>
          </a:p>
        </p:txBody>
      </p:sp>
      <p:sp>
        <p:nvSpPr>
          <p:cNvPr id="14" name="Text 12"/>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출처: support.claude.com/en/articles/11725091 (2026-08-06 확인)</a:t>
            </a:r>
            <a:endParaRPr lang="en-US" sz="1000" dirty="0"/>
          </a:p>
        </p:txBody>
      </p:sp>
      <p:sp>
        <p:nvSpPr>
          <p:cNvPr id="15" name="TextBox 14">
            <a:extLst>
              <a:ext uri="{FF2B5EF4-FFF2-40B4-BE49-F238E27FC236}">
                <a16:creationId xmlns:a16="http://schemas.microsoft.com/office/drawing/2014/main" id="{E6E0AE9A-D817-29FD-7AA6-CCEBAA1EF083}"/>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04 · </a:t>
            </a:r>
            <a:r>
              <a:rPr lang="ko-KR" altLang="en-US" sz="1200">
                <a:solidFill>
                  <a:srgbClr val="A69C90"/>
                </a:solidFill>
                <a:latin typeface="맑은 고딕" panose="020B0503020000020004" pitchFamily="50" charset="-127"/>
                <a:ea typeface="맑은 고딕" panose="020B0503020000020004" pitchFamily="50" charset="-127"/>
              </a:rPr>
              <a:t>회원가입과 커넥터          </a:t>
            </a:r>
            <a:r>
              <a:rPr lang="en-US" altLang="ko-KR" sz="1200">
                <a:solidFill>
                  <a:srgbClr val="A69C90"/>
                </a:solidFill>
                <a:latin typeface="맑은 고딕" panose="020B0503020000020004" pitchFamily="50" charset="-127"/>
                <a:ea typeface="맑은 고딕" panose="020B0503020000020004" pitchFamily="50" charset="-127"/>
              </a:rPr>
              <a:t>30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커넥터 붙이는 법</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로그인 한 번이면 끝납니다</a:t>
            </a:r>
            <a:endParaRPr lang="en-US" sz="1500" dirty="0"/>
          </a:p>
        </p:txBody>
      </p:sp>
      <p:sp>
        <p:nvSpPr>
          <p:cNvPr id="4" name="Shape 2"/>
          <p:cNvSpPr/>
          <p:nvPr/>
        </p:nvSpPr>
        <p:spPr>
          <a:xfrm>
            <a:off x="658368" y="1911096"/>
            <a:ext cx="329184" cy="329184"/>
          </a:xfrm>
          <a:prstGeom prst="ellipse">
            <a:avLst/>
          </a:prstGeom>
          <a:solidFill>
            <a:srgbClr val="F5F1EB"/>
          </a:solidFill>
          <a:ln w="12700">
            <a:solidFill>
              <a:srgbClr val="DCD4C9"/>
            </a:solidFill>
            <a:prstDash val="solid"/>
          </a:ln>
        </p:spPr>
        <p:txBody>
          <a:bodyPr/>
          <a:lstStyle/>
          <a:p>
            <a:endParaRPr/>
          </a:p>
        </p:txBody>
      </p:sp>
      <p:sp>
        <p:nvSpPr>
          <p:cNvPr id="5" name="Text 3"/>
          <p:cNvSpPr/>
          <p:nvPr/>
        </p:nvSpPr>
        <p:spPr>
          <a:xfrm>
            <a:off x="658368" y="1911096"/>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1</a:t>
            </a:r>
            <a:endParaRPr lang="en-US" sz="1200" dirty="0"/>
          </a:p>
        </p:txBody>
      </p:sp>
      <p:sp>
        <p:nvSpPr>
          <p:cNvPr id="6" name="Text 4"/>
          <p:cNvSpPr/>
          <p:nvPr/>
        </p:nvSpPr>
        <p:spPr>
          <a:xfrm>
            <a:off x="1152144" y="1874520"/>
            <a:ext cx="5029200" cy="402336"/>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설정 &gt; 커넥터 로 들어갑니다</a:t>
            </a:r>
            <a:endParaRPr lang="en-US" sz="1500" dirty="0"/>
          </a:p>
        </p:txBody>
      </p:sp>
      <p:sp>
        <p:nvSpPr>
          <p:cNvPr id="7" name="Shape 5"/>
          <p:cNvSpPr/>
          <p:nvPr/>
        </p:nvSpPr>
        <p:spPr>
          <a:xfrm>
            <a:off x="658368" y="2459736"/>
            <a:ext cx="329184" cy="329184"/>
          </a:xfrm>
          <a:prstGeom prst="ellipse">
            <a:avLst/>
          </a:prstGeom>
          <a:solidFill>
            <a:srgbClr val="F5F1EB"/>
          </a:solidFill>
          <a:ln w="12700">
            <a:solidFill>
              <a:srgbClr val="DCD4C9"/>
            </a:solidFill>
            <a:prstDash val="solid"/>
          </a:ln>
        </p:spPr>
        <p:txBody>
          <a:bodyPr/>
          <a:lstStyle/>
          <a:p>
            <a:endParaRPr/>
          </a:p>
        </p:txBody>
      </p:sp>
      <p:sp>
        <p:nvSpPr>
          <p:cNvPr id="8" name="Text 6"/>
          <p:cNvSpPr/>
          <p:nvPr/>
        </p:nvSpPr>
        <p:spPr>
          <a:xfrm>
            <a:off x="658368" y="2459736"/>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2</a:t>
            </a:r>
            <a:endParaRPr lang="en-US" sz="1200" dirty="0"/>
          </a:p>
        </p:txBody>
      </p:sp>
      <p:sp>
        <p:nvSpPr>
          <p:cNvPr id="9" name="Text 7"/>
          <p:cNvSpPr/>
          <p:nvPr/>
        </p:nvSpPr>
        <p:spPr>
          <a:xfrm>
            <a:off x="1152144" y="2423160"/>
            <a:ext cx="5029200" cy="402336"/>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쓰고 싶은 서비스를 찾아 연결 을 누릅니다</a:t>
            </a:r>
            <a:endParaRPr lang="en-US" sz="1500" dirty="0"/>
          </a:p>
        </p:txBody>
      </p:sp>
      <p:sp>
        <p:nvSpPr>
          <p:cNvPr id="10" name="Shape 8"/>
          <p:cNvSpPr/>
          <p:nvPr/>
        </p:nvSpPr>
        <p:spPr>
          <a:xfrm>
            <a:off x="658368" y="3008376"/>
            <a:ext cx="329184" cy="329184"/>
          </a:xfrm>
          <a:prstGeom prst="ellipse">
            <a:avLst/>
          </a:prstGeom>
          <a:solidFill>
            <a:srgbClr val="F5F1EB"/>
          </a:solidFill>
          <a:ln w="12700">
            <a:solidFill>
              <a:srgbClr val="DCD4C9"/>
            </a:solidFill>
            <a:prstDash val="solid"/>
          </a:ln>
        </p:spPr>
        <p:txBody>
          <a:bodyPr/>
          <a:lstStyle/>
          <a:p>
            <a:endParaRPr/>
          </a:p>
        </p:txBody>
      </p:sp>
      <p:sp>
        <p:nvSpPr>
          <p:cNvPr id="11" name="Text 9"/>
          <p:cNvSpPr/>
          <p:nvPr/>
        </p:nvSpPr>
        <p:spPr>
          <a:xfrm>
            <a:off x="658368" y="3008376"/>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3</a:t>
            </a:r>
            <a:endParaRPr lang="en-US" sz="1200" dirty="0"/>
          </a:p>
        </p:txBody>
      </p:sp>
      <p:sp>
        <p:nvSpPr>
          <p:cNvPr id="12" name="Text 10"/>
          <p:cNvSpPr/>
          <p:nvPr/>
        </p:nvSpPr>
        <p:spPr>
          <a:xfrm>
            <a:off x="1152144" y="2971800"/>
            <a:ext cx="5029200" cy="402336"/>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그 서비스 로그인 창이 뜹니다</a:t>
            </a:r>
            <a:endParaRPr lang="en-US" sz="1500" dirty="0"/>
          </a:p>
        </p:txBody>
      </p:sp>
      <p:sp>
        <p:nvSpPr>
          <p:cNvPr id="13" name="Shape 11"/>
          <p:cNvSpPr/>
          <p:nvPr/>
        </p:nvSpPr>
        <p:spPr>
          <a:xfrm>
            <a:off x="658368" y="3557016"/>
            <a:ext cx="329184" cy="329184"/>
          </a:xfrm>
          <a:prstGeom prst="ellipse">
            <a:avLst/>
          </a:prstGeom>
          <a:solidFill>
            <a:srgbClr val="F5F1EB"/>
          </a:solidFill>
          <a:ln w="12700">
            <a:solidFill>
              <a:srgbClr val="DCD4C9"/>
            </a:solidFill>
            <a:prstDash val="solid"/>
          </a:ln>
        </p:spPr>
        <p:txBody>
          <a:bodyPr/>
          <a:lstStyle/>
          <a:p>
            <a:endParaRPr/>
          </a:p>
        </p:txBody>
      </p:sp>
      <p:sp>
        <p:nvSpPr>
          <p:cNvPr id="14" name="Text 12"/>
          <p:cNvSpPr/>
          <p:nvPr/>
        </p:nvSpPr>
        <p:spPr>
          <a:xfrm>
            <a:off x="658368" y="3557016"/>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4</a:t>
            </a:r>
            <a:endParaRPr lang="en-US" sz="1200" dirty="0"/>
          </a:p>
        </p:txBody>
      </p:sp>
      <p:sp>
        <p:nvSpPr>
          <p:cNvPr id="15" name="Text 13"/>
          <p:cNvSpPr/>
          <p:nvPr/>
        </p:nvSpPr>
        <p:spPr>
          <a:xfrm>
            <a:off x="1152144" y="3520440"/>
            <a:ext cx="5029200" cy="402336"/>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어떤 권한을 주는지 읽고 허용합니다</a:t>
            </a:r>
            <a:endParaRPr lang="en-US" sz="1500" dirty="0"/>
          </a:p>
        </p:txBody>
      </p:sp>
      <p:sp>
        <p:nvSpPr>
          <p:cNvPr id="16" name="Shape 14"/>
          <p:cNvSpPr/>
          <p:nvPr/>
        </p:nvSpPr>
        <p:spPr>
          <a:xfrm>
            <a:off x="658368" y="4105656"/>
            <a:ext cx="329184" cy="329184"/>
          </a:xfrm>
          <a:prstGeom prst="ellipse">
            <a:avLst/>
          </a:prstGeom>
          <a:solidFill>
            <a:srgbClr val="F5F1EB"/>
          </a:solidFill>
          <a:ln w="12700">
            <a:solidFill>
              <a:srgbClr val="DCD4C9"/>
            </a:solidFill>
            <a:prstDash val="solid"/>
          </a:ln>
        </p:spPr>
        <p:txBody>
          <a:bodyPr/>
          <a:lstStyle/>
          <a:p>
            <a:endParaRPr/>
          </a:p>
        </p:txBody>
      </p:sp>
      <p:sp>
        <p:nvSpPr>
          <p:cNvPr id="17" name="Text 15"/>
          <p:cNvSpPr/>
          <p:nvPr/>
        </p:nvSpPr>
        <p:spPr>
          <a:xfrm>
            <a:off x="658368" y="4105656"/>
            <a:ext cx="329184" cy="329184"/>
          </a:xfrm>
          <a:prstGeom prst="rect">
            <a:avLst/>
          </a:prstGeom>
          <a:noFill/>
          <a:ln/>
        </p:spPr>
        <p:txBody>
          <a:bodyPr wrap="square" lIns="0" tIns="0" rIns="0" bIns="0" rtlCol="0" anchor="ctr"/>
          <a:lstStyle/>
          <a:p>
            <a:pPr marL="0" indent="0" algn="ctr">
              <a:buNone/>
            </a:pPr>
            <a:r>
              <a:rPr lang="en-US" sz="1550" b="1" dirty="0">
                <a:solidFill>
                  <a:srgbClr val="D97757"/>
                </a:solidFill>
                <a:latin typeface="맑은 고딕" pitchFamily="34" charset="0"/>
                <a:ea typeface="맑은 고딕" pitchFamily="34" charset="-122"/>
                <a:cs typeface="맑은 고딕" pitchFamily="34" charset="-120"/>
              </a:rPr>
              <a:t>5</a:t>
            </a:r>
            <a:endParaRPr lang="en-US" sz="1200" dirty="0"/>
          </a:p>
        </p:txBody>
      </p:sp>
      <p:sp>
        <p:nvSpPr>
          <p:cNvPr id="18" name="Text 16"/>
          <p:cNvSpPr/>
          <p:nvPr/>
        </p:nvSpPr>
        <p:spPr>
          <a:xfrm>
            <a:off x="1152144" y="4069080"/>
            <a:ext cx="5029200" cy="402336"/>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목록에 체크 표시가 뜨면 완료입니다</a:t>
            </a:r>
            <a:endParaRPr lang="en-US" sz="1500" dirty="0"/>
          </a:p>
        </p:txBody>
      </p:sp>
      <p:sp>
        <p:nvSpPr>
          <p:cNvPr id="19" name="Text 17"/>
          <p:cNvSpPr/>
          <p:nvPr/>
        </p:nvSpPr>
        <p:spPr>
          <a:xfrm>
            <a:off x="658368" y="4709160"/>
            <a:ext cx="5486400" cy="365760"/>
          </a:xfrm>
          <a:prstGeom prst="rect">
            <a:avLst/>
          </a:prstGeom>
          <a:noFill/>
          <a:ln/>
        </p:spPr>
        <p:txBody>
          <a:bodyPr wrap="square" lIns="0" tIns="0" rIns="0" bIns="0" rtlCol="0" anchor="ctr"/>
          <a:lstStyle/>
          <a:p>
            <a:pPr marL="0" indent="0">
              <a:buNone/>
            </a:pPr>
            <a:r>
              <a:rPr lang="en-US" sz="1800" b="1" dirty="0">
                <a:solidFill>
                  <a:srgbClr val="24211D"/>
                </a:solidFill>
                <a:latin typeface="맑은 고딕" pitchFamily="34" charset="0"/>
                <a:ea typeface="맑은 고딕" pitchFamily="34" charset="-122"/>
                <a:cs typeface="맑은 고딕" pitchFamily="34" charset="-120"/>
              </a:rPr>
              <a:t>대화에서 켜고 끄기</a:t>
            </a:r>
            <a:endParaRPr lang="en-US" sz="1600" dirty="0"/>
          </a:p>
        </p:txBody>
      </p:sp>
      <p:sp>
        <p:nvSpPr>
          <p:cNvPr id="20" name="Text 18"/>
          <p:cNvSpPr/>
          <p:nvPr/>
        </p:nvSpPr>
        <p:spPr>
          <a:xfrm>
            <a:off x="658368" y="5074920"/>
            <a:ext cx="5577840" cy="411480"/>
          </a:xfrm>
          <a:prstGeom prst="rect">
            <a:avLst/>
          </a:prstGeom>
          <a:noFill/>
          <a:ln/>
        </p:spPr>
        <p:txBody>
          <a:bodyPr wrap="square" lIns="0" tIns="0" rIns="0" bIns="0" rtlCol="0" anchor="ctr"/>
          <a:lstStyle/>
          <a:p>
            <a:pPr marL="0" indent="0">
              <a:buNone/>
            </a:pPr>
            <a:r>
              <a:rPr lang="en-US" sz="1700" dirty="0">
                <a:solidFill>
                  <a:srgbClr val="514B43"/>
                </a:solidFill>
                <a:latin typeface="맑은 고딕" pitchFamily="34" charset="0"/>
                <a:ea typeface="맑은 고딕" pitchFamily="34" charset="-122"/>
                <a:cs typeface="맑은 고딕" pitchFamily="34" charset="-120"/>
              </a:rPr>
              <a:t>대화창 왼쪽 아래  +  버튼 → 커넥터 → 쓸 것만 켜기</a:t>
            </a:r>
            <a:endParaRPr lang="en-US" sz="1400" dirty="0"/>
          </a:p>
        </p:txBody>
      </p:sp>
      <p:sp>
        <p:nvSpPr>
          <p:cNvPr id="21" name="Shape 19"/>
          <p:cNvSpPr/>
          <p:nvPr/>
        </p:nvSpPr>
        <p:spPr>
          <a:xfrm>
            <a:off x="6675120" y="1874520"/>
            <a:ext cx="4956048" cy="3017520"/>
          </a:xfrm>
          <a:prstGeom prst="roundRect">
            <a:avLst>
              <a:gd name="adj" fmla="val 1818"/>
            </a:avLst>
          </a:prstGeom>
          <a:solidFill>
            <a:srgbClr val="F5F1EB"/>
          </a:solidFill>
          <a:ln w="15875">
            <a:solidFill>
              <a:srgbClr val="DCD4C9"/>
            </a:solidFill>
            <a:prstDash val="dash"/>
          </a:ln>
        </p:spPr>
        <p:txBody>
          <a:bodyPr/>
          <a:lstStyle/>
          <a:p>
            <a:endParaRPr/>
          </a:p>
        </p:txBody>
      </p:sp>
      <p:sp>
        <p:nvSpPr>
          <p:cNvPr id="22" name="Text 20"/>
          <p:cNvSpPr/>
          <p:nvPr/>
        </p:nvSpPr>
        <p:spPr>
          <a:xfrm>
            <a:off x="6675120" y="1874520"/>
            <a:ext cx="4956048" cy="3017520"/>
          </a:xfrm>
          <a:prstGeom prst="rect">
            <a:avLst/>
          </a:prstGeom>
          <a:noFill/>
          <a:ln/>
        </p:spPr>
        <p:txBody>
          <a:bodyPr wrap="square" lIns="0" tIns="0" rIns="0" bIns="0" rtlCol="0" anchor="ctr"/>
          <a:lstStyle/>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[스크린샷 삽입]</a:t>
            </a:r>
            <a:endParaRPr lang="en-US" sz="1200" dirty="0"/>
          </a:p>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설정 &gt; 커넥터 화면</a:t>
            </a:r>
            <a:endParaRPr lang="en-US" sz="1200" dirty="0"/>
          </a:p>
          <a:p>
            <a:pPr marL="0" indent="0" algn="ctr">
              <a:lnSpc>
                <a:spcPts val="2000"/>
              </a:lnSpc>
              <a:buNone/>
            </a:pPr>
            <a:r>
              <a:rPr lang="en-US" sz="1550" dirty="0">
                <a:solidFill>
                  <a:srgbClr val="514B43"/>
                </a:solidFill>
                <a:latin typeface="맑은 고딕" pitchFamily="34" charset="0"/>
                <a:ea typeface="맑은 고딕" pitchFamily="34" charset="-122"/>
                <a:cs typeface="맑은 고딕" pitchFamily="34" charset="-120"/>
              </a:rPr>
              <a:t>(연결 버튼과 체크 표시가 보이게)</a:t>
            </a:r>
            <a:endParaRPr lang="en-US" sz="1200" dirty="0"/>
          </a:p>
        </p:txBody>
      </p:sp>
      <p:sp>
        <p:nvSpPr>
          <p:cNvPr id="23" name="Shape 21"/>
          <p:cNvSpPr/>
          <p:nvPr/>
        </p:nvSpPr>
        <p:spPr>
          <a:xfrm>
            <a:off x="6675120" y="5029200"/>
            <a:ext cx="4956048" cy="914400"/>
          </a:xfrm>
          <a:prstGeom prst="roundRect">
            <a:avLst>
              <a:gd name="adj" fmla="val 5000"/>
            </a:avLst>
          </a:prstGeom>
          <a:solidFill>
            <a:srgbClr val="24211D"/>
          </a:solidFill>
          <a:ln w="12700">
            <a:solidFill>
              <a:srgbClr val="24211D"/>
            </a:solidFill>
            <a:prstDash val="solid"/>
          </a:ln>
        </p:spPr>
        <p:txBody>
          <a:bodyPr/>
          <a:lstStyle/>
          <a:p>
            <a:endParaRPr/>
          </a:p>
        </p:txBody>
      </p:sp>
      <p:sp>
        <p:nvSpPr>
          <p:cNvPr id="24" name="Text 22"/>
          <p:cNvSpPr/>
          <p:nvPr/>
        </p:nvSpPr>
        <p:spPr>
          <a:xfrm>
            <a:off x="6967728" y="5029200"/>
            <a:ext cx="4389120" cy="914400"/>
          </a:xfrm>
          <a:prstGeom prst="rect">
            <a:avLst/>
          </a:prstGeom>
          <a:noFill/>
          <a:ln/>
        </p:spPr>
        <p:txBody>
          <a:bodyPr wrap="square" lIns="0" tIns="0" rIns="0" bIns="0" rtlCol="0" anchor="ctr"/>
          <a:lstStyle/>
          <a:p>
            <a:pPr marL="0" indent="0">
              <a:lnSpc>
                <a:spcPts val="2200"/>
              </a:lnSpc>
              <a:buNone/>
            </a:pPr>
            <a:r>
              <a:rPr lang="en-US" sz="1700" b="1" dirty="0">
                <a:solidFill>
                  <a:srgbClr val="FFFFFF"/>
                </a:solidFill>
                <a:latin typeface="맑은 고딕" pitchFamily="34" charset="0"/>
                <a:ea typeface="맑은 고딕" pitchFamily="34" charset="-122"/>
                <a:cs typeface="맑은 고딕" pitchFamily="34" charset="-120"/>
              </a:rPr>
              <a:t>권한 화면을 그냥 넘기지 마세요.</a:t>
            </a:r>
            <a:endParaRPr lang="en-US" sz="1400" dirty="0"/>
          </a:p>
          <a:p>
            <a:pPr marL="0" indent="0">
              <a:lnSpc>
                <a:spcPts val="2200"/>
              </a:lnSpc>
              <a:buNone/>
            </a:pPr>
            <a:r>
              <a:rPr lang="en-US" sz="1700" b="1" dirty="0">
                <a:solidFill>
                  <a:srgbClr val="FFFFFF"/>
                </a:solidFill>
                <a:latin typeface="맑은 고딕" pitchFamily="34" charset="0"/>
                <a:ea typeface="맑은 고딕" pitchFamily="34" charset="-122"/>
                <a:cs typeface="맑은 고딕" pitchFamily="34" charset="-120"/>
              </a:rPr>
              <a:t>안 쓰는 커넥터는 바로 해제하세요.</a:t>
            </a:r>
            <a:endParaRPr lang="en-US" sz="1400" dirty="0"/>
          </a:p>
        </p:txBody>
      </p:sp>
      <p:sp>
        <p:nvSpPr>
          <p:cNvPr id="25" name="Text 23"/>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출처: support.claude.com/en/articles/11176164 (2026-08-06 확인) · 버전에 따라 화면이 다를 수 있습니다</a:t>
            </a:r>
            <a:endParaRPr lang="en-US" sz="1000" dirty="0"/>
          </a:p>
        </p:txBody>
      </p:sp>
      <p:sp>
        <p:nvSpPr>
          <p:cNvPr id="26" name="TextBox 25">
            <a:extLst>
              <a:ext uri="{FF2B5EF4-FFF2-40B4-BE49-F238E27FC236}">
                <a16:creationId xmlns:a16="http://schemas.microsoft.com/office/drawing/2014/main" id="{F57F58D9-D8EA-9568-E7BA-3744C014BDE3}"/>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04 · </a:t>
            </a:r>
            <a:r>
              <a:rPr lang="ko-KR" altLang="en-US" sz="1200">
                <a:solidFill>
                  <a:srgbClr val="A69C90"/>
                </a:solidFill>
                <a:latin typeface="맑은 고딕" panose="020B0503020000020004" pitchFamily="50" charset="-127"/>
                <a:ea typeface="맑은 고딕" panose="020B0503020000020004" pitchFamily="50" charset="-127"/>
              </a:rPr>
              <a:t>회원가입과 커넥터          </a:t>
            </a:r>
            <a:r>
              <a:rPr lang="en-US" altLang="ko-KR" sz="1200">
                <a:solidFill>
                  <a:srgbClr val="A69C90"/>
                </a:solidFill>
                <a:latin typeface="맑은 고딕" panose="020B0503020000020004" pitchFamily="50" charset="-127"/>
                <a:ea typeface="맑은 고딕" panose="020B0503020000020004" pitchFamily="50" charset="-127"/>
              </a:rPr>
              <a:t>31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이것만은 넣지 마세요</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대화창에 한 번 붙여넣으면 되돌릴 수 없습니다</a:t>
            </a:r>
            <a:endParaRPr lang="en-US" sz="1500" dirty="0"/>
          </a:p>
        </p:txBody>
      </p:sp>
      <p:sp>
        <p:nvSpPr>
          <p:cNvPr id="4" name="Shape 2"/>
          <p:cNvSpPr/>
          <p:nvPr/>
        </p:nvSpPr>
        <p:spPr>
          <a:xfrm>
            <a:off x="566928" y="1874520"/>
            <a:ext cx="5394960" cy="3429000"/>
          </a:xfrm>
          <a:prstGeom prst="roundRect">
            <a:avLst>
              <a:gd name="adj" fmla="val 1600"/>
            </a:avLst>
          </a:prstGeom>
          <a:solidFill>
            <a:srgbClr val="24211D"/>
          </a:solidFill>
          <a:ln w="12700">
            <a:solidFill>
              <a:srgbClr val="24211D"/>
            </a:solidFill>
            <a:prstDash val="solid"/>
          </a:ln>
        </p:spPr>
        <p:txBody>
          <a:bodyPr/>
          <a:lstStyle/>
          <a:p>
            <a:endParaRPr/>
          </a:p>
        </p:txBody>
      </p:sp>
      <p:sp>
        <p:nvSpPr>
          <p:cNvPr id="5" name="Text 3"/>
          <p:cNvSpPr/>
          <p:nvPr/>
        </p:nvSpPr>
        <p:spPr>
          <a:xfrm>
            <a:off x="914400" y="2148840"/>
            <a:ext cx="4663440" cy="411480"/>
          </a:xfrm>
          <a:prstGeom prst="rect">
            <a:avLst/>
          </a:prstGeom>
          <a:noFill/>
          <a:ln/>
        </p:spPr>
        <p:txBody>
          <a:bodyPr wrap="square" lIns="0" tIns="0" rIns="0" bIns="0" rtlCol="0" anchor="ctr"/>
          <a:lstStyle/>
          <a:p>
            <a:pPr marL="0" indent="0">
              <a:buNone/>
            </a:pPr>
            <a:r>
              <a:rPr lang="en-US" sz="2150" b="1" dirty="0">
                <a:solidFill>
                  <a:srgbClr val="D97757"/>
                </a:solidFill>
                <a:latin typeface="맑은 고딕" pitchFamily="34" charset="0"/>
                <a:ea typeface="맑은 고딕" pitchFamily="34" charset="-122"/>
                <a:cs typeface="맑은 고딕" pitchFamily="34" charset="-120"/>
              </a:rPr>
              <a:t>절대 넣지 마세요</a:t>
            </a:r>
            <a:endParaRPr lang="en-US" sz="1900" dirty="0"/>
          </a:p>
        </p:txBody>
      </p:sp>
      <p:sp>
        <p:nvSpPr>
          <p:cNvPr id="6" name="Text 4"/>
          <p:cNvSpPr/>
          <p:nvPr/>
        </p:nvSpPr>
        <p:spPr>
          <a:xfrm>
            <a:off x="914400" y="2651760"/>
            <a:ext cx="4663440" cy="2377440"/>
          </a:xfrm>
          <a:prstGeom prst="rect">
            <a:avLst/>
          </a:prstGeom>
          <a:noFill/>
          <a:ln/>
        </p:spPr>
        <p:txBody>
          <a:bodyPr wrap="square" lIns="0" tIns="0" rIns="0" bIns="0" rtlCol="0" anchor="t"/>
          <a:lstStyle/>
          <a:p>
            <a:pPr marL="342900" indent="-342900">
              <a:lnSpc>
                <a:spcPts val="2500"/>
              </a:lnSpc>
              <a:spcAft>
                <a:spcPts val="900"/>
              </a:spcAft>
              <a:buSzPct val="100000"/>
              <a:buChar char="•"/>
            </a:pPr>
            <a:r>
              <a:rPr lang="en-US" sz="1800" dirty="0">
                <a:solidFill>
                  <a:srgbClr val="F6F1EA"/>
                </a:solidFill>
                <a:latin typeface="맑은 고딕" pitchFamily="34" charset="0"/>
                <a:ea typeface="맑은 고딕" pitchFamily="34" charset="-122"/>
                <a:cs typeface="맑은 고딕" pitchFamily="34" charset="-120"/>
              </a:rPr>
              <a:t>주민등록번호 · 계좌번호</a:t>
            </a:r>
            <a:endParaRPr lang="en-US" sz="1500" dirty="0"/>
          </a:p>
          <a:p>
            <a:pPr marL="342900" indent="-342900">
              <a:lnSpc>
                <a:spcPts val="2500"/>
              </a:lnSpc>
              <a:spcAft>
                <a:spcPts val="900"/>
              </a:spcAft>
              <a:buSzPct val="100000"/>
              <a:buChar char="•"/>
            </a:pPr>
            <a:r>
              <a:rPr lang="en-US" sz="1800" dirty="0">
                <a:solidFill>
                  <a:srgbClr val="F6F1EA"/>
                </a:solidFill>
                <a:latin typeface="맑은 고딕" pitchFamily="34" charset="0"/>
                <a:ea typeface="맑은 고딕" pitchFamily="34" charset="-122"/>
                <a:cs typeface="맑은 고딕" pitchFamily="34" charset="-120"/>
              </a:rPr>
              <a:t>비밀번호 · 인증서 · API 키</a:t>
            </a:r>
            <a:endParaRPr lang="en-US" sz="1500" dirty="0"/>
          </a:p>
          <a:p>
            <a:pPr marL="342900" indent="-342900">
              <a:lnSpc>
                <a:spcPts val="2500"/>
              </a:lnSpc>
              <a:spcAft>
                <a:spcPts val="900"/>
              </a:spcAft>
              <a:buSzPct val="100000"/>
              <a:buChar char="•"/>
            </a:pPr>
            <a:r>
              <a:rPr lang="en-US" sz="1800" dirty="0">
                <a:solidFill>
                  <a:srgbClr val="F6F1EA"/>
                </a:solidFill>
                <a:latin typeface="맑은 고딕" pitchFamily="34" charset="0"/>
                <a:ea typeface="맑은 고딕" pitchFamily="34" charset="-122"/>
                <a:cs typeface="맑은 고딕" pitchFamily="34" charset="-120"/>
              </a:rPr>
              <a:t>고객·거래처·채무자 실명</a:t>
            </a:r>
            <a:endParaRPr lang="en-US" sz="1500" dirty="0"/>
          </a:p>
          <a:p>
            <a:pPr marL="342900" indent="-342900">
              <a:lnSpc>
                <a:spcPts val="2500"/>
              </a:lnSpc>
              <a:spcAft>
                <a:spcPts val="900"/>
              </a:spcAft>
              <a:buSzPct val="100000"/>
              <a:buChar char="•"/>
            </a:pPr>
            <a:r>
              <a:rPr lang="en-US" sz="1800" dirty="0">
                <a:solidFill>
                  <a:srgbClr val="F6F1EA"/>
                </a:solidFill>
                <a:latin typeface="맑은 고딕" pitchFamily="34" charset="0"/>
                <a:ea typeface="맑은 고딕" pitchFamily="34" charset="-122"/>
                <a:cs typeface="맑은 고딕" pitchFamily="34" charset="-120"/>
              </a:rPr>
              <a:t>회사 기밀 · 미공개 계약 내용</a:t>
            </a:r>
            <a:endParaRPr lang="en-US" sz="1500" dirty="0"/>
          </a:p>
          <a:p>
            <a:pPr marL="342900" indent="-342900">
              <a:lnSpc>
                <a:spcPts val="2500"/>
              </a:lnSpc>
              <a:spcAft>
                <a:spcPts val="900"/>
              </a:spcAft>
              <a:buSzPct val="100000"/>
              <a:buChar char="•"/>
            </a:pPr>
            <a:r>
              <a:rPr lang="en-US" sz="1800" dirty="0">
                <a:solidFill>
                  <a:srgbClr val="F6F1EA"/>
                </a:solidFill>
                <a:latin typeface="맑은 고딕" pitchFamily="34" charset="0"/>
                <a:ea typeface="맑은 고딕" pitchFamily="34" charset="-122"/>
                <a:cs typeface="맑은 고딕" pitchFamily="34" charset="-120"/>
              </a:rPr>
              <a:t>설정 파일을 통째로 붙여넣기</a:t>
            </a:r>
            <a:endParaRPr lang="en-US" sz="1500" dirty="0"/>
          </a:p>
        </p:txBody>
      </p:sp>
      <p:sp>
        <p:nvSpPr>
          <p:cNvPr id="7" name="Shape 5"/>
          <p:cNvSpPr/>
          <p:nvPr/>
        </p:nvSpPr>
        <p:spPr>
          <a:xfrm>
            <a:off x="6236208" y="1874520"/>
            <a:ext cx="5394960" cy="3429000"/>
          </a:xfrm>
          <a:prstGeom prst="roundRect">
            <a:avLst>
              <a:gd name="adj" fmla="val 1333"/>
            </a:avLst>
          </a:prstGeom>
          <a:solidFill>
            <a:srgbClr val="F5F1EB"/>
          </a:solidFill>
          <a:ln w="9525">
            <a:solidFill>
              <a:srgbClr val="DCD4C9"/>
            </a:solidFill>
            <a:prstDash val="solid"/>
          </a:ln>
        </p:spPr>
        <p:txBody>
          <a:bodyPr/>
          <a:lstStyle/>
          <a:p>
            <a:endParaRPr/>
          </a:p>
        </p:txBody>
      </p:sp>
      <p:sp>
        <p:nvSpPr>
          <p:cNvPr id="8" name="Text 6"/>
          <p:cNvSpPr/>
          <p:nvPr/>
        </p:nvSpPr>
        <p:spPr>
          <a:xfrm>
            <a:off x="6583680" y="2148840"/>
            <a:ext cx="4663440" cy="411480"/>
          </a:xfrm>
          <a:prstGeom prst="rect">
            <a:avLst/>
          </a:prstGeom>
          <a:noFill/>
          <a:ln/>
        </p:spPr>
        <p:txBody>
          <a:bodyPr wrap="square" lIns="0" tIns="0" rIns="0" bIns="0" rtlCol="0" anchor="ctr"/>
          <a:lstStyle/>
          <a:p>
            <a:pPr marL="0" indent="0">
              <a:buNone/>
            </a:pPr>
            <a:r>
              <a:rPr lang="en-US" sz="2150" b="1" dirty="0">
                <a:solidFill>
                  <a:srgbClr val="24211D"/>
                </a:solidFill>
                <a:latin typeface="맑은 고딕" pitchFamily="34" charset="0"/>
                <a:ea typeface="맑은 고딕" pitchFamily="34" charset="-122"/>
                <a:cs typeface="맑은 고딕" pitchFamily="34" charset="-120"/>
              </a:rPr>
              <a:t>이런 건 괜찮습니다</a:t>
            </a:r>
            <a:endParaRPr lang="en-US" sz="1900" dirty="0"/>
          </a:p>
        </p:txBody>
      </p:sp>
      <p:sp>
        <p:nvSpPr>
          <p:cNvPr id="9" name="Text 7"/>
          <p:cNvSpPr/>
          <p:nvPr/>
        </p:nvSpPr>
        <p:spPr>
          <a:xfrm>
            <a:off x="6583680" y="2651760"/>
            <a:ext cx="4663440" cy="2377440"/>
          </a:xfrm>
          <a:prstGeom prst="rect">
            <a:avLst/>
          </a:prstGeom>
          <a:noFill/>
          <a:ln/>
        </p:spPr>
        <p:txBody>
          <a:bodyPr wrap="square" lIns="0" tIns="0" rIns="0" bIns="0" rtlCol="0" anchor="t"/>
          <a:lstStyle/>
          <a:p>
            <a:pPr marL="342900" indent="-342900">
              <a:lnSpc>
                <a:spcPts val="2400"/>
              </a:lnSpc>
              <a:spcAft>
                <a:spcPts val="800"/>
              </a:spcAft>
              <a:buSzPct val="100000"/>
              <a:buChar char="•"/>
            </a:pPr>
            <a:r>
              <a:rPr lang="en-US" sz="1800" dirty="0">
                <a:solidFill>
                  <a:srgbClr val="24211D"/>
                </a:solidFill>
                <a:latin typeface="맑은 고딕" pitchFamily="34" charset="0"/>
                <a:ea typeface="맑은 고딕" pitchFamily="34" charset="-122"/>
                <a:cs typeface="맑은 고딕" pitchFamily="34" charset="-120"/>
              </a:rPr>
              <a:t>내 직업과 하는 일</a:t>
            </a:r>
            <a:endParaRPr lang="en-US" sz="1500" dirty="0"/>
          </a:p>
          <a:p>
            <a:pPr marL="342900" indent="-342900">
              <a:lnSpc>
                <a:spcPts val="2400"/>
              </a:lnSpc>
              <a:spcAft>
                <a:spcPts val="800"/>
              </a:spcAft>
              <a:buSzPct val="100000"/>
              <a:buChar char="•"/>
            </a:pPr>
            <a:r>
              <a:rPr lang="en-US" sz="1800" dirty="0">
                <a:solidFill>
                  <a:srgbClr val="24211D"/>
                </a:solidFill>
                <a:latin typeface="맑은 고딕" pitchFamily="34" charset="0"/>
                <a:ea typeface="맑은 고딕" pitchFamily="34" charset="-122"/>
                <a:cs typeface="맑은 고딕" pitchFamily="34" charset="-120"/>
              </a:rPr>
              <a:t>공개된 물건 정보 · 공시 자료</a:t>
            </a:r>
            <a:endParaRPr lang="en-US" sz="1500" dirty="0"/>
          </a:p>
          <a:p>
            <a:pPr marL="342900" indent="-342900">
              <a:lnSpc>
                <a:spcPts val="2400"/>
              </a:lnSpc>
              <a:spcAft>
                <a:spcPts val="800"/>
              </a:spcAft>
              <a:buSzPct val="100000"/>
              <a:buChar char="•"/>
            </a:pPr>
            <a:r>
              <a:rPr lang="en-US" sz="1800" dirty="0">
                <a:solidFill>
                  <a:srgbClr val="24211D"/>
                </a:solidFill>
                <a:latin typeface="맑은 고딕" pitchFamily="34" charset="0"/>
                <a:ea typeface="맑은 고딕" pitchFamily="34" charset="-122"/>
                <a:cs typeface="맑은 고딕" pitchFamily="34" charset="-120"/>
              </a:rPr>
              <a:t>이름을 지운 계약서·서류</a:t>
            </a:r>
            <a:endParaRPr lang="en-US" sz="1500" dirty="0"/>
          </a:p>
          <a:p>
            <a:pPr marL="342900" indent="-342900">
              <a:lnSpc>
                <a:spcPts val="2400"/>
              </a:lnSpc>
              <a:spcAft>
                <a:spcPts val="800"/>
              </a:spcAft>
              <a:buSzPct val="100000"/>
              <a:buChar char="•"/>
            </a:pPr>
            <a:r>
              <a:rPr lang="en-US" sz="1800" dirty="0">
                <a:solidFill>
                  <a:srgbClr val="24211D"/>
                </a:solidFill>
                <a:latin typeface="맑은 고딕" pitchFamily="34" charset="0"/>
                <a:ea typeface="맑은 고딕" pitchFamily="34" charset="-122"/>
                <a:cs typeface="맑은 고딕" pitchFamily="34" charset="-120"/>
              </a:rPr>
              <a:t>숫자만 남긴 수익률 계산</a:t>
            </a:r>
            <a:endParaRPr lang="en-US" sz="1500" dirty="0"/>
          </a:p>
          <a:p>
            <a:pPr marL="342900" indent="-342900">
              <a:lnSpc>
                <a:spcPts val="2400"/>
              </a:lnSpc>
              <a:spcAft>
                <a:spcPts val="800"/>
              </a:spcAft>
              <a:buSzPct val="100000"/>
              <a:buChar char="•"/>
            </a:pPr>
            <a:r>
              <a:rPr lang="en-US" sz="1800" dirty="0">
                <a:solidFill>
                  <a:srgbClr val="24211D"/>
                </a:solidFill>
                <a:latin typeface="맑은 고딕" pitchFamily="34" charset="0"/>
                <a:ea typeface="맑은 고딕" pitchFamily="34" charset="-122"/>
                <a:cs typeface="맑은 고딕" pitchFamily="34" charset="-120"/>
              </a:rPr>
              <a:t>공개된 법령 · 판례</a:t>
            </a:r>
            <a:endParaRPr lang="en-US" sz="1500" dirty="0"/>
          </a:p>
        </p:txBody>
      </p:sp>
      <p:sp>
        <p:nvSpPr>
          <p:cNvPr id="10" name="Shape 8"/>
          <p:cNvSpPr/>
          <p:nvPr/>
        </p:nvSpPr>
        <p:spPr>
          <a:xfrm>
            <a:off x="566928" y="5486400"/>
            <a:ext cx="11064240" cy="640080"/>
          </a:xfrm>
          <a:prstGeom prst="roundRect">
            <a:avLst>
              <a:gd name="adj" fmla="val 7143"/>
            </a:avLst>
          </a:prstGeom>
          <a:solidFill>
            <a:srgbClr val="F5F1EB"/>
          </a:solidFill>
          <a:ln w="9525">
            <a:solidFill>
              <a:srgbClr val="DCD4C9"/>
            </a:solidFill>
            <a:prstDash val="solid"/>
          </a:ln>
        </p:spPr>
        <p:txBody>
          <a:bodyPr/>
          <a:lstStyle/>
          <a:p>
            <a:endParaRPr/>
          </a:p>
        </p:txBody>
      </p:sp>
      <p:sp>
        <p:nvSpPr>
          <p:cNvPr id="11" name="Text 9"/>
          <p:cNvSpPr/>
          <p:nvPr/>
        </p:nvSpPr>
        <p:spPr>
          <a:xfrm>
            <a:off x="914400" y="5486400"/>
            <a:ext cx="10424160" cy="640080"/>
          </a:xfrm>
          <a:prstGeom prst="rect">
            <a:avLst/>
          </a:prstGeom>
          <a:noFill/>
          <a:ln/>
        </p:spPr>
        <p:txBody>
          <a:bodyPr wrap="square" lIns="0" tIns="0" rIns="0" bIns="0" rtlCol="0" anchor="ctr"/>
          <a:lstStyle/>
          <a:p>
            <a:pPr marL="0" indent="0">
              <a:buNone/>
            </a:pPr>
            <a:r>
              <a:rPr lang="en-US" sz="1800" b="1" dirty="0">
                <a:solidFill>
                  <a:srgbClr val="24211D"/>
                </a:solidFill>
                <a:latin typeface="맑은 고딕" pitchFamily="34" charset="0"/>
                <a:ea typeface="맑은 고딕" pitchFamily="34" charset="-122"/>
                <a:cs typeface="맑은 고딕" pitchFamily="34" charset="-120"/>
              </a:rPr>
              <a:t>헷갈리면 이렇게 판단하세요 —  “이 내용을 모르는 사람에게 보여줘도 괜찮은가?”</a:t>
            </a:r>
            <a:endParaRPr lang="en-US" sz="1500" dirty="0"/>
          </a:p>
        </p:txBody>
      </p:sp>
      <p:sp>
        <p:nvSpPr>
          <p:cNvPr id="12" name="Text 10"/>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개인정보·기밀 취급 원칙은 뒤에서 더 자세히 다룹니다</a:t>
            </a:r>
            <a:endParaRPr lang="en-US" sz="1000" dirty="0"/>
          </a:p>
        </p:txBody>
      </p:sp>
      <p:sp>
        <p:nvSpPr>
          <p:cNvPr id="13" name="TextBox 12">
            <a:extLst>
              <a:ext uri="{FF2B5EF4-FFF2-40B4-BE49-F238E27FC236}">
                <a16:creationId xmlns:a16="http://schemas.microsoft.com/office/drawing/2014/main" id="{264F0079-A52A-21E4-C536-F8292FC24E36}"/>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04 · </a:t>
            </a:r>
            <a:r>
              <a:rPr lang="ko-KR" altLang="en-US" sz="1200">
                <a:solidFill>
                  <a:srgbClr val="A69C90"/>
                </a:solidFill>
                <a:latin typeface="맑은 고딕" panose="020B0503020000020004" pitchFamily="50" charset="-127"/>
                <a:ea typeface="맑은 고딕" panose="020B0503020000020004" pitchFamily="50" charset="-127"/>
              </a:rPr>
              <a:t>회원가입과 커넥터          </a:t>
            </a:r>
            <a:r>
              <a:rPr lang="en-US" altLang="ko-KR" sz="1200">
                <a:solidFill>
                  <a:srgbClr val="A69C90"/>
                </a:solidFill>
                <a:latin typeface="맑은 고딕" panose="020B0503020000020004" pitchFamily="50" charset="-127"/>
                <a:ea typeface="맑은 고딕" panose="020B0503020000020004" pitchFamily="50" charset="-127"/>
              </a:rPr>
              <a:t>32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0040"/>
            <a:ext cx="11064240" cy="640080"/>
          </a:xfrm>
          <a:prstGeom prst="rect">
            <a:avLst/>
          </a:prstGeom>
          <a:noFill/>
          <a:ln/>
        </p:spPr>
        <p:txBody>
          <a:bodyPr wrap="square" lIns="0" tIns="0" rIns="0" bIns="0" rtlCol="0" anchor="ctr"/>
          <a:lstStyle/>
          <a:p>
            <a:pPr marL="0" indent="0">
              <a:buNone/>
            </a:pPr>
            <a:r>
              <a:rPr lang="en-US" sz="3400" b="1" dirty="0">
                <a:solidFill>
                  <a:srgbClr val="24211D"/>
                </a:solidFill>
                <a:latin typeface="맑은 고딕" pitchFamily="34" charset="0"/>
                <a:ea typeface="맑은 고딕" pitchFamily="34" charset="-122"/>
                <a:cs typeface="맑은 고딕" pitchFamily="34" charset="-120"/>
              </a:rPr>
              <a:t>어디에 쓴 지침이 어디에 적용되나</a:t>
            </a:r>
            <a:endParaRPr lang="en-US" sz="3200" dirty="0"/>
          </a:p>
        </p:txBody>
      </p:sp>
      <p:sp>
        <p:nvSpPr>
          <p:cNvPr id="3" name="Text 1"/>
          <p:cNvSpPr/>
          <p:nvPr/>
        </p:nvSpPr>
        <p:spPr>
          <a:xfrm>
            <a:off x="566928" y="932688"/>
            <a:ext cx="11064240" cy="329184"/>
          </a:xfrm>
          <a:prstGeom prst="rect">
            <a:avLst/>
          </a:prstGeom>
          <a:noFill/>
          <a:ln/>
        </p:spPr>
        <p:txBody>
          <a:bodyPr wrap="square" lIns="0" tIns="0" rIns="0" bIns="0" rtlCol="0" anchor="ctr"/>
          <a:lstStyle/>
          <a:p>
            <a:pPr marL="0" indent="0">
              <a:buNone/>
            </a:pPr>
            <a:r>
              <a:rPr lang="en-US" sz="1650" dirty="0">
                <a:solidFill>
                  <a:srgbClr val="514B43"/>
                </a:solidFill>
                <a:latin typeface="맑은 고딕" pitchFamily="34" charset="0"/>
                <a:ea typeface="맑은 고딕" pitchFamily="34" charset="-122"/>
                <a:cs typeface="맑은 고딕" pitchFamily="34" charset="-120"/>
              </a:rPr>
              <a:t>같은 지침도 쓰는 위치에 따라 적용 범위가 다릅니다</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4398264"/>
        </p:xfrm>
        <a:graphic>
          <a:graphicData uri="http://schemas.openxmlformats.org/drawingml/2006/table">
            <a:tbl>
              <a:tblPr/>
              <a:tblGrid>
                <a:gridCol w="205740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338328">
                <a:tc>
                  <a:txBody>
                    <a:bodyPr/>
                    <a:lstStyle/>
                    <a:p>
                      <a:pPr marL="0" indent="0" algn="l">
                        <a:buNone/>
                      </a:pPr>
                      <a:r>
                        <a:rPr lang="en-US" sz="1250" b="1" dirty="0">
                          <a:solidFill>
                            <a:srgbClr val="FFFFFF"/>
                          </a:solidFill>
                          <a:latin typeface="맑은 고딕" pitchFamily="34" charset="0"/>
                          <a:ea typeface="맑은 고딕" pitchFamily="34" charset="-122"/>
                          <a:cs typeface="맑은 고딕" pitchFamily="34" charset="-120"/>
                        </a:rPr>
                        <a:t>무엇을</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24211D"/>
                    </a:solidFill>
                  </a:tcPr>
                </a:tc>
                <a:tc>
                  <a:txBody>
                    <a:bodyPr/>
                    <a:lstStyle/>
                    <a:p>
                      <a:pPr marL="0" indent="0" algn="l">
                        <a:buNone/>
                      </a:pPr>
                      <a:r>
                        <a:rPr lang="en-US" sz="1250" b="1" dirty="0">
                          <a:solidFill>
                            <a:srgbClr val="FFFFFF"/>
                          </a:solidFill>
                          <a:latin typeface="맑은 고딕" pitchFamily="34" charset="0"/>
                          <a:ea typeface="맑은 고딕" pitchFamily="34" charset="-122"/>
                          <a:cs typeface="맑은 고딕" pitchFamily="34" charset="-120"/>
                        </a:rPr>
                        <a:t>어디에 쓰나</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24211D"/>
                    </a:solidFill>
                  </a:tcPr>
                </a:tc>
                <a:tc>
                  <a:txBody>
                    <a:bodyP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채팅</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24211D"/>
                    </a:solidFill>
                  </a:tcPr>
                </a:tc>
                <a:tc>
                  <a:txBody>
                    <a:bodyP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Cowork</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24211D"/>
                    </a:solidFill>
                  </a:tcPr>
                </a:tc>
                <a:tc>
                  <a:txBody>
                    <a:bodyP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Claude Code</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24211D"/>
                    </a:solidFill>
                  </a:tcPr>
                </a:tc>
                <a:extLst>
                  <a:ext uri="{0D108BD9-81ED-4DB2-BD59-A6C34878D82A}">
                    <a16:rowId xmlns:a16="http://schemas.microsoft.com/office/drawing/2014/main" val="10000"/>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개인 설정</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설정 &gt; Instructions for Claude</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A8462A"/>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7A7268"/>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Cowork 전역 지침</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설정 &gt; Cowork &gt; Global instructions</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7A7268"/>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7A7268"/>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폴더 지침</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폴더 선택 시 (Folder instructions)</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7A7268"/>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7A7268"/>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프로젝트 지침</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프로젝트 &gt; Instructions</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7A7268"/>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프로젝트 지식</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프로젝트에 파일 업로드</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7A7268"/>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lgn="l">
                        <a:buNone/>
                      </a:pPr>
                      <a:r>
                        <a:rPr lang="en-US" sz="1250" b="1" dirty="0">
                          <a:solidFill>
                            <a:srgbClr val="A8462A"/>
                          </a:solidFill>
                          <a:latin typeface="맑은 고딕" pitchFamily="34" charset="0"/>
                          <a:ea typeface="맑은 고딕" pitchFamily="34" charset="-122"/>
                          <a:cs typeface="맑은 고딕" pitchFamily="34" charset="-120"/>
                        </a:rPr>
                        <a:t>CLAUDE.md</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디스크의 파일 (Claude Code 전용)</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7A7268"/>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A8462A"/>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A8462A"/>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스킬 (SKILL.md)</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Customize &gt; Skills</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플러그인</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Customize &gt; Plugins</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원격 커넥터</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Customize &gt; Connectors</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A8462A"/>
                          </a:solidFill>
                          <a:latin typeface="맑은 고딕" pitchFamily="34" charset="0"/>
                          <a:ea typeface="맑은 고딕" pitchFamily="34" charset="-122"/>
                          <a:cs typeface="맑은 고딕" pitchFamily="34" charset="-120"/>
                        </a:rPr>
                        <a:t>구독 로그인 시</a:t>
                      </a:r>
                      <a:endParaRPr lang="en-US" sz="9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로컬 MCP</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claude_desktop_config.json</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A8462A"/>
                          </a:solidFill>
                          <a:latin typeface="맑은 고딕" pitchFamily="34" charset="0"/>
                          <a:ea typeface="맑은 고딕" pitchFamily="34" charset="-122"/>
                          <a:cs typeface="맑은 고딕" pitchFamily="34" charset="-120"/>
                        </a:rPr>
                        <a:t>데스크탑만</a:t>
                      </a:r>
                      <a:endParaRPr lang="en-US" sz="9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A8462A"/>
                          </a:solidFill>
                          <a:latin typeface="맑은 고딕" pitchFamily="34" charset="0"/>
                          <a:ea typeface="맑은 고딕" pitchFamily="34" charset="-122"/>
                          <a:cs typeface="맑은 고딕" pitchFamily="34" charset="-120"/>
                        </a:rPr>
                        <a:t>로컬 세션만</a:t>
                      </a:r>
                      <a:endParaRPr lang="en-US" sz="9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A8462A"/>
                          </a:solidFill>
                          <a:latin typeface="맑은 고딕" pitchFamily="34" charset="0"/>
                          <a:ea typeface="맑은 고딕" pitchFamily="34" charset="-122"/>
                          <a:cs typeface="맑은 고딕" pitchFamily="34" charset="-120"/>
                        </a:rPr>
                        <a:t>Code 탭만</a:t>
                      </a:r>
                      <a:endParaRPr lang="en-US" sz="9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확장 프로그램</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설정 &gt; 확장 프로그램 (.mcpb)</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A8462A"/>
                          </a:solidFill>
                          <a:latin typeface="맑은 고딕" pitchFamily="34" charset="0"/>
                          <a:ea typeface="맑은 고딕" pitchFamily="34" charset="-122"/>
                          <a:cs typeface="맑은 고딕" pitchFamily="34" charset="-120"/>
                        </a:rPr>
                        <a:t>데스크탑만</a:t>
                      </a:r>
                      <a:endParaRPr lang="en-US" sz="9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A8462A"/>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38328">
                <a:tc>
                  <a:txBody>
                    <a:bodyPr/>
                    <a:lstStyle/>
                    <a:p>
                      <a:pPr marL="0" indent="0" algn="l">
                        <a:buNone/>
                      </a:pPr>
                      <a:r>
                        <a:rPr lang="en-US" sz="1250" b="1" dirty="0">
                          <a:solidFill>
                            <a:srgbClr val="24211D"/>
                          </a:solidFill>
                          <a:latin typeface="맑은 고딕" pitchFamily="34" charset="0"/>
                          <a:ea typeface="맑은 고딕" pitchFamily="34" charset="-122"/>
                          <a:cs typeface="맑은 고딕" pitchFamily="34" charset="-120"/>
                        </a:rPr>
                        <a:t>메모리</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l">
                        <a:buNone/>
                      </a:pPr>
                      <a:r>
                        <a:rPr lang="en-US" sz="1250" dirty="0">
                          <a:solidFill>
                            <a:srgbClr val="514B43"/>
                          </a:solidFill>
                          <a:latin typeface="맑은 고딕" pitchFamily="34" charset="0"/>
                          <a:ea typeface="맑은 고딕" pitchFamily="34" charset="-122"/>
                          <a:cs typeface="맑은 고딕" pitchFamily="34" charset="-120"/>
                        </a:rPr>
                        <a:t>자동</a:t>
                      </a:r>
                      <a:endParaRPr lang="en-US" sz="95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4211D"/>
                          </a:solidFill>
                          <a:latin typeface="맑은 고딕" pitchFamily="34" charset="0"/>
                          <a:ea typeface="맑은 고딕" pitchFamily="34" charset="-122"/>
                          <a:cs typeface="맑은 고딕" pitchFamily="34" charset="-120"/>
                        </a:rPr>
                        <a:t>○</a:t>
                      </a:r>
                      <a:endParaRPr lang="en-US" sz="11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A8462A"/>
                          </a:solidFill>
                          <a:latin typeface="맑은 고딕" pitchFamily="34" charset="0"/>
                          <a:ea typeface="맑은 고딕" pitchFamily="34" charset="-122"/>
                          <a:cs typeface="맑은 고딕" pitchFamily="34" charset="-120"/>
                        </a:rPr>
                        <a:t>프로젝트만</a:t>
                      </a:r>
                      <a:endParaRPr lang="en-US" sz="9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A8462A"/>
                          </a:solidFill>
                          <a:latin typeface="맑은 고딕" pitchFamily="34" charset="0"/>
                          <a:ea typeface="맑은 고딕" pitchFamily="34" charset="-122"/>
                          <a:cs typeface="맑은 고딕" pitchFamily="34" charset="-120"/>
                        </a:rPr>
                        <a:t>별개 시스템</a:t>
                      </a:r>
                      <a:endParaRPr lang="en-US" sz="900" dirty="0">
                        <a:latin typeface="맑은 고딕" charset="0"/>
                        <a:ea typeface="맑은 고딕" charset="0"/>
                        <a:cs typeface="맑은 고딕" charset="0"/>
                      </a:endParaRPr>
                    </a:p>
                  </a:txBody>
                  <a:tcPr marL="101600" marR="101600" marT="18288" marB="18288" anchor="ctr">
                    <a:lnL w="7620" cap="flat" cmpd="sng" algn="ctr">
                      <a:solidFill>
                        <a:srgbClr val="DCD4C9"/>
                      </a:solidFill>
                      <a:prstDash val="solid"/>
                      <a:round/>
                      <a:headEnd type="none" w="med" len="med"/>
                      <a:tailEnd type="none" w="med" len="med"/>
                    </a:lnL>
                    <a:lnR w="7620" cap="flat" cmpd="sng" algn="ctr">
                      <a:solidFill>
                        <a:srgbClr val="DCD4C9"/>
                      </a:solidFill>
                      <a:prstDash val="solid"/>
                      <a:round/>
                      <a:headEnd type="none" w="med" len="med"/>
                      <a:tailEnd type="none" w="med" len="med"/>
                    </a:lnR>
                    <a:lnT w="7620" cap="flat" cmpd="sng" algn="ctr">
                      <a:solidFill>
                        <a:srgbClr val="DCD4C9"/>
                      </a:solidFill>
                      <a:prstDash val="solid"/>
                      <a:round/>
                      <a:headEnd type="none" w="med" len="med"/>
                      <a:tailEnd type="none" w="med" len="med"/>
                    </a:lnT>
                    <a:lnB w="7620" cap="flat" cmpd="sng" algn="ctr">
                      <a:solidFill>
                        <a:srgbClr val="DCD4C9"/>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5" name="Text 2"/>
          <p:cNvSpPr/>
          <p:nvPr/>
        </p:nvSpPr>
        <p:spPr>
          <a:xfrm>
            <a:off x="566928" y="5971032"/>
            <a:ext cx="5669280" cy="320040"/>
          </a:xfrm>
          <a:prstGeom prst="rect">
            <a:avLst/>
          </a:prstGeom>
          <a:noFill/>
          <a:ln/>
        </p:spPr>
        <p:txBody>
          <a:bodyPr wrap="square" lIns="0" tIns="0" rIns="0" bIns="0" rtlCol="0" anchor="ctr"/>
          <a:lstStyle/>
          <a:p>
            <a:pPr marL="0" indent="0">
              <a:buNone/>
            </a:pPr>
            <a:r>
              <a:rPr lang="en-US" sz="1550" b="1" dirty="0">
                <a:solidFill>
                  <a:srgbClr val="24211D"/>
                </a:solidFill>
                <a:latin typeface="맑은 고딕" pitchFamily="34" charset="0"/>
                <a:ea typeface="맑은 고딕" pitchFamily="34" charset="-122"/>
                <a:cs typeface="맑은 고딕" pitchFamily="34" charset="-120"/>
              </a:rPr>
              <a:t>○ </a:t>
            </a:r>
            <a:r>
              <a:rPr lang="en-US" sz="1550" dirty="0">
                <a:solidFill>
                  <a:srgbClr val="514B43"/>
                </a:solidFill>
                <a:latin typeface="맑은 고딕" pitchFamily="34" charset="0"/>
                <a:ea typeface="맑은 고딕" pitchFamily="34" charset="-122"/>
                <a:cs typeface="맑은 고딕" pitchFamily="34" charset="-120"/>
              </a:rPr>
              <a:t>된다      </a:t>
            </a:r>
            <a:r>
              <a:rPr lang="en-US" sz="1550" dirty="0">
                <a:solidFill>
                  <a:srgbClr val="7A7268"/>
                </a:solidFill>
                <a:latin typeface="맑은 고딕" pitchFamily="34" charset="0"/>
                <a:ea typeface="맑은 고딕" pitchFamily="34" charset="-122"/>
                <a:cs typeface="맑은 고딕" pitchFamily="34" charset="-120"/>
              </a:rPr>
              <a:t>× </a:t>
            </a:r>
            <a:r>
              <a:rPr lang="en-US" sz="1550" dirty="0">
                <a:solidFill>
                  <a:srgbClr val="514B43"/>
                </a:solidFill>
                <a:latin typeface="맑은 고딕" pitchFamily="34" charset="0"/>
                <a:ea typeface="맑은 고딕" pitchFamily="34" charset="-122"/>
                <a:cs typeface="맑은 고딕" pitchFamily="34" charset="-120"/>
              </a:rPr>
              <a:t>안 된다      </a:t>
            </a:r>
            <a:r>
              <a:rPr lang="en-US" sz="1550" b="1" dirty="0">
                <a:solidFill>
                  <a:srgbClr val="A8462A"/>
                </a:solidFill>
                <a:latin typeface="맑은 고딕" pitchFamily="34" charset="0"/>
                <a:ea typeface="맑은 고딕" pitchFamily="34" charset="-122"/>
                <a:cs typeface="맑은 고딕" pitchFamily="34" charset="-120"/>
              </a:rPr>
              <a:t>? </a:t>
            </a:r>
            <a:r>
              <a:rPr lang="en-US" sz="1550" dirty="0">
                <a:solidFill>
                  <a:srgbClr val="514B43"/>
                </a:solidFill>
                <a:latin typeface="맑은 고딕" pitchFamily="34" charset="0"/>
                <a:ea typeface="맑은 고딕" pitchFamily="34" charset="-122"/>
                <a:cs typeface="맑은 고딕" pitchFamily="34" charset="-120"/>
              </a:rPr>
              <a:t>공식 문서에 명시 없음</a:t>
            </a:r>
            <a:endParaRPr lang="en-US" sz="1100" dirty="0"/>
          </a:p>
        </p:txBody>
      </p:sp>
      <p:sp>
        <p:nvSpPr>
          <p:cNvPr id="6" name="Shape 3"/>
          <p:cNvSpPr/>
          <p:nvPr/>
        </p:nvSpPr>
        <p:spPr>
          <a:xfrm>
            <a:off x="6492240" y="5897880"/>
            <a:ext cx="5138928" cy="457200"/>
          </a:xfrm>
          <a:prstGeom prst="roundRect">
            <a:avLst>
              <a:gd name="adj" fmla="val 10000"/>
            </a:avLst>
          </a:prstGeom>
          <a:solidFill>
            <a:srgbClr val="F5F1EB"/>
          </a:solidFill>
          <a:ln w="9525">
            <a:solidFill>
              <a:srgbClr val="DCD4C9"/>
            </a:solidFill>
            <a:prstDash val="solid"/>
          </a:ln>
        </p:spPr>
        <p:txBody>
          <a:bodyPr/>
          <a:lstStyle/>
          <a:p>
            <a:endParaRPr/>
          </a:p>
        </p:txBody>
      </p:sp>
      <p:sp>
        <p:nvSpPr>
          <p:cNvPr id="7" name="Text 4"/>
          <p:cNvSpPr/>
          <p:nvPr/>
        </p:nvSpPr>
        <p:spPr>
          <a:xfrm>
            <a:off x="6720840" y="5971032"/>
            <a:ext cx="4754880" cy="457200"/>
          </a:xfrm>
          <a:prstGeom prst="rect">
            <a:avLst/>
          </a:prstGeom>
          <a:noFill/>
          <a:ln/>
        </p:spPr>
        <p:txBody>
          <a:bodyPr wrap="square" lIns="0" tIns="0" rIns="0" bIns="0" rtlCol="0" anchor="ctr"/>
          <a:lstStyle/>
          <a:p>
            <a:pPr marL="0" indent="0">
              <a:buNone/>
            </a:pPr>
            <a:r>
              <a:rPr lang="en-US" sz="1400" b="1" dirty="0">
                <a:solidFill>
                  <a:srgbClr val="24211D"/>
                </a:solidFill>
                <a:latin typeface="맑은 고딕" pitchFamily="34" charset="0"/>
                <a:ea typeface="맑은 고딕" pitchFamily="34" charset="-122"/>
                <a:cs typeface="맑은 고딕" pitchFamily="34" charset="-120"/>
              </a:rPr>
              <a:t>넓게 적용하려면 위쪽, 좁게 적용하려면 아래쪽에 씁니다</a:t>
            </a:r>
            <a:endParaRPr lang="en-US" sz="1150" dirty="0"/>
          </a:p>
        </p:txBody>
      </p:sp>
      <p:sp>
        <p:nvSpPr>
          <p:cNvPr id="8" name="Text 5"/>
          <p:cNvSpPr/>
          <p:nvPr/>
        </p:nvSpPr>
        <p:spPr>
          <a:xfrm>
            <a:off x="566928" y="6327648"/>
            <a:ext cx="11064240" cy="457200"/>
          </a:xfrm>
          <a:prstGeom prst="rect">
            <a:avLst/>
          </a:prstGeom>
          <a:noFill/>
          <a:ln/>
        </p:spPr>
        <p:txBody>
          <a:bodyPr wrap="square" lIns="0" tIns="0" rIns="0" bIns="0" rtlCol="0" anchor="ctr"/>
          <a:lstStyle/>
          <a:p>
            <a:pPr marL="0" indent="0">
              <a:buNone/>
            </a:pPr>
            <a:r>
              <a:rPr lang="en-US" sz="1100" i="1" dirty="0">
                <a:solidFill>
                  <a:srgbClr val="514B43"/>
                </a:solidFill>
                <a:latin typeface="맑은 고딕" pitchFamily="34" charset="0"/>
                <a:ea typeface="맑은 고딕" pitchFamily="34" charset="-122"/>
                <a:cs typeface="맑은 고딕" pitchFamily="34" charset="-120"/>
              </a:rPr>
              <a:t>출처: support.claude.com (10185728 · 13345190 · 14479288 · 11817273) · code.claude.com/docs (memory · skills · desktop) — 2026-08-06 직접 조회</a:t>
            </a:r>
            <a:endParaRPr lang="en-US" sz="850" dirty="0"/>
          </a:p>
        </p:txBody>
      </p:sp>
      <p:sp>
        <p:nvSpPr>
          <p:cNvPr id="4" name="TextBox 3">
            <a:extLst>
              <a:ext uri="{FF2B5EF4-FFF2-40B4-BE49-F238E27FC236}">
                <a16:creationId xmlns:a16="http://schemas.microsoft.com/office/drawing/2014/main" id="{D49D7AD3-6167-8FD5-68A7-E38BDC6C8EE9}"/>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04 · </a:t>
            </a:r>
            <a:r>
              <a:rPr lang="ko-KR" altLang="en-US" sz="1200">
                <a:solidFill>
                  <a:srgbClr val="A69C90"/>
                </a:solidFill>
                <a:latin typeface="맑은 고딕" panose="020B0503020000020004" pitchFamily="50" charset="-127"/>
                <a:ea typeface="맑은 고딕" panose="020B0503020000020004" pitchFamily="50" charset="-127"/>
              </a:rPr>
              <a:t>회원가입과 커넥터          </a:t>
            </a:r>
            <a:r>
              <a:rPr lang="en-US" altLang="ko-KR" sz="1200">
                <a:solidFill>
                  <a:srgbClr val="A69C90"/>
                </a:solidFill>
                <a:latin typeface="맑은 고딕" panose="020B0503020000020004" pitchFamily="50" charset="-127"/>
                <a:ea typeface="맑은 고딕" panose="020B0503020000020004" pitchFamily="50" charset="-127"/>
              </a:rPr>
              <a:t>33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4211D"/>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6643929-5B45-1C83-DF63-455C001C908F}"/>
              </a:ext>
            </a:extLst>
          </p:cNvPr>
          <p:cNvSpPr/>
          <p:nvPr/>
        </p:nvSpPr>
        <p:spPr>
          <a:xfrm>
            <a:off x="8128000" y="0"/>
            <a:ext cx="4064000" cy="6858000"/>
          </a:xfrm>
          <a:prstGeom prst="rect">
            <a:avLst/>
          </a:prstGeom>
          <a:solidFill>
            <a:srgbClr val="302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9BFD9DA7-8168-77CD-238D-692C992E2872}"/>
              </a:ext>
            </a:extLst>
          </p:cNvPr>
          <p:cNvSpPr txBox="1"/>
          <p:nvPr/>
        </p:nvSpPr>
        <p:spPr>
          <a:xfrm>
            <a:off x="8128000" y="1905000"/>
            <a:ext cx="4064000" cy="3016210"/>
          </a:xfrm>
          <a:prstGeom prst="rect">
            <a:avLst/>
          </a:prstGeom>
          <a:noFill/>
        </p:spPr>
        <p:txBody>
          <a:bodyPr vert="horz" rtlCol="0" anchor="ctr">
            <a:spAutoFit/>
          </a:bodyPr>
          <a:lstStyle/>
          <a:p>
            <a:pPr algn="ctr"/>
            <a:r>
              <a:rPr lang="en-US" altLang="ko-KR" sz="19000" b="1">
                <a:solidFill>
                  <a:srgbClr val="4A4239"/>
                </a:solidFill>
                <a:latin typeface="맑은 고딕" panose="020B0503020000020004" pitchFamily="50" charset="-127"/>
                <a:ea typeface="맑은 고딕" panose="020B0503020000020004" pitchFamily="50" charset="-127"/>
              </a:rPr>
              <a:t>05</a:t>
            </a:r>
            <a:endParaRPr lang="ko-KR" altLang="en-US" sz="19000" b="1">
              <a:solidFill>
                <a:srgbClr val="4A4239"/>
              </a:solidFill>
              <a:latin typeface="맑은 고딕" panose="020B0503020000020004" pitchFamily="50" charset="-127"/>
              <a:ea typeface="맑은 고딕" panose="020B0503020000020004" pitchFamily="50" charset="-127"/>
            </a:endParaRPr>
          </a:p>
        </p:txBody>
      </p:sp>
      <p:sp>
        <p:nvSpPr>
          <p:cNvPr id="4" name="TextBox 3">
            <a:extLst>
              <a:ext uri="{FF2B5EF4-FFF2-40B4-BE49-F238E27FC236}">
                <a16:creationId xmlns:a16="http://schemas.microsoft.com/office/drawing/2014/main" id="{378F55B2-574E-8C0B-7AAF-8BD32B5D1652}"/>
              </a:ext>
            </a:extLst>
          </p:cNvPr>
          <p:cNvSpPr txBox="1"/>
          <p:nvPr/>
        </p:nvSpPr>
        <p:spPr>
          <a:xfrm>
            <a:off x="863600" y="2235200"/>
            <a:ext cx="5842000" cy="353943"/>
          </a:xfrm>
          <a:prstGeom prst="rect">
            <a:avLst/>
          </a:prstGeom>
          <a:noFill/>
        </p:spPr>
        <p:txBody>
          <a:bodyPr vert="horz" rtlCol="0" anchor="ctr">
            <a:spAutoFit/>
          </a:bodyPr>
          <a:lstStyle/>
          <a:p>
            <a:r>
              <a:rPr lang="en-US" altLang="ko-KR" sz="1700" b="1">
                <a:solidFill>
                  <a:srgbClr val="D97757"/>
                </a:solidFill>
                <a:latin typeface="맑은 고딕" panose="020B0503020000020004" pitchFamily="50" charset="-127"/>
                <a:ea typeface="맑은 고딕" panose="020B0503020000020004" pitchFamily="50" charset="-127"/>
              </a:rPr>
              <a:t>SECTION 05</a:t>
            </a:r>
            <a:endParaRPr lang="ko-KR" altLang="en-US" sz="1700" b="1">
              <a:solidFill>
                <a:srgbClr val="D97757"/>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CE60D38-708F-0ACC-AD36-63E86B791A3D}"/>
              </a:ext>
            </a:extLst>
          </p:cNvPr>
          <p:cNvSpPr txBox="1"/>
          <p:nvPr/>
        </p:nvSpPr>
        <p:spPr>
          <a:xfrm>
            <a:off x="863600" y="2616200"/>
            <a:ext cx="6921500" cy="769441"/>
          </a:xfrm>
          <a:prstGeom prst="rect">
            <a:avLst/>
          </a:prstGeom>
          <a:noFill/>
        </p:spPr>
        <p:txBody>
          <a:bodyPr vert="horz" rtlCol="0" anchor="t">
            <a:spAutoFit/>
          </a:bodyPr>
          <a:lstStyle/>
          <a:p>
            <a:r>
              <a:rPr lang="en-US" altLang="ko-KR" sz="4400" b="1">
                <a:solidFill>
                  <a:srgbClr val="FFFFFF"/>
                </a:solidFill>
                <a:latin typeface="맑은 고딕" panose="020B0503020000020004" pitchFamily="50" charset="-127"/>
                <a:ea typeface="맑은 고딕" panose="020B0503020000020004" pitchFamily="50" charset="-127"/>
              </a:rPr>
              <a:t>MCP </a:t>
            </a:r>
            <a:r>
              <a:rPr lang="ko-KR" altLang="en-US" sz="4400" b="1">
                <a:solidFill>
                  <a:srgbClr val="FFFFFF"/>
                </a:solidFill>
                <a:latin typeface="맑은 고딕" panose="020B0503020000020004" pitchFamily="50" charset="-127"/>
                <a:ea typeface="맑은 고딕" panose="020B0503020000020004" pitchFamily="50" charset="-127"/>
              </a:rPr>
              <a:t>와 </a:t>
            </a:r>
            <a:r>
              <a:rPr lang="en-US" altLang="ko-KR" sz="4400" b="1">
                <a:solidFill>
                  <a:srgbClr val="FFFFFF"/>
                </a:solidFill>
                <a:latin typeface="맑은 고딕" panose="020B0503020000020004" pitchFamily="50" charset="-127"/>
                <a:ea typeface="맑은 고딕" panose="020B0503020000020004" pitchFamily="50" charset="-127"/>
              </a:rPr>
              <a:t>API</a:t>
            </a:r>
            <a:endParaRPr lang="ko-KR" altLang="en-US" sz="4400" b="1">
              <a:solidFill>
                <a:srgbClr val="FFFFFF"/>
              </a:solidFill>
              <a:latin typeface="맑은 고딕" panose="020B0503020000020004" pitchFamily="50" charset="-127"/>
              <a:ea typeface="맑은 고딕" panose="020B0503020000020004" pitchFamily="50" charset="-127"/>
            </a:endParaRPr>
          </a:p>
        </p:txBody>
      </p:sp>
      <p:sp>
        <p:nvSpPr>
          <p:cNvPr id="6" name="직사각형 5">
            <a:extLst>
              <a:ext uri="{FF2B5EF4-FFF2-40B4-BE49-F238E27FC236}">
                <a16:creationId xmlns:a16="http://schemas.microsoft.com/office/drawing/2014/main" id="{DD183382-56CD-B055-AE31-221491A9C213}"/>
              </a:ext>
            </a:extLst>
          </p:cNvPr>
          <p:cNvSpPr/>
          <p:nvPr/>
        </p:nvSpPr>
        <p:spPr>
          <a:xfrm>
            <a:off x="914400" y="3810000"/>
            <a:ext cx="812800" cy="508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E9FED234-C09F-4AB0-73A7-A1079BC9CE1B}"/>
              </a:ext>
            </a:extLst>
          </p:cNvPr>
          <p:cNvSpPr txBox="1"/>
          <p:nvPr/>
        </p:nvSpPr>
        <p:spPr>
          <a:xfrm>
            <a:off x="863600" y="4114800"/>
            <a:ext cx="6921500" cy="1523494"/>
          </a:xfrm>
          <a:prstGeom prst="rect">
            <a:avLst/>
          </a:prstGeom>
          <a:noFill/>
        </p:spPr>
        <p:txBody>
          <a:bodyPr vert="horz" rtlCol="0" anchor="t">
            <a:spAutoFit/>
          </a:bodyPr>
          <a:lstStyle/>
          <a:p>
            <a:pPr>
              <a:spcAft>
                <a:spcPts val="1000"/>
              </a:spcAft>
            </a:pPr>
            <a:r>
              <a:rPr lang="en-US" altLang="ko-KR" sz="1700">
                <a:solidFill>
                  <a:srgbClr val="C9C0B4"/>
                </a:solidFill>
                <a:latin typeface="맑은 고딕" panose="020B0503020000020004" pitchFamily="50" charset="-127"/>
                <a:ea typeface="맑은 고딕" panose="020B0503020000020004" pitchFamily="50" charset="-127"/>
              </a:rPr>
              <a:t>MCP </a:t>
            </a:r>
            <a:r>
              <a:rPr lang="ko-KR" altLang="en-US" sz="1700">
                <a:solidFill>
                  <a:srgbClr val="C9C0B4"/>
                </a:solidFill>
                <a:latin typeface="맑은 고딕" panose="020B0503020000020004" pitchFamily="50" charset="-127"/>
                <a:ea typeface="맑은 고딕" panose="020B0503020000020004" pitchFamily="50" charset="-127"/>
              </a:rPr>
              <a:t>는 </a:t>
            </a:r>
            <a:r>
              <a:rPr lang="en-US" altLang="ko-KR" sz="1700">
                <a:solidFill>
                  <a:srgbClr val="C9C0B4"/>
                </a:solidFill>
                <a:latin typeface="맑은 고딕" panose="020B0503020000020004" pitchFamily="50" charset="-127"/>
                <a:ea typeface="맑은 고딕" panose="020B0503020000020004" pitchFamily="50" charset="-127"/>
              </a:rPr>
              <a:t>AI </a:t>
            </a:r>
            <a:r>
              <a:rPr lang="ko-KR" altLang="en-US" sz="1700">
                <a:solidFill>
                  <a:srgbClr val="C9C0B4"/>
                </a:solidFill>
                <a:latin typeface="맑은 고딕" panose="020B0503020000020004" pitchFamily="50" charset="-127"/>
                <a:ea typeface="맑은 고딕" panose="020B0503020000020004" pitchFamily="50" charset="-127"/>
              </a:rPr>
              <a:t>를 위한 </a:t>
            </a:r>
            <a:r>
              <a:rPr lang="en-US" altLang="ko-KR" sz="1700">
                <a:solidFill>
                  <a:srgbClr val="C9C0B4"/>
                </a:solidFill>
                <a:latin typeface="맑은 고딕" panose="020B0503020000020004" pitchFamily="50" charset="-127"/>
                <a:ea typeface="맑은 고딕" panose="020B0503020000020004" pitchFamily="50" charset="-127"/>
              </a:rPr>
              <a:t>USB-C </a:t>
            </a:r>
            <a:r>
              <a:rPr lang="ko-KR" altLang="en-US" sz="1700">
                <a:solidFill>
                  <a:srgbClr val="C9C0B4"/>
                </a:solidFill>
                <a:latin typeface="맑은 고딕" panose="020B0503020000020004" pitchFamily="50" charset="-127"/>
                <a:ea typeface="맑은 고딕" panose="020B0503020000020004" pitchFamily="50" charset="-127"/>
              </a:rPr>
              <a:t>포트입니다</a:t>
            </a:r>
          </a:p>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붙이는 길은 두 가지</a:t>
            </a:r>
            <a:r>
              <a:rPr lang="en-US" altLang="ko-KR" sz="1700">
                <a:solidFill>
                  <a:srgbClr val="C9C0B4"/>
                </a:solidFill>
                <a:latin typeface="맑은 고딕" panose="020B0503020000020004" pitchFamily="50" charset="-127"/>
                <a:ea typeface="맑은 고딕" panose="020B0503020000020004" pitchFamily="50" charset="-127"/>
              </a:rPr>
              <a:t>, </a:t>
            </a:r>
            <a:r>
              <a:rPr lang="ko-KR" altLang="en-US" sz="1700">
                <a:solidFill>
                  <a:srgbClr val="C9C0B4"/>
                </a:solidFill>
                <a:latin typeface="맑은 고딕" panose="020B0503020000020004" pitchFamily="50" charset="-127"/>
                <a:ea typeface="맑은 고딕" panose="020B0503020000020004" pitchFamily="50" charset="-127"/>
              </a:rPr>
              <a:t>그리고 대가가 있습니다</a:t>
            </a:r>
          </a:p>
          <a:p>
            <a:pPr>
              <a:spcAft>
                <a:spcPts val="1000"/>
              </a:spcAft>
            </a:pPr>
            <a:r>
              <a:rPr lang="en-US" altLang="ko-KR" sz="1700">
                <a:solidFill>
                  <a:srgbClr val="C9C0B4"/>
                </a:solidFill>
                <a:latin typeface="맑은 고딕" panose="020B0503020000020004" pitchFamily="50" charset="-127"/>
                <a:ea typeface="맑은 고딕" panose="020B0503020000020004" pitchFamily="50" charset="-127"/>
              </a:rPr>
              <a:t>API </a:t>
            </a:r>
            <a:r>
              <a:rPr lang="ko-KR" altLang="en-US" sz="1700">
                <a:solidFill>
                  <a:srgbClr val="C9C0B4"/>
                </a:solidFill>
                <a:latin typeface="맑은 고딕" panose="020B0503020000020004" pitchFamily="50" charset="-127"/>
                <a:ea typeface="맑은 고딕" panose="020B0503020000020004" pitchFamily="50" charset="-127"/>
              </a:rPr>
              <a:t>키는 신분증이자 계량기입니다</a:t>
            </a:r>
          </a:p>
          <a:p>
            <a:pPr>
              <a:spcAft>
                <a:spcPts val="1000"/>
              </a:spcAft>
            </a:pPr>
            <a:r>
              <a:rPr lang="en-US" altLang="ko-KR" sz="1700">
                <a:solidFill>
                  <a:srgbClr val="C9C0B4"/>
                </a:solidFill>
                <a:latin typeface="맑은 고딕" panose="020B0503020000020004" pitchFamily="50" charset="-127"/>
                <a:ea typeface="맑은 고딕" panose="020B0503020000020004" pitchFamily="50" charset="-127"/>
              </a:rPr>
              <a:t>MCP </a:t>
            </a:r>
            <a:r>
              <a:rPr lang="ko-KR" altLang="en-US" sz="1700">
                <a:solidFill>
                  <a:srgbClr val="C9C0B4"/>
                </a:solidFill>
                <a:latin typeface="맑은 고딕" panose="020B0503020000020004" pitchFamily="50" charset="-127"/>
                <a:ea typeface="맑은 고딕" panose="020B0503020000020004" pitchFamily="50" charset="-127"/>
              </a:rPr>
              <a:t>는 통로</a:t>
            </a:r>
            <a:r>
              <a:rPr lang="en-US" altLang="ko-KR" sz="1700">
                <a:solidFill>
                  <a:srgbClr val="C9C0B4"/>
                </a:solidFill>
                <a:latin typeface="맑은 고딕" panose="020B0503020000020004" pitchFamily="50" charset="-127"/>
                <a:ea typeface="맑은 고딕" panose="020B0503020000020004" pitchFamily="50" charset="-127"/>
              </a:rPr>
              <a:t>, API </a:t>
            </a:r>
            <a:r>
              <a:rPr lang="ko-KR" altLang="en-US" sz="1700">
                <a:solidFill>
                  <a:srgbClr val="C9C0B4"/>
                </a:solidFill>
                <a:latin typeface="맑은 고딕" panose="020B0503020000020004" pitchFamily="50" charset="-127"/>
                <a:ea typeface="맑은 고딕" panose="020B0503020000020004" pitchFamily="50" charset="-127"/>
              </a:rPr>
              <a:t>는 열쇠</a:t>
            </a:r>
          </a:p>
        </p:txBody>
      </p:sp>
      <p:sp>
        <p:nvSpPr>
          <p:cNvPr id="8" name="TextBox 7">
            <a:extLst>
              <a:ext uri="{FF2B5EF4-FFF2-40B4-BE49-F238E27FC236}">
                <a16:creationId xmlns:a16="http://schemas.microsoft.com/office/drawing/2014/main" id="{C0002559-B967-2887-69BE-F3A1DD341FD3}"/>
              </a:ext>
            </a:extLst>
          </p:cNvPr>
          <p:cNvSpPr txBox="1"/>
          <p:nvPr/>
        </p:nvSpPr>
        <p:spPr>
          <a:xfrm>
            <a:off x="863600" y="6172200"/>
            <a:ext cx="5842000" cy="292388"/>
          </a:xfrm>
          <a:prstGeom prst="rect">
            <a:avLst/>
          </a:prstGeom>
          <a:noFill/>
        </p:spPr>
        <p:txBody>
          <a:bodyPr vert="horz" rtlCol="0" anchor="ctr">
            <a:spAutoFit/>
          </a:bodyPr>
          <a:lstStyle/>
          <a:p>
            <a:r>
              <a:rPr lang="en-US" altLang="ko-KR" sz="1300">
                <a:solidFill>
                  <a:srgbClr val="726859"/>
                </a:solidFill>
                <a:latin typeface="맑은 고딕" panose="020B0503020000020004" pitchFamily="50" charset="-127"/>
                <a:ea typeface="맑은 고딕" panose="020B0503020000020004" pitchFamily="50" charset="-127"/>
              </a:rPr>
              <a:t>Claude 데스크탑 시작하기</a:t>
            </a:r>
          </a:p>
        </p:txBody>
      </p:sp>
      <p:pic>
        <p:nvPicPr>
          <p:cNvPr id="10" name="그래픽 9">
            <a:extLst>
              <a:ext uri="{FF2B5EF4-FFF2-40B4-BE49-F238E27FC236}">
                <a16:creationId xmlns:a16="http://schemas.microsoft.com/office/drawing/2014/main" id="{A45E6803-3DB9-7D46-3111-9C9BE1E8F2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600" y="889000"/>
            <a:ext cx="812800" cy="812800"/>
          </a:xfrm>
          <a:prstGeom prst="rect">
            <a:avLst/>
          </a:prstGeom>
        </p:spPr>
      </p:pic>
    </p:spTree>
    <p:extLst>
      <p:ext uri="{BB962C8B-B14F-4D97-AF65-F5344CB8AC3E}">
        <p14:creationId xmlns:p14="http://schemas.microsoft.com/office/powerpoint/2010/main" val="3211010692"/>
      </p:ext>
    </p:extLst>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MCP는 AI를 위한 USB-C 포트입니다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MCP(Model Context Protocol, 외부 프로그램 연결 규격)</a:t>
            </a:r>
            <a:endParaRPr lang="en-US" sz="1500" dirty="0"/>
          </a:p>
        </p:txBody>
      </p:sp>
      <p:sp>
        <p:nvSpPr>
          <p:cNvPr id="4" name="Shape 2"/>
          <p:cNvSpPr/>
          <p:nvPr/>
        </p:nvSpPr>
        <p:spPr>
          <a:xfrm>
            <a:off x="566928" y="1664208"/>
            <a:ext cx="11064240" cy="969264"/>
          </a:xfrm>
          <a:prstGeom prst="roundRect">
            <a:avLst>
              <a:gd name="adj" fmla="val 4717"/>
            </a:avLst>
          </a:prstGeom>
          <a:solidFill>
            <a:srgbClr val="F5F1EB"/>
          </a:solidFill>
          <a:ln w="9525">
            <a:solidFill>
              <a:srgbClr val="DCD4C9"/>
            </a:solidFill>
            <a:prstDash val="solid"/>
          </a:ln>
        </p:spPr>
        <p:txBody>
          <a:bodyPr/>
          <a:lstStyle/>
          <a:p>
            <a:endParaRPr/>
          </a:p>
        </p:txBody>
      </p:sp>
      <p:sp>
        <p:nvSpPr>
          <p:cNvPr id="5" name="Text 3"/>
          <p:cNvSpPr/>
          <p:nvPr/>
        </p:nvSpPr>
        <p:spPr>
          <a:xfrm>
            <a:off x="868680" y="1664208"/>
            <a:ext cx="10515600" cy="969264"/>
          </a:xfrm>
          <a:prstGeom prst="rect">
            <a:avLst/>
          </a:prstGeom>
          <a:noFill/>
          <a:ln/>
        </p:spPr>
        <p:txBody>
          <a:bodyPr wrap="square" lIns="0" tIns="0" rIns="0" bIns="0" rtlCol="0" anchor="ctr"/>
          <a:lstStyle/>
          <a:p>
            <a:pPr marL="0" indent="0">
              <a:lnSpc>
                <a:spcPts val="2400"/>
              </a:lnSpc>
              <a:buNone/>
            </a:pPr>
            <a:r>
              <a:rPr lang="en-US" sz="1800" dirty="0">
                <a:solidFill>
                  <a:srgbClr val="24211D"/>
                </a:solidFill>
                <a:latin typeface="맑은 고딕" pitchFamily="34" charset="0"/>
                <a:ea typeface="맑은 고딕" pitchFamily="34" charset="-122"/>
                <a:cs typeface="맑은 고딕" pitchFamily="34" charset="-120"/>
              </a:rPr>
              <a:t>노트북에 USB-C 구멍 하나면 </a:t>
            </a:r>
            <a:r>
              <a:rPr lang="en-US" sz="1800" b="1" dirty="0">
                <a:solidFill>
                  <a:srgbClr val="A8462A"/>
                </a:solidFill>
                <a:latin typeface="맑은 고딕" pitchFamily="34" charset="0"/>
                <a:ea typeface="맑은 고딕" pitchFamily="34" charset="-122"/>
                <a:cs typeface="맑은 고딕" pitchFamily="34" charset="-120"/>
              </a:rPr>
              <a:t>모니터도 키보드도 충전기도</a:t>
            </a:r>
            <a:r>
              <a:rPr lang="en-US" sz="1800" dirty="0">
                <a:solidFill>
                  <a:srgbClr val="24211D"/>
                </a:solidFill>
                <a:latin typeface="맑은 고딕" pitchFamily="34" charset="0"/>
                <a:ea typeface="맑은 고딕" pitchFamily="34" charset="-122"/>
                <a:cs typeface="맑은 고딕" pitchFamily="34" charset="-120"/>
              </a:rPr>
              <a:t> 꽂힙니다.</a:t>
            </a:r>
            <a:endParaRPr lang="en-US" sz="1500" dirty="0"/>
          </a:p>
          <a:p>
            <a:pPr marL="0" indent="0">
              <a:lnSpc>
                <a:spcPts val="2400"/>
              </a:lnSpc>
              <a:buNone/>
            </a:pPr>
            <a:r>
              <a:rPr lang="en-US" sz="1800" dirty="0">
                <a:solidFill>
                  <a:srgbClr val="514B43"/>
                </a:solidFill>
                <a:latin typeface="맑은 고딕" pitchFamily="34" charset="0"/>
                <a:ea typeface="맑은 고딕" pitchFamily="34" charset="-122"/>
                <a:cs typeface="맑은 고딕" pitchFamily="34" charset="-120"/>
              </a:rPr>
              <a:t>구멍 규격이 하나로 정해져 있으니까요. MCP가 하는 일이 그것입니다.</a:t>
            </a:r>
            <a:endParaRPr lang="en-US" sz="1500" dirty="0"/>
          </a:p>
        </p:txBody>
      </p:sp>
      <p:sp>
        <p:nvSpPr>
          <p:cNvPr id="6" name="Shape 4"/>
          <p:cNvSpPr/>
          <p:nvPr/>
        </p:nvSpPr>
        <p:spPr>
          <a:xfrm>
            <a:off x="566928" y="2999232"/>
            <a:ext cx="2423160" cy="1481328"/>
          </a:xfrm>
          <a:prstGeom prst="roundRect">
            <a:avLst>
              <a:gd name="adj" fmla="val 3704"/>
            </a:avLst>
          </a:prstGeom>
          <a:solidFill>
            <a:srgbClr val="FFFFFF"/>
          </a:solidFill>
          <a:ln w="15875">
            <a:solidFill>
              <a:srgbClr val="DCD4C9"/>
            </a:solidFill>
            <a:prstDash val="solid"/>
          </a:ln>
        </p:spPr>
        <p:txBody>
          <a:bodyPr/>
          <a:lstStyle/>
          <a:p>
            <a:endParaRPr/>
          </a:p>
        </p:txBody>
      </p:sp>
      <p:sp>
        <p:nvSpPr>
          <p:cNvPr id="7" name="Text 5"/>
          <p:cNvSpPr/>
          <p:nvPr/>
        </p:nvSpPr>
        <p:spPr>
          <a:xfrm>
            <a:off x="566928" y="3145536"/>
            <a:ext cx="2423160" cy="420624"/>
          </a:xfrm>
          <a:prstGeom prst="rect">
            <a:avLst/>
          </a:prstGeom>
          <a:noFill/>
          <a:ln/>
        </p:spPr>
        <p:txBody>
          <a:bodyPr wrap="square" lIns="0" tIns="0" rIns="0" bIns="0" rtlCol="0" anchor="ctr"/>
          <a:lstStyle/>
          <a:p>
            <a:pPr marL="0" indent="0" algn="ctr">
              <a:buNone/>
            </a:pPr>
            <a:r>
              <a:rPr lang="en-US" sz="2150" b="1" dirty="0">
                <a:solidFill>
                  <a:srgbClr val="24211D"/>
                </a:solidFill>
                <a:latin typeface="맑은 고딕" pitchFamily="34" charset="0"/>
                <a:ea typeface="맑은 고딕" pitchFamily="34" charset="-122"/>
                <a:cs typeface="맑은 고딕" pitchFamily="34" charset="-120"/>
              </a:rPr>
              <a:t>나</a:t>
            </a:r>
            <a:endParaRPr lang="en-US" sz="1900" dirty="0"/>
          </a:p>
        </p:txBody>
      </p:sp>
      <p:sp>
        <p:nvSpPr>
          <p:cNvPr id="8" name="Text 6"/>
          <p:cNvSpPr/>
          <p:nvPr/>
        </p:nvSpPr>
        <p:spPr>
          <a:xfrm>
            <a:off x="676656" y="3566160"/>
            <a:ext cx="2203704" cy="786384"/>
          </a:xfrm>
          <a:prstGeom prst="rect">
            <a:avLst/>
          </a:prstGeom>
          <a:noFill/>
          <a:ln/>
        </p:spPr>
        <p:txBody>
          <a:bodyPr wrap="square" lIns="0" tIns="0" rIns="0" bIns="0" rtlCol="0" anchor="t"/>
          <a:lstStyle/>
          <a:p>
            <a:pPr marL="0" indent="0" algn="ctr">
              <a:lnSpc>
                <a:spcPts val="1700"/>
              </a:lnSpc>
              <a:buNone/>
            </a:pPr>
            <a:r>
              <a:rPr lang="en-US" sz="1600" dirty="0">
                <a:solidFill>
                  <a:srgbClr val="514B43"/>
                </a:solidFill>
                <a:latin typeface="맑은 고딕" pitchFamily="34" charset="0"/>
                <a:ea typeface="맑은 고딕" pitchFamily="34" charset="-122"/>
                <a:cs typeface="맑은 고딕" pitchFamily="34" charset="-120"/>
              </a:rPr>
              <a:t>물어보고</a:t>
            </a:r>
            <a:endParaRPr lang="en-US" sz="1250" dirty="0"/>
          </a:p>
          <a:p>
            <a:pPr marL="0" indent="0" algn="ctr">
              <a:lnSpc>
                <a:spcPts val="1700"/>
              </a:lnSpc>
              <a:buNone/>
            </a:pPr>
            <a:r>
              <a:rPr lang="en-US" sz="1600" dirty="0">
                <a:solidFill>
                  <a:srgbClr val="514B43"/>
                </a:solidFill>
                <a:latin typeface="맑은 고딕" pitchFamily="34" charset="0"/>
                <a:ea typeface="맑은 고딕" pitchFamily="34" charset="-122"/>
                <a:cs typeface="맑은 고딕" pitchFamily="34" charset="-120"/>
              </a:rPr>
              <a:t>시킵니다</a:t>
            </a:r>
            <a:endParaRPr lang="en-US" sz="1250" dirty="0"/>
          </a:p>
        </p:txBody>
      </p:sp>
      <p:sp>
        <p:nvSpPr>
          <p:cNvPr id="9" name="Shape 7"/>
          <p:cNvSpPr/>
          <p:nvPr/>
        </p:nvSpPr>
        <p:spPr>
          <a:xfrm>
            <a:off x="3072384" y="3593592"/>
            <a:ext cx="292608" cy="292608"/>
          </a:xfrm>
          <a:prstGeom prst="rightArrow">
            <a:avLst/>
          </a:prstGeom>
          <a:solidFill>
            <a:srgbClr val="DCD4C9"/>
          </a:solidFill>
          <a:ln w="12700">
            <a:solidFill>
              <a:srgbClr val="DCD4C9"/>
            </a:solidFill>
            <a:prstDash val="solid"/>
          </a:ln>
        </p:spPr>
        <p:txBody>
          <a:bodyPr/>
          <a:lstStyle/>
          <a:p>
            <a:endParaRPr/>
          </a:p>
        </p:txBody>
      </p:sp>
      <p:sp>
        <p:nvSpPr>
          <p:cNvPr id="10" name="Shape 8"/>
          <p:cNvSpPr/>
          <p:nvPr/>
        </p:nvSpPr>
        <p:spPr>
          <a:xfrm>
            <a:off x="3447288" y="2999232"/>
            <a:ext cx="2423160" cy="1481328"/>
          </a:xfrm>
          <a:prstGeom prst="roundRect">
            <a:avLst>
              <a:gd name="adj" fmla="val 3704"/>
            </a:avLst>
          </a:prstGeom>
          <a:solidFill>
            <a:srgbClr val="FFFFFF"/>
          </a:solidFill>
          <a:ln w="15875">
            <a:solidFill>
              <a:srgbClr val="DCD4C9"/>
            </a:solidFill>
            <a:prstDash val="solid"/>
          </a:ln>
        </p:spPr>
        <p:txBody>
          <a:bodyPr/>
          <a:lstStyle/>
          <a:p>
            <a:endParaRPr/>
          </a:p>
        </p:txBody>
      </p:sp>
      <p:sp>
        <p:nvSpPr>
          <p:cNvPr id="11" name="Text 9"/>
          <p:cNvSpPr/>
          <p:nvPr/>
        </p:nvSpPr>
        <p:spPr>
          <a:xfrm>
            <a:off x="3447288" y="3145536"/>
            <a:ext cx="2423160" cy="420624"/>
          </a:xfrm>
          <a:prstGeom prst="rect">
            <a:avLst/>
          </a:prstGeom>
          <a:noFill/>
          <a:ln/>
        </p:spPr>
        <p:txBody>
          <a:bodyPr wrap="square" lIns="0" tIns="0" rIns="0" bIns="0" rtlCol="0" anchor="ctr"/>
          <a:lstStyle/>
          <a:p>
            <a:pPr marL="0" indent="0" algn="ctr">
              <a:buNone/>
            </a:pPr>
            <a:r>
              <a:rPr lang="en-US" sz="2150" b="1" dirty="0">
                <a:solidFill>
                  <a:srgbClr val="24211D"/>
                </a:solidFill>
                <a:latin typeface="맑은 고딕" pitchFamily="34" charset="0"/>
                <a:ea typeface="맑은 고딕" pitchFamily="34" charset="-122"/>
                <a:cs typeface="맑은 고딕" pitchFamily="34" charset="-120"/>
              </a:rPr>
              <a:t>Claude</a:t>
            </a:r>
            <a:endParaRPr lang="en-US" sz="1900" dirty="0"/>
          </a:p>
        </p:txBody>
      </p:sp>
      <p:sp>
        <p:nvSpPr>
          <p:cNvPr id="12" name="Text 10"/>
          <p:cNvSpPr/>
          <p:nvPr/>
        </p:nvSpPr>
        <p:spPr>
          <a:xfrm>
            <a:off x="3557016" y="3566160"/>
            <a:ext cx="2203704" cy="786384"/>
          </a:xfrm>
          <a:prstGeom prst="rect">
            <a:avLst/>
          </a:prstGeom>
          <a:noFill/>
          <a:ln/>
        </p:spPr>
        <p:txBody>
          <a:bodyPr wrap="square" lIns="0" tIns="0" rIns="0" bIns="0" rtlCol="0" anchor="t"/>
          <a:lstStyle/>
          <a:p>
            <a:pPr marL="0" indent="0" algn="ctr">
              <a:lnSpc>
                <a:spcPts val="1700"/>
              </a:lnSpc>
              <a:buNone/>
            </a:pPr>
            <a:r>
              <a:rPr lang="en-US" sz="1600" dirty="0">
                <a:solidFill>
                  <a:srgbClr val="514B43"/>
                </a:solidFill>
                <a:latin typeface="맑은 고딕" pitchFamily="34" charset="0"/>
                <a:ea typeface="맑은 고딕" pitchFamily="34" charset="-122"/>
                <a:cs typeface="맑은 고딕" pitchFamily="34" charset="-120"/>
              </a:rPr>
              <a:t>말은 하지만</a:t>
            </a:r>
            <a:endParaRPr lang="en-US" sz="1250" dirty="0"/>
          </a:p>
          <a:p>
            <a:pPr marL="0" indent="0" algn="ctr">
              <a:lnSpc>
                <a:spcPts val="1700"/>
              </a:lnSpc>
              <a:buNone/>
            </a:pPr>
            <a:r>
              <a:rPr lang="en-US" sz="1600" dirty="0">
                <a:solidFill>
                  <a:srgbClr val="514B43"/>
                </a:solidFill>
                <a:latin typeface="맑은 고딕" pitchFamily="34" charset="0"/>
                <a:ea typeface="맑은 고딕" pitchFamily="34" charset="-122"/>
                <a:cs typeface="맑은 고딕" pitchFamily="34" charset="-120"/>
              </a:rPr>
              <a:t>혼자서는 못 만집니다</a:t>
            </a:r>
            <a:endParaRPr lang="en-US" sz="1250" dirty="0"/>
          </a:p>
        </p:txBody>
      </p:sp>
      <p:sp>
        <p:nvSpPr>
          <p:cNvPr id="13" name="Shape 11"/>
          <p:cNvSpPr/>
          <p:nvPr/>
        </p:nvSpPr>
        <p:spPr>
          <a:xfrm>
            <a:off x="5952744" y="3593592"/>
            <a:ext cx="292608" cy="292608"/>
          </a:xfrm>
          <a:prstGeom prst="rightArrow">
            <a:avLst/>
          </a:prstGeom>
          <a:solidFill>
            <a:srgbClr val="DCD4C9"/>
          </a:solidFill>
          <a:ln w="12700">
            <a:solidFill>
              <a:srgbClr val="DCD4C9"/>
            </a:solidFill>
            <a:prstDash val="solid"/>
          </a:ln>
        </p:spPr>
        <p:txBody>
          <a:bodyPr/>
          <a:lstStyle/>
          <a:p>
            <a:endParaRPr/>
          </a:p>
        </p:txBody>
      </p:sp>
      <p:sp>
        <p:nvSpPr>
          <p:cNvPr id="14" name="Shape 12"/>
          <p:cNvSpPr/>
          <p:nvPr/>
        </p:nvSpPr>
        <p:spPr>
          <a:xfrm>
            <a:off x="6327648" y="2999232"/>
            <a:ext cx="2423160" cy="1481328"/>
          </a:xfrm>
          <a:prstGeom prst="roundRect">
            <a:avLst>
              <a:gd name="adj" fmla="val 3704"/>
            </a:avLst>
          </a:prstGeom>
          <a:solidFill>
            <a:srgbClr val="D97757"/>
          </a:solidFill>
          <a:ln w="12700">
            <a:solidFill>
              <a:srgbClr val="D97757"/>
            </a:solidFill>
            <a:prstDash val="solid"/>
          </a:ln>
        </p:spPr>
        <p:txBody>
          <a:bodyPr/>
          <a:lstStyle/>
          <a:p>
            <a:endParaRPr/>
          </a:p>
        </p:txBody>
      </p:sp>
      <p:sp>
        <p:nvSpPr>
          <p:cNvPr id="15" name="Text 13"/>
          <p:cNvSpPr/>
          <p:nvPr/>
        </p:nvSpPr>
        <p:spPr>
          <a:xfrm>
            <a:off x="6327648" y="3145536"/>
            <a:ext cx="2423160" cy="420624"/>
          </a:xfrm>
          <a:prstGeom prst="rect">
            <a:avLst/>
          </a:prstGeom>
          <a:noFill/>
          <a:ln/>
        </p:spPr>
        <p:txBody>
          <a:bodyPr wrap="square" lIns="0" tIns="0" rIns="0" bIns="0" rtlCol="0" anchor="ctr"/>
          <a:lstStyle/>
          <a:p>
            <a:pPr marL="0" indent="0" algn="ctr">
              <a:buNone/>
            </a:pPr>
            <a:r>
              <a:rPr lang="en-US" sz="2150" b="1" dirty="0">
                <a:solidFill>
                  <a:srgbClr val="FFFFFF"/>
                </a:solidFill>
                <a:latin typeface="맑은 고딕" pitchFamily="34" charset="0"/>
                <a:ea typeface="맑은 고딕" pitchFamily="34" charset="-122"/>
                <a:cs typeface="맑은 고딕" pitchFamily="34" charset="-120"/>
              </a:rPr>
              <a:t>MCP</a:t>
            </a:r>
            <a:endParaRPr lang="en-US" sz="1900" dirty="0"/>
          </a:p>
        </p:txBody>
      </p:sp>
      <p:sp>
        <p:nvSpPr>
          <p:cNvPr id="16" name="Text 14"/>
          <p:cNvSpPr/>
          <p:nvPr/>
        </p:nvSpPr>
        <p:spPr>
          <a:xfrm>
            <a:off x="6437376" y="3566160"/>
            <a:ext cx="2203704" cy="786384"/>
          </a:xfrm>
          <a:prstGeom prst="rect">
            <a:avLst/>
          </a:prstGeom>
          <a:noFill/>
          <a:ln/>
        </p:spPr>
        <p:txBody>
          <a:bodyPr wrap="square" lIns="0" tIns="0" rIns="0" bIns="0" rtlCol="0" anchor="t"/>
          <a:lstStyle/>
          <a:p>
            <a:pPr marL="0" indent="0" algn="ctr">
              <a:lnSpc>
                <a:spcPts val="1700"/>
              </a:lnSpc>
              <a:buNone/>
            </a:pPr>
            <a:r>
              <a:rPr lang="en-US" sz="1600" dirty="0">
                <a:solidFill>
                  <a:srgbClr val="FBEDE6"/>
                </a:solidFill>
                <a:latin typeface="맑은 고딕" pitchFamily="34" charset="0"/>
                <a:ea typeface="맑은 고딕" pitchFamily="34" charset="-122"/>
                <a:cs typeface="맑은 고딕" pitchFamily="34" charset="-120"/>
              </a:rPr>
              <a:t>표준 연결 규격</a:t>
            </a:r>
            <a:endParaRPr lang="en-US" sz="1250" dirty="0"/>
          </a:p>
          <a:p>
            <a:pPr marL="0" indent="0" algn="ctr">
              <a:lnSpc>
                <a:spcPts val="1700"/>
              </a:lnSpc>
              <a:buNone/>
            </a:pPr>
            <a:r>
              <a:rPr lang="en-US" sz="1600" dirty="0">
                <a:solidFill>
                  <a:srgbClr val="FBEDE6"/>
                </a:solidFill>
                <a:latin typeface="맑은 고딕" pitchFamily="34" charset="0"/>
                <a:ea typeface="맑은 고딕" pitchFamily="34" charset="-122"/>
                <a:cs typeface="맑은 고딕" pitchFamily="34" charset="-120"/>
              </a:rPr>
              <a:t>= 손발</a:t>
            </a:r>
            <a:endParaRPr lang="en-US" sz="1250" dirty="0"/>
          </a:p>
        </p:txBody>
      </p:sp>
      <p:sp>
        <p:nvSpPr>
          <p:cNvPr id="17" name="Shape 15"/>
          <p:cNvSpPr/>
          <p:nvPr/>
        </p:nvSpPr>
        <p:spPr>
          <a:xfrm>
            <a:off x="8833104" y="3593592"/>
            <a:ext cx="292608" cy="292608"/>
          </a:xfrm>
          <a:prstGeom prst="rightArrow">
            <a:avLst/>
          </a:prstGeom>
          <a:solidFill>
            <a:srgbClr val="DCD4C9"/>
          </a:solidFill>
          <a:ln w="12700">
            <a:solidFill>
              <a:srgbClr val="DCD4C9"/>
            </a:solidFill>
            <a:prstDash val="solid"/>
          </a:ln>
        </p:spPr>
        <p:txBody>
          <a:bodyPr/>
          <a:lstStyle/>
          <a:p>
            <a:endParaRPr/>
          </a:p>
        </p:txBody>
      </p:sp>
      <p:sp>
        <p:nvSpPr>
          <p:cNvPr id="18" name="Shape 16"/>
          <p:cNvSpPr/>
          <p:nvPr/>
        </p:nvSpPr>
        <p:spPr>
          <a:xfrm>
            <a:off x="9208008" y="2999232"/>
            <a:ext cx="2423160" cy="1481328"/>
          </a:xfrm>
          <a:prstGeom prst="roundRect">
            <a:avLst>
              <a:gd name="adj" fmla="val 3704"/>
            </a:avLst>
          </a:prstGeom>
          <a:solidFill>
            <a:srgbClr val="FFFFFF"/>
          </a:solidFill>
          <a:ln w="15875">
            <a:solidFill>
              <a:srgbClr val="DCD4C9"/>
            </a:solidFill>
            <a:prstDash val="solid"/>
          </a:ln>
        </p:spPr>
        <p:txBody>
          <a:bodyPr/>
          <a:lstStyle/>
          <a:p>
            <a:endParaRPr/>
          </a:p>
        </p:txBody>
      </p:sp>
      <p:sp>
        <p:nvSpPr>
          <p:cNvPr id="19" name="Text 17"/>
          <p:cNvSpPr/>
          <p:nvPr/>
        </p:nvSpPr>
        <p:spPr>
          <a:xfrm>
            <a:off x="9208008" y="3145536"/>
            <a:ext cx="2423160" cy="420624"/>
          </a:xfrm>
          <a:prstGeom prst="rect">
            <a:avLst/>
          </a:prstGeom>
          <a:noFill/>
          <a:ln/>
        </p:spPr>
        <p:txBody>
          <a:bodyPr wrap="square" lIns="0" tIns="0" rIns="0" bIns="0" rtlCol="0" anchor="ctr"/>
          <a:lstStyle/>
          <a:p>
            <a:pPr marL="0" indent="0" algn="ctr">
              <a:buNone/>
            </a:pPr>
            <a:r>
              <a:rPr lang="en-US" sz="2150" b="1" dirty="0">
                <a:solidFill>
                  <a:srgbClr val="24211D"/>
                </a:solidFill>
                <a:latin typeface="맑은 고딕" pitchFamily="34" charset="0"/>
                <a:ea typeface="맑은 고딕" pitchFamily="34" charset="-122"/>
                <a:cs typeface="맑은 고딕" pitchFamily="34" charset="-120"/>
              </a:rPr>
              <a:t>바깥 세상</a:t>
            </a:r>
            <a:endParaRPr lang="en-US" sz="1900" dirty="0"/>
          </a:p>
        </p:txBody>
      </p:sp>
      <p:sp>
        <p:nvSpPr>
          <p:cNvPr id="20" name="Text 18"/>
          <p:cNvSpPr/>
          <p:nvPr/>
        </p:nvSpPr>
        <p:spPr>
          <a:xfrm>
            <a:off x="9317736" y="3566160"/>
            <a:ext cx="2203704" cy="786384"/>
          </a:xfrm>
          <a:prstGeom prst="rect">
            <a:avLst/>
          </a:prstGeom>
          <a:noFill/>
          <a:ln/>
        </p:spPr>
        <p:txBody>
          <a:bodyPr wrap="square" lIns="0" tIns="0" rIns="0" bIns="0" rtlCol="0" anchor="t"/>
          <a:lstStyle/>
          <a:p>
            <a:pPr marL="0" indent="0" algn="ctr">
              <a:lnSpc>
                <a:spcPts val="1700"/>
              </a:lnSpc>
              <a:buNone/>
            </a:pPr>
            <a:r>
              <a:rPr lang="en-US" sz="1600" dirty="0">
                <a:solidFill>
                  <a:srgbClr val="514B43"/>
                </a:solidFill>
                <a:latin typeface="맑은 고딕" pitchFamily="34" charset="0"/>
                <a:ea typeface="맑은 고딕" pitchFamily="34" charset="-122"/>
                <a:cs typeface="맑은 고딕" pitchFamily="34" charset="-120"/>
              </a:rPr>
              <a:t>내 파일 · 검색</a:t>
            </a:r>
            <a:endParaRPr lang="en-US" sz="1250" dirty="0"/>
          </a:p>
          <a:p>
            <a:pPr marL="0" indent="0" algn="ctr">
              <a:lnSpc>
                <a:spcPts val="1700"/>
              </a:lnSpc>
              <a:buNone/>
            </a:pPr>
            <a:r>
              <a:rPr lang="en-US" sz="1600" dirty="0">
                <a:solidFill>
                  <a:srgbClr val="514B43"/>
                </a:solidFill>
                <a:latin typeface="맑은 고딕" pitchFamily="34" charset="0"/>
                <a:ea typeface="맑은 고딕" pitchFamily="34" charset="-122"/>
                <a:cs typeface="맑은 고딕" pitchFamily="34" charset="-120"/>
              </a:rPr>
              <a:t>업무 도구 · 데이터</a:t>
            </a:r>
            <a:endParaRPr lang="en-US" sz="1250" dirty="0"/>
          </a:p>
        </p:txBody>
      </p:sp>
      <p:sp>
        <p:nvSpPr>
          <p:cNvPr id="21" name="Shape 19"/>
          <p:cNvSpPr/>
          <p:nvPr/>
        </p:nvSpPr>
        <p:spPr>
          <a:xfrm>
            <a:off x="566928" y="4864608"/>
            <a:ext cx="11064240" cy="658368"/>
          </a:xfrm>
          <a:prstGeom prst="roundRect">
            <a:avLst>
              <a:gd name="adj" fmla="val 6944"/>
            </a:avLst>
          </a:prstGeom>
          <a:solidFill>
            <a:srgbClr val="24211D"/>
          </a:solidFill>
          <a:ln w="12700">
            <a:solidFill>
              <a:srgbClr val="24211D"/>
            </a:solidFill>
            <a:prstDash val="solid"/>
          </a:ln>
        </p:spPr>
        <p:txBody>
          <a:bodyPr/>
          <a:lstStyle/>
          <a:p>
            <a:endParaRPr/>
          </a:p>
        </p:txBody>
      </p:sp>
      <p:sp>
        <p:nvSpPr>
          <p:cNvPr id="22" name="Text 20"/>
          <p:cNvSpPr/>
          <p:nvPr/>
        </p:nvSpPr>
        <p:spPr>
          <a:xfrm>
            <a:off x="868680" y="4864608"/>
            <a:ext cx="10515600" cy="658368"/>
          </a:xfrm>
          <a:prstGeom prst="rect">
            <a:avLst/>
          </a:prstGeom>
          <a:noFill/>
          <a:ln/>
        </p:spPr>
        <p:txBody>
          <a:bodyPr wrap="square" lIns="0" tIns="0" rIns="0" bIns="0" rtlCol="0" anchor="ctr"/>
          <a:lstStyle/>
          <a:p>
            <a:pPr marL="0" indent="0">
              <a:buNone/>
            </a:pPr>
            <a:r>
              <a:rPr lang="en-US" sz="1750" dirty="0">
                <a:solidFill>
                  <a:srgbClr val="F3EDE5"/>
                </a:solidFill>
                <a:latin typeface="맑은 고딕" pitchFamily="34" charset="0"/>
                <a:ea typeface="맑은 고딕" pitchFamily="34" charset="-122"/>
                <a:cs typeface="맑은 고딕" pitchFamily="34" charset="-120"/>
              </a:rPr>
              <a:t>MCP를 안 붙이면 Claude는 </a:t>
            </a:r>
            <a:r>
              <a:rPr lang="en-US" sz="1750" b="1" dirty="0">
                <a:solidFill>
                  <a:srgbClr val="FFFFFF"/>
                </a:solidFill>
                <a:latin typeface="맑은 고딕" pitchFamily="34" charset="0"/>
                <a:ea typeface="맑은 고딕" pitchFamily="34" charset="-122"/>
                <a:cs typeface="맑은 고딕" pitchFamily="34" charset="-120"/>
              </a:rPr>
              <a:t>대화창 안에서만</a:t>
            </a:r>
            <a:r>
              <a:rPr lang="en-US" sz="1750" dirty="0">
                <a:solidFill>
                  <a:srgbClr val="F3EDE5"/>
                </a:solidFill>
                <a:latin typeface="맑은 고딕" pitchFamily="34" charset="0"/>
                <a:ea typeface="맑은 고딕" pitchFamily="34" charset="-122"/>
                <a:cs typeface="맑은 고딕" pitchFamily="34" charset="-120"/>
              </a:rPr>
              <a:t> 삽니다. 붙이는 순간 내 파일과 바깥 서비스에 닿습니다.</a:t>
            </a:r>
            <a:endParaRPr lang="en-US" sz="1450" dirty="0"/>
          </a:p>
        </p:txBody>
      </p:sp>
      <p:sp>
        <p:nvSpPr>
          <p:cNvPr id="23" name="Text 21"/>
          <p:cNvSpPr/>
          <p:nvPr/>
        </p:nvSpPr>
        <p:spPr>
          <a:xfrm>
            <a:off x="566928" y="5650992"/>
            <a:ext cx="11064240" cy="365760"/>
          </a:xfrm>
          <a:prstGeom prst="rect">
            <a:avLst/>
          </a:prstGeom>
          <a:noFill/>
          <a:ln/>
        </p:spPr>
        <p:txBody>
          <a:bodyPr wrap="square" lIns="0" tIns="0" rIns="0" bIns="0" rtlCol="0" anchor="ctr"/>
          <a:lstStyle/>
          <a:p>
            <a:pPr marL="0" indent="0">
              <a:buNone/>
            </a:pPr>
            <a:r>
              <a:rPr lang="en-US" sz="1650" b="1" dirty="0">
                <a:solidFill>
                  <a:srgbClr val="A8462A"/>
                </a:solidFill>
                <a:latin typeface="맑은 고딕" pitchFamily="34" charset="0"/>
                <a:ea typeface="맑은 고딕" pitchFamily="34" charset="-122"/>
                <a:cs typeface="맑은 고딕" pitchFamily="34" charset="-120"/>
              </a:rPr>
              <a:t>여기서 많이 막힙니다. MCP 섹션에서 직접 붙여 봅니다.</a:t>
            </a:r>
            <a:endParaRPr lang="en-US" sz="1300" dirty="0"/>
          </a:p>
        </p:txBody>
      </p:sp>
      <p:sp>
        <p:nvSpPr>
          <p:cNvPr id="24" name="Text 22"/>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출처: modelcontextprotocol.io/docs/getting-started/intro — 2026-08-06 직접 조회</a:t>
            </a:r>
            <a:endParaRPr lang="en-US" sz="1000" dirty="0"/>
          </a:p>
        </p:txBody>
      </p:sp>
      <p:sp>
        <p:nvSpPr>
          <p:cNvPr id="25" name="TextBox 24">
            <a:extLst>
              <a:ext uri="{FF2B5EF4-FFF2-40B4-BE49-F238E27FC236}">
                <a16:creationId xmlns:a16="http://schemas.microsoft.com/office/drawing/2014/main" id="{01747B1A-6840-7E43-5EEB-6E2F652C5624}"/>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05 · MCP </a:t>
            </a:r>
            <a:r>
              <a:rPr lang="ko-KR" altLang="en-US" sz="1200">
                <a:solidFill>
                  <a:srgbClr val="A69C90"/>
                </a:solidFill>
                <a:latin typeface="맑은 고딕" panose="020B0503020000020004" pitchFamily="50" charset="-127"/>
                <a:ea typeface="맑은 고딕" panose="020B0503020000020004" pitchFamily="50" charset="-127"/>
              </a:rPr>
              <a:t>와 </a:t>
            </a:r>
            <a:r>
              <a:rPr lang="en-US" altLang="ko-KR" sz="1200">
                <a:solidFill>
                  <a:srgbClr val="A69C90"/>
                </a:solidFill>
                <a:latin typeface="맑은 고딕" panose="020B0503020000020004" pitchFamily="50" charset="-127"/>
                <a:ea typeface="맑은 고딕" panose="020B0503020000020004" pitchFamily="50" charset="-127"/>
              </a:rPr>
              <a:t>API          35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붙이는 길은 두 가지, 그리고 대가가 있습니다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쉬운 길부터 시도하고, 목록에 없을 때만 어려운 길로 갑니다</a:t>
            </a:r>
            <a:endParaRPr lang="en-US" sz="1500" dirty="0"/>
          </a:p>
        </p:txBody>
      </p:sp>
      <p:sp>
        <p:nvSpPr>
          <p:cNvPr id="4" name="Shape 2"/>
          <p:cNvSpPr/>
          <p:nvPr/>
        </p:nvSpPr>
        <p:spPr>
          <a:xfrm>
            <a:off x="566928" y="1700784"/>
            <a:ext cx="5394960" cy="2487168"/>
          </a:xfrm>
          <a:prstGeom prst="roundRect">
            <a:avLst>
              <a:gd name="adj" fmla="val 1838"/>
            </a:avLst>
          </a:prstGeom>
          <a:solidFill>
            <a:srgbClr val="F5F1EB"/>
          </a:solidFill>
          <a:ln w="9525">
            <a:solidFill>
              <a:srgbClr val="DCD4C9"/>
            </a:solidFill>
            <a:prstDash val="solid"/>
          </a:ln>
        </p:spPr>
        <p:txBody>
          <a:bodyPr/>
          <a:lstStyle/>
          <a:p>
            <a:endParaRPr/>
          </a:p>
        </p:txBody>
      </p:sp>
      <p:sp>
        <p:nvSpPr>
          <p:cNvPr id="5" name="Shape 3"/>
          <p:cNvSpPr/>
          <p:nvPr/>
        </p:nvSpPr>
        <p:spPr>
          <a:xfrm>
            <a:off x="841248" y="1938528"/>
            <a:ext cx="457200" cy="457200"/>
          </a:xfrm>
          <a:prstGeom prst="ellipse">
            <a:avLst/>
          </a:prstGeom>
          <a:solidFill>
            <a:srgbClr val="D97757"/>
          </a:solidFill>
          <a:ln/>
        </p:spPr>
        <p:txBody>
          <a:bodyPr/>
          <a:lstStyle/>
          <a:p>
            <a:endParaRPr/>
          </a:p>
        </p:txBody>
      </p:sp>
      <p:sp>
        <p:nvSpPr>
          <p:cNvPr id="6" name="Text 4"/>
          <p:cNvSpPr/>
          <p:nvPr/>
        </p:nvSpPr>
        <p:spPr>
          <a:xfrm>
            <a:off x="841248" y="1938528"/>
            <a:ext cx="457200" cy="457200"/>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1</a:t>
            </a:r>
            <a:endParaRPr lang="en-US" sz="2000" dirty="0"/>
          </a:p>
        </p:txBody>
      </p:sp>
      <p:sp>
        <p:nvSpPr>
          <p:cNvPr id="7" name="Text 5"/>
          <p:cNvSpPr/>
          <p:nvPr/>
        </p:nvSpPr>
        <p:spPr>
          <a:xfrm>
            <a:off x="1426464" y="1938528"/>
            <a:ext cx="4206240" cy="457200"/>
          </a:xfrm>
          <a:prstGeom prst="rect">
            <a:avLst/>
          </a:prstGeom>
          <a:noFill/>
          <a:ln/>
        </p:spPr>
        <p:txBody>
          <a:bodyPr wrap="square" lIns="0" tIns="0" rIns="0" bIns="0" rtlCol="0" anchor="ctr"/>
          <a:lstStyle/>
          <a:p>
            <a:pPr marL="0" indent="0">
              <a:buNone/>
            </a:pPr>
            <a:r>
              <a:rPr lang="en-US" sz="2150" b="1" dirty="0">
                <a:solidFill>
                  <a:srgbClr val="24211D"/>
                </a:solidFill>
                <a:latin typeface="맑은 고딕" pitchFamily="34" charset="0"/>
                <a:ea typeface="맑은 고딕" pitchFamily="34" charset="-122"/>
                <a:cs typeface="맑은 고딕" pitchFamily="34" charset="-120"/>
              </a:rPr>
              <a:t>원클릭 설치</a:t>
            </a:r>
            <a:endParaRPr lang="en-US" sz="1900" dirty="0"/>
          </a:p>
        </p:txBody>
      </p:sp>
      <p:sp>
        <p:nvSpPr>
          <p:cNvPr id="8" name="Text 6"/>
          <p:cNvSpPr/>
          <p:nvPr/>
        </p:nvSpPr>
        <p:spPr>
          <a:xfrm>
            <a:off x="841248" y="2468880"/>
            <a:ext cx="4846320" cy="329184"/>
          </a:xfrm>
          <a:prstGeom prst="rect">
            <a:avLst/>
          </a:prstGeom>
          <a:noFill/>
          <a:ln/>
        </p:spPr>
        <p:txBody>
          <a:bodyPr wrap="square" lIns="0" tIns="0" rIns="0" bIns="0" rtlCol="0" anchor="ctr"/>
          <a:lstStyle/>
          <a:p>
            <a:pPr marL="0" indent="0">
              <a:buNone/>
            </a:pPr>
            <a:r>
              <a:rPr lang="en-US" sz="1650" dirty="0">
                <a:solidFill>
                  <a:srgbClr val="514B43"/>
                </a:solidFill>
                <a:latin typeface="맑은 고딕" pitchFamily="34" charset="0"/>
                <a:ea typeface="맑은 고딕" pitchFamily="34" charset="-122"/>
                <a:cs typeface="맑은 고딕" pitchFamily="34" charset="-120"/>
              </a:rPr>
              <a:t>목록에 있는 것은 버튼 한 번으로 끝납니다</a:t>
            </a:r>
            <a:endParaRPr lang="en-US" sz="1300" dirty="0"/>
          </a:p>
        </p:txBody>
      </p:sp>
      <p:sp>
        <p:nvSpPr>
          <p:cNvPr id="9" name="Shape 7"/>
          <p:cNvSpPr/>
          <p:nvPr/>
        </p:nvSpPr>
        <p:spPr>
          <a:xfrm>
            <a:off x="841248" y="2852928"/>
            <a:ext cx="4846320" cy="457200"/>
          </a:xfrm>
          <a:prstGeom prst="roundRect">
            <a:avLst>
              <a:gd name="adj" fmla="val 8000"/>
            </a:avLst>
          </a:prstGeom>
          <a:solidFill>
            <a:srgbClr val="24211D"/>
          </a:solidFill>
          <a:ln w="6350">
            <a:solidFill>
              <a:srgbClr val="24211D"/>
            </a:solidFill>
            <a:prstDash val="solid"/>
          </a:ln>
        </p:spPr>
        <p:txBody>
          <a:bodyPr/>
          <a:lstStyle/>
          <a:p>
            <a:endParaRPr/>
          </a:p>
        </p:txBody>
      </p:sp>
      <p:sp>
        <p:nvSpPr>
          <p:cNvPr id="10" name="Text 8"/>
          <p:cNvSpPr/>
          <p:nvPr/>
        </p:nvSpPr>
        <p:spPr>
          <a:xfrm>
            <a:off x="1005840" y="2852928"/>
            <a:ext cx="4517136" cy="457200"/>
          </a:xfrm>
          <a:prstGeom prst="rect">
            <a:avLst/>
          </a:prstGeom>
          <a:noFill/>
          <a:ln/>
        </p:spPr>
        <p:txBody>
          <a:bodyPr wrap="square" lIns="0" tIns="0" rIns="0" bIns="0" rtlCol="0" anchor="ctr"/>
          <a:lstStyle/>
          <a:p>
            <a:pPr marL="0" indent="0">
              <a:lnSpc>
                <a:spcPts val="1800"/>
              </a:lnSpc>
              <a:buNone/>
            </a:pPr>
            <a:r>
              <a:rPr lang="en-US" sz="1550" dirty="0">
                <a:solidFill>
                  <a:srgbClr val="F2E9E1"/>
                </a:solidFill>
                <a:latin typeface="Consolas" pitchFamily="34" charset="0"/>
                <a:ea typeface="Consolas" pitchFamily="34" charset="-122"/>
                <a:cs typeface="Consolas" pitchFamily="34" charset="-120"/>
              </a:rPr>
              <a:t>설정 &gt; Extensions &gt; Browse extensions</a:t>
            </a:r>
            <a:endParaRPr lang="en-US" sz="1200" dirty="0"/>
          </a:p>
        </p:txBody>
      </p:sp>
      <p:sp>
        <p:nvSpPr>
          <p:cNvPr id="11" name="Text 9"/>
          <p:cNvSpPr/>
          <p:nvPr/>
        </p:nvSpPr>
        <p:spPr>
          <a:xfrm>
            <a:off x="841248" y="3438144"/>
            <a:ext cx="4846320" cy="640080"/>
          </a:xfrm>
          <a:prstGeom prst="rect">
            <a:avLst/>
          </a:prstGeom>
          <a:noFill/>
          <a:ln/>
        </p:spPr>
        <p:txBody>
          <a:bodyPr wrap="square" lIns="0" tIns="0" rIns="0" bIns="0" rtlCol="0" anchor="t"/>
          <a:lstStyle/>
          <a:p>
            <a:pPr marL="342900" indent="-342900">
              <a:lnSpc>
                <a:spcPts val="2400"/>
              </a:lnSpc>
              <a:spcAft>
                <a:spcPts val="800"/>
              </a:spcAft>
              <a:buSzPct val="100000"/>
              <a:buChar char="•"/>
            </a:pPr>
            <a:r>
              <a:rPr lang="en-US" sz="1600" dirty="0">
                <a:solidFill>
                  <a:srgbClr val="24211D"/>
                </a:solidFill>
                <a:latin typeface="맑은 고딕" pitchFamily="34" charset="0"/>
                <a:ea typeface="맑은 고딕" pitchFamily="34" charset="-122"/>
                <a:cs typeface="맑은 고딕" pitchFamily="34" charset="-120"/>
              </a:rPr>
              <a:t>설치 후 API 키만 넣으면 끝</a:t>
            </a:r>
            <a:endParaRPr lang="en-US" sz="1250" dirty="0"/>
          </a:p>
          <a:p>
            <a:pPr marL="342900" indent="-342900">
              <a:lnSpc>
                <a:spcPts val="2400"/>
              </a:lnSpc>
              <a:spcAft>
                <a:spcPts val="800"/>
              </a:spcAft>
              <a:buSzPct val="100000"/>
              <a:buChar char="•"/>
            </a:pPr>
            <a:r>
              <a:rPr lang="en-US" sz="1600" dirty="0">
                <a:solidFill>
                  <a:srgbClr val="24211D"/>
                </a:solidFill>
                <a:latin typeface="맑은 고딕" pitchFamily="34" charset="0"/>
                <a:ea typeface="맑은 고딕" pitchFamily="34" charset="-122"/>
                <a:cs typeface="맑은 고딕" pitchFamily="34" charset="-120"/>
              </a:rPr>
              <a:t>연결 확인: 채팅창 하단 + &gt; Connectors</a:t>
            </a:r>
            <a:endParaRPr lang="en-US" sz="1250" dirty="0"/>
          </a:p>
        </p:txBody>
      </p:sp>
      <p:sp>
        <p:nvSpPr>
          <p:cNvPr id="12" name="Shape 10"/>
          <p:cNvSpPr/>
          <p:nvPr/>
        </p:nvSpPr>
        <p:spPr>
          <a:xfrm>
            <a:off x="6236208" y="1700784"/>
            <a:ext cx="5394960" cy="2487168"/>
          </a:xfrm>
          <a:prstGeom prst="roundRect">
            <a:avLst>
              <a:gd name="adj" fmla="val 1838"/>
            </a:avLst>
          </a:prstGeom>
          <a:solidFill>
            <a:srgbClr val="FFFFFF"/>
          </a:solidFill>
          <a:ln w="9525">
            <a:solidFill>
              <a:srgbClr val="DCD4C9"/>
            </a:solidFill>
            <a:prstDash val="solid"/>
          </a:ln>
        </p:spPr>
        <p:txBody>
          <a:bodyPr/>
          <a:lstStyle/>
          <a:p>
            <a:endParaRPr/>
          </a:p>
        </p:txBody>
      </p:sp>
      <p:sp>
        <p:nvSpPr>
          <p:cNvPr id="13" name="Shape 11"/>
          <p:cNvSpPr/>
          <p:nvPr/>
        </p:nvSpPr>
        <p:spPr>
          <a:xfrm>
            <a:off x="6510528" y="1938528"/>
            <a:ext cx="457200" cy="457200"/>
          </a:xfrm>
          <a:prstGeom prst="ellipse">
            <a:avLst/>
          </a:prstGeom>
          <a:solidFill>
            <a:srgbClr val="6E675D"/>
          </a:solidFill>
          <a:ln/>
        </p:spPr>
        <p:txBody>
          <a:bodyPr/>
          <a:lstStyle/>
          <a:p>
            <a:endParaRPr/>
          </a:p>
        </p:txBody>
      </p:sp>
      <p:sp>
        <p:nvSpPr>
          <p:cNvPr id="14" name="Text 12"/>
          <p:cNvSpPr/>
          <p:nvPr/>
        </p:nvSpPr>
        <p:spPr>
          <a:xfrm>
            <a:off x="6510528" y="1938528"/>
            <a:ext cx="457200" cy="457200"/>
          </a:xfrm>
          <a:prstGeom prst="rect">
            <a:avLst/>
          </a:prstGeom>
          <a:noFill/>
          <a:ln/>
        </p:spPr>
        <p:txBody>
          <a:bodyPr wrap="square" lIns="0" tIns="0" rIns="0" bIns="0" rtlCol="0" anchor="ctr"/>
          <a:lstStyle/>
          <a:p>
            <a:pPr marL="0" indent="0" algn="ctr">
              <a:buNone/>
            </a:pPr>
            <a:r>
              <a:rPr lang="en-US" sz="2250" b="1" dirty="0">
                <a:solidFill>
                  <a:srgbClr val="FFFFFF"/>
                </a:solidFill>
                <a:latin typeface="맑은 고딕" pitchFamily="34" charset="0"/>
                <a:ea typeface="맑은 고딕" pitchFamily="34" charset="-122"/>
                <a:cs typeface="맑은 고딕" pitchFamily="34" charset="-120"/>
              </a:rPr>
              <a:t>2</a:t>
            </a:r>
            <a:endParaRPr lang="en-US" sz="2000" dirty="0"/>
          </a:p>
        </p:txBody>
      </p:sp>
      <p:sp>
        <p:nvSpPr>
          <p:cNvPr id="15" name="Text 13"/>
          <p:cNvSpPr/>
          <p:nvPr/>
        </p:nvSpPr>
        <p:spPr>
          <a:xfrm>
            <a:off x="7095744" y="1938528"/>
            <a:ext cx="4206240" cy="457200"/>
          </a:xfrm>
          <a:prstGeom prst="rect">
            <a:avLst/>
          </a:prstGeom>
          <a:noFill/>
          <a:ln/>
        </p:spPr>
        <p:txBody>
          <a:bodyPr wrap="square" lIns="0" tIns="0" rIns="0" bIns="0" rtlCol="0" anchor="ctr"/>
          <a:lstStyle/>
          <a:p>
            <a:pPr marL="0" indent="0">
              <a:buNone/>
            </a:pPr>
            <a:r>
              <a:rPr lang="en-US" sz="2150" b="1" dirty="0">
                <a:solidFill>
                  <a:srgbClr val="24211D"/>
                </a:solidFill>
                <a:latin typeface="맑은 고딕" pitchFamily="34" charset="0"/>
                <a:ea typeface="맑은 고딕" pitchFamily="34" charset="-122"/>
                <a:cs typeface="맑은 고딕" pitchFamily="34" charset="-120"/>
              </a:rPr>
              <a:t>설정 파일 직접 편집</a:t>
            </a:r>
            <a:endParaRPr lang="en-US" sz="1900" dirty="0"/>
          </a:p>
        </p:txBody>
      </p:sp>
      <p:sp>
        <p:nvSpPr>
          <p:cNvPr id="16" name="Text 14"/>
          <p:cNvSpPr/>
          <p:nvPr/>
        </p:nvSpPr>
        <p:spPr>
          <a:xfrm>
            <a:off x="6510528" y="2468880"/>
            <a:ext cx="4846320" cy="329184"/>
          </a:xfrm>
          <a:prstGeom prst="rect">
            <a:avLst/>
          </a:prstGeom>
          <a:noFill/>
          <a:ln/>
        </p:spPr>
        <p:txBody>
          <a:bodyPr wrap="square" lIns="0" tIns="0" rIns="0" bIns="0" rtlCol="0" anchor="ctr"/>
          <a:lstStyle/>
          <a:p>
            <a:pPr marL="0" indent="0">
              <a:buNone/>
            </a:pPr>
            <a:r>
              <a:rPr lang="en-US" sz="1650" b="1" dirty="0">
                <a:solidFill>
                  <a:srgbClr val="A8462A"/>
                </a:solidFill>
                <a:latin typeface="맑은 고딕" pitchFamily="34" charset="0"/>
                <a:ea typeface="맑은 고딕" pitchFamily="34" charset="-122"/>
                <a:cs typeface="맑은 고딕" pitchFamily="34" charset="-120"/>
              </a:rPr>
              <a:t>목록에 없는 것만. 여기서 많이 막힙니다</a:t>
            </a:r>
            <a:endParaRPr lang="en-US" sz="1300" dirty="0"/>
          </a:p>
        </p:txBody>
      </p:sp>
      <p:sp>
        <p:nvSpPr>
          <p:cNvPr id="17" name="Shape 15"/>
          <p:cNvSpPr/>
          <p:nvPr/>
        </p:nvSpPr>
        <p:spPr>
          <a:xfrm>
            <a:off x="6510528" y="2852928"/>
            <a:ext cx="4846320" cy="457200"/>
          </a:xfrm>
          <a:prstGeom prst="roundRect">
            <a:avLst>
              <a:gd name="adj" fmla="val 8000"/>
            </a:avLst>
          </a:prstGeom>
          <a:solidFill>
            <a:srgbClr val="24211D"/>
          </a:solidFill>
          <a:ln w="6350">
            <a:solidFill>
              <a:srgbClr val="24211D"/>
            </a:solidFill>
            <a:prstDash val="solid"/>
          </a:ln>
        </p:spPr>
        <p:txBody>
          <a:bodyPr/>
          <a:lstStyle/>
          <a:p>
            <a:endParaRPr/>
          </a:p>
        </p:txBody>
      </p:sp>
      <p:sp>
        <p:nvSpPr>
          <p:cNvPr id="18" name="Text 16"/>
          <p:cNvSpPr/>
          <p:nvPr/>
        </p:nvSpPr>
        <p:spPr>
          <a:xfrm>
            <a:off x="6675120" y="2852928"/>
            <a:ext cx="4517136" cy="457200"/>
          </a:xfrm>
          <a:prstGeom prst="rect">
            <a:avLst/>
          </a:prstGeom>
          <a:noFill/>
          <a:ln/>
        </p:spPr>
        <p:txBody>
          <a:bodyPr wrap="square" lIns="0" tIns="0" rIns="0" bIns="0" rtlCol="0" anchor="ctr"/>
          <a:lstStyle/>
          <a:p>
            <a:pPr marL="0" indent="0">
              <a:lnSpc>
                <a:spcPts val="1800"/>
              </a:lnSpc>
              <a:buNone/>
            </a:pPr>
            <a:r>
              <a:rPr lang="en-US" sz="1550" dirty="0">
                <a:solidFill>
                  <a:srgbClr val="F2E9E1"/>
                </a:solidFill>
                <a:latin typeface="Consolas" pitchFamily="34" charset="0"/>
                <a:ea typeface="Consolas" pitchFamily="34" charset="-122"/>
                <a:cs typeface="Consolas" pitchFamily="34" charset="-120"/>
              </a:rPr>
              <a:t>claude_desktop_config.json</a:t>
            </a:r>
            <a:endParaRPr lang="en-US" sz="1200" dirty="0"/>
          </a:p>
        </p:txBody>
      </p:sp>
      <p:sp>
        <p:nvSpPr>
          <p:cNvPr id="19" name="Text 17"/>
          <p:cNvSpPr/>
          <p:nvPr/>
        </p:nvSpPr>
        <p:spPr>
          <a:xfrm>
            <a:off x="6510528" y="3438144"/>
            <a:ext cx="4846320" cy="640080"/>
          </a:xfrm>
          <a:prstGeom prst="rect">
            <a:avLst/>
          </a:prstGeom>
          <a:noFill/>
          <a:ln/>
        </p:spPr>
        <p:txBody>
          <a:bodyPr wrap="square" lIns="0" tIns="0" rIns="0" bIns="0" rtlCol="0" anchor="t"/>
          <a:lstStyle/>
          <a:p>
            <a:pPr marL="342900" indent="-342900">
              <a:lnSpc>
                <a:spcPts val="2400"/>
              </a:lnSpc>
              <a:spcAft>
                <a:spcPts val="800"/>
              </a:spcAft>
              <a:buSzPct val="100000"/>
              <a:buChar char="•"/>
            </a:pPr>
            <a:r>
              <a:rPr lang="en-US" sz="1600" dirty="0">
                <a:solidFill>
                  <a:srgbClr val="24211D"/>
                </a:solidFill>
                <a:latin typeface="맑은 고딕" pitchFamily="34" charset="0"/>
                <a:ea typeface="맑은 고딕" pitchFamily="34" charset="-122"/>
                <a:cs typeface="맑은 고딕" pitchFamily="34" charset="-120"/>
              </a:rPr>
              <a:t>백업 → 편집 → Claude 완전 종료 → 재실행</a:t>
            </a:r>
            <a:endParaRPr lang="en-US" sz="1250" dirty="0"/>
          </a:p>
          <a:p>
            <a:pPr marL="342900" indent="-342900">
              <a:lnSpc>
                <a:spcPts val="2400"/>
              </a:lnSpc>
              <a:spcAft>
                <a:spcPts val="800"/>
              </a:spcAft>
              <a:buSzPct val="100000"/>
              <a:buChar char="•"/>
            </a:pPr>
            <a:r>
              <a:rPr lang="en-US" sz="1600" dirty="0">
                <a:solidFill>
                  <a:srgbClr val="24211D"/>
                </a:solidFill>
                <a:latin typeface="맑은 고딕" pitchFamily="34" charset="0"/>
                <a:ea typeface="맑은 고딕" pitchFamily="34" charset="-122"/>
                <a:cs typeface="맑은 고딕" pitchFamily="34" charset="-120"/>
              </a:rPr>
              <a:t>메모장 금지. 한글이 깨집니다</a:t>
            </a:r>
            <a:endParaRPr lang="en-US" sz="1250" dirty="0"/>
          </a:p>
        </p:txBody>
      </p:sp>
      <p:sp>
        <p:nvSpPr>
          <p:cNvPr id="20" name="Shape 18"/>
          <p:cNvSpPr/>
          <p:nvPr/>
        </p:nvSpPr>
        <p:spPr>
          <a:xfrm>
            <a:off x="566928" y="4443984"/>
            <a:ext cx="11064240" cy="1481328"/>
          </a:xfrm>
          <a:prstGeom prst="roundRect">
            <a:avLst>
              <a:gd name="adj" fmla="val 3704"/>
            </a:avLst>
          </a:prstGeom>
          <a:solidFill>
            <a:srgbClr val="FBF0EA"/>
          </a:solidFill>
          <a:ln w="15875">
            <a:solidFill>
              <a:srgbClr val="D97757"/>
            </a:solidFill>
            <a:prstDash val="solid"/>
          </a:ln>
        </p:spPr>
        <p:txBody>
          <a:bodyPr/>
          <a:lstStyle/>
          <a:p>
            <a:endParaRPr/>
          </a:p>
        </p:txBody>
      </p:sp>
      <p:sp>
        <p:nvSpPr>
          <p:cNvPr id="21" name="Text 19"/>
          <p:cNvSpPr/>
          <p:nvPr/>
        </p:nvSpPr>
        <p:spPr>
          <a:xfrm>
            <a:off x="868680" y="4553712"/>
            <a:ext cx="10515600" cy="384048"/>
          </a:xfrm>
          <a:prstGeom prst="rect">
            <a:avLst/>
          </a:prstGeom>
          <a:noFill/>
          <a:ln/>
        </p:spPr>
        <p:txBody>
          <a:bodyPr wrap="square" lIns="0" tIns="0" rIns="0" bIns="0" rtlCol="0" anchor="ctr"/>
          <a:lstStyle/>
          <a:p>
            <a:pPr marL="0" indent="0">
              <a:buNone/>
            </a:pPr>
            <a:r>
              <a:rPr lang="en-US" sz="1900" b="1" dirty="0">
                <a:solidFill>
                  <a:srgbClr val="A8462A"/>
                </a:solidFill>
                <a:latin typeface="맑은 고딕" pitchFamily="34" charset="0"/>
                <a:ea typeface="맑은 고딕" pitchFamily="34" charset="-122"/>
                <a:cs typeface="맑은 고딕" pitchFamily="34" charset="-120"/>
              </a:rPr>
              <a:t>많이 붙일수록 느려지고 비싸집니다</a:t>
            </a:r>
            <a:endParaRPr lang="en-US" sz="1700" dirty="0"/>
          </a:p>
        </p:txBody>
      </p:sp>
      <p:sp>
        <p:nvSpPr>
          <p:cNvPr id="22" name="Text 20"/>
          <p:cNvSpPr/>
          <p:nvPr/>
        </p:nvSpPr>
        <p:spPr>
          <a:xfrm>
            <a:off x="868680" y="4974336"/>
            <a:ext cx="10515600" cy="822960"/>
          </a:xfrm>
          <a:prstGeom prst="rect">
            <a:avLst/>
          </a:prstGeom>
          <a:noFill/>
          <a:ln/>
        </p:spPr>
        <p:txBody>
          <a:bodyPr wrap="square" lIns="0" tIns="0" rIns="0" bIns="0" rtlCol="0" anchor="t"/>
          <a:lstStyle/>
          <a:p>
            <a:pPr marL="0" indent="0">
              <a:lnSpc>
                <a:spcPts val="2300"/>
              </a:lnSpc>
              <a:buNone/>
            </a:pPr>
            <a:r>
              <a:rPr lang="en-US" sz="1700" dirty="0">
                <a:solidFill>
                  <a:srgbClr val="24211D"/>
                </a:solidFill>
                <a:latin typeface="맑은 고딕" pitchFamily="34" charset="0"/>
                <a:ea typeface="맑은 고딕" pitchFamily="34" charset="-122"/>
                <a:cs typeface="맑은 고딕" pitchFamily="34" charset="-120"/>
              </a:rPr>
              <a:t>붙인 도구의 설명서가 </a:t>
            </a:r>
            <a:r>
              <a:rPr lang="en-US" sz="1700" b="1" dirty="0">
                <a:solidFill>
                  <a:srgbClr val="A8462A"/>
                </a:solidFill>
                <a:latin typeface="맑은 고딕" pitchFamily="34" charset="0"/>
                <a:ea typeface="맑은 고딕" pitchFamily="34" charset="-122"/>
                <a:cs typeface="맑은 고딕" pitchFamily="34" charset="-120"/>
              </a:rPr>
              <a:t>대화를 시작하기도 전에</a:t>
            </a:r>
            <a:r>
              <a:rPr lang="en-US" sz="1700" dirty="0">
                <a:solidFill>
                  <a:srgbClr val="24211D"/>
                </a:solidFill>
                <a:latin typeface="맑은 고딕" pitchFamily="34" charset="0"/>
                <a:ea typeface="맑은 고딕" pitchFamily="34" charset="-122"/>
                <a:cs typeface="맑은 고딕" pitchFamily="34" charset="-120"/>
              </a:rPr>
              <a:t> 자리를 차지합니다.</a:t>
            </a:r>
            <a:endParaRPr lang="en-US" sz="1400" dirty="0"/>
          </a:p>
          <a:p>
            <a:pPr marL="0" indent="0">
              <a:lnSpc>
                <a:spcPts val="2300"/>
              </a:lnSpc>
              <a:buNone/>
            </a:pPr>
            <a:r>
              <a:rPr lang="en-US" sz="1700" dirty="0">
                <a:solidFill>
                  <a:srgbClr val="514B43"/>
                </a:solidFill>
                <a:latin typeface="맑은 고딕" pitchFamily="34" charset="0"/>
                <a:ea typeface="맑은 고딕" pitchFamily="34" charset="-122"/>
                <a:cs typeface="맑은 고딕" pitchFamily="34" charset="-120"/>
              </a:rPr>
              <a:t>실측: 25개를 붙여두니 첫 마디를 꺼내기 전에 이미 335,000 단위를 썼습니다.</a:t>
            </a:r>
            <a:endParaRPr lang="en-US" sz="1400" dirty="0"/>
          </a:p>
        </p:txBody>
      </p:sp>
      <p:sp>
        <p:nvSpPr>
          <p:cNvPr id="23" name="Text 21"/>
          <p:cNvSpPr/>
          <p:nvPr/>
        </p:nvSpPr>
        <p:spPr>
          <a:xfrm>
            <a:off x="566928" y="6035040"/>
            <a:ext cx="11064240" cy="347472"/>
          </a:xfrm>
          <a:prstGeom prst="rect">
            <a:avLst/>
          </a:prstGeom>
          <a:noFill/>
          <a:ln/>
        </p:spPr>
        <p:txBody>
          <a:bodyPr wrap="square" lIns="0" tIns="0" rIns="0" bIns="0" rtlCol="0" anchor="ctr"/>
          <a:lstStyle/>
          <a:p>
            <a:pPr marL="0" indent="0">
              <a:buNone/>
            </a:pPr>
            <a:r>
              <a:rPr lang="en-US" sz="1650" b="1" dirty="0">
                <a:solidFill>
                  <a:srgbClr val="24211D"/>
                </a:solidFill>
                <a:latin typeface="맑은 고딕" pitchFamily="34" charset="0"/>
                <a:ea typeface="맑은 고딕" pitchFamily="34" charset="-122"/>
                <a:cs typeface="맑은 고딕" pitchFamily="34" charset="-120"/>
              </a:rPr>
              <a:t>안 쓰는 것은 꺼두세요. 필요할 때 다시 켜면 됩니다.</a:t>
            </a:r>
            <a:endParaRPr lang="en-US" sz="1300" dirty="0"/>
          </a:p>
        </p:txBody>
      </p:sp>
      <p:sp>
        <p:nvSpPr>
          <p:cNvPr id="24" name="Text 22"/>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실측 2026-08-06 · 붙인 MCP 25개 기준. 도구 수에 따라 달라집니다</a:t>
            </a:r>
            <a:endParaRPr lang="en-US" sz="1000" dirty="0"/>
          </a:p>
        </p:txBody>
      </p:sp>
      <p:sp>
        <p:nvSpPr>
          <p:cNvPr id="25" name="TextBox 24">
            <a:extLst>
              <a:ext uri="{FF2B5EF4-FFF2-40B4-BE49-F238E27FC236}">
                <a16:creationId xmlns:a16="http://schemas.microsoft.com/office/drawing/2014/main" id="{BA4B6950-00BF-4BD5-EC5C-D988CF7D8ED4}"/>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05 · MCP </a:t>
            </a:r>
            <a:r>
              <a:rPr lang="ko-KR" altLang="en-US" sz="1200">
                <a:solidFill>
                  <a:srgbClr val="A69C90"/>
                </a:solidFill>
                <a:latin typeface="맑은 고딕" panose="020B0503020000020004" pitchFamily="50" charset="-127"/>
                <a:ea typeface="맑은 고딕" panose="020B0503020000020004" pitchFamily="50" charset="-127"/>
              </a:rPr>
              <a:t>와 </a:t>
            </a:r>
            <a:r>
              <a:rPr lang="en-US" altLang="ko-KR" sz="1200">
                <a:solidFill>
                  <a:srgbClr val="A69C90"/>
                </a:solidFill>
                <a:latin typeface="맑은 고딕" panose="020B0503020000020004" pitchFamily="50" charset="-127"/>
                <a:ea typeface="맑은 고딕" panose="020B0503020000020004" pitchFamily="50" charset="-127"/>
              </a:rPr>
              <a:t>API          36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API 키는 신분증이자 계량기입니다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API(Application Programming Interface, 프로그램끼리 주고받는 창구)</a:t>
            </a:r>
            <a:endParaRPr lang="en-US" sz="1500" dirty="0"/>
          </a:p>
        </p:txBody>
      </p:sp>
      <p:sp>
        <p:nvSpPr>
          <p:cNvPr id="4" name="Shape 2"/>
          <p:cNvSpPr/>
          <p:nvPr/>
        </p:nvSpPr>
        <p:spPr>
          <a:xfrm>
            <a:off x="566928" y="1664208"/>
            <a:ext cx="11064240" cy="786384"/>
          </a:xfrm>
          <a:prstGeom prst="roundRect">
            <a:avLst>
              <a:gd name="adj" fmla="val 5814"/>
            </a:avLst>
          </a:prstGeom>
          <a:solidFill>
            <a:srgbClr val="F5F1EB"/>
          </a:solidFill>
          <a:ln w="9525">
            <a:solidFill>
              <a:srgbClr val="DCD4C9"/>
            </a:solidFill>
            <a:prstDash val="solid"/>
          </a:ln>
        </p:spPr>
        <p:txBody>
          <a:bodyPr/>
          <a:lstStyle/>
          <a:p>
            <a:endParaRPr/>
          </a:p>
        </p:txBody>
      </p:sp>
      <p:sp>
        <p:nvSpPr>
          <p:cNvPr id="5" name="Text 3"/>
          <p:cNvSpPr/>
          <p:nvPr/>
        </p:nvSpPr>
        <p:spPr>
          <a:xfrm>
            <a:off x="868680" y="1664208"/>
            <a:ext cx="10515600" cy="786384"/>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헬스장 회원카드와 같습니다. </a:t>
            </a:r>
            <a:r>
              <a:rPr lang="en-US" sz="1800" b="1" dirty="0">
                <a:solidFill>
                  <a:srgbClr val="A8462A"/>
                </a:solidFill>
                <a:latin typeface="맑은 고딕" pitchFamily="34" charset="0"/>
                <a:ea typeface="맑은 고딕" pitchFamily="34" charset="-122"/>
                <a:cs typeface="맑은 고딕" pitchFamily="34" charset="-120"/>
              </a:rPr>
              <a:t>누구인지 확인하고, 얼마나 썼는지 셉니다.</a:t>
            </a:r>
            <a:endParaRPr lang="en-US" sz="1500" dirty="0"/>
          </a:p>
        </p:txBody>
      </p:sp>
      <p:sp>
        <p:nvSpPr>
          <p:cNvPr id="6" name="Shape 4"/>
          <p:cNvSpPr/>
          <p:nvPr/>
        </p:nvSpPr>
        <p:spPr>
          <a:xfrm>
            <a:off x="566928" y="2798064"/>
            <a:ext cx="3200400" cy="1371600"/>
          </a:xfrm>
          <a:prstGeom prst="roundRect">
            <a:avLst>
              <a:gd name="adj" fmla="val 4000"/>
            </a:avLst>
          </a:prstGeom>
          <a:solidFill>
            <a:srgbClr val="FFFFFF"/>
          </a:solidFill>
          <a:ln w="15875">
            <a:solidFill>
              <a:srgbClr val="DCD4C9"/>
            </a:solidFill>
            <a:prstDash val="solid"/>
          </a:ln>
        </p:spPr>
        <p:txBody>
          <a:bodyPr/>
          <a:lstStyle/>
          <a:p>
            <a:endParaRPr/>
          </a:p>
        </p:txBody>
      </p:sp>
      <p:sp>
        <p:nvSpPr>
          <p:cNvPr id="7" name="Text 5"/>
          <p:cNvSpPr/>
          <p:nvPr/>
        </p:nvSpPr>
        <p:spPr>
          <a:xfrm>
            <a:off x="566928" y="2944368"/>
            <a:ext cx="3200400" cy="384048"/>
          </a:xfrm>
          <a:prstGeom prst="rect">
            <a:avLst/>
          </a:prstGeom>
          <a:noFill/>
          <a:ln/>
        </p:spPr>
        <p:txBody>
          <a:bodyPr wrap="square" lIns="0" tIns="0" rIns="0" bIns="0" rtlCol="0" anchor="ctr"/>
          <a:lstStyle/>
          <a:p>
            <a:pPr marL="0" indent="0" algn="ctr">
              <a:buNone/>
            </a:pPr>
            <a:r>
              <a:rPr lang="en-US" sz="1900" b="1" dirty="0">
                <a:solidFill>
                  <a:srgbClr val="24211D"/>
                </a:solidFill>
                <a:latin typeface="맑은 고딕" pitchFamily="34" charset="0"/>
                <a:ea typeface="맑은 고딕" pitchFamily="34" charset="-122"/>
                <a:cs typeface="맑은 고딕" pitchFamily="34" charset="-120"/>
              </a:rPr>
              <a:t>내 프로그램</a:t>
            </a:r>
            <a:endParaRPr lang="en-US" sz="1700" dirty="0"/>
          </a:p>
        </p:txBody>
      </p:sp>
      <p:sp>
        <p:nvSpPr>
          <p:cNvPr id="8" name="Text 6"/>
          <p:cNvSpPr/>
          <p:nvPr/>
        </p:nvSpPr>
        <p:spPr>
          <a:xfrm>
            <a:off x="676656" y="3346704"/>
            <a:ext cx="2980944" cy="713232"/>
          </a:xfrm>
          <a:prstGeom prst="rect">
            <a:avLst/>
          </a:prstGeom>
          <a:noFill/>
          <a:ln/>
        </p:spPr>
        <p:txBody>
          <a:bodyPr wrap="square" lIns="0" tIns="0" rIns="0" bIns="0" rtlCol="0" anchor="t"/>
          <a:lstStyle/>
          <a:p>
            <a:pPr marL="0" indent="0" algn="ctr">
              <a:lnSpc>
                <a:spcPts val="1700"/>
              </a:lnSpc>
              <a:buNone/>
            </a:pPr>
            <a:r>
              <a:rPr lang="en-US" sz="1600" dirty="0">
                <a:solidFill>
                  <a:srgbClr val="514B43"/>
                </a:solidFill>
                <a:latin typeface="맑은 고딕" pitchFamily="34" charset="0"/>
                <a:ea typeface="맑은 고딕" pitchFamily="34" charset="-122"/>
                <a:cs typeface="맑은 고딕" pitchFamily="34" charset="-120"/>
              </a:rPr>
              <a:t>요청을 보냅니다</a:t>
            </a:r>
            <a:endParaRPr lang="en-US" sz="1250" dirty="0"/>
          </a:p>
        </p:txBody>
      </p:sp>
      <p:sp>
        <p:nvSpPr>
          <p:cNvPr id="9" name="Shape 7"/>
          <p:cNvSpPr/>
          <p:nvPr/>
        </p:nvSpPr>
        <p:spPr>
          <a:xfrm>
            <a:off x="3986784" y="3337560"/>
            <a:ext cx="292608" cy="292608"/>
          </a:xfrm>
          <a:prstGeom prst="rightArrow">
            <a:avLst/>
          </a:prstGeom>
          <a:solidFill>
            <a:srgbClr val="DCD4C9"/>
          </a:solidFill>
          <a:ln w="12700">
            <a:solidFill>
              <a:srgbClr val="DCD4C9"/>
            </a:solidFill>
            <a:prstDash val="solid"/>
          </a:ln>
        </p:spPr>
        <p:txBody>
          <a:bodyPr/>
          <a:lstStyle/>
          <a:p>
            <a:endParaRPr/>
          </a:p>
        </p:txBody>
      </p:sp>
      <p:sp>
        <p:nvSpPr>
          <p:cNvPr id="10" name="Shape 8"/>
          <p:cNvSpPr/>
          <p:nvPr/>
        </p:nvSpPr>
        <p:spPr>
          <a:xfrm>
            <a:off x="4498848" y="2798064"/>
            <a:ext cx="3200400" cy="1371600"/>
          </a:xfrm>
          <a:prstGeom prst="roundRect">
            <a:avLst>
              <a:gd name="adj" fmla="val 4000"/>
            </a:avLst>
          </a:prstGeom>
          <a:solidFill>
            <a:srgbClr val="D97757"/>
          </a:solidFill>
          <a:ln w="12700">
            <a:solidFill>
              <a:srgbClr val="D97757"/>
            </a:solidFill>
            <a:prstDash val="solid"/>
          </a:ln>
        </p:spPr>
        <p:txBody>
          <a:bodyPr/>
          <a:lstStyle/>
          <a:p>
            <a:endParaRPr/>
          </a:p>
        </p:txBody>
      </p:sp>
      <p:sp>
        <p:nvSpPr>
          <p:cNvPr id="11" name="Text 9"/>
          <p:cNvSpPr/>
          <p:nvPr/>
        </p:nvSpPr>
        <p:spPr>
          <a:xfrm>
            <a:off x="4498848" y="2944368"/>
            <a:ext cx="3200400"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맑은 고딕" pitchFamily="34" charset="0"/>
                <a:ea typeface="맑은 고딕" pitchFamily="34" charset="-122"/>
                <a:cs typeface="맑은 고딕" pitchFamily="34" charset="-120"/>
              </a:rPr>
              <a:t>API 키</a:t>
            </a:r>
            <a:endParaRPr lang="en-US" sz="1700" dirty="0"/>
          </a:p>
        </p:txBody>
      </p:sp>
      <p:sp>
        <p:nvSpPr>
          <p:cNvPr id="12" name="Text 10"/>
          <p:cNvSpPr/>
          <p:nvPr/>
        </p:nvSpPr>
        <p:spPr>
          <a:xfrm>
            <a:off x="4608576" y="3346704"/>
            <a:ext cx="2980944" cy="713232"/>
          </a:xfrm>
          <a:prstGeom prst="rect">
            <a:avLst/>
          </a:prstGeom>
          <a:noFill/>
          <a:ln/>
        </p:spPr>
        <p:txBody>
          <a:bodyPr wrap="square" lIns="0" tIns="0" rIns="0" bIns="0" rtlCol="0" anchor="t"/>
          <a:lstStyle/>
          <a:p>
            <a:pPr marL="0" indent="0" algn="ctr">
              <a:lnSpc>
                <a:spcPts val="1700"/>
              </a:lnSpc>
              <a:buNone/>
            </a:pPr>
            <a:r>
              <a:rPr lang="en-US" sz="1600" dirty="0">
                <a:solidFill>
                  <a:srgbClr val="FBEDE6"/>
                </a:solidFill>
                <a:latin typeface="맑은 고딕" pitchFamily="34" charset="0"/>
                <a:ea typeface="맑은 고딕" pitchFamily="34" charset="-122"/>
                <a:cs typeface="맑은 고딕" pitchFamily="34" charset="-120"/>
              </a:rPr>
              <a:t>이 사람 맞나?</a:t>
            </a:r>
            <a:endParaRPr lang="en-US" sz="1250" dirty="0"/>
          </a:p>
          <a:p>
            <a:pPr marL="0" indent="0" algn="ctr">
              <a:lnSpc>
                <a:spcPts val="1700"/>
              </a:lnSpc>
              <a:buNone/>
            </a:pPr>
            <a:r>
              <a:rPr lang="en-US" sz="1600" dirty="0">
                <a:solidFill>
                  <a:srgbClr val="FBEDE6"/>
                </a:solidFill>
                <a:latin typeface="맑은 고딕" pitchFamily="34" charset="0"/>
                <a:ea typeface="맑은 고딕" pitchFamily="34" charset="-122"/>
                <a:cs typeface="맑은 고딕" pitchFamily="34" charset="-120"/>
              </a:rPr>
              <a:t>얼마나 썼나?</a:t>
            </a:r>
            <a:endParaRPr lang="en-US" sz="1250" dirty="0"/>
          </a:p>
        </p:txBody>
      </p:sp>
      <p:sp>
        <p:nvSpPr>
          <p:cNvPr id="13" name="Shape 11"/>
          <p:cNvSpPr/>
          <p:nvPr/>
        </p:nvSpPr>
        <p:spPr>
          <a:xfrm>
            <a:off x="7918704" y="3337560"/>
            <a:ext cx="292608" cy="292608"/>
          </a:xfrm>
          <a:prstGeom prst="rightArrow">
            <a:avLst/>
          </a:prstGeom>
          <a:solidFill>
            <a:srgbClr val="DCD4C9"/>
          </a:solidFill>
          <a:ln w="12700">
            <a:solidFill>
              <a:srgbClr val="DCD4C9"/>
            </a:solidFill>
            <a:prstDash val="solid"/>
          </a:ln>
        </p:spPr>
        <p:txBody>
          <a:bodyPr/>
          <a:lstStyle/>
          <a:p>
            <a:endParaRPr/>
          </a:p>
        </p:txBody>
      </p:sp>
      <p:sp>
        <p:nvSpPr>
          <p:cNvPr id="14" name="Shape 12"/>
          <p:cNvSpPr/>
          <p:nvPr/>
        </p:nvSpPr>
        <p:spPr>
          <a:xfrm>
            <a:off x="8430768" y="2798064"/>
            <a:ext cx="3200400" cy="1371600"/>
          </a:xfrm>
          <a:prstGeom prst="roundRect">
            <a:avLst>
              <a:gd name="adj" fmla="val 4000"/>
            </a:avLst>
          </a:prstGeom>
          <a:solidFill>
            <a:srgbClr val="FFFFFF"/>
          </a:solidFill>
          <a:ln w="15875">
            <a:solidFill>
              <a:srgbClr val="DCD4C9"/>
            </a:solidFill>
            <a:prstDash val="solid"/>
          </a:ln>
        </p:spPr>
        <p:txBody>
          <a:bodyPr/>
          <a:lstStyle/>
          <a:p>
            <a:endParaRPr/>
          </a:p>
        </p:txBody>
      </p:sp>
      <p:sp>
        <p:nvSpPr>
          <p:cNvPr id="15" name="Text 13"/>
          <p:cNvSpPr/>
          <p:nvPr/>
        </p:nvSpPr>
        <p:spPr>
          <a:xfrm>
            <a:off x="8430768" y="2944368"/>
            <a:ext cx="3200400" cy="384048"/>
          </a:xfrm>
          <a:prstGeom prst="rect">
            <a:avLst/>
          </a:prstGeom>
          <a:noFill/>
          <a:ln/>
        </p:spPr>
        <p:txBody>
          <a:bodyPr wrap="square" lIns="0" tIns="0" rIns="0" bIns="0" rtlCol="0" anchor="ctr"/>
          <a:lstStyle/>
          <a:p>
            <a:pPr marL="0" indent="0" algn="ctr">
              <a:buNone/>
            </a:pPr>
            <a:r>
              <a:rPr lang="en-US" sz="1900" b="1" dirty="0">
                <a:solidFill>
                  <a:srgbClr val="24211D"/>
                </a:solidFill>
                <a:latin typeface="맑은 고딕" pitchFamily="34" charset="0"/>
                <a:ea typeface="맑은 고딕" pitchFamily="34" charset="-122"/>
                <a:cs typeface="맑은 고딕" pitchFamily="34" charset="-120"/>
              </a:rPr>
              <a:t>서비스</a:t>
            </a:r>
            <a:endParaRPr lang="en-US" sz="1700" dirty="0"/>
          </a:p>
        </p:txBody>
      </p:sp>
      <p:sp>
        <p:nvSpPr>
          <p:cNvPr id="16" name="Text 14"/>
          <p:cNvSpPr/>
          <p:nvPr/>
        </p:nvSpPr>
        <p:spPr>
          <a:xfrm>
            <a:off x="8540496" y="3346704"/>
            <a:ext cx="2980944" cy="713232"/>
          </a:xfrm>
          <a:prstGeom prst="rect">
            <a:avLst/>
          </a:prstGeom>
          <a:noFill/>
          <a:ln/>
        </p:spPr>
        <p:txBody>
          <a:bodyPr wrap="square" lIns="0" tIns="0" rIns="0" bIns="0" rtlCol="0" anchor="t"/>
          <a:lstStyle/>
          <a:p>
            <a:pPr marL="0" indent="0" algn="ctr">
              <a:lnSpc>
                <a:spcPts val="1700"/>
              </a:lnSpc>
              <a:buNone/>
            </a:pPr>
            <a:r>
              <a:rPr lang="en-US" sz="1600" dirty="0">
                <a:solidFill>
                  <a:srgbClr val="514B43"/>
                </a:solidFill>
                <a:latin typeface="맑은 고딕" pitchFamily="34" charset="0"/>
                <a:ea typeface="맑은 고딕" pitchFamily="34" charset="-122"/>
                <a:cs typeface="맑은 고딕" pitchFamily="34" charset="-120"/>
              </a:rPr>
              <a:t>데이터를 돌려주고</a:t>
            </a:r>
            <a:endParaRPr lang="en-US" sz="1250" dirty="0"/>
          </a:p>
          <a:p>
            <a:pPr marL="0" indent="0" algn="ctr">
              <a:lnSpc>
                <a:spcPts val="1700"/>
              </a:lnSpc>
              <a:buNone/>
            </a:pPr>
            <a:r>
              <a:rPr lang="en-US" sz="1600" dirty="0">
                <a:solidFill>
                  <a:srgbClr val="514B43"/>
                </a:solidFill>
                <a:latin typeface="맑은 고딕" pitchFamily="34" charset="0"/>
                <a:ea typeface="맑은 고딕" pitchFamily="34" charset="-122"/>
                <a:cs typeface="맑은 고딕" pitchFamily="34" charset="-120"/>
              </a:rPr>
              <a:t>사용량을 기록합니다</a:t>
            </a:r>
            <a:endParaRPr lang="en-US" sz="1250" dirty="0"/>
          </a:p>
        </p:txBody>
      </p:sp>
      <p:sp>
        <p:nvSpPr>
          <p:cNvPr id="17" name="Shape 15"/>
          <p:cNvSpPr/>
          <p:nvPr/>
        </p:nvSpPr>
        <p:spPr>
          <a:xfrm>
            <a:off x="566928" y="4425696"/>
            <a:ext cx="11064240" cy="1572768"/>
          </a:xfrm>
          <a:prstGeom prst="roundRect">
            <a:avLst>
              <a:gd name="adj" fmla="val 3488"/>
            </a:avLst>
          </a:prstGeom>
          <a:solidFill>
            <a:srgbClr val="24211D"/>
          </a:solidFill>
          <a:ln w="12700">
            <a:solidFill>
              <a:srgbClr val="24211D"/>
            </a:solidFill>
            <a:prstDash val="solid"/>
          </a:ln>
        </p:spPr>
        <p:txBody>
          <a:bodyPr/>
          <a:lstStyle/>
          <a:p>
            <a:endParaRPr/>
          </a:p>
        </p:txBody>
      </p:sp>
      <p:sp>
        <p:nvSpPr>
          <p:cNvPr id="18" name="Text 16"/>
          <p:cNvSpPr/>
          <p:nvPr/>
        </p:nvSpPr>
        <p:spPr>
          <a:xfrm>
            <a:off x="868680" y="4535424"/>
            <a:ext cx="10515600" cy="402336"/>
          </a:xfrm>
          <a:prstGeom prst="rect">
            <a:avLst/>
          </a:prstGeom>
          <a:noFill/>
          <a:ln/>
        </p:spPr>
        <p:txBody>
          <a:bodyPr wrap="square" lIns="0" tIns="0" rIns="0" bIns="0" rtlCol="0" anchor="ctr"/>
          <a:lstStyle/>
          <a:p>
            <a:pPr marL="0" indent="0">
              <a:buNone/>
            </a:pPr>
            <a:r>
              <a:rPr lang="en-US" sz="2000" b="1" dirty="0">
                <a:solidFill>
                  <a:srgbClr val="D97757"/>
                </a:solidFill>
                <a:latin typeface="맑은 고딕" pitchFamily="34" charset="0"/>
                <a:ea typeface="맑은 고딕" pitchFamily="34" charset="-122"/>
                <a:cs typeface="맑은 고딕" pitchFamily="34" charset="-120"/>
              </a:rPr>
              <a:t>키가 새면 남이 내 돈을 씁니다</a:t>
            </a:r>
            <a:endParaRPr lang="en-US" sz="1800" dirty="0"/>
          </a:p>
        </p:txBody>
      </p:sp>
      <p:sp>
        <p:nvSpPr>
          <p:cNvPr id="19" name="Text 17"/>
          <p:cNvSpPr/>
          <p:nvPr/>
        </p:nvSpPr>
        <p:spPr>
          <a:xfrm>
            <a:off x="868680" y="4974336"/>
            <a:ext cx="10515600" cy="859536"/>
          </a:xfrm>
          <a:prstGeom prst="rect">
            <a:avLst/>
          </a:prstGeom>
          <a:noFill/>
          <a:ln/>
        </p:spPr>
        <p:txBody>
          <a:bodyPr wrap="square" lIns="0" tIns="0" rIns="0" bIns="0" rtlCol="0" anchor="t"/>
          <a:lstStyle/>
          <a:p>
            <a:pPr marL="0" indent="0">
              <a:lnSpc>
                <a:spcPts val="2300"/>
              </a:lnSpc>
              <a:buNone/>
            </a:pPr>
            <a:r>
              <a:rPr lang="en-US" sz="1700" b="1" dirty="0">
                <a:solidFill>
                  <a:srgbClr val="FFFFFF"/>
                </a:solidFill>
                <a:latin typeface="맑은 고딕" pitchFamily="34" charset="0"/>
                <a:ea typeface="맑은 고딕" pitchFamily="34" charset="-122"/>
                <a:cs typeface="맑은 고딕" pitchFamily="34" charset="-120"/>
              </a:rPr>
              <a:t>설정 파일을 통째로 대화창에 붙여넣지 마세요. </a:t>
            </a:r>
            <a:r>
              <a:rPr lang="en-US" sz="1700" dirty="0">
                <a:solidFill>
                  <a:srgbClr val="F3EDE5"/>
                </a:solidFill>
                <a:latin typeface="맑은 고딕" pitchFamily="34" charset="0"/>
                <a:ea typeface="맑은 고딕" pitchFamily="34" charset="-122"/>
                <a:cs typeface="맑은 고딕" pitchFamily="34" charset="-120"/>
              </a:rPr>
              <a:t>안에 키가 평문으로 들어 있습니다.</a:t>
            </a:r>
            <a:endParaRPr lang="en-US" sz="1400" dirty="0"/>
          </a:p>
          <a:p>
            <a:pPr marL="0" indent="0">
              <a:lnSpc>
                <a:spcPts val="2300"/>
              </a:lnSpc>
              <a:buNone/>
            </a:pPr>
            <a:r>
              <a:rPr lang="en-US" sz="1700" dirty="0">
                <a:solidFill>
                  <a:srgbClr val="F3EDE5"/>
                </a:solidFill>
                <a:latin typeface="맑은 고딕" pitchFamily="34" charset="0"/>
                <a:ea typeface="맑은 고딕" pitchFamily="34" charset="-122"/>
                <a:cs typeface="맑은 고딕" pitchFamily="34" charset="-120"/>
              </a:rPr>
              <a:t>AI가 그 내용을 </a:t>
            </a:r>
            <a:r>
              <a:rPr lang="en-US" sz="1700" b="1" dirty="0">
                <a:solidFill>
                  <a:srgbClr val="FFFFFF"/>
                </a:solidFill>
                <a:latin typeface="맑은 고딕" pitchFamily="34" charset="0"/>
                <a:ea typeface="맑은 고딕" pitchFamily="34" charset="-122"/>
                <a:cs typeface="맑은 고딕" pitchFamily="34" charset="-120"/>
              </a:rPr>
              <a:t>화면에 다시 출력할 수 있습니다.</a:t>
            </a:r>
            <a:r>
              <a:rPr lang="en-US" sz="1700" dirty="0">
                <a:solidFill>
                  <a:srgbClr val="F3EDE5"/>
                </a:solidFill>
                <a:latin typeface="맑은 고딕" pitchFamily="34" charset="0"/>
                <a:ea typeface="맑은 고딕" pitchFamily="34" charset="-122"/>
                <a:cs typeface="맑은 고딕" pitchFamily="34" charset="-120"/>
              </a:rPr>
              <a:t> 실제로 일어난 사고입니다.</a:t>
            </a:r>
            <a:endParaRPr lang="en-US" sz="1400" dirty="0"/>
          </a:p>
        </p:txBody>
      </p:sp>
      <p:sp>
        <p:nvSpPr>
          <p:cNvPr id="20" name="Text 18"/>
          <p:cNvSpPr/>
          <p:nvPr/>
        </p:nvSpPr>
        <p:spPr>
          <a:xfrm>
            <a:off x="566928" y="6053328"/>
            <a:ext cx="11064240" cy="347472"/>
          </a:xfrm>
          <a:prstGeom prst="rect">
            <a:avLst/>
          </a:prstGeom>
          <a:noFill/>
          <a:ln/>
        </p:spPr>
        <p:txBody>
          <a:bodyPr wrap="square" lIns="0" tIns="0" rIns="0" bIns="0" rtlCol="0" anchor="ctr"/>
          <a:lstStyle/>
          <a:p>
            <a:pPr marL="0" indent="0">
              <a:buNone/>
            </a:pPr>
            <a:r>
              <a:rPr lang="en-US" sz="1650" b="1" dirty="0">
                <a:solidFill>
                  <a:srgbClr val="A8462A"/>
                </a:solidFill>
                <a:latin typeface="맑은 고딕" pitchFamily="34" charset="0"/>
                <a:ea typeface="맑은 고딕" pitchFamily="34" charset="-122"/>
                <a:cs typeface="맑은 고딕" pitchFamily="34" charset="-120"/>
              </a:rPr>
              <a:t>필요한 줄만 골라서 보여주고, 키 자리는 ○○○ 로 가리세요.</a:t>
            </a:r>
            <a:endParaRPr lang="en-US" sz="1300" dirty="0"/>
          </a:p>
        </p:txBody>
      </p:sp>
      <p:sp>
        <p:nvSpPr>
          <p:cNvPr id="21" name="TextBox 20">
            <a:extLst>
              <a:ext uri="{FF2B5EF4-FFF2-40B4-BE49-F238E27FC236}">
                <a16:creationId xmlns:a16="http://schemas.microsoft.com/office/drawing/2014/main" id="{07D9372F-7601-B2A7-354C-3B2B08406C24}"/>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05 · MCP </a:t>
            </a:r>
            <a:r>
              <a:rPr lang="ko-KR" altLang="en-US" sz="1200">
                <a:solidFill>
                  <a:srgbClr val="A69C90"/>
                </a:solidFill>
                <a:latin typeface="맑은 고딕" panose="020B0503020000020004" pitchFamily="50" charset="-127"/>
                <a:ea typeface="맑은 고딕" panose="020B0503020000020004" pitchFamily="50" charset="-127"/>
              </a:rPr>
              <a:t>와 </a:t>
            </a:r>
            <a:r>
              <a:rPr lang="en-US" altLang="ko-KR" sz="1200">
                <a:solidFill>
                  <a:srgbClr val="A69C90"/>
                </a:solidFill>
                <a:latin typeface="맑은 고딕" panose="020B0503020000020004" pitchFamily="50" charset="-127"/>
                <a:ea typeface="맑은 고딕" panose="020B0503020000020004" pitchFamily="50" charset="-127"/>
              </a:rPr>
              <a:t>API          37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marL="0" indent="0" algn="l">
              <a:buNone/>
            </a:pPr>
            <a:r>
              <a:rPr lang="en-US" sz="3600" b="1" dirty="0">
                <a:solidFill>
                  <a:srgbClr val="24211D"/>
                </a:solidFill>
                <a:latin typeface="맑은 고딕" pitchFamily="34" charset="0"/>
                <a:ea typeface="맑은 고딕" pitchFamily="34" charset="-122"/>
                <a:cs typeface="맑은 고딕" pitchFamily="34" charset="-120"/>
              </a:rPr>
              <a:t>MCP는 통로, API는 열쇠입니다</a:t>
            </a:r>
            <a:endParaRPr lang="en-US" sz="3400" dirty="0"/>
          </a:p>
        </p:txBody>
      </p:sp>
      <p:sp>
        <p:nvSpPr>
          <p:cNvPr id="3" name="Text 1"/>
          <p:cNvSpPr/>
          <p:nvPr/>
        </p:nvSpPr>
        <p:spPr>
          <a:xfrm>
            <a:off x="566928" y="1133856"/>
            <a:ext cx="11064240" cy="384048"/>
          </a:xfrm>
          <a:prstGeom prst="rect">
            <a:avLst/>
          </a:prstGeom>
          <a:noFill/>
          <a:ln/>
        </p:spPr>
        <p:txBody>
          <a:bodyPr wrap="square" lIns="0" tIns="0" rIns="0" bIns="0" rtlCol="0" anchor="ctr"/>
          <a:lstStyle/>
          <a:p>
            <a:pPr marL="0" indent="0">
              <a:buNone/>
            </a:pPr>
            <a:r>
              <a:rPr lang="en-US" sz="1800" dirty="0">
                <a:solidFill>
                  <a:srgbClr val="514B43"/>
                </a:solidFill>
                <a:latin typeface="맑은 고딕" pitchFamily="34" charset="0"/>
                <a:ea typeface="맑은 고딕" pitchFamily="34" charset="-122"/>
                <a:cs typeface="맑은 고딕" pitchFamily="34" charset="-120"/>
              </a:rPr>
              <a:t>"MCP를 붙였는데 왜 또 키를 넣으라 하지?"에 대한 답</a:t>
            </a:r>
            <a:endParaRPr lang="en-US" sz="1500" dirty="0"/>
          </a:p>
        </p:txBody>
      </p:sp>
      <p:sp>
        <p:nvSpPr>
          <p:cNvPr id="4" name="Shape 2"/>
          <p:cNvSpPr/>
          <p:nvPr/>
        </p:nvSpPr>
        <p:spPr>
          <a:xfrm>
            <a:off x="566928" y="1755648"/>
            <a:ext cx="11064240" cy="2139696"/>
          </a:xfrm>
          <a:prstGeom prst="roundRect">
            <a:avLst>
              <a:gd name="adj" fmla="val 2564"/>
            </a:avLst>
          </a:prstGeom>
          <a:solidFill>
            <a:srgbClr val="F5F1EB"/>
          </a:solidFill>
          <a:ln w="15875">
            <a:solidFill>
              <a:srgbClr val="DCD4C9"/>
            </a:solidFill>
            <a:prstDash val="solid"/>
          </a:ln>
        </p:spPr>
        <p:txBody>
          <a:bodyPr/>
          <a:lstStyle/>
          <a:p>
            <a:endParaRPr/>
          </a:p>
        </p:txBody>
      </p:sp>
      <p:sp>
        <p:nvSpPr>
          <p:cNvPr id="5" name="Shape 3"/>
          <p:cNvSpPr/>
          <p:nvPr/>
        </p:nvSpPr>
        <p:spPr>
          <a:xfrm>
            <a:off x="914400" y="2322576"/>
            <a:ext cx="2651760" cy="1005840"/>
          </a:xfrm>
          <a:prstGeom prst="roundRect">
            <a:avLst>
              <a:gd name="adj" fmla="val 5455"/>
            </a:avLst>
          </a:prstGeom>
          <a:solidFill>
            <a:srgbClr val="FFFFFF"/>
          </a:solidFill>
          <a:ln w="15875">
            <a:solidFill>
              <a:srgbClr val="DCD4C9"/>
            </a:solidFill>
            <a:prstDash val="solid"/>
          </a:ln>
        </p:spPr>
        <p:txBody>
          <a:bodyPr/>
          <a:lstStyle/>
          <a:p>
            <a:endParaRPr/>
          </a:p>
        </p:txBody>
      </p:sp>
      <p:sp>
        <p:nvSpPr>
          <p:cNvPr id="6" name="Text 4"/>
          <p:cNvSpPr/>
          <p:nvPr/>
        </p:nvSpPr>
        <p:spPr>
          <a:xfrm>
            <a:off x="914400" y="2322576"/>
            <a:ext cx="2651760" cy="1005840"/>
          </a:xfrm>
          <a:prstGeom prst="rect">
            <a:avLst/>
          </a:prstGeom>
          <a:noFill/>
          <a:ln/>
        </p:spPr>
        <p:txBody>
          <a:bodyPr wrap="square" lIns="0" tIns="0" rIns="0" bIns="0" rtlCol="0" anchor="ctr"/>
          <a:lstStyle/>
          <a:p>
            <a:pPr marL="0" indent="0" algn="ctr">
              <a:buNone/>
            </a:pPr>
            <a:r>
              <a:rPr lang="en-US" sz="2000" b="1" dirty="0">
                <a:solidFill>
                  <a:srgbClr val="24211D"/>
                </a:solidFill>
                <a:latin typeface="맑은 고딕" pitchFamily="34" charset="0"/>
                <a:ea typeface="맑은 고딕" pitchFamily="34" charset="-122"/>
                <a:cs typeface="맑은 고딕" pitchFamily="34" charset="-120"/>
              </a:rPr>
              <a:t>Claude</a:t>
            </a:r>
            <a:endParaRPr lang="en-US" sz="1800" dirty="0"/>
          </a:p>
        </p:txBody>
      </p:sp>
      <p:sp>
        <p:nvSpPr>
          <p:cNvPr id="7" name="Shape 5"/>
          <p:cNvSpPr/>
          <p:nvPr/>
        </p:nvSpPr>
        <p:spPr>
          <a:xfrm>
            <a:off x="4773168" y="2322576"/>
            <a:ext cx="2651760" cy="1005840"/>
          </a:xfrm>
          <a:prstGeom prst="roundRect">
            <a:avLst>
              <a:gd name="adj" fmla="val 5455"/>
            </a:avLst>
          </a:prstGeom>
          <a:solidFill>
            <a:srgbClr val="D97757"/>
          </a:solidFill>
          <a:ln w="12700">
            <a:solidFill>
              <a:srgbClr val="D97757"/>
            </a:solidFill>
            <a:prstDash val="solid"/>
          </a:ln>
        </p:spPr>
        <p:txBody>
          <a:bodyPr/>
          <a:lstStyle/>
          <a:p>
            <a:endParaRPr/>
          </a:p>
        </p:txBody>
      </p:sp>
      <p:sp>
        <p:nvSpPr>
          <p:cNvPr id="8" name="Text 6"/>
          <p:cNvSpPr/>
          <p:nvPr/>
        </p:nvSpPr>
        <p:spPr>
          <a:xfrm>
            <a:off x="4773168" y="2432304"/>
            <a:ext cx="2651760" cy="384048"/>
          </a:xfrm>
          <a:prstGeom prst="rect">
            <a:avLst/>
          </a:prstGeom>
          <a:noFill/>
          <a:ln/>
        </p:spPr>
        <p:txBody>
          <a:bodyPr wrap="square" lIns="0" tIns="0" rIns="0" bIns="0" rtlCol="0" anchor="ctr"/>
          <a:lstStyle/>
          <a:p>
            <a:pPr marL="0" indent="0" algn="ctr">
              <a:buNone/>
            </a:pPr>
            <a:r>
              <a:rPr lang="en-US" sz="1950" b="1" dirty="0">
                <a:solidFill>
                  <a:srgbClr val="FFFFFF"/>
                </a:solidFill>
                <a:latin typeface="맑은 고딕" pitchFamily="34" charset="0"/>
                <a:ea typeface="맑은 고딕" pitchFamily="34" charset="-122"/>
                <a:cs typeface="맑은 고딕" pitchFamily="34" charset="-120"/>
              </a:rPr>
              <a:t>MCP</a:t>
            </a:r>
            <a:endParaRPr lang="en-US" sz="1800" dirty="0"/>
          </a:p>
        </p:txBody>
      </p:sp>
      <p:sp>
        <p:nvSpPr>
          <p:cNvPr id="9" name="Text 7"/>
          <p:cNvSpPr/>
          <p:nvPr/>
        </p:nvSpPr>
        <p:spPr>
          <a:xfrm>
            <a:off x="4773168" y="2816352"/>
            <a:ext cx="2651760" cy="365760"/>
          </a:xfrm>
          <a:prstGeom prst="rect">
            <a:avLst/>
          </a:prstGeom>
          <a:noFill/>
          <a:ln/>
        </p:spPr>
        <p:txBody>
          <a:bodyPr wrap="square" lIns="0" tIns="0" rIns="0" bIns="0" rtlCol="0" anchor="ctr"/>
          <a:lstStyle/>
          <a:p>
            <a:pPr marL="0" indent="0" algn="ctr">
              <a:buNone/>
            </a:pPr>
            <a:r>
              <a:rPr lang="en-US" sz="1600" dirty="0">
                <a:solidFill>
                  <a:srgbClr val="FBEDE6"/>
                </a:solidFill>
                <a:latin typeface="맑은 고딕" pitchFamily="34" charset="0"/>
                <a:ea typeface="맑은 고딕" pitchFamily="34" charset="-122"/>
                <a:cs typeface="맑은 고딕" pitchFamily="34" charset="-120"/>
              </a:rPr>
              <a:t>통로를 놓습니다</a:t>
            </a:r>
            <a:endParaRPr lang="en-US" sz="1250" dirty="0"/>
          </a:p>
        </p:txBody>
      </p:sp>
      <p:sp>
        <p:nvSpPr>
          <p:cNvPr id="10" name="Shape 8"/>
          <p:cNvSpPr/>
          <p:nvPr/>
        </p:nvSpPr>
        <p:spPr>
          <a:xfrm>
            <a:off x="8631936" y="2322576"/>
            <a:ext cx="2651760" cy="1005840"/>
          </a:xfrm>
          <a:prstGeom prst="roundRect">
            <a:avLst>
              <a:gd name="adj" fmla="val 5455"/>
            </a:avLst>
          </a:prstGeom>
          <a:solidFill>
            <a:srgbClr val="FFFFFF"/>
          </a:solidFill>
          <a:ln w="15875">
            <a:solidFill>
              <a:srgbClr val="DCD4C9"/>
            </a:solidFill>
            <a:prstDash val="solid"/>
          </a:ln>
        </p:spPr>
        <p:txBody>
          <a:bodyPr/>
          <a:lstStyle/>
          <a:p>
            <a:endParaRPr/>
          </a:p>
        </p:txBody>
      </p:sp>
      <p:sp>
        <p:nvSpPr>
          <p:cNvPr id="11" name="Text 9"/>
          <p:cNvSpPr/>
          <p:nvPr/>
        </p:nvSpPr>
        <p:spPr>
          <a:xfrm>
            <a:off x="8631936" y="2432304"/>
            <a:ext cx="2651760" cy="384048"/>
          </a:xfrm>
          <a:prstGeom prst="rect">
            <a:avLst/>
          </a:prstGeom>
          <a:noFill/>
          <a:ln/>
        </p:spPr>
        <p:txBody>
          <a:bodyPr wrap="square" lIns="0" tIns="0" rIns="0" bIns="0" rtlCol="0" anchor="ctr"/>
          <a:lstStyle/>
          <a:p>
            <a:pPr marL="0" indent="0" algn="ctr">
              <a:buNone/>
            </a:pPr>
            <a:r>
              <a:rPr lang="en-US" sz="1800" b="1" dirty="0">
                <a:solidFill>
                  <a:srgbClr val="24211D"/>
                </a:solidFill>
                <a:latin typeface="맑은 고딕" pitchFamily="34" charset="0"/>
                <a:ea typeface="맑은 고딕" pitchFamily="34" charset="-122"/>
                <a:cs typeface="맑은 고딕" pitchFamily="34" charset="-120"/>
              </a:rPr>
              <a:t>바깥 서비스</a:t>
            </a:r>
            <a:endParaRPr lang="en-US" sz="1600" dirty="0"/>
          </a:p>
        </p:txBody>
      </p:sp>
      <p:sp>
        <p:nvSpPr>
          <p:cNvPr id="12" name="Text 10"/>
          <p:cNvSpPr/>
          <p:nvPr/>
        </p:nvSpPr>
        <p:spPr>
          <a:xfrm>
            <a:off x="8631936" y="2816352"/>
            <a:ext cx="2651760" cy="365760"/>
          </a:xfrm>
          <a:prstGeom prst="rect">
            <a:avLst/>
          </a:prstGeom>
          <a:noFill/>
          <a:ln/>
        </p:spPr>
        <p:txBody>
          <a:bodyPr wrap="square" lIns="0" tIns="0" rIns="0" bIns="0" rtlCol="0" anchor="ctr"/>
          <a:lstStyle/>
          <a:p>
            <a:pPr marL="0" indent="0" algn="ctr">
              <a:buNone/>
            </a:pPr>
            <a:r>
              <a:rPr lang="en-US" sz="1550" dirty="0">
                <a:solidFill>
                  <a:srgbClr val="514B43"/>
                </a:solidFill>
                <a:latin typeface="맑은 고딕" pitchFamily="34" charset="0"/>
                <a:ea typeface="맑은 고딕" pitchFamily="34" charset="-122"/>
                <a:cs typeface="맑은 고딕" pitchFamily="34" charset="-120"/>
              </a:rPr>
              <a:t>증권사 · 지도 · 검색</a:t>
            </a:r>
            <a:endParaRPr lang="en-US" sz="1200" dirty="0"/>
          </a:p>
        </p:txBody>
      </p:sp>
      <p:sp>
        <p:nvSpPr>
          <p:cNvPr id="13" name="Shape 11"/>
          <p:cNvSpPr/>
          <p:nvPr/>
        </p:nvSpPr>
        <p:spPr>
          <a:xfrm>
            <a:off x="3712464" y="2679192"/>
            <a:ext cx="822960" cy="292608"/>
          </a:xfrm>
          <a:prstGeom prst="rightArrow">
            <a:avLst/>
          </a:prstGeom>
          <a:solidFill>
            <a:srgbClr val="DCD4C9"/>
          </a:solidFill>
          <a:ln w="12700">
            <a:solidFill>
              <a:srgbClr val="DCD4C9"/>
            </a:solidFill>
            <a:prstDash val="solid"/>
          </a:ln>
        </p:spPr>
        <p:txBody>
          <a:bodyPr/>
          <a:lstStyle/>
          <a:p>
            <a:endParaRPr/>
          </a:p>
        </p:txBody>
      </p:sp>
      <p:sp>
        <p:nvSpPr>
          <p:cNvPr id="14" name="Shape 12"/>
          <p:cNvSpPr/>
          <p:nvPr/>
        </p:nvSpPr>
        <p:spPr>
          <a:xfrm>
            <a:off x="7571232" y="2679192"/>
            <a:ext cx="822960" cy="292608"/>
          </a:xfrm>
          <a:prstGeom prst="rightArrow">
            <a:avLst/>
          </a:prstGeom>
          <a:solidFill>
            <a:srgbClr val="DCD4C9"/>
          </a:solidFill>
          <a:ln w="12700">
            <a:solidFill>
              <a:srgbClr val="DCD4C9"/>
            </a:solidFill>
            <a:prstDash val="solid"/>
          </a:ln>
        </p:spPr>
        <p:txBody>
          <a:bodyPr/>
          <a:lstStyle/>
          <a:p>
            <a:endParaRPr/>
          </a:p>
        </p:txBody>
      </p:sp>
      <p:sp>
        <p:nvSpPr>
          <p:cNvPr id="15" name="Shape 13"/>
          <p:cNvSpPr/>
          <p:nvPr/>
        </p:nvSpPr>
        <p:spPr>
          <a:xfrm>
            <a:off x="7370064" y="3346704"/>
            <a:ext cx="1225296" cy="402336"/>
          </a:xfrm>
          <a:prstGeom prst="roundRect">
            <a:avLst>
              <a:gd name="adj" fmla="val 11364"/>
            </a:avLst>
          </a:prstGeom>
          <a:solidFill>
            <a:srgbClr val="A8462A"/>
          </a:solidFill>
          <a:ln w="12700">
            <a:solidFill>
              <a:srgbClr val="A8462A"/>
            </a:solidFill>
            <a:prstDash val="solid"/>
          </a:ln>
        </p:spPr>
        <p:txBody>
          <a:bodyPr/>
          <a:lstStyle/>
          <a:p>
            <a:endParaRPr/>
          </a:p>
        </p:txBody>
      </p:sp>
      <p:sp>
        <p:nvSpPr>
          <p:cNvPr id="16" name="Text 14"/>
          <p:cNvSpPr/>
          <p:nvPr/>
        </p:nvSpPr>
        <p:spPr>
          <a:xfrm>
            <a:off x="7370064" y="3346704"/>
            <a:ext cx="122529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API 키</a:t>
            </a:r>
            <a:endParaRPr lang="en-US" sz="1250" dirty="0"/>
          </a:p>
        </p:txBody>
      </p:sp>
      <p:sp>
        <p:nvSpPr>
          <p:cNvPr id="17" name="Text 15"/>
          <p:cNvSpPr/>
          <p:nvPr/>
        </p:nvSpPr>
        <p:spPr>
          <a:xfrm>
            <a:off x="6309360" y="1901952"/>
            <a:ext cx="4974336" cy="365760"/>
          </a:xfrm>
          <a:prstGeom prst="rect">
            <a:avLst/>
          </a:prstGeom>
          <a:noFill/>
          <a:ln/>
        </p:spPr>
        <p:txBody>
          <a:bodyPr wrap="square" lIns="0" tIns="0" rIns="0" bIns="0" rtlCol="0" anchor="ctr"/>
          <a:lstStyle/>
          <a:p>
            <a:pPr marL="0" indent="0" algn="r">
              <a:buNone/>
            </a:pPr>
            <a:r>
              <a:rPr lang="en-US" sz="1550" i="1" dirty="0">
                <a:solidFill>
                  <a:srgbClr val="A8462A"/>
                </a:solidFill>
                <a:latin typeface="맑은 고딕" pitchFamily="34" charset="0"/>
                <a:ea typeface="맑은 고딕" pitchFamily="34" charset="-122"/>
                <a:cs typeface="맑은 고딕" pitchFamily="34" charset="-120"/>
              </a:rPr>
              <a:t>문 앞에서 신분 확인</a:t>
            </a:r>
            <a:endParaRPr lang="en-US" sz="1200" dirty="0"/>
          </a:p>
        </p:txBody>
      </p:sp>
      <p:sp>
        <p:nvSpPr>
          <p:cNvPr id="18" name="Text 16"/>
          <p:cNvSpPr/>
          <p:nvPr/>
        </p:nvSpPr>
        <p:spPr>
          <a:xfrm>
            <a:off x="566928" y="4059936"/>
            <a:ext cx="11064240" cy="402336"/>
          </a:xfrm>
          <a:prstGeom prst="rect">
            <a:avLst/>
          </a:prstGeom>
          <a:noFill/>
          <a:ln/>
        </p:spPr>
        <p:txBody>
          <a:bodyPr wrap="square" lIns="0" tIns="0" rIns="0" bIns="0" rtlCol="0" anchor="ctr"/>
          <a:lstStyle/>
          <a:p>
            <a:pPr marL="0" indent="0">
              <a:buNone/>
            </a:pPr>
            <a:r>
              <a:rPr lang="en-US" sz="1800" dirty="0">
                <a:solidFill>
                  <a:srgbClr val="24211D"/>
                </a:solidFill>
                <a:latin typeface="맑은 고딕" pitchFamily="34" charset="0"/>
                <a:ea typeface="맑은 고딕" pitchFamily="34" charset="-122"/>
                <a:cs typeface="맑은 고딕" pitchFamily="34" charset="-120"/>
              </a:rPr>
              <a:t>MCP를 붙여도 </a:t>
            </a:r>
            <a:r>
              <a:rPr lang="en-US" sz="1800" b="1" dirty="0">
                <a:solidFill>
                  <a:srgbClr val="A8462A"/>
                </a:solidFill>
                <a:latin typeface="맑은 고딕" pitchFamily="34" charset="0"/>
                <a:ea typeface="맑은 고딕" pitchFamily="34" charset="-122"/>
                <a:cs typeface="맑은 고딕" pitchFamily="34" charset="-120"/>
              </a:rPr>
              <a:t>그 서비스가 요구하면 키는 따로 넣어야 합니다.</a:t>
            </a:r>
            <a:r>
              <a:rPr lang="en-US" sz="1800" dirty="0">
                <a:solidFill>
                  <a:srgbClr val="24211D"/>
                </a:solidFill>
                <a:latin typeface="맑은 고딕" pitchFamily="34" charset="0"/>
                <a:ea typeface="맑은 고딕" pitchFamily="34" charset="-122"/>
                <a:cs typeface="맑은 고딕" pitchFamily="34" charset="-120"/>
              </a:rPr>
              <a:t> 통로와 열쇠는 다릅니다.</a:t>
            </a:r>
            <a:endParaRPr lang="en-US" sz="1500" dirty="0"/>
          </a:p>
        </p:txBody>
      </p:sp>
      <p:sp>
        <p:nvSpPr>
          <p:cNvPr id="19" name="Shape 17"/>
          <p:cNvSpPr/>
          <p:nvPr/>
        </p:nvSpPr>
        <p:spPr>
          <a:xfrm>
            <a:off x="566928" y="4590288"/>
            <a:ext cx="3529584" cy="1316736"/>
          </a:xfrm>
          <a:prstGeom prst="roundRect">
            <a:avLst>
              <a:gd name="adj" fmla="val 3472"/>
            </a:avLst>
          </a:prstGeom>
          <a:solidFill>
            <a:srgbClr val="FFFFFF"/>
          </a:solidFill>
          <a:ln w="9525">
            <a:solidFill>
              <a:srgbClr val="DCD4C9"/>
            </a:solidFill>
            <a:prstDash val="solid"/>
          </a:ln>
        </p:spPr>
        <p:txBody>
          <a:bodyPr/>
          <a:lstStyle/>
          <a:p>
            <a:endParaRPr/>
          </a:p>
        </p:txBody>
      </p:sp>
      <p:sp>
        <p:nvSpPr>
          <p:cNvPr id="20" name="Shape 18"/>
          <p:cNvSpPr/>
          <p:nvPr/>
        </p:nvSpPr>
        <p:spPr>
          <a:xfrm>
            <a:off x="768096" y="4773168"/>
            <a:ext cx="384048" cy="384048"/>
          </a:xfrm>
          <a:prstGeom prst="ellipse">
            <a:avLst/>
          </a:prstGeom>
          <a:solidFill>
            <a:srgbClr val="A8462A"/>
          </a:solidFill>
          <a:ln/>
        </p:spPr>
        <p:txBody>
          <a:bodyPr/>
          <a:lstStyle/>
          <a:p>
            <a:endParaRPr/>
          </a:p>
        </p:txBody>
      </p:sp>
      <p:sp>
        <p:nvSpPr>
          <p:cNvPr id="21" name="Text 19"/>
          <p:cNvSpPr/>
          <p:nvPr/>
        </p:nvSpPr>
        <p:spPr>
          <a:xfrm>
            <a:off x="768096" y="4773168"/>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맑은 고딕" pitchFamily="34" charset="0"/>
                <a:ea typeface="맑은 고딕" pitchFamily="34" charset="-122"/>
                <a:cs typeface="맑은 고딕" pitchFamily="34" charset="-120"/>
              </a:rPr>
              <a:t>1</a:t>
            </a:r>
            <a:endParaRPr lang="en-US" sz="2000" dirty="0"/>
          </a:p>
        </p:txBody>
      </p:sp>
      <p:sp>
        <p:nvSpPr>
          <p:cNvPr id="22" name="Text 20"/>
          <p:cNvSpPr/>
          <p:nvPr/>
        </p:nvSpPr>
        <p:spPr>
          <a:xfrm>
            <a:off x="1243584" y="4773168"/>
            <a:ext cx="2670048" cy="384048"/>
          </a:xfrm>
          <a:prstGeom prst="rect">
            <a:avLst/>
          </a:prstGeom>
          <a:noFill/>
          <a:ln/>
        </p:spPr>
        <p:txBody>
          <a:bodyPr wrap="square" lIns="0" tIns="0" rIns="0" bIns="0" rtlCol="0" anchor="ctr"/>
          <a:lstStyle/>
          <a:p>
            <a:pPr marL="0" indent="0">
              <a:buNone/>
            </a:pPr>
            <a:r>
              <a:rPr lang="en-US" sz="1750" b="1" dirty="0">
                <a:solidFill>
                  <a:srgbClr val="24211D"/>
                </a:solidFill>
                <a:latin typeface="맑은 고딕" pitchFamily="34" charset="0"/>
                <a:ea typeface="맑은 고딕" pitchFamily="34" charset="-122"/>
                <a:cs typeface="맑은 고딕" pitchFamily="34" charset="-120"/>
              </a:rPr>
              <a:t>대화창에 붙이지 않기</a:t>
            </a:r>
            <a:endParaRPr lang="en-US" sz="1450" dirty="0"/>
          </a:p>
        </p:txBody>
      </p:sp>
      <p:sp>
        <p:nvSpPr>
          <p:cNvPr id="23" name="Text 21"/>
          <p:cNvSpPr/>
          <p:nvPr/>
        </p:nvSpPr>
        <p:spPr>
          <a:xfrm>
            <a:off x="786384" y="5248656"/>
            <a:ext cx="3090672" cy="548640"/>
          </a:xfrm>
          <a:prstGeom prst="rect">
            <a:avLst/>
          </a:prstGeom>
          <a:noFill/>
          <a:ln/>
        </p:spPr>
        <p:txBody>
          <a:bodyPr wrap="square" lIns="0" tIns="0" rIns="0" bIns="0" rtlCol="0" anchor="t"/>
          <a:lstStyle/>
          <a:p>
            <a:pPr marL="0" indent="0">
              <a:lnSpc>
                <a:spcPts val="1700"/>
              </a:lnSpc>
              <a:buNone/>
            </a:pPr>
            <a:r>
              <a:rPr lang="en-US" sz="1450" dirty="0">
                <a:solidFill>
                  <a:srgbClr val="514B43"/>
                </a:solidFill>
                <a:latin typeface="맑은 고딕" pitchFamily="34" charset="0"/>
                <a:ea typeface="맑은 고딕" pitchFamily="34" charset="-122"/>
                <a:cs typeface="맑은 고딕" pitchFamily="34" charset="-120"/>
              </a:rPr>
              <a:t>설정 파일 · 로그 전체를</a:t>
            </a:r>
            <a:endParaRPr lang="en-US" sz="1200" dirty="0"/>
          </a:p>
          <a:p>
            <a:pPr marL="0" indent="0">
              <a:lnSpc>
                <a:spcPts val="1700"/>
              </a:lnSpc>
              <a:buNone/>
            </a:pPr>
            <a:r>
              <a:rPr lang="en-US" sz="1450" dirty="0">
                <a:solidFill>
                  <a:srgbClr val="514B43"/>
                </a:solidFill>
                <a:latin typeface="맑은 고딕" pitchFamily="34" charset="0"/>
                <a:ea typeface="맑은 고딕" pitchFamily="34" charset="-122"/>
                <a:cs typeface="맑은 고딕" pitchFamily="34" charset="-120"/>
              </a:rPr>
              <a:t>그대로 넣지 마세요</a:t>
            </a:r>
            <a:endParaRPr lang="en-US" sz="1200" dirty="0"/>
          </a:p>
        </p:txBody>
      </p:sp>
      <p:sp>
        <p:nvSpPr>
          <p:cNvPr id="24" name="Shape 22"/>
          <p:cNvSpPr/>
          <p:nvPr/>
        </p:nvSpPr>
        <p:spPr>
          <a:xfrm>
            <a:off x="4334256" y="4590288"/>
            <a:ext cx="3529584" cy="1316736"/>
          </a:xfrm>
          <a:prstGeom prst="roundRect">
            <a:avLst>
              <a:gd name="adj" fmla="val 3472"/>
            </a:avLst>
          </a:prstGeom>
          <a:solidFill>
            <a:srgbClr val="FFFFFF"/>
          </a:solidFill>
          <a:ln w="9525">
            <a:solidFill>
              <a:srgbClr val="DCD4C9"/>
            </a:solidFill>
            <a:prstDash val="solid"/>
          </a:ln>
        </p:spPr>
        <p:txBody>
          <a:bodyPr/>
          <a:lstStyle/>
          <a:p>
            <a:endParaRPr/>
          </a:p>
        </p:txBody>
      </p:sp>
      <p:sp>
        <p:nvSpPr>
          <p:cNvPr id="25" name="Shape 23"/>
          <p:cNvSpPr/>
          <p:nvPr/>
        </p:nvSpPr>
        <p:spPr>
          <a:xfrm>
            <a:off x="4535424" y="4773168"/>
            <a:ext cx="384048" cy="384048"/>
          </a:xfrm>
          <a:prstGeom prst="ellipse">
            <a:avLst/>
          </a:prstGeom>
          <a:solidFill>
            <a:srgbClr val="A8462A"/>
          </a:solidFill>
          <a:ln/>
        </p:spPr>
        <p:txBody>
          <a:bodyPr/>
          <a:lstStyle/>
          <a:p>
            <a:endParaRPr/>
          </a:p>
        </p:txBody>
      </p:sp>
      <p:sp>
        <p:nvSpPr>
          <p:cNvPr id="26" name="Text 24"/>
          <p:cNvSpPr/>
          <p:nvPr/>
        </p:nvSpPr>
        <p:spPr>
          <a:xfrm>
            <a:off x="4535424" y="4773168"/>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맑은 고딕" pitchFamily="34" charset="0"/>
                <a:ea typeface="맑은 고딕" pitchFamily="34" charset="-122"/>
                <a:cs typeface="맑은 고딕" pitchFamily="34" charset="-120"/>
              </a:rPr>
              <a:t>2</a:t>
            </a:r>
            <a:endParaRPr lang="en-US" sz="2000" dirty="0"/>
          </a:p>
        </p:txBody>
      </p:sp>
      <p:sp>
        <p:nvSpPr>
          <p:cNvPr id="27" name="Text 25"/>
          <p:cNvSpPr/>
          <p:nvPr/>
        </p:nvSpPr>
        <p:spPr>
          <a:xfrm>
            <a:off x="5010912" y="4773168"/>
            <a:ext cx="2670048" cy="384048"/>
          </a:xfrm>
          <a:prstGeom prst="rect">
            <a:avLst/>
          </a:prstGeom>
          <a:noFill/>
          <a:ln/>
        </p:spPr>
        <p:txBody>
          <a:bodyPr wrap="square" lIns="0" tIns="0" rIns="0" bIns="0" rtlCol="0" anchor="ctr"/>
          <a:lstStyle/>
          <a:p>
            <a:pPr marL="0" indent="0">
              <a:buNone/>
            </a:pPr>
            <a:r>
              <a:rPr lang="en-US" sz="1750" b="1" dirty="0">
                <a:solidFill>
                  <a:srgbClr val="24211D"/>
                </a:solidFill>
                <a:latin typeface="맑은 고딕" pitchFamily="34" charset="0"/>
                <a:ea typeface="맑은 고딕" pitchFamily="34" charset="-122"/>
                <a:cs typeface="맑은 고딕" pitchFamily="34" charset="-120"/>
              </a:rPr>
              <a:t>가리고 보여주기</a:t>
            </a:r>
            <a:endParaRPr lang="en-US" sz="1450" dirty="0"/>
          </a:p>
        </p:txBody>
      </p:sp>
      <p:sp>
        <p:nvSpPr>
          <p:cNvPr id="28" name="Text 26"/>
          <p:cNvSpPr/>
          <p:nvPr/>
        </p:nvSpPr>
        <p:spPr>
          <a:xfrm>
            <a:off x="4553712" y="5248656"/>
            <a:ext cx="3090672" cy="548640"/>
          </a:xfrm>
          <a:prstGeom prst="rect">
            <a:avLst/>
          </a:prstGeom>
          <a:noFill/>
          <a:ln/>
        </p:spPr>
        <p:txBody>
          <a:bodyPr wrap="square" lIns="0" tIns="0" rIns="0" bIns="0" rtlCol="0" anchor="t"/>
          <a:lstStyle/>
          <a:p>
            <a:pPr marL="0" indent="0">
              <a:lnSpc>
                <a:spcPts val="1700"/>
              </a:lnSpc>
              <a:buNone/>
            </a:pPr>
            <a:r>
              <a:rPr lang="en-US" sz="1450" dirty="0">
                <a:solidFill>
                  <a:srgbClr val="514B43"/>
                </a:solidFill>
                <a:latin typeface="맑은 고딕" pitchFamily="34" charset="0"/>
                <a:ea typeface="맑은 고딕" pitchFamily="34" charset="-122"/>
                <a:cs typeface="맑은 고딕" pitchFamily="34" charset="-120"/>
              </a:rPr>
              <a:t>키 자리는 ○○○ 로 바꾸고</a:t>
            </a:r>
            <a:endParaRPr lang="en-US" sz="1200" dirty="0"/>
          </a:p>
          <a:p>
            <a:pPr marL="0" indent="0">
              <a:lnSpc>
                <a:spcPts val="1700"/>
              </a:lnSpc>
              <a:buNone/>
            </a:pPr>
            <a:r>
              <a:rPr lang="en-US" sz="1450" dirty="0">
                <a:solidFill>
                  <a:srgbClr val="514B43"/>
                </a:solidFill>
                <a:latin typeface="맑은 고딕" pitchFamily="34" charset="0"/>
                <a:ea typeface="맑은 고딕" pitchFamily="34" charset="-122"/>
                <a:cs typeface="맑은 고딕" pitchFamily="34" charset="-120"/>
              </a:rPr>
              <a:t>필요한 줄만 고르세요</a:t>
            </a:r>
            <a:endParaRPr lang="en-US" sz="1200" dirty="0"/>
          </a:p>
        </p:txBody>
      </p:sp>
      <p:sp>
        <p:nvSpPr>
          <p:cNvPr id="29" name="Shape 27"/>
          <p:cNvSpPr/>
          <p:nvPr/>
        </p:nvSpPr>
        <p:spPr>
          <a:xfrm>
            <a:off x="8101584" y="4590288"/>
            <a:ext cx="3529584" cy="1316736"/>
          </a:xfrm>
          <a:prstGeom prst="roundRect">
            <a:avLst>
              <a:gd name="adj" fmla="val 3472"/>
            </a:avLst>
          </a:prstGeom>
          <a:solidFill>
            <a:srgbClr val="FFFFFF"/>
          </a:solidFill>
          <a:ln w="9525">
            <a:solidFill>
              <a:srgbClr val="DCD4C9"/>
            </a:solidFill>
            <a:prstDash val="solid"/>
          </a:ln>
        </p:spPr>
        <p:txBody>
          <a:bodyPr/>
          <a:lstStyle/>
          <a:p>
            <a:endParaRPr/>
          </a:p>
        </p:txBody>
      </p:sp>
      <p:sp>
        <p:nvSpPr>
          <p:cNvPr id="30" name="Shape 28"/>
          <p:cNvSpPr/>
          <p:nvPr/>
        </p:nvSpPr>
        <p:spPr>
          <a:xfrm>
            <a:off x="8302752" y="4773168"/>
            <a:ext cx="384048" cy="384048"/>
          </a:xfrm>
          <a:prstGeom prst="ellipse">
            <a:avLst/>
          </a:prstGeom>
          <a:solidFill>
            <a:srgbClr val="A8462A"/>
          </a:solidFill>
          <a:ln/>
        </p:spPr>
        <p:txBody>
          <a:bodyPr/>
          <a:lstStyle/>
          <a:p>
            <a:endParaRPr/>
          </a:p>
        </p:txBody>
      </p:sp>
      <p:sp>
        <p:nvSpPr>
          <p:cNvPr id="31" name="Text 29"/>
          <p:cNvSpPr/>
          <p:nvPr/>
        </p:nvSpPr>
        <p:spPr>
          <a:xfrm>
            <a:off x="8302752" y="4773168"/>
            <a:ext cx="38404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맑은 고딕" pitchFamily="34" charset="0"/>
                <a:ea typeface="맑은 고딕" pitchFamily="34" charset="-122"/>
                <a:cs typeface="맑은 고딕" pitchFamily="34" charset="-120"/>
              </a:rPr>
              <a:t>3</a:t>
            </a:r>
            <a:endParaRPr lang="en-US" sz="2000" dirty="0"/>
          </a:p>
        </p:txBody>
      </p:sp>
      <p:sp>
        <p:nvSpPr>
          <p:cNvPr id="32" name="Text 30"/>
          <p:cNvSpPr/>
          <p:nvPr/>
        </p:nvSpPr>
        <p:spPr>
          <a:xfrm>
            <a:off x="8778240" y="4773168"/>
            <a:ext cx="2670048" cy="384048"/>
          </a:xfrm>
          <a:prstGeom prst="rect">
            <a:avLst/>
          </a:prstGeom>
          <a:noFill/>
          <a:ln/>
        </p:spPr>
        <p:txBody>
          <a:bodyPr wrap="square" lIns="0" tIns="0" rIns="0" bIns="0" rtlCol="0" anchor="ctr"/>
          <a:lstStyle/>
          <a:p>
            <a:pPr marL="0" indent="0">
              <a:buNone/>
            </a:pPr>
            <a:r>
              <a:rPr lang="en-US" sz="1750" b="1" dirty="0">
                <a:solidFill>
                  <a:srgbClr val="24211D"/>
                </a:solidFill>
                <a:latin typeface="맑은 고딕" pitchFamily="34" charset="0"/>
                <a:ea typeface="맑은 고딕" pitchFamily="34" charset="-122"/>
                <a:cs typeface="맑은 고딕" pitchFamily="34" charset="-120"/>
              </a:rPr>
              <a:t>새면 재발급</a:t>
            </a:r>
            <a:endParaRPr lang="en-US" sz="1450" dirty="0"/>
          </a:p>
        </p:txBody>
      </p:sp>
      <p:sp>
        <p:nvSpPr>
          <p:cNvPr id="33" name="Text 31"/>
          <p:cNvSpPr/>
          <p:nvPr/>
        </p:nvSpPr>
        <p:spPr>
          <a:xfrm>
            <a:off x="8321040" y="5248656"/>
            <a:ext cx="3090672" cy="548640"/>
          </a:xfrm>
          <a:prstGeom prst="rect">
            <a:avLst/>
          </a:prstGeom>
          <a:noFill/>
          <a:ln/>
        </p:spPr>
        <p:txBody>
          <a:bodyPr wrap="square" lIns="0" tIns="0" rIns="0" bIns="0" rtlCol="0" anchor="t"/>
          <a:lstStyle/>
          <a:p>
            <a:pPr marL="0" indent="0">
              <a:lnSpc>
                <a:spcPts val="1700"/>
              </a:lnSpc>
              <a:buNone/>
            </a:pPr>
            <a:r>
              <a:rPr lang="en-US" sz="1450" dirty="0">
                <a:solidFill>
                  <a:srgbClr val="514B43"/>
                </a:solidFill>
                <a:latin typeface="맑은 고딕" pitchFamily="34" charset="0"/>
                <a:ea typeface="맑은 고딕" pitchFamily="34" charset="-122"/>
                <a:cs typeface="맑은 고딕" pitchFamily="34" charset="-120"/>
              </a:rPr>
              <a:t>지우는 걸로는 안 됩니다</a:t>
            </a:r>
            <a:endParaRPr lang="en-US" sz="1200" dirty="0"/>
          </a:p>
          <a:p>
            <a:pPr marL="0" indent="0">
              <a:lnSpc>
                <a:spcPts val="1700"/>
              </a:lnSpc>
              <a:buNone/>
            </a:pPr>
            <a:r>
              <a:rPr lang="en-US" sz="1450" dirty="0">
                <a:solidFill>
                  <a:srgbClr val="514B43"/>
                </a:solidFill>
                <a:latin typeface="맑은 고딕" pitchFamily="34" charset="0"/>
                <a:ea typeface="맑은 고딕" pitchFamily="34" charset="-122"/>
                <a:cs typeface="맑은 고딕" pitchFamily="34" charset="-120"/>
              </a:rPr>
              <a:t>서비스에서 새로 받으세요</a:t>
            </a:r>
            <a:endParaRPr lang="en-US" sz="1200" dirty="0"/>
          </a:p>
        </p:txBody>
      </p:sp>
      <p:sp>
        <p:nvSpPr>
          <p:cNvPr id="34" name="Text 32"/>
          <p:cNvSpPr/>
          <p:nvPr/>
        </p:nvSpPr>
        <p:spPr>
          <a:xfrm>
            <a:off x="566928" y="6272784"/>
            <a:ext cx="11064240" cy="310896"/>
          </a:xfrm>
          <a:prstGeom prst="rect">
            <a:avLst/>
          </a:prstGeom>
          <a:noFill/>
          <a:ln/>
        </p:spPr>
        <p:txBody>
          <a:bodyPr wrap="square" lIns="0" tIns="0" rIns="0" bIns="0" rtlCol="0" anchor="ctr"/>
          <a:lstStyle/>
          <a:p>
            <a:pPr marL="0" indent="0">
              <a:buNone/>
            </a:pPr>
            <a:r>
              <a:rPr lang="en-US" sz="1400" i="1" dirty="0">
                <a:solidFill>
                  <a:srgbClr val="514B43"/>
                </a:solidFill>
                <a:latin typeface="맑은 고딕" pitchFamily="34" charset="0"/>
                <a:ea typeface="맑은 고딕" pitchFamily="34" charset="-122"/>
                <a:cs typeface="맑은 고딕" pitchFamily="34" charset="-120"/>
              </a:rPr>
              <a:t>키가 노출되면 대화 기록에도 남습니다. 지운다고 없던 일이 되지 않습니다</a:t>
            </a:r>
            <a:endParaRPr lang="en-US" sz="1000" dirty="0"/>
          </a:p>
        </p:txBody>
      </p:sp>
      <p:sp>
        <p:nvSpPr>
          <p:cNvPr id="35" name="TextBox 34">
            <a:extLst>
              <a:ext uri="{FF2B5EF4-FFF2-40B4-BE49-F238E27FC236}">
                <a16:creationId xmlns:a16="http://schemas.microsoft.com/office/drawing/2014/main" id="{CCDC3EB9-7E1D-88FD-A222-D02579C769EA}"/>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05 · MCP </a:t>
            </a:r>
            <a:r>
              <a:rPr lang="ko-KR" altLang="en-US" sz="1200">
                <a:solidFill>
                  <a:srgbClr val="A69C90"/>
                </a:solidFill>
                <a:latin typeface="맑은 고딕" panose="020B0503020000020004" pitchFamily="50" charset="-127"/>
                <a:ea typeface="맑은 고딕" panose="020B0503020000020004" pitchFamily="50" charset="-127"/>
              </a:rPr>
              <a:t>와 </a:t>
            </a:r>
            <a:r>
              <a:rPr lang="en-US" altLang="ko-KR" sz="1200">
                <a:solidFill>
                  <a:srgbClr val="A69C90"/>
                </a:solidFill>
                <a:latin typeface="맑은 고딕" panose="020B0503020000020004" pitchFamily="50" charset="-127"/>
                <a:ea typeface="맑은 고딕" panose="020B0503020000020004" pitchFamily="50" charset="-127"/>
              </a:rPr>
              <a:t>API          38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24211D"/>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6643929-5B45-1C83-DF63-455C001C908F}"/>
              </a:ext>
            </a:extLst>
          </p:cNvPr>
          <p:cNvSpPr/>
          <p:nvPr/>
        </p:nvSpPr>
        <p:spPr>
          <a:xfrm>
            <a:off x="8128000" y="0"/>
            <a:ext cx="4064000" cy="6858000"/>
          </a:xfrm>
          <a:prstGeom prst="rect">
            <a:avLst/>
          </a:prstGeom>
          <a:solidFill>
            <a:srgbClr val="302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9BFD9DA7-8168-77CD-238D-692C992E2872}"/>
              </a:ext>
            </a:extLst>
          </p:cNvPr>
          <p:cNvSpPr txBox="1"/>
          <p:nvPr/>
        </p:nvSpPr>
        <p:spPr>
          <a:xfrm>
            <a:off x="8128000" y="1905000"/>
            <a:ext cx="4064000" cy="3016210"/>
          </a:xfrm>
          <a:prstGeom prst="rect">
            <a:avLst/>
          </a:prstGeom>
          <a:noFill/>
        </p:spPr>
        <p:txBody>
          <a:bodyPr vert="horz" rtlCol="0" anchor="ctr">
            <a:spAutoFit/>
          </a:bodyPr>
          <a:lstStyle/>
          <a:p>
            <a:pPr algn="ctr"/>
            <a:r>
              <a:rPr lang="en-US" altLang="ko-KR" sz="19000" b="1">
                <a:solidFill>
                  <a:srgbClr val="4A4239"/>
                </a:solidFill>
                <a:latin typeface="맑은 고딕" panose="020B0503020000020004" pitchFamily="50" charset="-127"/>
                <a:ea typeface="맑은 고딕" panose="020B0503020000020004" pitchFamily="50" charset="-127"/>
              </a:rPr>
              <a:t>06</a:t>
            </a:r>
            <a:endParaRPr lang="ko-KR" altLang="en-US" sz="19000" b="1">
              <a:solidFill>
                <a:srgbClr val="4A4239"/>
              </a:solidFill>
              <a:latin typeface="맑은 고딕" panose="020B0503020000020004" pitchFamily="50" charset="-127"/>
              <a:ea typeface="맑은 고딕" panose="020B0503020000020004" pitchFamily="50" charset="-127"/>
            </a:endParaRPr>
          </a:p>
        </p:txBody>
      </p:sp>
      <p:sp>
        <p:nvSpPr>
          <p:cNvPr id="4" name="TextBox 3">
            <a:extLst>
              <a:ext uri="{FF2B5EF4-FFF2-40B4-BE49-F238E27FC236}">
                <a16:creationId xmlns:a16="http://schemas.microsoft.com/office/drawing/2014/main" id="{378F55B2-574E-8C0B-7AAF-8BD32B5D1652}"/>
              </a:ext>
            </a:extLst>
          </p:cNvPr>
          <p:cNvSpPr txBox="1"/>
          <p:nvPr/>
        </p:nvSpPr>
        <p:spPr>
          <a:xfrm>
            <a:off x="863600" y="2235200"/>
            <a:ext cx="5842000" cy="353943"/>
          </a:xfrm>
          <a:prstGeom prst="rect">
            <a:avLst/>
          </a:prstGeom>
          <a:noFill/>
        </p:spPr>
        <p:txBody>
          <a:bodyPr vert="horz" rtlCol="0" anchor="ctr">
            <a:spAutoFit/>
          </a:bodyPr>
          <a:lstStyle/>
          <a:p>
            <a:r>
              <a:rPr lang="en-US" altLang="ko-KR" sz="1700" b="1">
                <a:solidFill>
                  <a:srgbClr val="D97757"/>
                </a:solidFill>
                <a:latin typeface="맑은 고딕" panose="020B0503020000020004" pitchFamily="50" charset="-127"/>
                <a:ea typeface="맑은 고딕" panose="020B0503020000020004" pitchFamily="50" charset="-127"/>
              </a:rPr>
              <a:t>SECTION 06</a:t>
            </a:r>
            <a:endParaRPr lang="ko-KR" altLang="en-US" sz="1700" b="1">
              <a:solidFill>
                <a:srgbClr val="D97757"/>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CE60D38-708F-0ACC-AD36-63E86B791A3D}"/>
              </a:ext>
            </a:extLst>
          </p:cNvPr>
          <p:cNvSpPr txBox="1"/>
          <p:nvPr/>
        </p:nvSpPr>
        <p:spPr>
          <a:xfrm>
            <a:off x="863600" y="2616200"/>
            <a:ext cx="6921500" cy="769441"/>
          </a:xfrm>
          <a:prstGeom prst="rect">
            <a:avLst/>
          </a:prstGeom>
          <a:noFill/>
        </p:spPr>
        <p:txBody>
          <a:bodyPr vert="horz" rtlCol="0" anchor="t">
            <a:spAutoFit/>
          </a:bodyPr>
          <a:lstStyle/>
          <a:p>
            <a:r>
              <a:rPr lang="ko-KR" altLang="en-US" sz="4400" b="1">
                <a:solidFill>
                  <a:srgbClr val="FFFFFF"/>
                </a:solidFill>
                <a:latin typeface="맑은 고딕" panose="020B0503020000020004" pitchFamily="50" charset="-127"/>
                <a:ea typeface="맑은 고딕" panose="020B0503020000020004" pitchFamily="50" charset="-127"/>
              </a:rPr>
              <a:t>스킬</a:t>
            </a:r>
          </a:p>
        </p:txBody>
      </p:sp>
      <p:sp>
        <p:nvSpPr>
          <p:cNvPr id="6" name="직사각형 5">
            <a:extLst>
              <a:ext uri="{FF2B5EF4-FFF2-40B4-BE49-F238E27FC236}">
                <a16:creationId xmlns:a16="http://schemas.microsoft.com/office/drawing/2014/main" id="{DD183382-56CD-B055-AE31-221491A9C213}"/>
              </a:ext>
            </a:extLst>
          </p:cNvPr>
          <p:cNvSpPr/>
          <p:nvPr/>
        </p:nvSpPr>
        <p:spPr>
          <a:xfrm>
            <a:off x="914400" y="3810000"/>
            <a:ext cx="812800" cy="508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E9FED234-C09F-4AB0-73A7-A1079BC9CE1B}"/>
              </a:ext>
            </a:extLst>
          </p:cNvPr>
          <p:cNvSpPr txBox="1"/>
          <p:nvPr/>
        </p:nvSpPr>
        <p:spPr>
          <a:xfrm>
            <a:off x="863600" y="4114800"/>
            <a:ext cx="6921500" cy="1523494"/>
          </a:xfrm>
          <a:prstGeom prst="rect">
            <a:avLst/>
          </a:prstGeom>
          <a:noFill/>
        </p:spPr>
        <p:txBody>
          <a:bodyPr vert="horz" rtlCol="0" anchor="t">
            <a:spAutoFit/>
          </a:bodyPr>
          <a:lstStyle/>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스킬은 </a:t>
            </a:r>
            <a:r>
              <a:rPr lang="en-US" altLang="ko-KR" sz="1700">
                <a:solidFill>
                  <a:srgbClr val="C9C0B4"/>
                </a:solidFill>
                <a:latin typeface="맑은 고딕" panose="020B0503020000020004" pitchFamily="50" charset="-127"/>
                <a:ea typeface="맑은 고딕" panose="020B0503020000020004" pitchFamily="50" charset="-127"/>
              </a:rPr>
              <a:t>Claude </a:t>
            </a:r>
            <a:r>
              <a:rPr lang="ko-KR" altLang="en-US" sz="1700">
                <a:solidFill>
                  <a:srgbClr val="C9C0B4"/>
                </a:solidFill>
                <a:latin typeface="맑은 고딕" panose="020B0503020000020004" pitchFamily="50" charset="-127"/>
                <a:ea typeface="맑은 고딕" panose="020B0503020000020004" pitchFamily="50" charset="-127"/>
              </a:rPr>
              <a:t>에게 주는 업무 매뉴얼입니다</a:t>
            </a:r>
          </a:p>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같은 설명을 매번 다시 하지 않기 위해서</a:t>
            </a:r>
          </a:p>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실물 예시 </a:t>
            </a:r>
            <a:r>
              <a:rPr lang="en-US" altLang="ko-KR" sz="1700">
                <a:solidFill>
                  <a:srgbClr val="C9C0B4"/>
                </a:solidFill>
                <a:latin typeface="맑은 고딕" panose="020B0503020000020004" pitchFamily="50" charset="-127"/>
                <a:ea typeface="맑은 고딕" panose="020B0503020000020004" pitchFamily="50" charset="-127"/>
              </a:rPr>
              <a:t>— MCP </a:t>
            </a:r>
            <a:r>
              <a:rPr lang="ko-KR" altLang="en-US" sz="1700">
                <a:solidFill>
                  <a:srgbClr val="C9C0B4"/>
                </a:solidFill>
                <a:latin typeface="맑은 고딕" panose="020B0503020000020004" pitchFamily="50" charset="-127"/>
                <a:ea typeface="맑은 고딕" panose="020B0503020000020004" pitchFamily="50" charset="-127"/>
              </a:rPr>
              <a:t>가 안 붙을 때 찾아주는 스킬</a:t>
            </a:r>
          </a:p>
          <a:p>
            <a:pPr>
              <a:spcAft>
                <a:spcPts val="1000"/>
              </a:spcAft>
            </a:pPr>
            <a:r>
              <a:rPr lang="ko-KR" altLang="en-US" sz="1700">
                <a:solidFill>
                  <a:srgbClr val="C9C0B4"/>
                </a:solidFill>
                <a:latin typeface="맑은 고딕" panose="020B0503020000020004" pitchFamily="50" charset="-127"/>
                <a:ea typeface="맑은 고딕" panose="020B0503020000020004" pitchFamily="50" charset="-127"/>
              </a:rPr>
              <a:t>스킬 </a:t>
            </a:r>
            <a:r>
              <a:rPr lang="en-US" altLang="ko-KR" sz="1700">
                <a:solidFill>
                  <a:srgbClr val="C9C0B4"/>
                </a:solidFill>
                <a:latin typeface="맑은 고딕" panose="020B0503020000020004" pitchFamily="50" charset="-127"/>
                <a:ea typeface="맑은 고딕" panose="020B0503020000020004" pitchFamily="50" charset="-127"/>
              </a:rPr>
              <a:t>8</a:t>
            </a:r>
            <a:r>
              <a:rPr lang="ko-KR" altLang="en-US" sz="1700">
                <a:solidFill>
                  <a:srgbClr val="C9C0B4"/>
                </a:solidFill>
                <a:latin typeface="맑은 고딕" panose="020B0503020000020004" pitchFamily="50" charset="-127"/>
                <a:ea typeface="맑은 고딕" panose="020B0503020000020004" pitchFamily="50" charset="-127"/>
              </a:rPr>
              <a:t>개를 파일 하나로 설치합니다</a:t>
            </a:r>
          </a:p>
        </p:txBody>
      </p:sp>
      <p:sp>
        <p:nvSpPr>
          <p:cNvPr id="8" name="TextBox 7">
            <a:extLst>
              <a:ext uri="{FF2B5EF4-FFF2-40B4-BE49-F238E27FC236}">
                <a16:creationId xmlns:a16="http://schemas.microsoft.com/office/drawing/2014/main" id="{C0002559-B967-2887-69BE-F3A1DD341FD3}"/>
              </a:ext>
            </a:extLst>
          </p:cNvPr>
          <p:cNvSpPr txBox="1"/>
          <p:nvPr/>
        </p:nvSpPr>
        <p:spPr>
          <a:xfrm>
            <a:off x="863600" y="6172200"/>
            <a:ext cx="5842000" cy="292388"/>
          </a:xfrm>
          <a:prstGeom prst="rect">
            <a:avLst/>
          </a:prstGeom>
          <a:noFill/>
        </p:spPr>
        <p:txBody>
          <a:bodyPr vert="horz" rtlCol="0" anchor="ctr">
            <a:spAutoFit/>
          </a:bodyPr>
          <a:lstStyle/>
          <a:p>
            <a:r>
              <a:rPr lang="en-US" altLang="ko-KR" sz="1300">
                <a:solidFill>
                  <a:srgbClr val="726859"/>
                </a:solidFill>
                <a:latin typeface="맑은 고딕" panose="020B0503020000020004" pitchFamily="50" charset="-127"/>
                <a:ea typeface="맑은 고딕" panose="020B0503020000020004" pitchFamily="50" charset="-127"/>
              </a:rPr>
              <a:t>Claude 데스크탑 시작하기</a:t>
            </a:r>
          </a:p>
        </p:txBody>
      </p:sp>
      <p:pic>
        <p:nvPicPr>
          <p:cNvPr id="10" name="그래픽 9">
            <a:extLst>
              <a:ext uri="{FF2B5EF4-FFF2-40B4-BE49-F238E27FC236}">
                <a16:creationId xmlns:a16="http://schemas.microsoft.com/office/drawing/2014/main" id="{E2E40D36-1DE9-6402-09B1-CDDA101D4E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600" y="889000"/>
            <a:ext cx="812800" cy="812800"/>
          </a:xfrm>
          <a:prstGeom prst="rect">
            <a:avLst/>
          </a:prstGeom>
        </p:spPr>
      </p:pic>
    </p:spTree>
    <p:extLst>
      <p:ext uri="{BB962C8B-B14F-4D97-AF65-F5344CB8AC3E}">
        <p14:creationId xmlns:p14="http://schemas.microsoft.com/office/powerpoint/2010/main" val="4089368461"/>
      </p:ext>
    </p:extLst>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스킬은 Claude 에게 주는 업무 매뉴얼입니다</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폴더 하나에 설명서 한 장. 그 일이 생길 때만 Claude 가 꺼내 읽습니다</a:t>
            </a:r>
          </a:p>
        </p:txBody>
      </p:sp>
      <p:sp>
        <p:nvSpPr>
          <p:cNvPr id="4" name="Rounded Rectangle 3"/>
          <p:cNvSpPr/>
          <p:nvPr/>
        </p:nvSpPr>
        <p:spPr>
          <a:xfrm>
            <a:off x="566928" y="1874519"/>
            <a:ext cx="3931920" cy="3291840"/>
          </a:xfrm>
          <a:prstGeom prst="roundRect">
            <a:avLst>
              <a:gd name="adj" fmla="val 6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TextBox 4"/>
          <p:cNvSpPr txBox="1"/>
          <p:nvPr/>
        </p:nvSpPr>
        <p:spPr>
          <a:xfrm>
            <a:off x="896112" y="2148840"/>
            <a:ext cx="3273552" cy="365760"/>
          </a:xfrm>
          <a:prstGeom prst="rect">
            <a:avLst/>
          </a:prstGeom>
          <a:noFill/>
        </p:spPr>
        <p:txBody>
          <a:bodyPr wrap="square" lIns="0" tIns="0" rIns="0" bIns="0" anchor="t">
            <a:spAutoFit/>
          </a:bodyPr>
          <a:lstStyle/>
          <a:p>
            <a:pPr algn="l"/>
            <a:r>
              <a:rPr sz="1500" b="1">
                <a:solidFill>
                  <a:srgbClr val="A8462A"/>
                </a:solidFill>
                <a:latin typeface="맑은 고딕"/>
              </a:rPr>
              <a:t>이렇게 생각하세요</a:t>
            </a:r>
          </a:p>
        </p:txBody>
      </p:sp>
      <p:sp>
        <p:nvSpPr>
          <p:cNvPr id="6" name="TextBox 5"/>
          <p:cNvSpPr txBox="1"/>
          <p:nvPr/>
        </p:nvSpPr>
        <p:spPr>
          <a:xfrm>
            <a:off x="896112" y="2560320"/>
            <a:ext cx="3273552" cy="822960"/>
          </a:xfrm>
          <a:prstGeom prst="rect">
            <a:avLst/>
          </a:prstGeom>
          <a:noFill/>
        </p:spPr>
        <p:txBody>
          <a:bodyPr wrap="square" lIns="0" tIns="0" rIns="0" bIns="0" anchor="t">
            <a:spAutoFit/>
          </a:bodyPr>
          <a:lstStyle/>
          <a:p>
            <a:pPr algn="l"/>
            <a:r>
              <a:rPr sz="2400" b="1">
                <a:solidFill>
                  <a:srgbClr val="24211D"/>
                </a:solidFill>
                <a:latin typeface="맑은 고딕"/>
              </a:rPr>
              <a:t>신입 직원에게 건네는</a:t>
            </a:r>
          </a:p>
          <a:p>
            <a:pPr algn="l"/>
            <a:r>
              <a:rPr sz="2400" b="1">
                <a:solidFill>
                  <a:srgbClr val="24211D"/>
                </a:solidFill>
                <a:latin typeface="맑은 고딕"/>
              </a:rPr>
              <a:t>업무 매뉴얼</a:t>
            </a:r>
          </a:p>
        </p:txBody>
      </p:sp>
      <p:sp>
        <p:nvSpPr>
          <p:cNvPr id="7" name="TextBox 6"/>
          <p:cNvSpPr txBox="1"/>
          <p:nvPr/>
        </p:nvSpPr>
        <p:spPr>
          <a:xfrm>
            <a:off x="896112" y="3520440"/>
            <a:ext cx="3273552" cy="1371600"/>
          </a:xfrm>
          <a:prstGeom prst="rect">
            <a:avLst/>
          </a:prstGeom>
          <a:noFill/>
        </p:spPr>
        <p:txBody>
          <a:bodyPr wrap="square" lIns="0" tIns="0" rIns="0" bIns="0" anchor="t">
            <a:spAutoFit/>
          </a:bodyPr>
          <a:lstStyle/>
          <a:p>
            <a:pPr algn="l"/>
            <a:r>
              <a:rPr sz="1600" b="0">
                <a:solidFill>
                  <a:srgbClr val="24211D"/>
                </a:solidFill>
                <a:latin typeface="맑은 고딕"/>
              </a:rPr>
              <a:t>평소에는 서랍에 꽂혀 있습니다.</a:t>
            </a:r>
          </a:p>
          <a:p>
            <a:pPr algn="l"/>
            <a:r>
              <a:rPr sz="1600" b="0">
                <a:solidFill>
                  <a:srgbClr val="24211D"/>
                </a:solidFill>
                <a:latin typeface="맑은 고딕"/>
              </a:rPr>
              <a:t>그 일이 생기면 꺼내서</a:t>
            </a:r>
          </a:p>
          <a:p>
            <a:pPr algn="l"/>
            <a:r>
              <a:rPr sz="1600" b="0">
                <a:solidFill>
                  <a:srgbClr val="24211D"/>
                </a:solidFill>
                <a:latin typeface="맑은 고딕"/>
              </a:rPr>
              <a:t>적힌 절차대로 처리합니다.</a:t>
            </a:r>
          </a:p>
          <a:p>
            <a:pPr algn="l"/>
            <a:endParaRPr sz="1600" b="0">
              <a:solidFill>
                <a:srgbClr val="24211D"/>
              </a:solidFill>
              <a:latin typeface="맑은 고딕"/>
            </a:endParaRPr>
          </a:p>
          <a:p>
            <a:pPr algn="l"/>
            <a:r>
              <a:rPr sz="1600" b="0">
                <a:solidFill>
                  <a:srgbClr val="24211D"/>
                </a:solidFill>
                <a:latin typeface="맑은 고딕"/>
              </a:rPr>
              <a:t>"지난번에 어떻게 했더라"를</a:t>
            </a:r>
          </a:p>
          <a:p>
            <a:pPr algn="l"/>
            <a:r>
              <a:rPr sz="1600" b="0">
                <a:solidFill>
                  <a:srgbClr val="24211D"/>
                </a:solidFill>
                <a:latin typeface="맑은 고딕"/>
              </a:rPr>
              <a:t>다시 설명할 필요가 없습니다.</a:t>
            </a:r>
          </a:p>
        </p:txBody>
      </p:sp>
      <p:sp>
        <p:nvSpPr>
          <p:cNvPr id="8" name="TextBox 7"/>
          <p:cNvSpPr txBox="1"/>
          <p:nvPr/>
        </p:nvSpPr>
        <p:spPr>
          <a:xfrm>
            <a:off x="4846320" y="1874519"/>
            <a:ext cx="6784848" cy="365760"/>
          </a:xfrm>
          <a:prstGeom prst="rect">
            <a:avLst/>
          </a:prstGeom>
          <a:noFill/>
        </p:spPr>
        <p:txBody>
          <a:bodyPr wrap="square" lIns="0" tIns="0" rIns="0" bIns="0" anchor="t">
            <a:spAutoFit/>
          </a:bodyPr>
          <a:lstStyle/>
          <a:p>
            <a:pPr algn="l"/>
            <a:r>
              <a:rPr sz="1500" b="1">
                <a:solidFill>
                  <a:srgbClr val="A8462A"/>
                </a:solidFill>
                <a:latin typeface="맑은 고딕"/>
              </a:rPr>
              <a:t>Claude 가 스킬을 꺼내 보는 순서</a:t>
            </a:r>
          </a:p>
        </p:txBody>
      </p:sp>
      <p:sp>
        <p:nvSpPr>
          <p:cNvPr id="9" name="Oval 8"/>
          <p:cNvSpPr/>
          <p:nvPr/>
        </p:nvSpPr>
        <p:spPr>
          <a:xfrm>
            <a:off x="4846320" y="241401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TextBox 9"/>
          <p:cNvSpPr txBox="1"/>
          <p:nvPr/>
        </p:nvSpPr>
        <p:spPr>
          <a:xfrm>
            <a:off x="4846320" y="2414016"/>
            <a:ext cx="365760" cy="365760"/>
          </a:xfrm>
          <a:prstGeom prst="rect">
            <a:avLst/>
          </a:prstGeom>
          <a:noFill/>
        </p:spPr>
        <p:txBody>
          <a:bodyPr wrap="square" lIns="0" tIns="0" rIns="0" bIns="0" anchor="ctr">
            <a:spAutoFit/>
          </a:bodyPr>
          <a:lstStyle/>
          <a:p>
            <a:pPr algn="ctr"/>
            <a:r>
              <a:rPr sz="1600" b="1">
                <a:solidFill>
                  <a:srgbClr val="FFFFFF"/>
                </a:solidFill>
                <a:latin typeface="맑은 고딕"/>
              </a:rPr>
              <a:t>1</a:t>
            </a:r>
          </a:p>
        </p:txBody>
      </p:sp>
      <p:sp>
        <p:nvSpPr>
          <p:cNvPr id="11" name="TextBox 10"/>
          <p:cNvSpPr txBox="1"/>
          <p:nvPr/>
        </p:nvSpPr>
        <p:spPr>
          <a:xfrm>
            <a:off x="5376672" y="2304288"/>
            <a:ext cx="1481328" cy="310896"/>
          </a:xfrm>
          <a:prstGeom prst="rect">
            <a:avLst/>
          </a:prstGeom>
          <a:noFill/>
        </p:spPr>
        <p:txBody>
          <a:bodyPr wrap="square" lIns="0" tIns="0" rIns="0" bIns="0" anchor="t">
            <a:spAutoFit/>
          </a:bodyPr>
          <a:lstStyle/>
          <a:p>
            <a:pPr algn="l"/>
            <a:r>
              <a:rPr sz="1500" b="1">
                <a:solidFill>
                  <a:srgbClr val="A8462A"/>
                </a:solidFill>
                <a:latin typeface="맑은 고딕"/>
              </a:rPr>
              <a:t>평소</a:t>
            </a:r>
          </a:p>
        </p:txBody>
      </p:sp>
      <p:sp>
        <p:nvSpPr>
          <p:cNvPr id="12" name="TextBox 11"/>
          <p:cNvSpPr txBox="1"/>
          <p:nvPr/>
        </p:nvSpPr>
        <p:spPr>
          <a:xfrm>
            <a:off x="6912864" y="2304288"/>
            <a:ext cx="4718304" cy="310896"/>
          </a:xfrm>
          <a:prstGeom prst="rect">
            <a:avLst/>
          </a:prstGeom>
          <a:noFill/>
        </p:spPr>
        <p:txBody>
          <a:bodyPr wrap="square" lIns="0" tIns="0" rIns="0" bIns="0" anchor="t">
            <a:spAutoFit/>
          </a:bodyPr>
          <a:lstStyle/>
          <a:p>
            <a:pPr algn="l"/>
            <a:r>
              <a:rPr sz="1700" b="1">
                <a:solidFill>
                  <a:srgbClr val="24211D"/>
                </a:solidFill>
                <a:latin typeface="맑은 고딕"/>
              </a:rPr>
              <a:t>제목과 설명 한 줄만 봅니다</a:t>
            </a:r>
          </a:p>
        </p:txBody>
      </p:sp>
      <p:sp>
        <p:nvSpPr>
          <p:cNvPr id="13" name="TextBox 12"/>
          <p:cNvSpPr txBox="1"/>
          <p:nvPr/>
        </p:nvSpPr>
        <p:spPr>
          <a:xfrm>
            <a:off x="5376672" y="2651760"/>
            <a:ext cx="6254496" cy="512064"/>
          </a:xfrm>
          <a:prstGeom prst="rect">
            <a:avLst/>
          </a:prstGeom>
          <a:noFill/>
        </p:spPr>
        <p:txBody>
          <a:bodyPr wrap="square" lIns="0" tIns="0" rIns="0" bIns="0" anchor="t">
            <a:spAutoFit/>
          </a:bodyPr>
          <a:lstStyle/>
          <a:p>
            <a:pPr algn="l"/>
            <a:r>
              <a:rPr sz="1400" b="0">
                <a:solidFill>
                  <a:srgbClr val="514B43"/>
                </a:solidFill>
                <a:latin typeface="맑은 고딕"/>
              </a:rPr>
              <a:t>스킬을 여러 개 넣어둬도</a:t>
            </a:r>
          </a:p>
          <a:p>
            <a:pPr algn="l"/>
            <a:r>
              <a:rPr sz="1400" b="0">
                <a:solidFill>
                  <a:srgbClr val="514B43"/>
                </a:solidFill>
                <a:latin typeface="맑은 고딕"/>
              </a:rPr>
              <a:t>대화가 무거워지지 않습니다</a:t>
            </a:r>
          </a:p>
        </p:txBody>
      </p:sp>
      <p:sp>
        <p:nvSpPr>
          <p:cNvPr id="14" name="Oval 13"/>
          <p:cNvSpPr/>
          <p:nvPr/>
        </p:nvSpPr>
        <p:spPr>
          <a:xfrm>
            <a:off x="4846320" y="338328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TextBox 14"/>
          <p:cNvSpPr txBox="1"/>
          <p:nvPr/>
        </p:nvSpPr>
        <p:spPr>
          <a:xfrm>
            <a:off x="4846320" y="3383280"/>
            <a:ext cx="365760" cy="365760"/>
          </a:xfrm>
          <a:prstGeom prst="rect">
            <a:avLst/>
          </a:prstGeom>
          <a:noFill/>
        </p:spPr>
        <p:txBody>
          <a:bodyPr wrap="square" lIns="0" tIns="0" rIns="0" bIns="0" anchor="ctr">
            <a:spAutoFit/>
          </a:bodyPr>
          <a:lstStyle/>
          <a:p>
            <a:pPr algn="ctr"/>
            <a:r>
              <a:rPr sz="1600" b="1">
                <a:solidFill>
                  <a:srgbClr val="FFFFFF"/>
                </a:solidFill>
                <a:latin typeface="맑은 고딕"/>
              </a:rPr>
              <a:t>2</a:t>
            </a:r>
          </a:p>
        </p:txBody>
      </p:sp>
      <p:sp>
        <p:nvSpPr>
          <p:cNvPr id="16" name="TextBox 15"/>
          <p:cNvSpPr txBox="1"/>
          <p:nvPr/>
        </p:nvSpPr>
        <p:spPr>
          <a:xfrm>
            <a:off x="5376672" y="3273552"/>
            <a:ext cx="1481328" cy="310896"/>
          </a:xfrm>
          <a:prstGeom prst="rect">
            <a:avLst/>
          </a:prstGeom>
          <a:noFill/>
        </p:spPr>
        <p:txBody>
          <a:bodyPr wrap="square" lIns="0" tIns="0" rIns="0" bIns="0" anchor="t">
            <a:spAutoFit/>
          </a:bodyPr>
          <a:lstStyle/>
          <a:p>
            <a:pPr algn="l"/>
            <a:r>
              <a:rPr sz="1500" b="1">
                <a:solidFill>
                  <a:srgbClr val="A8462A"/>
                </a:solidFill>
                <a:latin typeface="맑은 고딕"/>
              </a:rPr>
              <a:t>그 일이 생기면</a:t>
            </a:r>
          </a:p>
        </p:txBody>
      </p:sp>
      <p:sp>
        <p:nvSpPr>
          <p:cNvPr id="17" name="TextBox 16"/>
          <p:cNvSpPr txBox="1"/>
          <p:nvPr/>
        </p:nvSpPr>
        <p:spPr>
          <a:xfrm>
            <a:off x="6912864" y="3273552"/>
            <a:ext cx="4718304" cy="310896"/>
          </a:xfrm>
          <a:prstGeom prst="rect">
            <a:avLst/>
          </a:prstGeom>
          <a:noFill/>
        </p:spPr>
        <p:txBody>
          <a:bodyPr wrap="square" lIns="0" tIns="0" rIns="0" bIns="0" anchor="t">
            <a:spAutoFit/>
          </a:bodyPr>
          <a:lstStyle/>
          <a:p>
            <a:pPr algn="l"/>
            <a:r>
              <a:rPr sz="1700" b="1">
                <a:solidFill>
                  <a:srgbClr val="24211D"/>
                </a:solidFill>
                <a:latin typeface="맑은 고딕"/>
              </a:rPr>
              <a:t>설명서 본문을 펴서 읽습니다</a:t>
            </a:r>
          </a:p>
        </p:txBody>
      </p:sp>
      <p:sp>
        <p:nvSpPr>
          <p:cNvPr id="18" name="TextBox 17"/>
          <p:cNvSpPr txBox="1"/>
          <p:nvPr/>
        </p:nvSpPr>
        <p:spPr>
          <a:xfrm>
            <a:off x="5376672" y="3621024"/>
            <a:ext cx="6254496" cy="512064"/>
          </a:xfrm>
          <a:prstGeom prst="rect">
            <a:avLst/>
          </a:prstGeom>
          <a:noFill/>
        </p:spPr>
        <p:txBody>
          <a:bodyPr wrap="square" lIns="0" tIns="0" rIns="0" bIns="0" anchor="t">
            <a:spAutoFit/>
          </a:bodyPr>
          <a:lstStyle/>
          <a:p>
            <a:pPr algn="l"/>
            <a:r>
              <a:rPr sz="1400" b="0">
                <a:solidFill>
                  <a:srgbClr val="514B43"/>
                </a:solidFill>
                <a:latin typeface="맑은 고딕"/>
              </a:rPr>
              <a:t>내가 시키지 않아도</a:t>
            </a:r>
          </a:p>
          <a:p>
            <a:pPr algn="l"/>
            <a:r>
              <a:rPr sz="1400" b="0">
                <a:solidFill>
                  <a:srgbClr val="514B43"/>
                </a:solidFill>
                <a:latin typeface="맑은 고딕"/>
              </a:rPr>
              <a:t>Claude 가 알아서 판단합니다</a:t>
            </a:r>
          </a:p>
        </p:txBody>
      </p:sp>
      <p:sp>
        <p:nvSpPr>
          <p:cNvPr id="19" name="Oval 18"/>
          <p:cNvSpPr/>
          <p:nvPr/>
        </p:nvSpPr>
        <p:spPr>
          <a:xfrm>
            <a:off x="4846320" y="4352544"/>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TextBox 19"/>
          <p:cNvSpPr txBox="1"/>
          <p:nvPr/>
        </p:nvSpPr>
        <p:spPr>
          <a:xfrm>
            <a:off x="4846320" y="4352544"/>
            <a:ext cx="365760" cy="365760"/>
          </a:xfrm>
          <a:prstGeom prst="rect">
            <a:avLst/>
          </a:prstGeom>
          <a:noFill/>
        </p:spPr>
        <p:txBody>
          <a:bodyPr wrap="square" lIns="0" tIns="0" rIns="0" bIns="0" anchor="ctr">
            <a:spAutoFit/>
          </a:bodyPr>
          <a:lstStyle/>
          <a:p>
            <a:pPr algn="ctr"/>
            <a:r>
              <a:rPr sz="1600" b="1">
                <a:solidFill>
                  <a:srgbClr val="FFFFFF"/>
                </a:solidFill>
                <a:latin typeface="맑은 고딕"/>
              </a:rPr>
              <a:t>3</a:t>
            </a:r>
          </a:p>
        </p:txBody>
      </p:sp>
      <p:sp>
        <p:nvSpPr>
          <p:cNvPr id="21" name="TextBox 20"/>
          <p:cNvSpPr txBox="1"/>
          <p:nvPr/>
        </p:nvSpPr>
        <p:spPr>
          <a:xfrm>
            <a:off x="5376672" y="4242816"/>
            <a:ext cx="1481328" cy="310896"/>
          </a:xfrm>
          <a:prstGeom prst="rect">
            <a:avLst/>
          </a:prstGeom>
          <a:noFill/>
        </p:spPr>
        <p:txBody>
          <a:bodyPr wrap="square" lIns="0" tIns="0" rIns="0" bIns="0" anchor="t">
            <a:spAutoFit/>
          </a:bodyPr>
          <a:lstStyle/>
          <a:p>
            <a:pPr algn="l"/>
            <a:r>
              <a:rPr sz="1500" b="1">
                <a:solidFill>
                  <a:srgbClr val="A8462A"/>
                </a:solidFill>
                <a:latin typeface="맑은 고딕"/>
              </a:rPr>
              <a:t>더 필요하면</a:t>
            </a:r>
          </a:p>
        </p:txBody>
      </p:sp>
      <p:sp>
        <p:nvSpPr>
          <p:cNvPr id="22" name="TextBox 21"/>
          <p:cNvSpPr txBox="1"/>
          <p:nvPr/>
        </p:nvSpPr>
        <p:spPr>
          <a:xfrm>
            <a:off x="6912864" y="4242816"/>
            <a:ext cx="4718304" cy="310896"/>
          </a:xfrm>
          <a:prstGeom prst="rect">
            <a:avLst/>
          </a:prstGeom>
          <a:noFill/>
        </p:spPr>
        <p:txBody>
          <a:bodyPr wrap="square" lIns="0" tIns="0" rIns="0" bIns="0" anchor="t">
            <a:spAutoFit/>
          </a:bodyPr>
          <a:lstStyle/>
          <a:p>
            <a:pPr algn="l"/>
            <a:r>
              <a:rPr sz="1700" b="1">
                <a:solidFill>
                  <a:srgbClr val="24211D"/>
                </a:solidFill>
                <a:latin typeface="맑은 고딕"/>
              </a:rPr>
              <a:t>첨부된 자료·양식까지 꺼냅니다</a:t>
            </a:r>
          </a:p>
        </p:txBody>
      </p:sp>
      <p:sp>
        <p:nvSpPr>
          <p:cNvPr id="23" name="TextBox 22"/>
          <p:cNvSpPr txBox="1"/>
          <p:nvPr/>
        </p:nvSpPr>
        <p:spPr>
          <a:xfrm>
            <a:off x="5376672" y="4590288"/>
            <a:ext cx="6254496" cy="512064"/>
          </a:xfrm>
          <a:prstGeom prst="rect">
            <a:avLst/>
          </a:prstGeom>
          <a:noFill/>
        </p:spPr>
        <p:txBody>
          <a:bodyPr wrap="square" lIns="0" tIns="0" rIns="0" bIns="0" anchor="t">
            <a:spAutoFit/>
          </a:bodyPr>
          <a:lstStyle/>
          <a:p>
            <a:pPr algn="l"/>
            <a:r>
              <a:rPr sz="1400" b="0">
                <a:solidFill>
                  <a:srgbClr val="514B43"/>
                </a:solidFill>
                <a:latin typeface="맑은 고딕"/>
              </a:rPr>
              <a:t>쓰지 않은 자료는</a:t>
            </a:r>
          </a:p>
          <a:p>
            <a:pPr algn="l"/>
            <a:r>
              <a:rPr sz="1400" b="0">
                <a:solidFill>
                  <a:srgbClr val="514B43"/>
                </a:solidFill>
                <a:latin typeface="맑은 고딕"/>
              </a:rPr>
              <a:t>한 글자도 읽지 않습니다</a:t>
            </a:r>
          </a:p>
        </p:txBody>
      </p:sp>
      <p:sp>
        <p:nvSpPr>
          <p:cNvPr id="24" name="Rounded Rectangle 23"/>
          <p:cNvSpPr/>
          <p:nvPr/>
        </p:nvSpPr>
        <p:spPr>
          <a:xfrm>
            <a:off x="566928" y="5321808"/>
            <a:ext cx="11064240" cy="82296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TextBox 24"/>
          <p:cNvSpPr txBox="1"/>
          <p:nvPr/>
        </p:nvSpPr>
        <p:spPr>
          <a:xfrm>
            <a:off x="914400" y="5321808"/>
            <a:ext cx="10424160" cy="822960"/>
          </a:xfrm>
          <a:prstGeom prst="rect">
            <a:avLst/>
          </a:prstGeom>
          <a:noFill/>
        </p:spPr>
        <p:txBody>
          <a:bodyPr wrap="square" lIns="0" tIns="0" rIns="0" bIns="0" anchor="ctr">
            <a:spAutoFit/>
          </a:bodyPr>
          <a:lstStyle/>
          <a:p>
            <a:pPr algn="l"/>
            <a:r>
              <a:rPr sz="1800" b="1">
                <a:solidFill>
                  <a:srgbClr val="FFFFFF"/>
                </a:solidFill>
                <a:latin typeface="맑은 고딕"/>
              </a:rPr>
              <a:t>스킬 = 폴더 하나 + SKILL.md 한 장.  맨 위에 "무슨 일을 하는 스킬인지, 언제 쓰는지"만 적으면 됩니다.</a:t>
            </a:r>
          </a:p>
        </p:txBody>
      </p:sp>
      <p:sp>
        <p:nvSpPr>
          <p:cNvPr id="26" name="TextBox 25"/>
          <p:cNvSpPr txBox="1"/>
          <p:nvPr/>
        </p:nvSpPr>
        <p:spPr>
          <a:xfrm>
            <a:off x="566928" y="6272784"/>
            <a:ext cx="11064240" cy="310896"/>
          </a:xfrm>
          <a:prstGeom prst="rect">
            <a:avLst/>
          </a:prstGeom>
          <a:noFill/>
        </p:spPr>
        <p:txBody>
          <a:bodyPr wrap="square" lIns="0" tIns="0" rIns="0" bIns="0" anchor="t">
            <a:spAutoFit/>
          </a:bodyPr>
          <a:lstStyle/>
          <a:p>
            <a:pPr algn="l"/>
            <a:r>
              <a:rPr sz="1300" b="0">
                <a:solidFill>
                  <a:srgbClr val="514B43"/>
                </a:solidFill>
                <a:latin typeface="맑은 고딕"/>
              </a:rPr>
              <a:t>출처: platform.claude.com/docs/en/agents-and-tools/agent-skills/overview (2026-08-07 직접 조회)</a:t>
            </a:r>
          </a:p>
        </p:txBody>
      </p:sp>
      <p:sp>
        <p:nvSpPr>
          <p:cNvPr id="27" name="TextBox 26">
            <a:extLst>
              <a:ext uri="{FF2B5EF4-FFF2-40B4-BE49-F238E27FC236}">
                <a16:creationId xmlns:a16="http://schemas.microsoft.com/office/drawing/2014/main" id="{6F44BA37-D3E6-079F-62C7-DCF3E076978A}"/>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06 · </a:t>
            </a:r>
            <a:r>
              <a:rPr lang="ko-KR" altLang="en-US" sz="1200">
                <a:solidFill>
                  <a:srgbClr val="A69C90"/>
                </a:solidFill>
                <a:latin typeface="맑은 고딕" panose="020B0503020000020004" pitchFamily="50" charset="-127"/>
                <a:ea typeface="맑은 고딕" panose="020B0503020000020004" pitchFamily="50" charset="-127"/>
              </a:rPr>
              <a:t>스킬          </a:t>
            </a:r>
            <a:r>
              <a:rPr lang="en-US" altLang="ko-KR" sz="1200">
                <a:solidFill>
                  <a:srgbClr val="A69C90"/>
                </a:solidFill>
                <a:latin typeface="맑은 고딕" panose="020B0503020000020004" pitchFamily="50" charset="-127"/>
                <a:ea typeface="맑은 고딕" panose="020B0503020000020004" pitchFamily="50" charset="-127"/>
              </a:rPr>
              <a:t>40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왜 스킬을 써야 하나</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같은 설명을 매번 다시 하지 않기 위해서입니다</a:t>
            </a:r>
          </a:p>
        </p:txBody>
      </p:sp>
      <p:sp>
        <p:nvSpPr>
          <p:cNvPr id="4" name="Rounded Rectangle 3"/>
          <p:cNvSpPr/>
          <p:nvPr/>
        </p:nvSpPr>
        <p:spPr>
          <a:xfrm>
            <a:off x="566928" y="1874519"/>
            <a:ext cx="3529584" cy="2788920"/>
          </a:xfrm>
          <a:prstGeom prst="roundRect">
            <a:avLst>
              <a:gd name="adj" fmla="val 6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Oval 4"/>
          <p:cNvSpPr/>
          <p:nvPr/>
        </p:nvSpPr>
        <p:spPr>
          <a:xfrm>
            <a:off x="859536" y="2121408"/>
            <a:ext cx="384048" cy="38404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859536" y="2121408"/>
            <a:ext cx="384048" cy="384048"/>
          </a:xfrm>
          <a:prstGeom prst="rect">
            <a:avLst/>
          </a:prstGeom>
          <a:noFill/>
        </p:spPr>
        <p:txBody>
          <a:bodyPr wrap="square" lIns="0" tIns="0" rIns="0" bIns="0" anchor="ctr">
            <a:spAutoFit/>
          </a:bodyPr>
          <a:lstStyle/>
          <a:p>
            <a:pPr algn="ctr"/>
            <a:r>
              <a:rPr sz="1600" b="1">
                <a:solidFill>
                  <a:srgbClr val="FFFFFF"/>
                </a:solidFill>
                <a:latin typeface="맑은 고딕"/>
              </a:rPr>
              <a:t>1</a:t>
            </a:r>
          </a:p>
        </p:txBody>
      </p:sp>
      <p:sp>
        <p:nvSpPr>
          <p:cNvPr id="7" name="TextBox 6"/>
          <p:cNvSpPr txBox="1"/>
          <p:nvPr/>
        </p:nvSpPr>
        <p:spPr>
          <a:xfrm>
            <a:off x="859536" y="2651760"/>
            <a:ext cx="2944368" cy="548640"/>
          </a:xfrm>
          <a:prstGeom prst="rect">
            <a:avLst/>
          </a:prstGeom>
          <a:noFill/>
        </p:spPr>
        <p:txBody>
          <a:bodyPr wrap="square" lIns="0" tIns="0" rIns="0" bIns="0" anchor="ctr">
            <a:spAutoFit/>
          </a:bodyPr>
          <a:lstStyle/>
          <a:p>
            <a:pPr algn="l"/>
            <a:r>
              <a:rPr sz="1800" b="1">
                <a:solidFill>
                  <a:srgbClr val="24211D"/>
                </a:solidFill>
                <a:latin typeface="맑은 고딕"/>
              </a:rPr>
              <a:t>매번 설명하지 않아도 됩니다</a:t>
            </a:r>
          </a:p>
        </p:txBody>
      </p:sp>
      <p:sp>
        <p:nvSpPr>
          <p:cNvPr id="8" name="TextBox 7"/>
          <p:cNvSpPr txBox="1"/>
          <p:nvPr/>
        </p:nvSpPr>
        <p:spPr>
          <a:xfrm>
            <a:off x="859536" y="3310128"/>
            <a:ext cx="2944368" cy="640080"/>
          </a:xfrm>
          <a:prstGeom prst="rect">
            <a:avLst/>
          </a:prstGeom>
          <a:noFill/>
        </p:spPr>
        <p:txBody>
          <a:bodyPr wrap="square" lIns="0" tIns="0" rIns="0" bIns="0" anchor="t">
            <a:spAutoFit/>
          </a:bodyPr>
          <a:lstStyle/>
          <a:p>
            <a:pPr algn="l"/>
            <a:r>
              <a:rPr sz="1500" b="0">
                <a:solidFill>
                  <a:srgbClr val="514B43"/>
                </a:solidFill>
                <a:latin typeface="맑은 고딕"/>
              </a:rPr>
              <a:t>한 번 만들어 두면 그 일이</a:t>
            </a:r>
          </a:p>
          <a:p>
            <a:pPr algn="l"/>
            <a:r>
              <a:rPr sz="1500" b="0">
                <a:solidFill>
                  <a:srgbClr val="514B43"/>
                </a:solidFill>
                <a:latin typeface="맑은 고딕"/>
              </a:rPr>
              <a:t>생길 때마다 자동으로 꺼내 씁니다.</a:t>
            </a:r>
          </a:p>
        </p:txBody>
      </p:sp>
      <p:sp>
        <p:nvSpPr>
          <p:cNvPr id="9" name="TextBox 8"/>
          <p:cNvSpPr txBox="1"/>
          <p:nvPr/>
        </p:nvSpPr>
        <p:spPr>
          <a:xfrm>
            <a:off x="859536" y="4041648"/>
            <a:ext cx="2944368" cy="512064"/>
          </a:xfrm>
          <a:prstGeom prst="rect">
            <a:avLst/>
          </a:prstGeom>
          <a:noFill/>
        </p:spPr>
        <p:txBody>
          <a:bodyPr wrap="square" lIns="0" tIns="0" rIns="0" bIns="0" anchor="t">
            <a:spAutoFit/>
          </a:bodyPr>
          <a:lstStyle/>
          <a:p>
            <a:pPr algn="l"/>
            <a:r>
              <a:rPr sz="1500" b="1">
                <a:solidFill>
                  <a:srgbClr val="A8462A"/>
                </a:solidFill>
                <a:latin typeface="맑은 고딕"/>
              </a:rPr>
              <a:t>"지난번처럼 해줘"가</a:t>
            </a:r>
          </a:p>
          <a:p>
            <a:pPr algn="l"/>
            <a:r>
              <a:rPr sz="1500" b="1">
                <a:solidFill>
                  <a:srgbClr val="A8462A"/>
                </a:solidFill>
                <a:latin typeface="맑은 고딕"/>
              </a:rPr>
              <a:t>실제로 통합니다.</a:t>
            </a:r>
          </a:p>
        </p:txBody>
      </p:sp>
      <p:sp>
        <p:nvSpPr>
          <p:cNvPr id="10" name="Rounded Rectangle 9"/>
          <p:cNvSpPr/>
          <p:nvPr/>
        </p:nvSpPr>
        <p:spPr>
          <a:xfrm>
            <a:off x="4334256" y="1874519"/>
            <a:ext cx="3529584" cy="2788920"/>
          </a:xfrm>
          <a:prstGeom prst="roundRect">
            <a:avLst>
              <a:gd name="adj" fmla="val 6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Oval 10"/>
          <p:cNvSpPr/>
          <p:nvPr/>
        </p:nvSpPr>
        <p:spPr>
          <a:xfrm>
            <a:off x="4626864" y="2121408"/>
            <a:ext cx="384048" cy="38404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4626864" y="2121408"/>
            <a:ext cx="384048" cy="384048"/>
          </a:xfrm>
          <a:prstGeom prst="rect">
            <a:avLst/>
          </a:prstGeom>
          <a:noFill/>
        </p:spPr>
        <p:txBody>
          <a:bodyPr wrap="square" lIns="0" tIns="0" rIns="0" bIns="0" anchor="ctr">
            <a:spAutoFit/>
          </a:bodyPr>
          <a:lstStyle/>
          <a:p>
            <a:pPr algn="ctr"/>
            <a:r>
              <a:rPr sz="1600" b="1">
                <a:solidFill>
                  <a:srgbClr val="FFFFFF"/>
                </a:solidFill>
                <a:latin typeface="맑은 고딕"/>
              </a:rPr>
              <a:t>2</a:t>
            </a:r>
          </a:p>
        </p:txBody>
      </p:sp>
      <p:sp>
        <p:nvSpPr>
          <p:cNvPr id="13" name="TextBox 12"/>
          <p:cNvSpPr txBox="1"/>
          <p:nvPr/>
        </p:nvSpPr>
        <p:spPr>
          <a:xfrm>
            <a:off x="4626864" y="2651760"/>
            <a:ext cx="2944368" cy="548640"/>
          </a:xfrm>
          <a:prstGeom prst="rect">
            <a:avLst/>
          </a:prstGeom>
          <a:noFill/>
        </p:spPr>
        <p:txBody>
          <a:bodyPr wrap="square" lIns="0" tIns="0" rIns="0" bIns="0" anchor="ctr">
            <a:spAutoFit/>
          </a:bodyPr>
          <a:lstStyle/>
          <a:p>
            <a:pPr algn="l"/>
            <a:r>
              <a:rPr sz="1800" b="1">
                <a:solidFill>
                  <a:srgbClr val="24211D"/>
                </a:solidFill>
                <a:latin typeface="맑은 고딕"/>
              </a:rPr>
              <a:t>결과가 매번 같아집니다</a:t>
            </a:r>
          </a:p>
        </p:txBody>
      </p:sp>
      <p:sp>
        <p:nvSpPr>
          <p:cNvPr id="14" name="TextBox 13"/>
          <p:cNvSpPr txBox="1"/>
          <p:nvPr/>
        </p:nvSpPr>
        <p:spPr>
          <a:xfrm>
            <a:off x="4626864" y="3310128"/>
            <a:ext cx="2944368" cy="640080"/>
          </a:xfrm>
          <a:prstGeom prst="rect">
            <a:avLst/>
          </a:prstGeom>
          <a:noFill/>
        </p:spPr>
        <p:txBody>
          <a:bodyPr wrap="square" lIns="0" tIns="0" rIns="0" bIns="0" anchor="t">
            <a:spAutoFit/>
          </a:bodyPr>
          <a:lstStyle/>
          <a:p>
            <a:pPr algn="l"/>
            <a:r>
              <a:rPr sz="1500" b="0">
                <a:solidFill>
                  <a:srgbClr val="514B43"/>
                </a:solidFill>
                <a:latin typeface="맑은 고딕"/>
              </a:rPr>
              <a:t>같은 절차와 같은 양식을</a:t>
            </a:r>
          </a:p>
          <a:p>
            <a:pPr algn="l"/>
            <a:r>
              <a:rPr sz="1500" b="0">
                <a:solidFill>
                  <a:srgbClr val="514B43"/>
                </a:solidFill>
                <a:latin typeface="맑은 고딕"/>
              </a:rPr>
              <a:t>매번 그대로 밟습니다.</a:t>
            </a:r>
          </a:p>
        </p:txBody>
      </p:sp>
      <p:sp>
        <p:nvSpPr>
          <p:cNvPr id="15" name="TextBox 14"/>
          <p:cNvSpPr txBox="1"/>
          <p:nvPr/>
        </p:nvSpPr>
        <p:spPr>
          <a:xfrm>
            <a:off x="4626864" y="4041648"/>
            <a:ext cx="2944368" cy="512064"/>
          </a:xfrm>
          <a:prstGeom prst="rect">
            <a:avLst/>
          </a:prstGeom>
          <a:noFill/>
        </p:spPr>
        <p:txBody>
          <a:bodyPr wrap="square" lIns="0" tIns="0" rIns="0" bIns="0" anchor="t">
            <a:spAutoFit/>
          </a:bodyPr>
          <a:lstStyle/>
          <a:p>
            <a:pPr algn="l"/>
            <a:r>
              <a:rPr sz="1500" b="1">
                <a:solidFill>
                  <a:srgbClr val="A8462A"/>
                </a:solidFill>
                <a:latin typeface="맑은 고딕"/>
              </a:rPr>
              <a:t>오늘 한 것과 다음 달에 한 것이</a:t>
            </a:r>
          </a:p>
          <a:p>
            <a:pPr algn="l"/>
            <a:r>
              <a:rPr sz="1500" b="1">
                <a:solidFill>
                  <a:srgbClr val="A8462A"/>
                </a:solidFill>
                <a:latin typeface="맑은 고딕"/>
              </a:rPr>
              <a:t>같은 품질로 나옵니다.</a:t>
            </a:r>
          </a:p>
        </p:txBody>
      </p:sp>
      <p:sp>
        <p:nvSpPr>
          <p:cNvPr id="16" name="Rounded Rectangle 15"/>
          <p:cNvSpPr/>
          <p:nvPr/>
        </p:nvSpPr>
        <p:spPr>
          <a:xfrm>
            <a:off x="8101583" y="1874519"/>
            <a:ext cx="3529584" cy="2788920"/>
          </a:xfrm>
          <a:prstGeom prst="roundRect">
            <a:avLst>
              <a:gd name="adj" fmla="val 6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Oval 16"/>
          <p:cNvSpPr/>
          <p:nvPr/>
        </p:nvSpPr>
        <p:spPr>
          <a:xfrm>
            <a:off x="8394192" y="2121408"/>
            <a:ext cx="384048" cy="38404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TextBox 17"/>
          <p:cNvSpPr txBox="1"/>
          <p:nvPr/>
        </p:nvSpPr>
        <p:spPr>
          <a:xfrm>
            <a:off x="8394192" y="2121408"/>
            <a:ext cx="384048" cy="384048"/>
          </a:xfrm>
          <a:prstGeom prst="rect">
            <a:avLst/>
          </a:prstGeom>
          <a:noFill/>
        </p:spPr>
        <p:txBody>
          <a:bodyPr wrap="square" lIns="0" tIns="0" rIns="0" bIns="0" anchor="ctr">
            <a:spAutoFit/>
          </a:bodyPr>
          <a:lstStyle/>
          <a:p>
            <a:pPr algn="ctr"/>
            <a:r>
              <a:rPr sz="1600" b="1">
                <a:solidFill>
                  <a:srgbClr val="FFFFFF"/>
                </a:solidFill>
                <a:latin typeface="맑은 고딕"/>
              </a:rPr>
              <a:t>3</a:t>
            </a:r>
          </a:p>
        </p:txBody>
      </p:sp>
      <p:sp>
        <p:nvSpPr>
          <p:cNvPr id="19" name="TextBox 18"/>
          <p:cNvSpPr txBox="1"/>
          <p:nvPr/>
        </p:nvSpPr>
        <p:spPr>
          <a:xfrm>
            <a:off x="8394192" y="2651760"/>
            <a:ext cx="2944368" cy="548640"/>
          </a:xfrm>
          <a:prstGeom prst="rect">
            <a:avLst/>
          </a:prstGeom>
          <a:noFill/>
        </p:spPr>
        <p:txBody>
          <a:bodyPr wrap="square" lIns="0" tIns="0" rIns="0" bIns="0" anchor="ctr">
            <a:spAutoFit/>
          </a:bodyPr>
          <a:lstStyle/>
          <a:p>
            <a:pPr algn="l"/>
            <a:r>
              <a:rPr sz="1800" b="1">
                <a:solidFill>
                  <a:srgbClr val="24211D"/>
                </a:solidFill>
                <a:latin typeface="맑은 고딕"/>
              </a:rPr>
              <a:t>대화가 가벼워집니다</a:t>
            </a:r>
          </a:p>
        </p:txBody>
      </p:sp>
      <p:sp>
        <p:nvSpPr>
          <p:cNvPr id="20" name="TextBox 19"/>
          <p:cNvSpPr txBox="1"/>
          <p:nvPr/>
        </p:nvSpPr>
        <p:spPr>
          <a:xfrm>
            <a:off x="8394192" y="3310128"/>
            <a:ext cx="2944368" cy="640080"/>
          </a:xfrm>
          <a:prstGeom prst="rect">
            <a:avLst/>
          </a:prstGeom>
          <a:noFill/>
        </p:spPr>
        <p:txBody>
          <a:bodyPr wrap="square" lIns="0" tIns="0" rIns="0" bIns="0" anchor="t">
            <a:spAutoFit/>
          </a:bodyPr>
          <a:lstStyle/>
          <a:p>
            <a:pPr algn="l"/>
            <a:r>
              <a:rPr sz="1500" b="0">
                <a:solidFill>
                  <a:srgbClr val="514B43"/>
                </a:solidFill>
                <a:latin typeface="맑은 고딕"/>
              </a:rPr>
              <a:t>평소에는 제목과 설명 한 줄만</a:t>
            </a:r>
          </a:p>
          <a:p>
            <a:pPr algn="l"/>
            <a:r>
              <a:rPr sz="1500" b="0">
                <a:solidFill>
                  <a:srgbClr val="514B43"/>
                </a:solidFill>
                <a:latin typeface="맑은 고딕"/>
              </a:rPr>
              <a:t>자리를 차지합니다.</a:t>
            </a:r>
          </a:p>
        </p:txBody>
      </p:sp>
      <p:sp>
        <p:nvSpPr>
          <p:cNvPr id="21" name="TextBox 20"/>
          <p:cNvSpPr txBox="1"/>
          <p:nvPr/>
        </p:nvSpPr>
        <p:spPr>
          <a:xfrm>
            <a:off x="8394192" y="4041648"/>
            <a:ext cx="2944368" cy="512064"/>
          </a:xfrm>
          <a:prstGeom prst="rect">
            <a:avLst/>
          </a:prstGeom>
          <a:noFill/>
        </p:spPr>
        <p:txBody>
          <a:bodyPr wrap="square" lIns="0" tIns="0" rIns="0" bIns="0" anchor="t">
            <a:spAutoFit/>
          </a:bodyPr>
          <a:lstStyle/>
          <a:p>
            <a:pPr algn="l"/>
            <a:r>
              <a:rPr sz="1500" b="1">
                <a:solidFill>
                  <a:srgbClr val="A8462A"/>
                </a:solidFill>
                <a:latin typeface="맑은 고딕"/>
              </a:rPr>
              <a:t>MCP 와 정반대입니다.</a:t>
            </a:r>
          </a:p>
          <a:p>
            <a:pPr algn="l"/>
            <a:r>
              <a:rPr sz="1500" b="1">
                <a:solidFill>
                  <a:srgbClr val="A8462A"/>
                </a:solidFill>
                <a:latin typeface="맑은 고딕"/>
              </a:rPr>
              <a:t>많이 넣어도 괜찮습니다.</a:t>
            </a:r>
          </a:p>
        </p:txBody>
      </p:sp>
      <p:sp>
        <p:nvSpPr>
          <p:cNvPr id="22" name="TextBox 21"/>
          <p:cNvSpPr txBox="1"/>
          <p:nvPr/>
        </p:nvSpPr>
        <p:spPr>
          <a:xfrm>
            <a:off x="566928" y="4809744"/>
            <a:ext cx="11064240" cy="310896"/>
          </a:xfrm>
          <a:prstGeom prst="rect">
            <a:avLst/>
          </a:prstGeom>
          <a:noFill/>
        </p:spPr>
        <p:txBody>
          <a:bodyPr wrap="square" lIns="0" tIns="0" rIns="0" bIns="0" anchor="t">
            <a:spAutoFit/>
          </a:bodyPr>
          <a:lstStyle/>
          <a:p>
            <a:pPr algn="l"/>
            <a:r>
              <a:rPr sz="1500" b="1">
                <a:solidFill>
                  <a:srgbClr val="A8462A"/>
                </a:solidFill>
                <a:latin typeface="맑은 고딕"/>
              </a:rPr>
              <a:t>셋을 이렇게 구분하세요</a:t>
            </a:r>
          </a:p>
        </p:txBody>
      </p:sp>
      <p:sp>
        <p:nvSpPr>
          <p:cNvPr id="23" name="Rounded Rectangle 22"/>
          <p:cNvSpPr/>
          <p:nvPr/>
        </p:nvSpPr>
        <p:spPr>
          <a:xfrm>
            <a:off x="566928" y="5175504"/>
            <a:ext cx="3529584" cy="566928"/>
          </a:xfrm>
          <a:prstGeom prst="roundRect">
            <a:avLst>
              <a:gd name="adj" fmla="val 14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TextBox 23"/>
          <p:cNvSpPr txBox="1"/>
          <p:nvPr/>
        </p:nvSpPr>
        <p:spPr>
          <a:xfrm>
            <a:off x="786384" y="5175504"/>
            <a:ext cx="1005840" cy="566928"/>
          </a:xfrm>
          <a:prstGeom prst="rect">
            <a:avLst/>
          </a:prstGeom>
          <a:noFill/>
        </p:spPr>
        <p:txBody>
          <a:bodyPr wrap="square" lIns="0" tIns="0" rIns="0" bIns="0" anchor="ctr">
            <a:spAutoFit/>
          </a:bodyPr>
          <a:lstStyle/>
          <a:p>
            <a:pPr algn="l"/>
            <a:r>
              <a:rPr sz="1500" b="1">
                <a:solidFill>
                  <a:srgbClr val="D97757"/>
                </a:solidFill>
                <a:latin typeface="맑은 고딕"/>
              </a:rPr>
              <a:t>개인 설정</a:t>
            </a:r>
          </a:p>
        </p:txBody>
      </p:sp>
      <p:sp>
        <p:nvSpPr>
          <p:cNvPr id="25" name="TextBox 24"/>
          <p:cNvSpPr txBox="1"/>
          <p:nvPr/>
        </p:nvSpPr>
        <p:spPr>
          <a:xfrm>
            <a:off x="1792224" y="5175504"/>
            <a:ext cx="2157984" cy="566928"/>
          </a:xfrm>
          <a:prstGeom prst="rect">
            <a:avLst/>
          </a:prstGeom>
          <a:noFill/>
        </p:spPr>
        <p:txBody>
          <a:bodyPr wrap="square" lIns="0" tIns="0" rIns="0" bIns="0" anchor="ctr">
            <a:spAutoFit/>
          </a:bodyPr>
          <a:lstStyle/>
          <a:p>
            <a:pPr algn="l"/>
            <a:r>
              <a:rPr sz="1300" b="0">
                <a:solidFill>
                  <a:srgbClr val="F6F1EA"/>
                </a:solidFill>
                <a:latin typeface="맑은 고딕"/>
              </a:rPr>
              <a:t>내가 누구인가</a:t>
            </a:r>
          </a:p>
          <a:p>
            <a:pPr algn="l"/>
            <a:r>
              <a:rPr sz="1300" b="0">
                <a:solidFill>
                  <a:srgbClr val="F6F1EA"/>
                </a:solidFill>
                <a:latin typeface="맑은 고딕"/>
              </a:rPr>
              <a:t>항상 읽습니다</a:t>
            </a:r>
          </a:p>
        </p:txBody>
      </p:sp>
      <p:sp>
        <p:nvSpPr>
          <p:cNvPr id="26" name="Rounded Rectangle 25"/>
          <p:cNvSpPr/>
          <p:nvPr/>
        </p:nvSpPr>
        <p:spPr>
          <a:xfrm>
            <a:off x="4334256" y="5175504"/>
            <a:ext cx="3529584" cy="566928"/>
          </a:xfrm>
          <a:prstGeom prst="roundRect">
            <a:avLst>
              <a:gd name="adj" fmla="val 14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TextBox 26"/>
          <p:cNvSpPr txBox="1"/>
          <p:nvPr/>
        </p:nvSpPr>
        <p:spPr>
          <a:xfrm>
            <a:off x="4553712" y="5175504"/>
            <a:ext cx="1005840" cy="566928"/>
          </a:xfrm>
          <a:prstGeom prst="rect">
            <a:avLst/>
          </a:prstGeom>
          <a:noFill/>
        </p:spPr>
        <p:txBody>
          <a:bodyPr wrap="square" lIns="0" tIns="0" rIns="0" bIns="0" anchor="ctr">
            <a:spAutoFit/>
          </a:bodyPr>
          <a:lstStyle/>
          <a:p>
            <a:pPr algn="l"/>
            <a:r>
              <a:rPr sz="1500" b="1">
                <a:solidFill>
                  <a:srgbClr val="D97757"/>
                </a:solidFill>
                <a:latin typeface="맑은 고딕"/>
              </a:rPr>
              <a:t>스킬</a:t>
            </a:r>
          </a:p>
        </p:txBody>
      </p:sp>
      <p:sp>
        <p:nvSpPr>
          <p:cNvPr id="28" name="TextBox 27"/>
          <p:cNvSpPr txBox="1"/>
          <p:nvPr/>
        </p:nvSpPr>
        <p:spPr>
          <a:xfrm>
            <a:off x="5559552" y="5175504"/>
            <a:ext cx="2157984" cy="566928"/>
          </a:xfrm>
          <a:prstGeom prst="rect">
            <a:avLst/>
          </a:prstGeom>
          <a:noFill/>
        </p:spPr>
        <p:txBody>
          <a:bodyPr wrap="square" lIns="0" tIns="0" rIns="0" bIns="0" anchor="ctr">
            <a:spAutoFit/>
          </a:bodyPr>
          <a:lstStyle/>
          <a:p>
            <a:pPr algn="l"/>
            <a:r>
              <a:rPr sz="1300" b="0">
                <a:solidFill>
                  <a:srgbClr val="F6F1EA"/>
                </a:solidFill>
                <a:latin typeface="맑은 고딕"/>
              </a:rPr>
              <a:t>이 일을 어떻게 하는가</a:t>
            </a:r>
          </a:p>
          <a:p>
            <a:pPr algn="l"/>
            <a:r>
              <a:rPr sz="1300" b="0">
                <a:solidFill>
                  <a:srgbClr val="F6F1EA"/>
                </a:solidFill>
                <a:latin typeface="맑은 고딕"/>
              </a:rPr>
              <a:t>그 일이 생길 때만 읽습니다</a:t>
            </a:r>
          </a:p>
        </p:txBody>
      </p:sp>
      <p:sp>
        <p:nvSpPr>
          <p:cNvPr id="29" name="Rounded Rectangle 28"/>
          <p:cNvSpPr/>
          <p:nvPr/>
        </p:nvSpPr>
        <p:spPr>
          <a:xfrm>
            <a:off x="8101583" y="5175504"/>
            <a:ext cx="3529584" cy="566928"/>
          </a:xfrm>
          <a:prstGeom prst="roundRect">
            <a:avLst>
              <a:gd name="adj" fmla="val 14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TextBox 29"/>
          <p:cNvSpPr txBox="1"/>
          <p:nvPr/>
        </p:nvSpPr>
        <p:spPr>
          <a:xfrm>
            <a:off x="8321040" y="5175504"/>
            <a:ext cx="1005840" cy="566928"/>
          </a:xfrm>
          <a:prstGeom prst="rect">
            <a:avLst/>
          </a:prstGeom>
          <a:noFill/>
        </p:spPr>
        <p:txBody>
          <a:bodyPr wrap="square" lIns="0" tIns="0" rIns="0" bIns="0" anchor="ctr">
            <a:spAutoFit/>
          </a:bodyPr>
          <a:lstStyle/>
          <a:p>
            <a:pPr algn="l"/>
            <a:r>
              <a:rPr sz="1500" b="1">
                <a:solidFill>
                  <a:srgbClr val="D97757"/>
                </a:solidFill>
                <a:latin typeface="맑은 고딕"/>
              </a:rPr>
              <a:t>MCP</a:t>
            </a:r>
          </a:p>
        </p:txBody>
      </p:sp>
      <p:sp>
        <p:nvSpPr>
          <p:cNvPr id="31" name="TextBox 30"/>
          <p:cNvSpPr txBox="1"/>
          <p:nvPr/>
        </p:nvSpPr>
        <p:spPr>
          <a:xfrm>
            <a:off x="9326880" y="5175504"/>
            <a:ext cx="2157984" cy="566928"/>
          </a:xfrm>
          <a:prstGeom prst="rect">
            <a:avLst/>
          </a:prstGeom>
          <a:noFill/>
        </p:spPr>
        <p:txBody>
          <a:bodyPr wrap="square" lIns="0" tIns="0" rIns="0" bIns="0" anchor="ctr">
            <a:spAutoFit/>
          </a:bodyPr>
          <a:lstStyle/>
          <a:p>
            <a:pPr algn="l"/>
            <a:r>
              <a:rPr sz="1300" b="0">
                <a:solidFill>
                  <a:srgbClr val="F6F1EA"/>
                </a:solidFill>
                <a:latin typeface="맑은 고딕"/>
              </a:rPr>
              <a:t>무엇을 만질 수 있는가</a:t>
            </a:r>
          </a:p>
          <a:p>
            <a:pPr algn="l"/>
            <a:r>
              <a:rPr sz="1300" b="0">
                <a:solidFill>
                  <a:srgbClr val="F6F1EA"/>
                </a:solidFill>
                <a:latin typeface="맑은 고딕"/>
              </a:rPr>
              <a:t>손과 발이 됩니다</a:t>
            </a:r>
          </a:p>
        </p:txBody>
      </p:sp>
      <p:sp>
        <p:nvSpPr>
          <p:cNvPr id="32" name="TextBox 31"/>
          <p:cNvSpPr txBox="1"/>
          <p:nvPr/>
        </p:nvSpPr>
        <p:spPr>
          <a:xfrm>
            <a:off x="566928" y="6272784"/>
            <a:ext cx="11064240" cy="310896"/>
          </a:xfrm>
          <a:prstGeom prst="rect">
            <a:avLst/>
          </a:prstGeom>
          <a:noFill/>
        </p:spPr>
        <p:txBody>
          <a:bodyPr wrap="square" lIns="0" tIns="0" rIns="0" bIns="0" anchor="t">
            <a:spAutoFit/>
          </a:bodyPr>
          <a:lstStyle/>
          <a:p>
            <a:pPr algn="l"/>
            <a:r>
              <a:rPr sz="1300" b="0">
                <a:solidFill>
                  <a:srgbClr val="514B43"/>
                </a:solidFill>
                <a:latin typeface="맑은 고딕"/>
              </a:rPr>
              <a:t>스킬은 신뢰할 수 있는 출처의 것만 쓰세요 · 출처: platform.claude.com/docs/en/agents-and-tools/agent-skills/overview (2026-08-07 직접 조회)</a:t>
            </a:r>
          </a:p>
        </p:txBody>
      </p:sp>
      <p:sp>
        <p:nvSpPr>
          <p:cNvPr id="33" name="TextBox 32">
            <a:extLst>
              <a:ext uri="{FF2B5EF4-FFF2-40B4-BE49-F238E27FC236}">
                <a16:creationId xmlns:a16="http://schemas.microsoft.com/office/drawing/2014/main" id="{93AD620D-A5B7-04AB-24E2-D6E65270AE7E}"/>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06 · </a:t>
            </a:r>
            <a:r>
              <a:rPr lang="ko-KR" altLang="en-US" sz="1200">
                <a:solidFill>
                  <a:srgbClr val="A69C90"/>
                </a:solidFill>
                <a:latin typeface="맑은 고딕" panose="020B0503020000020004" pitchFamily="50" charset="-127"/>
                <a:ea typeface="맑은 고딕" panose="020B0503020000020004" pitchFamily="50" charset="-127"/>
              </a:rPr>
              <a:t>스킬          </a:t>
            </a:r>
            <a:r>
              <a:rPr lang="en-US" altLang="ko-KR" sz="1200">
                <a:solidFill>
                  <a:srgbClr val="A69C90"/>
                </a:solidFill>
                <a:latin typeface="맑은 고딕" panose="020B0503020000020004" pitchFamily="50" charset="-127"/>
                <a:ea typeface="맑은 고딕" panose="020B0503020000020004" pitchFamily="50" charset="-127"/>
              </a:rPr>
              <a:t>41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실물 예시 — 이 교육에서 쓸 스킬 하나</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MCP 가 안 붙을 때 원인을 찾아주는 스킬입니다</a:t>
            </a:r>
          </a:p>
        </p:txBody>
      </p:sp>
      <p:sp>
        <p:nvSpPr>
          <p:cNvPr id="4" name="TextBox 3"/>
          <p:cNvSpPr txBox="1"/>
          <p:nvPr/>
        </p:nvSpPr>
        <p:spPr>
          <a:xfrm>
            <a:off x="566928" y="1874519"/>
            <a:ext cx="5358384" cy="310896"/>
          </a:xfrm>
          <a:prstGeom prst="rect">
            <a:avLst/>
          </a:prstGeom>
          <a:noFill/>
        </p:spPr>
        <p:txBody>
          <a:bodyPr wrap="square" lIns="0" tIns="0" rIns="0" bIns="0" anchor="t">
            <a:spAutoFit/>
          </a:bodyPr>
          <a:lstStyle/>
          <a:p>
            <a:pPr algn="l"/>
            <a:r>
              <a:rPr sz="1500" b="1">
                <a:solidFill>
                  <a:srgbClr val="A8462A"/>
                </a:solidFill>
                <a:latin typeface="맑은 고딕"/>
              </a:rPr>
              <a:t>이 한마디면 됩니다</a:t>
            </a:r>
          </a:p>
        </p:txBody>
      </p:sp>
      <p:sp>
        <p:nvSpPr>
          <p:cNvPr id="5" name="Rounded Rectangle 4"/>
          <p:cNvSpPr/>
          <p:nvPr/>
        </p:nvSpPr>
        <p:spPr>
          <a:xfrm>
            <a:off x="566928" y="2249424"/>
            <a:ext cx="5358384" cy="457200"/>
          </a:xfrm>
          <a:prstGeom prst="roundRect">
            <a:avLst>
              <a:gd name="adj" fmla="val 2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877824" y="2249424"/>
            <a:ext cx="4736592" cy="457200"/>
          </a:xfrm>
          <a:prstGeom prst="rect">
            <a:avLst/>
          </a:prstGeom>
          <a:noFill/>
        </p:spPr>
        <p:txBody>
          <a:bodyPr wrap="square" lIns="0" tIns="0" rIns="0" bIns="0" anchor="ctr">
            <a:spAutoFit/>
          </a:bodyPr>
          <a:lstStyle/>
          <a:p>
            <a:pPr algn="l"/>
            <a:r>
              <a:rPr sz="1700" b="0">
                <a:solidFill>
                  <a:srgbClr val="24211D"/>
                </a:solidFill>
                <a:latin typeface="맑은 고딕"/>
              </a:rPr>
              <a:t>“MCP 가 안 붙어요”</a:t>
            </a:r>
          </a:p>
        </p:txBody>
      </p:sp>
      <p:sp>
        <p:nvSpPr>
          <p:cNvPr id="7" name="Rounded Rectangle 6"/>
          <p:cNvSpPr/>
          <p:nvPr/>
        </p:nvSpPr>
        <p:spPr>
          <a:xfrm>
            <a:off x="566928" y="2798064"/>
            <a:ext cx="5358384" cy="457200"/>
          </a:xfrm>
          <a:prstGeom prst="roundRect">
            <a:avLst>
              <a:gd name="adj" fmla="val 2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TextBox 7"/>
          <p:cNvSpPr txBox="1"/>
          <p:nvPr/>
        </p:nvSpPr>
        <p:spPr>
          <a:xfrm>
            <a:off x="877824" y="2798064"/>
            <a:ext cx="4736592" cy="457200"/>
          </a:xfrm>
          <a:prstGeom prst="rect">
            <a:avLst/>
          </a:prstGeom>
          <a:noFill/>
        </p:spPr>
        <p:txBody>
          <a:bodyPr wrap="square" lIns="0" tIns="0" rIns="0" bIns="0" anchor="ctr">
            <a:spAutoFit/>
          </a:bodyPr>
          <a:lstStyle/>
          <a:p>
            <a:pPr algn="l"/>
            <a:r>
              <a:rPr sz="1700" b="0">
                <a:solidFill>
                  <a:srgbClr val="24211D"/>
                </a:solidFill>
                <a:latin typeface="맑은 고딕"/>
              </a:rPr>
              <a:t>“Server disconnected 떠요”</a:t>
            </a:r>
          </a:p>
        </p:txBody>
      </p:sp>
      <p:sp>
        <p:nvSpPr>
          <p:cNvPr id="9" name="Rounded Rectangle 8"/>
          <p:cNvSpPr/>
          <p:nvPr/>
        </p:nvSpPr>
        <p:spPr>
          <a:xfrm>
            <a:off x="566928" y="3346704"/>
            <a:ext cx="5358384" cy="457200"/>
          </a:xfrm>
          <a:prstGeom prst="roundRect">
            <a:avLst>
              <a:gd name="adj" fmla="val 2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TextBox 9"/>
          <p:cNvSpPr txBox="1"/>
          <p:nvPr/>
        </p:nvSpPr>
        <p:spPr>
          <a:xfrm>
            <a:off x="877824" y="3346704"/>
            <a:ext cx="4736592" cy="457200"/>
          </a:xfrm>
          <a:prstGeom prst="rect">
            <a:avLst/>
          </a:prstGeom>
          <a:noFill/>
        </p:spPr>
        <p:txBody>
          <a:bodyPr wrap="square" lIns="0" tIns="0" rIns="0" bIns="0" anchor="ctr">
            <a:spAutoFit/>
          </a:bodyPr>
          <a:lstStyle/>
          <a:p>
            <a:pPr algn="l"/>
            <a:r>
              <a:rPr sz="1700" b="0">
                <a:solidFill>
                  <a:srgbClr val="24211D"/>
                </a:solidFill>
                <a:latin typeface="맑은 고딕"/>
              </a:rPr>
              <a:t>“확장 프로그램 설치가 안 돼요”</a:t>
            </a:r>
          </a:p>
        </p:txBody>
      </p:sp>
      <p:sp>
        <p:nvSpPr>
          <p:cNvPr id="11" name="TextBox 10"/>
          <p:cNvSpPr txBox="1"/>
          <p:nvPr/>
        </p:nvSpPr>
        <p:spPr>
          <a:xfrm>
            <a:off x="566928" y="3950208"/>
            <a:ext cx="5358384" cy="310896"/>
          </a:xfrm>
          <a:prstGeom prst="rect">
            <a:avLst/>
          </a:prstGeom>
          <a:noFill/>
        </p:spPr>
        <p:txBody>
          <a:bodyPr wrap="square" lIns="0" tIns="0" rIns="0" bIns="0" anchor="t">
            <a:spAutoFit/>
          </a:bodyPr>
          <a:lstStyle/>
          <a:p>
            <a:pPr algn="l"/>
            <a:r>
              <a:rPr sz="1500" b="0">
                <a:solidFill>
                  <a:srgbClr val="514B43"/>
                </a:solidFill>
                <a:latin typeface="맑은 고딕"/>
              </a:rPr>
              <a:t>시키지 않아도 Claude 가 이 스킬을 알아서 꺼냅니다</a:t>
            </a:r>
          </a:p>
        </p:txBody>
      </p:sp>
      <p:sp>
        <p:nvSpPr>
          <p:cNvPr id="12" name="Rounded Rectangle 11"/>
          <p:cNvSpPr/>
          <p:nvPr/>
        </p:nvSpPr>
        <p:spPr>
          <a:xfrm>
            <a:off x="566928" y="4315968"/>
            <a:ext cx="5358384" cy="822960"/>
          </a:xfrm>
          <a:prstGeom prst="roundRect">
            <a:avLst>
              <a:gd name="adj" fmla="val 12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TextBox 12"/>
          <p:cNvSpPr txBox="1"/>
          <p:nvPr/>
        </p:nvSpPr>
        <p:spPr>
          <a:xfrm>
            <a:off x="896112" y="4315968"/>
            <a:ext cx="4700016" cy="822960"/>
          </a:xfrm>
          <a:prstGeom prst="rect">
            <a:avLst/>
          </a:prstGeom>
          <a:noFill/>
        </p:spPr>
        <p:txBody>
          <a:bodyPr wrap="square" lIns="0" tIns="0" rIns="0" bIns="0" anchor="ctr">
            <a:spAutoFit/>
          </a:bodyPr>
          <a:lstStyle/>
          <a:p>
            <a:pPr algn="l"/>
            <a:r>
              <a:rPr sz="1600" b="1">
                <a:solidFill>
                  <a:srgbClr val="FFFFFF"/>
                </a:solidFill>
                <a:latin typeface="맑은 고딕"/>
              </a:rPr>
              <a:t>로그를 훑어 죽은 서버를 찾아내고</a:t>
            </a:r>
          </a:p>
          <a:p>
            <a:pPr algn="l"/>
            <a:r>
              <a:rPr sz="1600" b="1">
                <a:solidFill>
                  <a:srgbClr val="FFFFFF"/>
                </a:solidFill>
                <a:latin typeface="맑은 고딕"/>
              </a:rPr>
              <a:t>원인과 처방을 함께 알려줍니다</a:t>
            </a:r>
          </a:p>
        </p:txBody>
      </p:sp>
      <p:sp>
        <p:nvSpPr>
          <p:cNvPr id="14" name="TextBox 13"/>
          <p:cNvSpPr txBox="1"/>
          <p:nvPr/>
        </p:nvSpPr>
        <p:spPr>
          <a:xfrm>
            <a:off x="6272784" y="1874519"/>
            <a:ext cx="5358384" cy="310896"/>
          </a:xfrm>
          <a:prstGeom prst="rect">
            <a:avLst/>
          </a:prstGeom>
          <a:noFill/>
        </p:spPr>
        <p:txBody>
          <a:bodyPr wrap="square" lIns="0" tIns="0" rIns="0" bIns="0" anchor="t">
            <a:spAutoFit/>
          </a:bodyPr>
          <a:lstStyle/>
          <a:p>
            <a:pPr algn="l"/>
            <a:r>
              <a:rPr sz="1500" b="1">
                <a:solidFill>
                  <a:srgbClr val="A8462A"/>
                </a:solidFill>
                <a:latin typeface="맑은 고딕"/>
              </a:rPr>
              <a:t>스킬 안에 든 것은 이게 전부입니다</a:t>
            </a:r>
          </a:p>
        </p:txBody>
      </p:sp>
      <p:sp>
        <p:nvSpPr>
          <p:cNvPr id="15" name="Rounded Rectangle 14"/>
          <p:cNvSpPr/>
          <p:nvPr/>
        </p:nvSpPr>
        <p:spPr>
          <a:xfrm>
            <a:off x="6272784" y="2249424"/>
            <a:ext cx="5358384" cy="100584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TextBox 15"/>
          <p:cNvSpPr txBox="1"/>
          <p:nvPr/>
        </p:nvSpPr>
        <p:spPr>
          <a:xfrm>
            <a:off x="6547104" y="2249424"/>
            <a:ext cx="4809744" cy="1005840"/>
          </a:xfrm>
          <a:prstGeom prst="rect">
            <a:avLst/>
          </a:prstGeom>
          <a:noFill/>
        </p:spPr>
        <p:txBody>
          <a:bodyPr wrap="square" lIns="0" tIns="0" rIns="0" bIns="0" anchor="ctr">
            <a:spAutoFit/>
          </a:bodyPr>
          <a:lstStyle/>
          <a:p>
            <a:pPr algn="l"/>
            <a:r>
              <a:rPr sz="1400" b="0">
                <a:solidFill>
                  <a:srgbClr val="F2E9E1"/>
                </a:solidFill>
                <a:latin typeface="Consolas"/>
              </a:rPr>
              <a:t>mcp-health-check/</a:t>
            </a:r>
          </a:p>
          <a:p>
            <a:pPr algn="l"/>
            <a:r>
              <a:rPr sz="1400" b="0">
                <a:solidFill>
                  <a:srgbClr val="F2E9E1"/>
                </a:solidFill>
                <a:latin typeface="Consolas"/>
              </a:rPr>
              <a:t>    SKILL.md</a:t>
            </a:r>
          </a:p>
          <a:p>
            <a:pPr algn="l"/>
            <a:r>
              <a:rPr sz="1400" b="0">
                <a:solidFill>
                  <a:srgbClr val="F2E9E1"/>
                </a:solidFill>
                <a:latin typeface="Consolas"/>
              </a:rPr>
              <a:t>    references/error-patterns.md</a:t>
            </a:r>
          </a:p>
        </p:txBody>
      </p:sp>
      <p:sp>
        <p:nvSpPr>
          <p:cNvPr id="17" name="Oval 16"/>
          <p:cNvSpPr/>
          <p:nvPr/>
        </p:nvSpPr>
        <p:spPr>
          <a:xfrm>
            <a:off x="6272784" y="3401568"/>
            <a:ext cx="310896" cy="310896"/>
          </a:xfrm>
          <a:prstGeom prst="ellipse">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TextBox 17"/>
          <p:cNvSpPr txBox="1"/>
          <p:nvPr/>
        </p:nvSpPr>
        <p:spPr>
          <a:xfrm>
            <a:off x="6272784" y="3401568"/>
            <a:ext cx="310896" cy="310896"/>
          </a:xfrm>
          <a:prstGeom prst="rect">
            <a:avLst/>
          </a:prstGeom>
          <a:noFill/>
        </p:spPr>
        <p:txBody>
          <a:bodyPr wrap="square" lIns="0" tIns="0" rIns="0" bIns="0" anchor="ctr">
            <a:spAutoFit/>
          </a:bodyPr>
          <a:lstStyle/>
          <a:p>
            <a:pPr algn="ctr"/>
            <a:r>
              <a:rPr sz="1400" b="1">
                <a:solidFill>
                  <a:srgbClr val="24211D"/>
                </a:solidFill>
                <a:latin typeface="맑은 고딕"/>
              </a:rPr>
              <a:t>1</a:t>
            </a:r>
          </a:p>
        </p:txBody>
      </p:sp>
      <p:sp>
        <p:nvSpPr>
          <p:cNvPr id="19" name="TextBox 18"/>
          <p:cNvSpPr txBox="1"/>
          <p:nvPr/>
        </p:nvSpPr>
        <p:spPr>
          <a:xfrm>
            <a:off x="6748272" y="3401568"/>
            <a:ext cx="4882896" cy="310896"/>
          </a:xfrm>
          <a:prstGeom prst="rect">
            <a:avLst/>
          </a:prstGeom>
          <a:noFill/>
        </p:spPr>
        <p:txBody>
          <a:bodyPr wrap="square" lIns="0" tIns="0" rIns="0" bIns="0" anchor="ctr">
            <a:spAutoFit/>
          </a:bodyPr>
          <a:lstStyle/>
          <a:p>
            <a:pPr algn="l"/>
            <a:r>
              <a:rPr sz="1600" b="0">
                <a:solidFill>
                  <a:srgbClr val="24211D"/>
                </a:solidFill>
                <a:latin typeface="맑은 고딕"/>
              </a:rPr>
              <a:t>죽은 서버를 한 번에 훑습니다</a:t>
            </a:r>
          </a:p>
        </p:txBody>
      </p:sp>
      <p:sp>
        <p:nvSpPr>
          <p:cNvPr id="20" name="Oval 19"/>
          <p:cNvSpPr/>
          <p:nvPr/>
        </p:nvSpPr>
        <p:spPr>
          <a:xfrm>
            <a:off x="6272784" y="3877056"/>
            <a:ext cx="310896" cy="310896"/>
          </a:xfrm>
          <a:prstGeom prst="ellipse">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TextBox 20"/>
          <p:cNvSpPr txBox="1"/>
          <p:nvPr/>
        </p:nvSpPr>
        <p:spPr>
          <a:xfrm>
            <a:off x="6272784" y="3877056"/>
            <a:ext cx="310896" cy="310896"/>
          </a:xfrm>
          <a:prstGeom prst="rect">
            <a:avLst/>
          </a:prstGeom>
          <a:noFill/>
        </p:spPr>
        <p:txBody>
          <a:bodyPr wrap="square" lIns="0" tIns="0" rIns="0" bIns="0" anchor="ctr">
            <a:spAutoFit/>
          </a:bodyPr>
          <a:lstStyle/>
          <a:p>
            <a:pPr algn="ctr"/>
            <a:r>
              <a:rPr sz="1400" b="1">
                <a:solidFill>
                  <a:srgbClr val="24211D"/>
                </a:solidFill>
                <a:latin typeface="맑은 고딕"/>
              </a:rPr>
              <a:t>2</a:t>
            </a:r>
          </a:p>
        </p:txBody>
      </p:sp>
      <p:sp>
        <p:nvSpPr>
          <p:cNvPr id="22" name="TextBox 21"/>
          <p:cNvSpPr txBox="1"/>
          <p:nvPr/>
        </p:nvSpPr>
        <p:spPr>
          <a:xfrm>
            <a:off x="6748272" y="3877056"/>
            <a:ext cx="4882896" cy="310896"/>
          </a:xfrm>
          <a:prstGeom prst="rect">
            <a:avLst/>
          </a:prstGeom>
          <a:noFill/>
        </p:spPr>
        <p:txBody>
          <a:bodyPr wrap="square" lIns="0" tIns="0" rIns="0" bIns="0" anchor="ctr">
            <a:spAutoFit/>
          </a:bodyPr>
          <a:lstStyle/>
          <a:p>
            <a:pPr algn="l"/>
            <a:r>
              <a:rPr sz="1600" b="0">
                <a:solidFill>
                  <a:srgbClr val="24211D"/>
                </a:solidFill>
                <a:latin typeface="맑은 고딕"/>
              </a:rPr>
              <a:t>겪어 본 오류 문구와 대조합니다</a:t>
            </a:r>
          </a:p>
        </p:txBody>
      </p:sp>
      <p:sp>
        <p:nvSpPr>
          <p:cNvPr id="23" name="Oval 22"/>
          <p:cNvSpPr/>
          <p:nvPr/>
        </p:nvSpPr>
        <p:spPr>
          <a:xfrm>
            <a:off x="6272784" y="4352544"/>
            <a:ext cx="310896" cy="310896"/>
          </a:xfrm>
          <a:prstGeom prst="ellipse">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TextBox 23"/>
          <p:cNvSpPr txBox="1"/>
          <p:nvPr/>
        </p:nvSpPr>
        <p:spPr>
          <a:xfrm>
            <a:off x="6272784" y="4352544"/>
            <a:ext cx="310896" cy="310896"/>
          </a:xfrm>
          <a:prstGeom prst="rect">
            <a:avLst/>
          </a:prstGeom>
          <a:noFill/>
        </p:spPr>
        <p:txBody>
          <a:bodyPr wrap="square" lIns="0" tIns="0" rIns="0" bIns="0" anchor="ctr">
            <a:spAutoFit/>
          </a:bodyPr>
          <a:lstStyle/>
          <a:p>
            <a:pPr algn="ctr"/>
            <a:r>
              <a:rPr sz="1400" b="1">
                <a:solidFill>
                  <a:srgbClr val="24211D"/>
                </a:solidFill>
                <a:latin typeface="맑은 고딕"/>
              </a:rPr>
              <a:t>3</a:t>
            </a:r>
          </a:p>
        </p:txBody>
      </p:sp>
      <p:sp>
        <p:nvSpPr>
          <p:cNvPr id="25" name="TextBox 24"/>
          <p:cNvSpPr txBox="1"/>
          <p:nvPr/>
        </p:nvSpPr>
        <p:spPr>
          <a:xfrm>
            <a:off x="6748272" y="4352544"/>
            <a:ext cx="4882896" cy="310896"/>
          </a:xfrm>
          <a:prstGeom prst="rect">
            <a:avLst/>
          </a:prstGeom>
          <a:noFill/>
        </p:spPr>
        <p:txBody>
          <a:bodyPr wrap="square" lIns="0" tIns="0" rIns="0" bIns="0" anchor="ctr">
            <a:spAutoFit/>
          </a:bodyPr>
          <a:lstStyle/>
          <a:p>
            <a:pPr algn="l"/>
            <a:r>
              <a:rPr sz="1600" b="0">
                <a:solidFill>
                  <a:srgbClr val="24211D"/>
                </a:solidFill>
                <a:latin typeface="맑은 고딕"/>
              </a:rPr>
              <a:t>무엇을 고칠지까지 알려줍니다</a:t>
            </a:r>
          </a:p>
        </p:txBody>
      </p:sp>
      <p:sp>
        <p:nvSpPr>
          <p:cNvPr id="26" name="TextBox 25"/>
          <p:cNvSpPr txBox="1"/>
          <p:nvPr/>
        </p:nvSpPr>
        <p:spPr>
          <a:xfrm>
            <a:off x="6272784" y="4864608"/>
            <a:ext cx="5358384" cy="310896"/>
          </a:xfrm>
          <a:prstGeom prst="rect">
            <a:avLst/>
          </a:prstGeom>
          <a:noFill/>
        </p:spPr>
        <p:txBody>
          <a:bodyPr wrap="square" lIns="0" tIns="0" rIns="0" bIns="0" anchor="t">
            <a:spAutoFit/>
          </a:bodyPr>
          <a:lstStyle/>
          <a:p>
            <a:pPr algn="l"/>
            <a:r>
              <a:rPr sz="1400" b="0">
                <a:solidFill>
                  <a:srgbClr val="514B43"/>
                </a:solidFill>
                <a:latin typeface="맑은 고딕"/>
              </a:rPr>
              <a:t>설정 파일을 통째로 읽지 않습니다. 필요한 줄만 봅니다.</a:t>
            </a:r>
          </a:p>
        </p:txBody>
      </p:sp>
      <p:sp>
        <p:nvSpPr>
          <p:cNvPr id="27" name="Rounded Rectangle 26"/>
          <p:cNvSpPr/>
          <p:nvPr/>
        </p:nvSpPr>
        <p:spPr>
          <a:xfrm>
            <a:off x="566928" y="5321808"/>
            <a:ext cx="11064240" cy="82296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TextBox 27"/>
          <p:cNvSpPr txBox="1"/>
          <p:nvPr/>
        </p:nvSpPr>
        <p:spPr>
          <a:xfrm>
            <a:off x="914400" y="5321808"/>
            <a:ext cx="10424160" cy="822960"/>
          </a:xfrm>
          <a:prstGeom prst="rect">
            <a:avLst/>
          </a:prstGeom>
          <a:noFill/>
        </p:spPr>
        <p:txBody>
          <a:bodyPr wrap="square" lIns="0" tIns="0" rIns="0" bIns="0" anchor="ctr">
            <a:spAutoFit/>
          </a:bodyPr>
          <a:lstStyle/>
          <a:p>
            <a:pPr algn="l"/>
            <a:r>
              <a:rPr sz="1800" b="1">
                <a:solidFill>
                  <a:srgbClr val="FFFFFF"/>
                </a:solidFill>
                <a:latin typeface="맑은 고딕"/>
              </a:rPr>
              <a:t>설치는 .skill 파일을 채팅창에 끌어다 놓고 저장 한 번.  새 대화부터 바로 적용됩니다.</a:t>
            </a:r>
          </a:p>
        </p:txBody>
      </p:sp>
      <p:sp>
        <p:nvSpPr>
          <p:cNvPr id="29" name="TextBox 28"/>
          <p:cNvSpPr txBox="1"/>
          <p:nvPr/>
        </p:nvSpPr>
        <p:spPr>
          <a:xfrm>
            <a:off x="566928" y="6272784"/>
            <a:ext cx="11064240" cy="310896"/>
          </a:xfrm>
          <a:prstGeom prst="rect">
            <a:avLst/>
          </a:prstGeom>
          <a:noFill/>
        </p:spPr>
        <p:txBody>
          <a:bodyPr wrap="square" lIns="0" tIns="0" rIns="0" bIns="0" anchor="t">
            <a:spAutoFit/>
          </a:bodyPr>
          <a:lstStyle/>
          <a:p>
            <a:pPr algn="l"/>
            <a:r>
              <a:rPr sz="1300" b="0">
                <a:solidFill>
                  <a:srgbClr val="514B43"/>
                </a:solidFill>
                <a:latin typeface="맑은 고딕"/>
              </a:rPr>
              <a:t>이 스킬은 강사가 배포합니다 · 스킬은 신뢰할 수 있는 출처의 것만 설치하세요</a:t>
            </a:r>
          </a:p>
        </p:txBody>
      </p:sp>
      <p:sp>
        <p:nvSpPr>
          <p:cNvPr id="30" name="TextBox 29">
            <a:extLst>
              <a:ext uri="{FF2B5EF4-FFF2-40B4-BE49-F238E27FC236}">
                <a16:creationId xmlns:a16="http://schemas.microsoft.com/office/drawing/2014/main" id="{0C838646-8CA2-B85F-4AF5-D5BB562E401A}"/>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06 · </a:t>
            </a:r>
            <a:r>
              <a:rPr lang="ko-KR" altLang="en-US" sz="1200">
                <a:solidFill>
                  <a:srgbClr val="A69C90"/>
                </a:solidFill>
                <a:latin typeface="맑은 고딕" panose="020B0503020000020004" pitchFamily="50" charset="-127"/>
                <a:ea typeface="맑은 고딕" panose="020B0503020000020004" pitchFamily="50" charset="-127"/>
              </a:rPr>
              <a:t>스킬          </a:t>
            </a:r>
            <a:r>
              <a:rPr lang="en-US" altLang="ko-KR" sz="1200">
                <a:solidFill>
                  <a:srgbClr val="A69C90"/>
                </a:solidFill>
                <a:latin typeface="맑은 고딕" panose="020B0503020000020004" pitchFamily="50" charset="-127"/>
                <a:ea typeface="맑은 고딕" panose="020B0503020000020004" pitchFamily="50" charset="-127"/>
              </a:rPr>
              <a:t>42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스킬 8개를 파일 하나로 설치합니다</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하나씩 넣지 않아도 됩니다. 끌어다 놓고 저장 버튼 한 번입니다</a:t>
            </a:r>
          </a:p>
        </p:txBody>
      </p:sp>
      <p:sp>
        <p:nvSpPr>
          <p:cNvPr id="4" name="TextBox 3"/>
          <p:cNvSpPr txBox="1"/>
          <p:nvPr/>
        </p:nvSpPr>
        <p:spPr>
          <a:xfrm>
            <a:off x="566928" y="1874519"/>
            <a:ext cx="11064240" cy="310896"/>
          </a:xfrm>
          <a:prstGeom prst="rect">
            <a:avLst/>
          </a:prstGeom>
          <a:noFill/>
        </p:spPr>
        <p:txBody>
          <a:bodyPr wrap="square" lIns="0" tIns="0" rIns="0" bIns="0" anchor="t">
            <a:spAutoFit/>
          </a:bodyPr>
          <a:lstStyle/>
          <a:p>
            <a:pPr algn="l"/>
            <a:r>
              <a:rPr sz="1500" b="1">
                <a:solidFill>
                  <a:srgbClr val="A8462A"/>
                </a:solidFill>
                <a:latin typeface="맑은 고딕"/>
              </a:rPr>
              <a:t>받는 곳</a:t>
            </a:r>
          </a:p>
        </p:txBody>
      </p:sp>
      <p:sp>
        <p:nvSpPr>
          <p:cNvPr id="5" name="Rounded Rectangle 4"/>
          <p:cNvSpPr/>
          <p:nvPr/>
        </p:nvSpPr>
        <p:spPr>
          <a:xfrm>
            <a:off x="566928" y="2240280"/>
            <a:ext cx="11064240" cy="530352"/>
          </a:xfrm>
          <a:prstGeom prst="roundRect">
            <a:avLst>
              <a:gd name="adj" fmla="val 10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841248" y="2240280"/>
            <a:ext cx="10515600" cy="530352"/>
          </a:xfrm>
          <a:prstGeom prst="rect">
            <a:avLst/>
          </a:prstGeom>
          <a:noFill/>
        </p:spPr>
        <p:txBody>
          <a:bodyPr wrap="square" lIns="0" tIns="0" rIns="0" bIns="0" anchor="ctr">
            <a:spAutoFit/>
          </a:bodyPr>
          <a:lstStyle/>
          <a:p>
            <a:pPr algn="l"/>
            <a:r>
              <a:rPr sz="1800" b="0">
                <a:solidFill>
                  <a:srgbClr val="F2E9E1"/>
                </a:solidFill>
                <a:latin typeface="Consolas"/>
              </a:rPr>
              <a:t>github.com/dgkim3333-hash/claude-guide-kr</a:t>
            </a:r>
          </a:p>
        </p:txBody>
      </p:sp>
      <p:sp>
        <p:nvSpPr>
          <p:cNvPr id="7" name="TextBox 6"/>
          <p:cNvSpPr txBox="1"/>
          <p:nvPr/>
        </p:nvSpPr>
        <p:spPr>
          <a:xfrm>
            <a:off x="566928" y="2871216"/>
            <a:ext cx="11064240" cy="274320"/>
          </a:xfrm>
          <a:prstGeom prst="rect">
            <a:avLst/>
          </a:prstGeom>
          <a:noFill/>
        </p:spPr>
        <p:txBody>
          <a:bodyPr wrap="square" lIns="0" tIns="0" rIns="0" bIns="0" anchor="t">
            <a:spAutoFit/>
          </a:bodyPr>
          <a:lstStyle/>
          <a:p>
            <a:pPr algn="l"/>
            <a:r>
              <a:rPr sz="1500" b="0">
                <a:solidFill>
                  <a:srgbClr val="514B43"/>
                </a:solidFill>
                <a:latin typeface="맑은 고딕"/>
              </a:rPr>
              <a:t>claude-guide-kr.plugin  파일 하나에 아래 여덟 개가 들어 있습니다</a:t>
            </a:r>
          </a:p>
        </p:txBody>
      </p:sp>
      <p:sp>
        <p:nvSpPr>
          <p:cNvPr id="8" name="Rounded Rectangle 7"/>
          <p:cNvSpPr/>
          <p:nvPr/>
        </p:nvSpPr>
        <p:spPr>
          <a:xfrm>
            <a:off x="566928" y="3236976"/>
            <a:ext cx="3291840" cy="1975104"/>
          </a:xfrm>
          <a:prstGeom prst="roundRect">
            <a:avLst>
              <a:gd name="adj" fmla="val 8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TextBox 8"/>
          <p:cNvSpPr txBox="1"/>
          <p:nvPr/>
        </p:nvSpPr>
        <p:spPr>
          <a:xfrm>
            <a:off x="822960" y="3438144"/>
            <a:ext cx="2779776" cy="274320"/>
          </a:xfrm>
          <a:prstGeom prst="rect">
            <a:avLst/>
          </a:prstGeom>
          <a:noFill/>
        </p:spPr>
        <p:txBody>
          <a:bodyPr wrap="square" lIns="0" tIns="0" rIns="0" bIns="0" anchor="t">
            <a:spAutoFit/>
          </a:bodyPr>
          <a:lstStyle/>
          <a:p>
            <a:pPr algn="l"/>
            <a:r>
              <a:rPr sz="1500" b="1">
                <a:solidFill>
                  <a:srgbClr val="A8462A"/>
                </a:solidFill>
                <a:latin typeface="맑은 고딕"/>
              </a:rPr>
              <a:t>어디에나</a:t>
            </a:r>
          </a:p>
        </p:txBody>
      </p:sp>
      <p:sp>
        <p:nvSpPr>
          <p:cNvPr id="10" name="TextBox 9"/>
          <p:cNvSpPr txBox="1"/>
          <p:nvPr/>
        </p:nvSpPr>
        <p:spPr>
          <a:xfrm>
            <a:off x="822960" y="3803904"/>
            <a:ext cx="2779776" cy="182880"/>
          </a:xfrm>
          <a:prstGeom prst="rect">
            <a:avLst/>
          </a:prstGeom>
          <a:noFill/>
        </p:spPr>
        <p:txBody>
          <a:bodyPr wrap="square" lIns="0" tIns="0" rIns="0" bIns="0" anchor="t">
            <a:spAutoFit/>
          </a:bodyPr>
          <a:lstStyle/>
          <a:p>
            <a:pPr algn="l"/>
            <a:r>
              <a:rPr sz="1300" b="1">
                <a:solidFill>
                  <a:srgbClr val="24211D"/>
                </a:solidFill>
                <a:latin typeface="Consolas"/>
              </a:rPr>
              <a:t>mcp-health-check</a:t>
            </a:r>
          </a:p>
        </p:txBody>
      </p:sp>
      <p:sp>
        <p:nvSpPr>
          <p:cNvPr id="11" name="TextBox 10"/>
          <p:cNvSpPr txBox="1"/>
          <p:nvPr/>
        </p:nvSpPr>
        <p:spPr>
          <a:xfrm>
            <a:off x="822960" y="3977640"/>
            <a:ext cx="2779776" cy="182880"/>
          </a:xfrm>
          <a:prstGeom prst="rect">
            <a:avLst/>
          </a:prstGeom>
          <a:noFill/>
        </p:spPr>
        <p:txBody>
          <a:bodyPr wrap="square" lIns="0" tIns="0" rIns="0" bIns="0" anchor="t">
            <a:spAutoFit/>
          </a:bodyPr>
          <a:lstStyle/>
          <a:p>
            <a:pPr algn="l"/>
            <a:r>
              <a:rPr sz="1200" b="0">
                <a:solidFill>
                  <a:srgbClr val="514B43"/>
                </a:solidFill>
                <a:latin typeface="맑은 고딕"/>
              </a:rPr>
              <a:t>MCP 가 안 붙을 때</a:t>
            </a:r>
          </a:p>
        </p:txBody>
      </p:sp>
      <p:sp>
        <p:nvSpPr>
          <p:cNvPr id="12" name="TextBox 11"/>
          <p:cNvSpPr txBox="1"/>
          <p:nvPr/>
        </p:nvSpPr>
        <p:spPr>
          <a:xfrm>
            <a:off x="822960" y="4206240"/>
            <a:ext cx="2779776" cy="182880"/>
          </a:xfrm>
          <a:prstGeom prst="rect">
            <a:avLst/>
          </a:prstGeom>
          <a:noFill/>
        </p:spPr>
        <p:txBody>
          <a:bodyPr wrap="square" lIns="0" tIns="0" rIns="0" bIns="0" anchor="t">
            <a:spAutoFit/>
          </a:bodyPr>
          <a:lstStyle/>
          <a:p>
            <a:pPr algn="l"/>
            <a:r>
              <a:rPr sz="1300" b="1">
                <a:solidFill>
                  <a:srgbClr val="24211D"/>
                </a:solidFill>
                <a:latin typeface="Consolas"/>
              </a:rPr>
              <a:t>number-format-guard</a:t>
            </a:r>
          </a:p>
        </p:txBody>
      </p:sp>
      <p:sp>
        <p:nvSpPr>
          <p:cNvPr id="13" name="TextBox 12"/>
          <p:cNvSpPr txBox="1"/>
          <p:nvPr/>
        </p:nvSpPr>
        <p:spPr>
          <a:xfrm>
            <a:off x="822960" y="4379976"/>
            <a:ext cx="2779776" cy="182880"/>
          </a:xfrm>
          <a:prstGeom prst="rect">
            <a:avLst/>
          </a:prstGeom>
          <a:noFill/>
        </p:spPr>
        <p:txBody>
          <a:bodyPr wrap="square" lIns="0" tIns="0" rIns="0" bIns="0" anchor="t">
            <a:spAutoFit/>
          </a:bodyPr>
          <a:lstStyle/>
          <a:p>
            <a:pPr algn="l"/>
            <a:r>
              <a:rPr sz="1200" b="0">
                <a:solidFill>
                  <a:srgbClr val="514B43"/>
                </a:solidFill>
                <a:latin typeface="맑은 고딕"/>
              </a:rPr>
              <a:t>금액 원 단위 콤마</a:t>
            </a:r>
          </a:p>
        </p:txBody>
      </p:sp>
      <p:sp>
        <p:nvSpPr>
          <p:cNvPr id="14" name="TextBox 13"/>
          <p:cNvSpPr txBox="1"/>
          <p:nvPr/>
        </p:nvSpPr>
        <p:spPr>
          <a:xfrm>
            <a:off x="822960" y="4608576"/>
            <a:ext cx="2779776" cy="182880"/>
          </a:xfrm>
          <a:prstGeom prst="rect">
            <a:avLst/>
          </a:prstGeom>
          <a:noFill/>
        </p:spPr>
        <p:txBody>
          <a:bodyPr wrap="square" lIns="0" tIns="0" rIns="0" bIns="0" anchor="t">
            <a:spAutoFit/>
          </a:bodyPr>
          <a:lstStyle/>
          <a:p>
            <a:pPr algn="l"/>
            <a:r>
              <a:rPr sz="1300" b="1">
                <a:solidFill>
                  <a:srgbClr val="24211D"/>
                </a:solidFill>
                <a:latin typeface="Consolas"/>
              </a:rPr>
              <a:t>artifact-safe-update</a:t>
            </a:r>
          </a:p>
        </p:txBody>
      </p:sp>
      <p:sp>
        <p:nvSpPr>
          <p:cNvPr id="15" name="TextBox 14"/>
          <p:cNvSpPr txBox="1"/>
          <p:nvPr/>
        </p:nvSpPr>
        <p:spPr>
          <a:xfrm>
            <a:off x="822960" y="4782312"/>
            <a:ext cx="2779776" cy="182880"/>
          </a:xfrm>
          <a:prstGeom prst="rect">
            <a:avLst/>
          </a:prstGeom>
          <a:noFill/>
        </p:spPr>
        <p:txBody>
          <a:bodyPr wrap="square" lIns="0" tIns="0" rIns="0" bIns="0" anchor="t">
            <a:spAutoFit/>
          </a:bodyPr>
          <a:lstStyle/>
          <a:p>
            <a:pPr algn="l"/>
            <a:r>
              <a:rPr sz="1200" b="0">
                <a:solidFill>
                  <a:srgbClr val="514B43"/>
                </a:solidFill>
                <a:latin typeface="맑은 고딕"/>
              </a:rPr>
              <a:t>대시보드 안전 갱신</a:t>
            </a:r>
          </a:p>
        </p:txBody>
      </p:sp>
      <p:sp>
        <p:nvSpPr>
          <p:cNvPr id="16" name="Rounded Rectangle 15"/>
          <p:cNvSpPr/>
          <p:nvPr/>
        </p:nvSpPr>
        <p:spPr>
          <a:xfrm>
            <a:off x="4151376" y="3236976"/>
            <a:ext cx="4206240" cy="1975104"/>
          </a:xfrm>
          <a:prstGeom prst="roundRect">
            <a:avLst>
              <a:gd name="adj" fmla="val 8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TextBox 16"/>
          <p:cNvSpPr txBox="1"/>
          <p:nvPr/>
        </p:nvSpPr>
        <p:spPr>
          <a:xfrm>
            <a:off x="4407408" y="3438144"/>
            <a:ext cx="3694175" cy="274320"/>
          </a:xfrm>
          <a:prstGeom prst="rect">
            <a:avLst/>
          </a:prstGeom>
          <a:noFill/>
        </p:spPr>
        <p:txBody>
          <a:bodyPr wrap="square" lIns="0" tIns="0" rIns="0" bIns="0" anchor="t">
            <a:spAutoFit/>
          </a:bodyPr>
          <a:lstStyle/>
          <a:p>
            <a:pPr algn="l"/>
            <a:r>
              <a:rPr sz="1500" b="1">
                <a:solidFill>
                  <a:srgbClr val="A8462A"/>
                </a:solidFill>
                <a:latin typeface="맑은 고딕"/>
              </a:rPr>
              <a:t>경매 · 부동산</a:t>
            </a:r>
          </a:p>
        </p:txBody>
      </p:sp>
      <p:sp>
        <p:nvSpPr>
          <p:cNvPr id="18" name="TextBox 17"/>
          <p:cNvSpPr txBox="1"/>
          <p:nvPr/>
        </p:nvSpPr>
        <p:spPr>
          <a:xfrm>
            <a:off x="4407408" y="3803904"/>
            <a:ext cx="3694175" cy="182880"/>
          </a:xfrm>
          <a:prstGeom prst="rect">
            <a:avLst/>
          </a:prstGeom>
          <a:noFill/>
        </p:spPr>
        <p:txBody>
          <a:bodyPr wrap="square" lIns="0" tIns="0" rIns="0" bIns="0" anchor="t">
            <a:spAutoFit/>
          </a:bodyPr>
          <a:lstStyle/>
          <a:p>
            <a:pPr algn="l"/>
            <a:r>
              <a:rPr sz="1300" b="1">
                <a:solidFill>
                  <a:srgbClr val="24211D"/>
                </a:solidFill>
                <a:latin typeface="Consolas"/>
              </a:rPr>
              <a:t>residential-auction</a:t>
            </a:r>
          </a:p>
        </p:txBody>
      </p:sp>
      <p:sp>
        <p:nvSpPr>
          <p:cNvPr id="19" name="TextBox 18"/>
          <p:cNvSpPr txBox="1"/>
          <p:nvPr/>
        </p:nvSpPr>
        <p:spPr>
          <a:xfrm>
            <a:off x="4407408" y="3977640"/>
            <a:ext cx="3694175" cy="182880"/>
          </a:xfrm>
          <a:prstGeom prst="rect">
            <a:avLst/>
          </a:prstGeom>
          <a:noFill/>
        </p:spPr>
        <p:txBody>
          <a:bodyPr wrap="square" lIns="0" tIns="0" rIns="0" bIns="0" anchor="t">
            <a:spAutoFit/>
          </a:bodyPr>
          <a:lstStyle/>
          <a:p>
            <a:pPr algn="l"/>
            <a:r>
              <a:rPr sz="1200" b="0">
                <a:solidFill>
                  <a:srgbClr val="514B43"/>
                </a:solidFill>
                <a:latin typeface="맑은 고딕"/>
              </a:rPr>
              <a:t>아파트·다가구 물건 분석</a:t>
            </a:r>
          </a:p>
        </p:txBody>
      </p:sp>
      <p:sp>
        <p:nvSpPr>
          <p:cNvPr id="20" name="TextBox 19"/>
          <p:cNvSpPr txBox="1"/>
          <p:nvPr/>
        </p:nvSpPr>
        <p:spPr>
          <a:xfrm>
            <a:off x="4407408" y="4206240"/>
            <a:ext cx="3694175" cy="182880"/>
          </a:xfrm>
          <a:prstGeom prst="rect">
            <a:avLst/>
          </a:prstGeom>
          <a:noFill/>
        </p:spPr>
        <p:txBody>
          <a:bodyPr wrap="square" lIns="0" tIns="0" rIns="0" bIns="0" anchor="t">
            <a:spAutoFit/>
          </a:bodyPr>
          <a:lstStyle/>
          <a:p>
            <a:pPr algn="l"/>
            <a:r>
              <a:rPr sz="1300" b="1">
                <a:solidFill>
                  <a:srgbClr val="24211D"/>
                </a:solidFill>
                <a:latin typeface="Consolas"/>
              </a:rPr>
              <a:t>property-location-scan</a:t>
            </a:r>
          </a:p>
        </p:txBody>
      </p:sp>
      <p:sp>
        <p:nvSpPr>
          <p:cNvPr id="21" name="TextBox 20"/>
          <p:cNvSpPr txBox="1"/>
          <p:nvPr/>
        </p:nvSpPr>
        <p:spPr>
          <a:xfrm>
            <a:off x="4407408" y="4379976"/>
            <a:ext cx="3694175" cy="182880"/>
          </a:xfrm>
          <a:prstGeom prst="rect">
            <a:avLst/>
          </a:prstGeom>
          <a:noFill/>
        </p:spPr>
        <p:txBody>
          <a:bodyPr wrap="square" lIns="0" tIns="0" rIns="0" bIns="0" anchor="t">
            <a:spAutoFit/>
          </a:bodyPr>
          <a:lstStyle/>
          <a:p>
            <a:pPr algn="l"/>
            <a:r>
              <a:rPr sz="1200" b="0">
                <a:solidFill>
                  <a:srgbClr val="514B43"/>
                </a:solidFill>
                <a:latin typeface="맑은 고딕"/>
              </a:rPr>
              <a:t>입지·상권·규제 조사</a:t>
            </a:r>
          </a:p>
        </p:txBody>
      </p:sp>
      <p:sp>
        <p:nvSpPr>
          <p:cNvPr id="22" name="TextBox 21"/>
          <p:cNvSpPr txBox="1"/>
          <p:nvPr/>
        </p:nvSpPr>
        <p:spPr>
          <a:xfrm>
            <a:off x="4407408" y="4608576"/>
            <a:ext cx="3694175" cy="182880"/>
          </a:xfrm>
          <a:prstGeom prst="rect">
            <a:avLst/>
          </a:prstGeom>
          <a:noFill/>
        </p:spPr>
        <p:txBody>
          <a:bodyPr wrap="square" lIns="0" tIns="0" rIns="0" bIns="0" anchor="t">
            <a:spAutoFit/>
          </a:bodyPr>
          <a:lstStyle/>
          <a:p>
            <a:pPr algn="l"/>
            <a:r>
              <a:rPr sz="1300" b="1">
                <a:solidFill>
                  <a:srgbClr val="24211D"/>
                </a:solidFill>
                <a:latin typeface="Consolas"/>
              </a:rPr>
              <a:t>onbid-api-caller</a:t>
            </a:r>
          </a:p>
        </p:txBody>
      </p:sp>
      <p:sp>
        <p:nvSpPr>
          <p:cNvPr id="23" name="TextBox 22"/>
          <p:cNvSpPr txBox="1"/>
          <p:nvPr/>
        </p:nvSpPr>
        <p:spPr>
          <a:xfrm>
            <a:off x="4407408" y="4782312"/>
            <a:ext cx="3694175" cy="182880"/>
          </a:xfrm>
          <a:prstGeom prst="rect">
            <a:avLst/>
          </a:prstGeom>
          <a:noFill/>
        </p:spPr>
        <p:txBody>
          <a:bodyPr wrap="square" lIns="0" tIns="0" rIns="0" bIns="0" anchor="t">
            <a:spAutoFit/>
          </a:bodyPr>
          <a:lstStyle/>
          <a:p>
            <a:pPr algn="l"/>
            <a:r>
              <a:rPr sz="1200" b="0">
                <a:solidFill>
                  <a:srgbClr val="514B43"/>
                </a:solidFill>
                <a:latin typeface="맑은 고딕"/>
              </a:rPr>
              <a:t>온비드 공매 조회</a:t>
            </a:r>
          </a:p>
        </p:txBody>
      </p:sp>
      <p:sp>
        <p:nvSpPr>
          <p:cNvPr id="24" name="TextBox 23"/>
          <p:cNvSpPr txBox="1"/>
          <p:nvPr/>
        </p:nvSpPr>
        <p:spPr>
          <a:xfrm>
            <a:off x="4407408" y="5010912"/>
            <a:ext cx="3694175" cy="182880"/>
          </a:xfrm>
          <a:prstGeom prst="rect">
            <a:avLst/>
          </a:prstGeom>
          <a:noFill/>
        </p:spPr>
        <p:txBody>
          <a:bodyPr wrap="square" lIns="0" tIns="0" rIns="0" bIns="0" anchor="t">
            <a:spAutoFit/>
          </a:bodyPr>
          <a:lstStyle/>
          <a:p>
            <a:pPr algn="l"/>
            <a:r>
              <a:rPr sz="1300" b="1">
                <a:solidFill>
                  <a:srgbClr val="24211D"/>
                </a:solidFill>
                <a:latin typeface="Consolas"/>
              </a:rPr>
              <a:t>real-estate-tax-calculator</a:t>
            </a:r>
          </a:p>
        </p:txBody>
      </p:sp>
      <p:sp>
        <p:nvSpPr>
          <p:cNvPr id="25" name="TextBox 24"/>
          <p:cNvSpPr txBox="1"/>
          <p:nvPr/>
        </p:nvSpPr>
        <p:spPr>
          <a:xfrm>
            <a:off x="4407408" y="5184648"/>
            <a:ext cx="3694175" cy="182880"/>
          </a:xfrm>
          <a:prstGeom prst="rect">
            <a:avLst/>
          </a:prstGeom>
          <a:noFill/>
        </p:spPr>
        <p:txBody>
          <a:bodyPr wrap="square" lIns="0" tIns="0" rIns="0" bIns="0" anchor="t">
            <a:spAutoFit/>
          </a:bodyPr>
          <a:lstStyle/>
          <a:p>
            <a:pPr algn="l"/>
            <a:r>
              <a:rPr sz="1200" b="0">
                <a:solidFill>
                  <a:srgbClr val="514B43"/>
                </a:solidFill>
                <a:latin typeface="맑은 고딕"/>
              </a:rPr>
              <a:t>취득세·양도세 산정</a:t>
            </a:r>
          </a:p>
        </p:txBody>
      </p:sp>
      <p:sp>
        <p:nvSpPr>
          <p:cNvPr id="26" name="Rounded Rectangle 25"/>
          <p:cNvSpPr/>
          <p:nvPr/>
        </p:nvSpPr>
        <p:spPr>
          <a:xfrm>
            <a:off x="8650224" y="3236976"/>
            <a:ext cx="3291840" cy="1975104"/>
          </a:xfrm>
          <a:prstGeom prst="roundRect">
            <a:avLst>
              <a:gd name="adj" fmla="val 8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TextBox 26"/>
          <p:cNvSpPr txBox="1"/>
          <p:nvPr/>
        </p:nvSpPr>
        <p:spPr>
          <a:xfrm>
            <a:off x="8906256" y="3438144"/>
            <a:ext cx="2779776" cy="274320"/>
          </a:xfrm>
          <a:prstGeom prst="rect">
            <a:avLst/>
          </a:prstGeom>
          <a:noFill/>
        </p:spPr>
        <p:txBody>
          <a:bodyPr wrap="square" lIns="0" tIns="0" rIns="0" bIns="0" anchor="t">
            <a:spAutoFit/>
          </a:bodyPr>
          <a:lstStyle/>
          <a:p>
            <a:pPr algn="l"/>
            <a:r>
              <a:rPr sz="1500" b="1">
                <a:solidFill>
                  <a:srgbClr val="A8462A"/>
                </a:solidFill>
                <a:latin typeface="맑은 고딕"/>
              </a:rPr>
              <a:t>주식</a:t>
            </a:r>
          </a:p>
        </p:txBody>
      </p:sp>
      <p:sp>
        <p:nvSpPr>
          <p:cNvPr id="28" name="TextBox 27"/>
          <p:cNvSpPr txBox="1"/>
          <p:nvPr/>
        </p:nvSpPr>
        <p:spPr>
          <a:xfrm>
            <a:off x="8906256" y="3803904"/>
            <a:ext cx="2779776" cy="182880"/>
          </a:xfrm>
          <a:prstGeom prst="rect">
            <a:avLst/>
          </a:prstGeom>
          <a:noFill/>
        </p:spPr>
        <p:txBody>
          <a:bodyPr wrap="square" lIns="0" tIns="0" rIns="0" bIns="0" anchor="t">
            <a:spAutoFit/>
          </a:bodyPr>
          <a:lstStyle/>
          <a:p>
            <a:pPr algn="l"/>
            <a:r>
              <a:rPr sz="1300" b="1">
                <a:solidFill>
                  <a:srgbClr val="24211D"/>
                </a:solidFill>
                <a:latin typeface="Consolas"/>
              </a:rPr>
              <a:t>stock-first-check</a:t>
            </a:r>
          </a:p>
        </p:txBody>
      </p:sp>
      <p:sp>
        <p:nvSpPr>
          <p:cNvPr id="29" name="TextBox 28"/>
          <p:cNvSpPr txBox="1"/>
          <p:nvPr/>
        </p:nvSpPr>
        <p:spPr>
          <a:xfrm>
            <a:off x="8906256" y="3977640"/>
            <a:ext cx="2779776" cy="182880"/>
          </a:xfrm>
          <a:prstGeom prst="rect">
            <a:avLst/>
          </a:prstGeom>
          <a:noFill/>
        </p:spPr>
        <p:txBody>
          <a:bodyPr wrap="square" lIns="0" tIns="0" rIns="0" bIns="0" anchor="t">
            <a:spAutoFit/>
          </a:bodyPr>
          <a:lstStyle/>
          <a:p>
            <a:pPr algn="l"/>
            <a:r>
              <a:rPr sz="1200" b="0">
                <a:solidFill>
                  <a:srgbClr val="514B43"/>
                </a:solidFill>
                <a:latin typeface="맑은 고딕"/>
              </a:rPr>
              <a:t>종목 퇴출위험·재무 점검</a:t>
            </a:r>
          </a:p>
        </p:txBody>
      </p:sp>
      <p:sp>
        <p:nvSpPr>
          <p:cNvPr id="30" name="Rounded Rectangle 29"/>
          <p:cNvSpPr/>
          <p:nvPr/>
        </p:nvSpPr>
        <p:spPr>
          <a:xfrm>
            <a:off x="566928" y="5394960"/>
            <a:ext cx="11064240" cy="73152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TextBox 30"/>
          <p:cNvSpPr txBox="1"/>
          <p:nvPr/>
        </p:nvSpPr>
        <p:spPr>
          <a:xfrm>
            <a:off x="914400" y="5394960"/>
            <a:ext cx="10424160" cy="731520"/>
          </a:xfrm>
          <a:prstGeom prst="rect">
            <a:avLst/>
          </a:prstGeom>
          <a:noFill/>
        </p:spPr>
        <p:txBody>
          <a:bodyPr wrap="square" lIns="0" tIns="0" rIns="0" bIns="0" anchor="ctr">
            <a:spAutoFit/>
          </a:bodyPr>
          <a:lstStyle/>
          <a:p>
            <a:pPr algn="l"/>
            <a:r>
              <a:rPr sz="1800" b="1">
                <a:solidFill>
                  <a:srgbClr val="FFFFFF"/>
                </a:solidFill>
                <a:latin typeface="맑은 고딕"/>
              </a:rPr>
              <a:t>낙찰가 계수와 NPL 매입 분석은 들어 있지 않습니다. 공개 데이터와 법령만 씁니다.</a:t>
            </a:r>
          </a:p>
        </p:txBody>
      </p:sp>
      <p:sp>
        <p:nvSpPr>
          <p:cNvPr id="32" name="TextBox 31"/>
          <p:cNvSpPr txBox="1"/>
          <p:nvPr/>
        </p:nvSpPr>
        <p:spPr>
          <a:xfrm>
            <a:off x="566928" y="6272784"/>
            <a:ext cx="11064240" cy="310896"/>
          </a:xfrm>
          <a:prstGeom prst="rect">
            <a:avLst/>
          </a:prstGeom>
          <a:noFill/>
        </p:spPr>
        <p:txBody>
          <a:bodyPr wrap="square" lIns="0" tIns="0" rIns="0" bIns="0" anchor="t">
            <a:spAutoFit/>
          </a:bodyPr>
          <a:lstStyle/>
          <a:p>
            <a:pPr algn="l"/>
            <a:r>
              <a:rPr sz="1300" b="0">
                <a:solidFill>
                  <a:srgbClr val="514B43"/>
                </a:solidFill>
                <a:latin typeface="맑은 고딕"/>
              </a:rPr>
              <a:t>스킬은 자료를 정리하고 위험을 드러낼 뿐, 투자를 권유하지 않습니다 · 신뢰할 수 있는 출처의 것만 설치하세요</a:t>
            </a:r>
          </a:p>
        </p:txBody>
      </p:sp>
      <p:sp>
        <p:nvSpPr>
          <p:cNvPr id="33" name="TextBox 32">
            <a:extLst>
              <a:ext uri="{FF2B5EF4-FFF2-40B4-BE49-F238E27FC236}">
                <a16:creationId xmlns:a16="http://schemas.microsoft.com/office/drawing/2014/main" id="{7F10B1F4-63ED-5063-D783-3BF88CF0C40F}"/>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06 · </a:t>
            </a:r>
            <a:r>
              <a:rPr lang="ko-KR" altLang="en-US" sz="1200">
                <a:solidFill>
                  <a:srgbClr val="A69C90"/>
                </a:solidFill>
                <a:latin typeface="맑은 고딕" panose="020B0503020000020004" pitchFamily="50" charset="-127"/>
                <a:ea typeface="맑은 고딕" panose="020B0503020000020004" pitchFamily="50" charset="-127"/>
              </a:rPr>
              <a:t>스킬          </a:t>
            </a:r>
            <a:r>
              <a:rPr lang="en-US" altLang="ko-KR" sz="1200">
                <a:solidFill>
                  <a:srgbClr val="A69C90"/>
                </a:solidFill>
                <a:latin typeface="맑은 고딕" panose="020B0503020000020004" pitchFamily="50" charset="-127"/>
                <a:ea typeface="맑은 고딕" panose="020B0503020000020004" pitchFamily="50" charset="-127"/>
              </a:rPr>
              <a:t>43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24211D"/>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6643929-5B45-1C83-DF63-455C001C908F}"/>
              </a:ext>
            </a:extLst>
          </p:cNvPr>
          <p:cNvSpPr/>
          <p:nvPr/>
        </p:nvSpPr>
        <p:spPr>
          <a:xfrm>
            <a:off x="8128000" y="0"/>
            <a:ext cx="4064000" cy="6858000"/>
          </a:xfrm>
          <a:prstGeom prst="rect">
            <a:avLst/>
          </a:prstGeom>
          <a:solidFill>
            <a:srgbClr val="302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9BFD9DA7-8168-77CD-238D-692C992E2872}"/>
              </a:ext>
            </a:extLst>
          </p:cNvPr>
          <p:cNvSpPr txBox="1"/>
          <p:nvPr/>
        </p:nvSpPr>
        <p:spPr>
          <a:xfrm>
            <a:off x="8128000" y="1905000"/>
            <a:ext cx="4064000" cy="3016210"/>
          </a:xfrm>
          <a:prstGeom prst="rect">
            <a:avLst/>
          </a:prstGeom>
          <a:noFill/>
        </p:spPr>
        <p:txBody>
          <a:bodyPr vert="horz" rtlCol="0" anchor="ctr">
            <a:spAutoFit/>
          </a:bodyPr>
          <a:lstStyle/>
          <a:p>
            <a:pPr algn="ctr"/>
            <a:r>
              <a:rPr lang="en-US" altLang="ko-KR" sz="19000" b="1">
                <a:solidFill>
                  <a:srgbClr val="4A4239"/>
                </a:solidFill>
                <a:latin typeface="맑은 고딕" panose="020B0503020000020004" pitchFamily="50" charset="-127"/>
                <a:ea typeface="맑은 고딕" panose="020B0503020000020004" pitchFamily="50" charset="-127"/>
              </a:rPr>
              <a:t>07</a:t>
            </a:r>
            <a:endParaRPr lang="ko-KR" altLang="en-US" sz="19000" b="1">
              <a:solidFill>
                <a:srgbClr val="4A4239"/>
              </a:solidFill>
              <a:latin typeface="맑은 고딕" panose="020B0503020000020004" pitchFamily="50" charset="-127"/>
              <a:ea typeface="맑은 고딕" panose="020B0503020000020004" pitchFamily="50" charset="-127"/>
            </a:endParaRPr>
          </a:p>
        </p:txBody>
      </p:sp>
      <p:sp>
        <p:nvSpPr>
          <p:cNvPr id="4" name="TextBox 3">
            <a:extLst>
              <a:ext uri="{FF2B5EF4-FFF2-40B4-BE49-F238E27FC236}">
                <a16:creationId xmlns:a16="http://schemas.microsoft.com/office/drawing/2014/main" id="{378F55B2-574E-8C0B-7AAF-8BD32B5D1652}"/>
              </a:ext>
            </a:extLst>
          </p:cNvPr>
          <p:cNvSpPr txBox="1"/>
          <p:nvPr/>
        </p:nvSpPr>
        <p:spPr>
          <a:xfrm>
            <a:off x="863600" y="2235200"/>
            <a:ext cx="5842000" cy="353943"/>
          </a:xfrm>
          <a:prstGeom prst="rect">
            <a:avLst/>
          </a:prstGeom>
          <a:noFill/>
        </p:spPr>
        <p:txBody>
          <a:bodyPr vert="horz" rtlCol="0" anchor="ctr">
            <a:spAutoFit/>
          </a:bodyPr>
          <a:lstStyle/>
          <a:p>
            <a:r>
              <a:rPr lang="en-US" altLang="ko-KR" sz="1700" b="1">
                <a:solidFill>
                  <a:srgbClr val="D97757"/>
                </a:solidFill>
                <a:latin typeface="맑은 고딕" panose="020B0503020000020004" pitchFamily="50" charset="-127"/>
                <a:ea typeface="맑은 고딕" panose="020B0503020000020004" pitchFamily="50" charset="-127"/>
              </a:rPr>
              <a:t>SECTION 07</a:t>
            </a:r>
            <a:endParaRPr lang="ko-KR" altLang="en-US" sz="1700" b="1">
              <a:solidFill>
                <a:srgbClr val="D97757"/>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CE60D38-708F-0ACC-AD36-63E86B791A3D}"/>
              </a:ext>
            </a:extLst>
          </p:cNvPr>
          <p:cNvSpPr txBox="1"/>
          <p:nvPr/>
        </p:nvSpPr>
        <p:spPr>
          <a:xfrm>
            <a:off x="863600" y="2616200"/>
            <a:ext cx="6921500" cy="646331"/>
          </a:xfrm>
          <a:prstGeom prst="rect">
            <a:avLst/>
          </a:prstGeom>
          <a:noFill/>
        </p:spPr>
        <p:txBody>
          <a:bodyPr vert="horz" rtlCol="0" anchor="t">
            <a:spAutoFit/>
          </a:bodyPr>
          <a:lstStyle/>
          <a:p>
            <a:r>
              <a:rPr lang="ko-KR" altLang="en-US" sz="3600" b="1">
                <a:solidFill>
                  <a:srgbClr val="FFFFFF"/>
                </a:solidFill>
                <a:latin typeface="맑은 고딕" panose="020B0503020000020004" pitchFamily="50" charset="-127"/>
                <a:ea typeface="맑은 고딕" panose="020B0503020000020004" pitchFamily="50" charset="-127"/>
              </a:rPr>
              <a:t>프로젝트 </a:t>
            </a:r>
            <a:r>
              <a:rPr lang="en-US" altLang="ko-KR" sz="3600" b="1">
                <a:solidFill>
                  <a:srgbClr val="FFFFFF"/>
                </a:solidFill>
                <a:latin typeface="맑은 고딕" panose="020B0503020000020004" pitchFamily="50" charset="-127"/>
                <a:ea typeface="맑은 고딕" panose="020B0503020000020004" pitchFamily="50" charset="-127"/>
              </a:rPr>
              <a:t>· </a:t>
            </a:r>
            <a:r>
              <a:rPr lang="ko-KR" altLang="en-US" sz="3600" b="1">
                <a:solidFill>
                  <a:srgbClr val="FFFFFF"/>
                </a:solidFill>
                <a:latin typeface="맑은 고딕" panose="020B0503020000020004" pitchFamily="50" charset="-127"/>
                <a:ea typeface="맑은 고딕" panose="020B0503020000020004" pitchFamily="50" charset="-127"/>
              </a:rPr>
              <a:t>아티팩트 </a:t>
            </a:r>
            <a:r>
              <a:rPr lang="en-US" altLang="ko-KR" sz="3600" b="1">
                <a:solidFill>
                  <a:srgbClr val="FFFFFF"/>
                </a:solidFill>
                <a:latin typeface="맑은 고딕" panose="020B0503020000020004" pitchFamily="50" charset="-127"/>
                <a:ea typeface="맑은 고딕" panose="020B0503020000020004" pitchFamily="50" charset="-127"/>
              </a:rPr>
              <a:t>· </a:t>
            </a:r>
            <a:r>
              <a:rPr lang="ko-KR" altLang="en-US" sz="3600" b="1">
                <a:solidFill>
                  <a:srgbClr val="FFFFFF"/>
                </a:solidFill>
                <a:latin typeface="맑은 고딕" panose="020B0503020000020004" pitchFamily="50" charset="-127"/>
                <a:ea typeface="맑은 고딕" panose="020B0503020000020004" pitchFamily="50" charset="-127"/>
              </a:rPr>
              <a:t>예정됨</a:t>
            </a:r>
          </a:p>
        </p:txBody>
      </p:sp>
      <p:sp>
        <p:nvSpPr>
          <p:cNvPr id="6" name="직사각형 5">
            <a:extLst>
              <a:ext uri="{FF2B5EF4-FFF2-40B4-BE49-F238E27FC236}">
                <a16:creationId xmlns:a16="http://schemas.microsoft.com/office/drawing/2014/main" id="{DD183382-56CD-B055-AE31-221491A9C213}"/>
              </a:ext>
            </a:extLst>
          </p:cNvPr>
          <p:cNvSpPr/>
          <p:nvPr/>
        </p:nvSpPr>
        <p:spPr>
          <a:xfrm>
            <a:off x="914400" y="3810000"/>
            <a:ext cx="812800" cy="508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E9FED234-C09F-4AB0-73A7-A1079BC9CE1B}"/>
              </a:ext>
            </a:extLst>
          </p:cNvPr>
          <p:cNvSpPr txBox="1"/>
          <p:nvPr/>
        </p:nvSpPr>
        <p:spPr>
          <a:xfrm>
            <a:off x="863600" y="4114800"/>
            <a:ext cx="6921500" cy="1708160"/>
          </a:xfrm>
          <a:prstGeom prst="rect">
            <a:avLst/>
          </a:prstGeom>
          <a:noFill/>
        </p:spPr>
        <p:txBody>
          <a:bodyPr vert="horz" rtlCol="0" anchor="t">
            <a:spAutoFit/>
          </a:bodyPr>
          <a:lstStyle/>
          <a:p>
            <a:pPr>
              <a:spcAft>
                <a:spcPts val="600"/>
              </a:spcAft>
            </a:pPr>
            <a:r>
              <a:rPr lang="ko-KR" altLang="en-US" sz="1700">
                <a:solidFill>
                  <a:srgbClr val="C9C0B4"/>
                </a:solidFill>
                <a:latin typeface="맑은 고딕" panose="020B0503020000020004" pitchFamily="50" charset="-127"/>
                <a:ea typeface="맑은 고딕" panose="020B0503020000020004" pitchFamily="50" charset="-127"/>
              </a:rPr>
              <a:t>프로젝트는 그 일만 쓰는 전용 책상입니다</a:t>
            </a:r>
          </a:p>
          <a:p>
            <a:pPr>
              <a:spcAft>
                <a:spcPts val="600"/>
              </a:spcAft>
            </a:pPr>
            <a:r>
              <a:rPr lang="ko-KR" altLang="en-US" sz="1700">
                <a:solidFill>
                  <a:srgbClr val="C9C0B4"/>
                </a:solidFill>
                <a:latin typeface="맑은 고딕" panose="020B0503020000020004" pitchFamily="50" charset="-127"/>
                <a:ea typeface="맑은 고딕" panose="020B0503020000020004" pitchFamily="50" charset="-127"/>
              </a:rPr>
              <a:t>스킬로는 안 되는 네 가지</a:t>
            </a:r>
          </a:p>
          <a:p>
            <a:pPr>
              <a:spcAft>
                <a:spcPts val="600"/>
              </a:spcAft>
            </a:pPr>
            <a:r>
              <a:rPr lang="ko-KR" altLang="en-US" sz="1700">
                <a:solidFill>
                  <a:srgbClr val="C9C0B4"/>
                </a:solidFill>
                <a:latin typeface="맑은 고딕" panose="020B0503020000020004" pitchFamily="50" charset="-127"/>
                <a:ea typeface="맑은 고딕" panose="020B0503020000020004" pitchFamily="50" charset="-127"/>
              </a:rPr>
              <a:t>대화는 흘러가고</a:t>
            </a:r>
            <a:r>
              <a:rPr lang="en-US" altLang="ko-KR" sz="1700">
                <a:solidFill>
                  <a:srgbClr val="C9C0B4"/>
                </a:solidFill>
                <a:latin typeface="맑은 고딕" panose="020B0503020000020004" pitchFamily="50" charset="-127"/>
                <a:ea typeface="맑은 고딕" panose="020B0503020000020004" pitchFamily="50" charset="-127"/>
              </a:rPr>
              <a:t>, </a:t>
            </a:r>
            <a:r>
              <a:rPr lang="ko-KR" altLang="en-US" sz="1700">
                <a:solidFill>
                  <a:srgbClr val="C9C0B4"/>
                </a:solidFill>
                <a:latin typeface="맑은 고딕" panose="020B0503020000020004" pitchFamily="50" charset="-127"/>
                <a:ea typeface="맑은 고딕" panose="020B0503020000020004" pitchFamily="50" charset="-127"/>
              </a:rPr>
              <a:t>아티팩트는 남습니다</a:t>
            </a:r>
          </a:p>
          <a:p>
            <a:pPr>
              <a:spcAft>
                <a:spcPts val="600"/>
              </a:spcAft>
            </a:pPr>
            <a:r>
              <a:rPr lang="ko-KR" altLang="en-US" sz="1700">
                <a:solidFill>
                  <a:srgbClr val="C9C0B4"/>
                </a:solidFill>
                <a:latin typeface="맑은 고딕" panose="020B0503020000020004" pitchFamily="50" charset="-127"/>
                <a:ea typeface="맑은 고딕" panose="020B0503020000020004" pitchFamily="50" charset="-127"/>
              </a:rPr>
              <a:t>아티팩트 두 종류 </a:t>
            </a:r>
            <a:r>
              <a:rPr lang="en-US" altLang="ko-KR" sz="1700">
                <a:solidFill>
                  <a:srgbClr val="C9C0B4"/>
                </a:solidFill>
                <a:latin typeface="맑은 고딕" panose="020B0503020000020004" pitchFamily="50" charset="-127"/>
                <a:ea typeface="맑은 고딕" panose="020B0503020000020004" pitchFamily="50" charset="-127"/>
              </a:rPr>
              <a:t>— </a:t>
            </a:r>
            <a:r>
              <a:rPr lang="ko-KR" altLang="en-US" sz="1700">
                <a:solidFill>
                  <a:srgbClr val="C9C0B4"/>
                </a:solidFill>
                <a:latin typeface="맑은 고딕" panose="020B0503020000020004" pitchFamily="50" charset="-127"/>
                <a:ea typeface="맑은 고딕" panose="020B0503020000020004" pitchFamily="50" charset="-127"/>
              </a:rPr>
              <a:t>채팅형과 상시형</a:t>
            </a:r>
          </a:p>
          <a:p>
            <a:pPr>
              <a:spcAft>
                <a:spcPts val="600"/>
              </a:spcAft>
            </a:pPr>
            <a:r>
              <a:rPr lang="ko-KR" altLang="en-US" sz="1700">
                <a:solidFill>
                  <a:srgbClr val="C9C0B4"/>
                </a:solidFill>
                <a:latin typeface="맑은 고딕" panose="020B0503020000020004" pitchFamily="50" charset="-127"/>
                <a:ea typeface="맑은 고딕" panose="020B0503020000020004" pitchFamily="50" charset="-127"/>
              </a:rPr>
              <a:t>예정됨 </a:t>
            </a:r>
            <a:r>
              <a:rPr lang="en-US" altLang="ko-KR" sz="1700">
                <a:solidFill>
                  <a:srgbClr val="C9C0B4"/>
                </a:solidFill>
                <a:latin typeface="맑은 고딕" panose="020B0503020000020004" pitchFamily="50" charset="-127"/>
                <a:ea typeface="맑은 고딕" panose="020B0503020000020004" pitchFamily="50" charset="-127"/>
              </a:rPr>
              <a:t>— </a:t>
            </a:r>
            <a:r>
              <a:rPr lang="ko-KR" altLang="en-US" sz="1700">
                <a:solidFill>
                  <a:srgbClr val="C9C0B4"/>
                </a:solidFill>
                <a:latin typeface="맑은 고딕" panose="020B0503020000020004" pitchFamily="50" charset="-127"/>
                <a:ea typeface="맑은 고딕" panose="020B0503020000020004" pitchFamily="50" charset="-127"/>
              </a:rPr>
              <a:t>한 번 설명하면 알아서 반복합니다</a:t>
            </a:r>
          </a:p>
        </p:txBody>
      </p:sp>
      <p:sp>
        <p:nvSpPr>
          <p:cNvPr id="8" name="TextBox 7">
            <a:extLst>
              <a:ext uri="{FF2B5EF4-FFF2-40B4-BE49-F238E27FC236}">
                <a16:creationId xmlns:a16="http://schemas.microsoft.com/office/drawing/2014/main" id="{C0002559-B967-2887-69BE-F3A1DD341FD3}"/>
              </a:ext>
            </a:extLst>
          </p:cNvPr>
          <p:cNvSpPr txBox="1"/>
          <p:nvPr/>
        </p:nvSpPr>
        <p:spPr>
          <a:xfrm>
            <a:off x="863600" y="6172200"/>
            <a:ext cx="5842000" cy="292388"/>
          </a:xfrm>
          <a:prstGeom prst="rect">
            <a:avLst/>
          </a:prstGeom>
          <a:noFill/>
        </p:spPr>
        <p:txBody>
          <a:bodyPr vert="horz" rtlCol="0" anchor="ctr">
            <a:spAutoFit/>
          </a:bodyPr>
          <a:lstStyle/>
          <a:p>
            <a:r>
              <a:rPr lang="en-US" altLang="ko-KR" sz="1300">
                <a:solidFill>
                  <a:srgbClr val="726859"/>
                </a:solidFill>
                <a:latin typeface="맑은 고딕" panose="020B0503020000020004" pitchFamily="50" charset="-127"/>
                <a:ea typeface="맑은 고딕" panose="020B0503020000020004" pitchFamily="50" charset="-127"/>
              </a:rPr>
              <a:t>Claude 데스크탑 시작하기</a:t>
            </a:r>
          </a:p>
        </p:txBody>
      </p:sp>
      <p:pic>
        <p:nvPicPr>
          <p:cNvPr id="10" name="그래픽 9">
            <a:extLst>
              <a:ext uri="{FF2B5EF4-FFF2-40B4-BE49-F238E27FC236}">
                <a16:creationId xmlns:a16="http://schemas.microsoft.com/office/drawing/2014/main" id="{C3F91544-AA8B-8F05-DD1A-7749234F5B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600" y="889000"/>
            <a:ext cx="812800" cy="812800"/>
          </a:xfrm>
          <a:prstGeom prst="rect">
            <a:avLst/>
          </a:prstGeom>
        </p:spPr>
      </p:pic>
    </p:spTree>
    <p:extLst>
      <p:ext uri="{BB962C8B-B14F-4D97-AF65-F5344CB8AC3E}">
        <p14:creationId xmlns:p14="http://schemas.microsoft.com/office/powerpoint/2010/main" val="1874879736"/>
      </p:ext>
    </p:extLst>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프로젝트는 그 일만 쓰는 전용 책상입니다</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지침과 자료를 한 번 넣어두면 그 안의 모든 대화에 적용됩니다</a:t>
            </a:r>
          </a:p>
        </p:txBody>
      </p:sp>
      <p:sp>
        <p:nvSpPr>
          <p:cNvPr id="4" name="Rounded Rectangle 3"/>
          <p:cNvSpPr/>
          <p:nvPr/>
        </p:nvSpPr>
        <p:spPr>
          <a:xfrm>
            <a:off x="566928" y="1874519"/>
            <a:ext cx="3931920" cy="3108960"/>
          </a:xfrm>
          <a:prstGeom prst="roundRect">
            <a:avLst>
              <a:gd name="adj" fmla="val 6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TextBox 4"/>
          <p:cNvSpPr txBox="1"/>
          <p:nvPr/>
        </p:nvSpPr>
        <p:spPr>
          <a:xfrm>
            <a:off x="896112" y="2121408"/>
            <a:ext cx="3273552" cy="310896"/>
          </a:xfrm>
          <a:prstGeom prst="rect">
            <a:avLst/>
          </a:prstGeom>
          <a:noFill/>
        </p:spPr>
        <p:txBody>
          <a:bodyPr wrap="square" lIns="0" tIns="0" rIns="0" bIns="0" anchor="t">
            <a:spAutoFit/>
          </a:bodyPr>
          <a:lstStyle/>
          <a:p>
            <a:pPr algn="l"/>
            <a:r>
              <a:rPr sz="1500" b="1">
                <a:solidFill>
                  <a:srgbClr val="A8462A"/>
                </a:solidFill>
                <a:latin typeface="맑은 고딕"/>
              </a:rPr>
              <a:t>이렇게 생각하세요</a:t>
            </a:r>
          </a:p>
        </p:txBody>
      </p:sp>
      <p:sp>
        <p:nvSpPr>
          <p:cNvPr id="6" name="TextBox 5"/>
          <p:cNvSpPr txBox="1"/>
          <p:nvPr/>
        </p:nvSpPr>
        <p:spPr>
          <a:xfrm>
            <a:off x="896112" y="2523744"/>
            <a:ext cx="3273552" cy="822960"/>
          </a:xfrm>
          <a:prstGeom prst="rect">
            <a:avLst/>
          </a:prstGeom>
          <a:noFill/>
        </p:spPr>
        <p:txBody>
          <a:bodyPr wrap="square" lIns="0" tIns="0" rIns="0" bIns="0" anchor="t">
            <a:spAutoFit/>
          </a:bodyPr>
          <a:lstStyle/>
          <a:p>
            <a:pPr algn="l"/>
            <a:r>
              <a:rPr sz="2400" b="1">
                <a:solidFill>
                  <a:srgbClr val="24211D"/>
                </a:solidFill>
                <a:latin typeface="맑은 고딕"/>
              </a:rPr>
              <a:t>그 일만 하는</a:t>
            </a:r>
          </a:p>
          <a:p>
            <a:pPr algn="l"/>
            <a:r>
              <a:rPr sz="2400" b="1">
                <a:solidFill>
                  <a:srgbClr val="24211D"/>
                </a:solidFill>
                <a:latin typeface="맑은 고딕"/>
              </a:rPr>
              <a:t>전용 책상</a:t>
            </a:r>
          </a:p>
        </p:txBody>
      </p:sp>
      <p:sp>
        <p:nvSpPr>
          <p:cNvPr id="7" name="TextBox 6"/>
          <p:cNvSpPr txBox="1"/>
          <p:nvPr/>
        </p:nvSpPr>
        <p:spPr>
          <a:xfrm>
            <a:off x="896112" y="3493008"/>
            <a:ext cx="3273552" cy="1280160"/>
          </a:xfrm>
          <a:prstGeom prst="rect">
            <a:avLst/>
          </a:prstGeom>
          <a:noFill/>
        </p:spPr>
        <p:txBody>
          <a:bodyPr wrap="square" lIns="0" tIns="0" rIns="0" bIns="0" anchor="t">
            <a:spAutoFit/>
          </a:bodyPr>
          <a:lstStyle/>
          <a:p>
            <a:pPr algn="l"/>
            <a:r>
              <a:rPr sz="1600" b="0">
                <a:solidFill>
                  <a:srgbClr val="24211D"/>
                </a:solidFill>
                <a:latin typeface="맑은 고딕"/>
              </a:rPr>
              <a:t>책상 위에 자료가 늘 펼쳐져</a:t>
            </a:r>
          </a:p>
          <a:p>
            <a:pPr algn="l"/>
            <a:r>
              <a:rPr sz="1600" b="0">
                <a:solidFill>
                  <a:srgbClr val="24211D"/>
                </a:solidFill>
                <a:latin typeface="맑은 고딕"/>
              </a:rPr>
              <a:t>있습니다. 앉으면 바로</a:t>
            </a:r>
          </a:p>
          <a:p>
            <a:pPr algn="l"/>
            <a:r>
              <a:rPr sz="1600" b="0">
                <a:solidFill>
                  <a:srgbClr val="24211D"/>
                </a:solidFill>
                <a:latin typeface="맑은 고딕"/>
              </a:rPr>
              <a:t>이어서 일합니다.</a:t>
            </a:r>
          </a:p>
          <a:p>
            <a:pPr algn="l"/>
            <a:endParaRPr sz="1600" b="0">
              <a:solidFill>
                <a:srgbClr val="24211D"/>
              </a:solidFill>
              <a:latin typeface="맑은 고딕"/>
            </a:endParaRPr>
          </a:p>
          <a:p>
            <a:pPr algn="l"/>
            <a:r>
              <a:rPr sz="1600" b="0">
                <a:solidFill>
                  <a:srgbClr val="24211D"/>
                </a:solidFill>
                <a:latin typeface="맑은 고딕"/>
              </a:rPr>
              <a:t>다른 일을 할 때는</a:t>
            </a:r>
          </a:p>
          <a:p>
            <a:pPr algn="l"/>
            <a:r>
              <a:rPr sz="1600" b="0">
                <a:solidFill>
                  <a:srgbClr val="24211D"/>
                </a:solidFill>
                <a:latin typeface="맑은 고딕"/>
              </a:rPr>
              <a:t>다른 책상에 앉으면 됩니다.</a:t>
            </a:r>
          </a:p>
        </p:txBody>
      </p:sp>
      <p:sp>
        <p:nvSpPr>
          <p:cNvPr id="8" name="TextBox 7"/>
          <p:cNvSpPr txBox="1"/>
          <p:nvPr/>
        </p:nvSpPr>
        <p:spPr>
          <a:xfrm>
            <a:off x="4846320" y="1874519"/>
            <a:ext cx="6784848" cy="310896"/>
          </a:xfrm>
          <a:prstGeom prst="rect">
            <a:avLst/>
          </a:prstGeom>
          <a:noFill/>
        </p:spPr>
        <p:txBody>
          <a:bodyPr wrap="square" lIns="0" tIns="0" rIns="0" bIns="0" anchor="t">
            <a:spAutoFit/>
          </a:bodyPr>
          <a:lstStyle/>
          <a:p>
            <a:pPr algn="l"/>
            <a:r>
              <a:rPr sz="1500" b="1">
                <a:solidFill>
                  <a:srgbClr val="A8462A"/>
                </a:solidFill>
                <a:latin typeface="맑은 고딕"/>
              </a:rPr>
              <a:t>프로젝트에 담기는 세 가지</a:t>
            </a:r>
          </a:p>
        </p:txBody>
      </p:sp>
      <p:sp>
        <p:nvSpPr>
          <p:cNvPr id="9" name="Oval 8"/>
          <p:cNvSpPr/>
          <p:nvPr/>
        </p:nvSpPr>
        <p:spPr>
          <a:xfrm>
            <a:off x="4846320" y="239572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TextBox 9"/>
          <p:cNvSpPr txBox="1"/>
          <p:nvPr/>
        </p:nvSpPr>
        <p:spPr>
          <a:xfrm>
            <a:off x="4846320" y="2395728"/>
            <a:ext cx="365760" cy="365760"/>
          </a:xfrm>
          <a:prstGeom prst="rect">
            <a:avLst/>
          </a:prstGeom>
          <a:noFill/>
        </p:spPr>
        <p:txBody>
          <a:bodyPr wrap="square" lIns="0" tIns="0" rIns="0" bIns="0" anchor="ctr">
            <a:spAutoFit/>
          </a:bodyPr>
          <a:lstStyle/>
          <a:p>
            <a:pPr algn="ctr"/>
            <a:r>
              <a:rPr sz="1600" b="1">
                <a:solidFill>
                  <a:srgbClr val="FFFFFF"/>
                </a:solidFill>
                <a:latin typeface="맑은 고딕"/>
              </a:rPr>
              <a:t>1</a:t>
            </a:r>
          </a:p>
        </p:txBody>
      </p:sp>
      <p:sp>
        <p:nvSpPr>
          <p:cNvPr id="11" name="TextBox 10"/>
          <p:cNvSpPr txBox="1"/>
          <p:nvPr/>
        </p:nvSpPr>
        <p:spPr>
          <a:xfrm>
            <a:off x="5376672" y="2304288"/>
            <a:ext cx="2103120" cy="292608"/>
          </a:xfrm>
          <a:prstGeom prst="rect">
            <a:avLst/>
          </a:prstGeom>
          <a:noFill/>
        </p:spPr>
        <p:txBody>
          <a:bodyPr wrap="square" lIns="0" tIns="0" rIns="0" bIns="0" anchor="t">
            <a:spAutoFit/>
          </a:bodyPr>
          <a:lstStyle/>
          <a:p>
            <a:pPr algn="l"/>
            <a:r>
              <a:rPr sz="1700" b="1">
                <a:solidFill>
                  <a:srgbClr val="24211D"/>
                </a:solidFill>
                <a:latin typeface="맑은 고딕"/>
              </a:rPr>
              <a:t>프로젝트 지침</a:t>
            </a:r>
          </a:p>
        </p:txBody>
      </p:sp>
      <p:sp>
        <p:nvSpPr>
          <p:cNvPr id="12" name="TextBox 11"/>
          <p:cNvSpPr txBox="1"/>
          <p:nvPr/>
        </p:nvSpPr>
        <p:spPr>
          <a:xfrm>
            <a:off x="7534656" y="2304288"/>
            <a:ext cx="4096512" cy="292608"/>
          </a:xfrm>
          <a:prstGeom prst="rect">
            <a:avLst/>
          </a:prstGeom>
          <a:noFill/>
        </p:spPr>
        <p:txBody>
          <a:bodyPr wrap="square" lIns="0" tIns="0" rIns="0" bIns="0" anchor="t">
            <a:spAutoFit/>
          </a:bodyPr>
          <a:lstStyle/>
          <a:p>
            <a:pPr algn="l"/>
            <a:r>
              <a:rPr sz="1500" b="1">
                <a:solidFill>
                  <a:srgbClr val="A8462A"/>
                </a:solidFill>
                <a:latin typeface="맑은 고딕"/>
              </a:rPr>
              <a:t>이 프로젝트에서 지킬 규칙</a:t>
            </a:r>
          </a:p>
        </p:txBody>
      </p:sp>
      <p:sp>
        <p:nvSpPr>
          <p:cNvPr id="13" name="TextBox 12"/>
          <p:cNvSpPr txBox="1"/>
          <p:nvPr/>
        </p:nvSpPr>
        <p:spPr>
          <a:xfrm>
            <a:off x="5376672" y="2651760"/>
            <a:ext cx="6254496" cy="475488"/>
          </a:xfrm>
          <a:prstGeom prst="rect">
            <a:avLst/>
          </a:prstGeom>
          <a:noFill/>
        </p:spPr>
        <p:txBody>
          <a:bodyPr wrap="square" lIns="0" tIns="0" rIns="0" bIns="0" anchor="t">
            <a:spAutoFit/>
          </a:bodyPr>
          <a:lstStyle/>
          <a:p>
            <a:pPr algn="l"/>
            <a:r>
              <a:rPr sz="1400" b="0">
                <a:solidFill>
                  <a:srgbClr val="514B43"/>
                </a:solidFill>
                <a:latin typeface="맑은 고딕"/>
              </a:rPr>
              <a:t>금액은 원 단위 콤마로 · 결론을 먼저 · 리스크를 빠뜨리지 말 것</a:t>
            </a:r>
          </a:p>
        </p:txBody>
      </p:sp>
      <p:sp>
        <p:nvSpPr>
          <p:cNvPr id="14" name="Oval 13"/>
          <p:cNvSpPr/>
          <p:nvPr/>
        </p:nvSpPr>
        <p:spPr>
          <a:xfrm>
            <a:off x="4846320" y="332841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TextBox 14"/>
          <p:cNvSpPr txBox="1"/>
          <p:nvPr/>
        </p:nvSpPr>
        <p:spPr>
          <a:xfrm>
            <a:off x="4846320" y="3328416"/>
            <a:ext cx="365760" cy="365760"/>
          </a:xfrm>
          <a:prstGeom prst="rect">
            <a:avLst/>
          </a:prstGeom>
          <a:noFill/>
        </p:spPr>
        <p:txBody>
          <a:bodyPr wrap="square" lIns="0" tIns="0" rIns="0" bIns="0" anchor="ctr">
            <a:spAutoFit/>
          </a:bodyPr>
          <a:lstStyle/>
          <a:p>
            <a:pPr algn="ctr"/>
            <a:r>
              <a:rPr sz="1600" b="1">
                <a:solidFill>
                  <a:srgbClr val="FFFFFF"/>
                </a:solidFill>
                <a:latin typeface="맑은 고딕"/>
              </a:rPr>
              <a:t>2</a:t>
            </a:r>
          </a:p>
        </p:txBody>
      </p:sp>
      <p:sp>
        <p:nvSpPr>
          <p:cNvPr id="16" name="TextBox 15"/>
          <p:cNvSpPr txBox="1"/>
          <p:nvPr/>
        </p:nvSpPr>
        <p:spPr>
          <a:xfrm>
            <a:off x="5376672" y="3236976"/>
            <a:ext cx="2103120" cy="292608"/>
          </a:xfrm>
          <a:prstGeom prst="rect">
            <a:avLst/>
          </a:prstGeom>
          <a:noFill/>
        </p:spPr>
        <p:txBody>
          <a:bodyPr wrap="square" lIns="0" tIns="0" rIns="0" bIns="0" anchor="t">
            <a:spAutoFit/>
          </a:bodyPr>
          <a:lstStyle/>
          <a:p>
            <a:pPr algn="l"/>
            <a:r>
              <a:rPr sz="1700" b="1">
                <a:solidFill>
                  <a:srgbClr val="24211D"/>
                </a:solidFill>
                <a:latin typeface="맑은 고딕"/>
              </a:rPr>
              <a:t>프로젝트 지식</a:t>
            </a:r>
          </a:p>
        </p:txBody>
      </p:sp>
      <p:sp>
        <p:nvSpPr>
          <p:cNvPr id="17" name="TextBox 16"/>
          <p:cNvSpPr txBox="1"/>
          <p:nvPr/>
        </p:nvSpPr>
        <p:spPr>
          <a:xfrm>
            <a:off x="7534656" y="3236976"/>
            <a:ext cx="4096512" cy="292608"/>
          </a:xfrm>
          <a:prstGeom prst="rect">
            <a:avLst/>
          </a:prstGeom>
          <a:noFill/>
        </p:spPr>
        <p:txBody>
          <a:bodyPr wrap="square" lIns="0" tIns="0" rIns="0" bIns="0" anchor="t">
            <a:spAutoFit/>
          </a:bodyPr>
          <a:lstStyle/>
          <a:p>
            <a:pPr algn="l"/>
            <a:r>
              <a:rPr sz="1500" b="1">
                <a:solidFill>
                  <a:srgbClr val="A8462A"/>
                </a:solidFill>
                <a:latin typeface="맑은 고딕"/>
              </a:rPr>
              <a:t>매번 올리지 않아도 되는 자료</a:t>
            </a:r>
          </a:p>
        </p:txBody>
      </p:sp>
      <p:sp>
        <p:nvSpPr>
          <p:cNvPr id="18" name="TextBox 17"/>
          <p:cNvSpPr txBox="1"/>
          <p:nvPr/>
        </p:nvSpPr>
        <p:spPr>
          <a:xfrm>
            <a:off x="5376672" y="3584448"/>
            <a:ext cx="6254496" cy="475488"/>
          </a:xfrm>
          <a:prstGeom prst="rect">
            <a:avLst/>
          </a:prstGeom>
          <a:noFill/>
        </p:spPr>
        <p:txBody>
          <a:bodyPr wrap="square" lIns="0" tIns="0" rIns="0" bIns="0" anchor="t">
            <a:spAutoFit/>
          </a:bodyPr>
          <a:lstStyle/>
          <a:p>
            <a:pPr algn="l"/>
            <a:r>
              <a:rPr sz="1400" b="0">
                <a:solidFill>
                  <a:srgbClr val="514B43"/>
                </a:solidFill>
                <a:latin typeface="맑은 고딕"/>
              </a:rPr>
              <a:t>계약서 양식 · 우리 기준표 · 자주 쓰는 체크리스트</a:t>
            </a:r>
          </a:p>
        </p:txBody>
      </p:sp>
      <p:sp>
        <p:nvSpPr>
          <p:cNvPr id="19" name="Oval 18"/>
          <p:cNvSpPr/>
          <p:nvPr/>
        </p:nvSpPr>
        <p:spPr>
          <a:xfrm>
            <a:off x="4846320" y="4261104"/>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TextBox 19"/>
          <p:cNvSpPr txBox="1"/>
          <p:nvPr/>
        </p:nvSpPr>
        <p:spPr>
          <a:xfrm>
            <a:off x="4846320" y="4261104"/>
            <a:ext cx="365760" cy="365760"/>
          </a:xfrm>
          <a:prstGeom prst="rect">
            <a:avLst/>
          </a:prstGeom>
          <a:noFill/>
        </p:spPr>
        <p:txBody>
          <a:bodyPr wrap="square" lIns="0" tIns="0" rIns="0" bIns="0" anchor="ctr">
            <a:spAutoFit/>
          </a:bodyPr>
          <a:lstStyle/>
          <a:p>
            <a:pPr algn="ctr"/>
            <a:r>
              <a:rPr sz="1600" b="1">
                <a:solidFill>
                  <a:srgbClr val="FFFFFF"/>
                </a:solidFill>
                <a:latin typeface="맑은 고딕"/>
              </a:rPr>
              <a:t>3</a:t>
            </a:r>
          </a:p>
        </p:txBody>
      </p:sp>
      <p:sp>
        <p:nvSpPr>
          <p:cNvPr id="21" name="TextBox 20"/>
          <p:cNvSpPr txBox="1"/>
          <p:nvPr/>
        </p:nvSpPr>
        <p:spPr>
          <a:xfrm>
            <a:off x="5376672" y="4169664"/>
            <a:ext cx="2103120" cy="292608"/>
          </a:xfrm>
          <a:prstGeom prst="rect">
            <a:avLst/>
          </a:prstGeom>
          <a:noFill/>
        </p:spPr>
        <p:txBody>
          <a:bodyPr wrap="square" lIns="0" tIns="0" rIns="0" bIns="0" anchor="t">
            <a:spAutoFit/>
          </a:bodyPr>
          <a:lstStyle/>
          <a:p>
            <a:pPr algn="l"/>
            <a:r>
              <a:rPr sz="1700" b="1">
                <a:solidFill>
                  <a:srgbClr val="24211D"/>
                </a:solidFill>
                <a:latin typeface="맑은 고딕"/>
              </a:rPr>
              <a:t>대화 이력</a:t>
            </a:r>
          </a:p>
        </p:txBody>
      </p:sp>
      <p:sp>
        <p:nvSpPr>
          <p:cNvPr id="22" name="TextBox 21"/>
          <p:cNvSpPr txBox="1"/>
          <p:nvPr/>
        </p:nvSpPr>
        <p:spPr>
          <a:xfrm>
            <a:off x="7534656" y="4169664"/>
            <a:ext cx="4096512" cy="292608"/>
          </a:xfrm>
          <a:prstGeom prst="rect">
            <a:avLst/>
          </a:prstGeom>
          <a:noFill/>
        </p:spPr>
        <p:txBody>
          <a:bodyPr wrap="square" lIns="0" tIns="0" rIns="0" bIns="0" anchor="t">
            <a:spAutoFit/>
          </a:bodyPr>
          <a:lstStyle/>
          <a:p>
            <a:pPr algn="l"/>
            <a:r>
              <a:rPr sz="1500" b="1">
                <a:solidFill>
                  <a:srgbClr val="A8462A"/>
                </a:solidFill>
                <a:latin typeface="맑은 고딕"/>
              </a:rPr>
              <a:t>그 프로젝트 안에 쌓입니다</a:t>
            </a:r>
          </a:p>
        </p:txBody>
      </p:sp>
      <p:sp>
        <p:nvSpPr>
          <p:cNvPr id="23" name="TextBox 22"/>
          <p:cNvSpPr txBox="1"/>
          <p:nvPr/>
        </p:nvSpPr>
        <p:spPr>
          <a:xfrm>
            <a:off x="5376672" y="4517136"/>
            <a:ext cx="6254496" cy="475488"/>
          </a:xfrm>
          <a:prstGeom prst="rect">
            <a:avLst/>
          </a:prstGeom>
          <a:noFill/>
        </p:spPr>
        <p:txBody>
          <a:bodyPr wrap="square" lIns="0" tIns="0" rIns="0" bIns="0" anchor="t">
            <a:spAutoFit/>
          </a:bodyPr>
          <a:lstStyle/>
          <a:p>
            <a:pPr algn="l"/>
            <a:r>
              <a:rPr sz="1400" b="0">
                <a:solidFill>
                  <a:srgbClr val="514B43"/>
                </a:solidFill>
                <a:latin typeface="맑은 고딕"/>
              </a:rPr>
              <a:t>"지난주에 본 그 물건" 을 다시 찾기 쉬워집니다</a:t>
            </a:r>
          </a:p>
        </p:txBody>
      </p:sp>
      <p:sp>
        <p:nvSpPr>
          <p:cNvPr id="24" name="Rounded Rectangle 23"/>
          <p:cNvSpPr/>
          <p:nvPr/>
        </p:nvSpPr>
        <p:spPr>
          <a:xfrm>
            <a:off x="566928" y="5212080"/>
            <a:ext cx="11064240" cy="86868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TextBox 24"/>
          <p:cNvSpPr txBox="1"/>
          <p:nvPr/>
        </p:nvSpPr>
        <p:spPr>
          <a:xfrm>
            <a:off x="914400" y="5212080"/>
            <a:ext cx="10424160" cy="868680"/>
          </a:xfrm>
          <a:prstGeom prst="rect">
            <a:avLst/>
          </a:prstGeom>
          <a:noFill/>
        </p:spPr>
        <p:txBody>
          <a:bodyPr wrap="square" lIns="0" tIns="0" rIns="0" bIns="0" anchor="ctr">
            <a:spAutoFit/>
          </a:bodyPr>
          <a:lstStyle/>
          <a:p>
            <a:pPr algn="l"/>
            <a:r>
              <a:rPr sz="1800" b="1">
                <a:solidFill>
                  <a:srgbClr val="FFFFFF"/>
                </a:solidFill>
                <a:latin typeface="맑은 고딕"/>
              </a:rPr>
              <a:t>만드는 곳 — 좌측 사이드바의 프로젝트 → 새 프로젝트.</a:t>
            </a:r>
          </a:p>
          <a:p>
            <a:pPr algn="l"/>
            <a:r>
              <a:rPr sz="1800" b="1">
                <a:solidFill>
                  <a:srgbClr val="FFFFFF"/>
                </a:solidFill>
                <a:latin typeface="맑은 고딕"/>
              </a:rPr>
              <a:t>경매용, 주식용처럼 일 단위로 나눠 만듭니다.</a:t>
            </a:r>
          </a:p>
        </p:txBody>
      </p:sp>
      <p:sp>
        <p:nvSpPr>
          <p:cNvPr id="26" name="TextBox 25"/>
          <p:cNvSpPr txBox="1"/>
          <p:nvPr/>
        </p:nvSpPr>
        <p:spPr>
          <a:xfrm>
            <a:off x="566928" y="6272784"/>
            <a:ext cx="11064240" cy="310896"/>
          </a:xfrm>
          <a:prstGeom prst="rect">
            <a:avLst/>
          </a:prstGeom>
          <a:noFill/>
        </p:spPr>
        <p:txBody>
          <a:bodyPr wrap="square" lIns="0" tIns="0" rIns="0" bIns="0" anchor="t">
            <a:spAutoFit/>
          </a:bodyPr>
          <a:lstStyle/>
          <a:p>
            <a:pPr algn="l"/>
            <a:r>
              <a:rPr sz="1300" b="0">
                <a:solidFill>
                  <a:srgbClr val="514B43"/>
                </a:solidFill>
                <a:latin typeface="맑은 고딕"/>
              </a:rPr>
              <a:t>프로젝트 지침·지식은 채팅과 Cowork 에 적용됩니다 · 버전에 따라 메뉴 위치가 다를 수 있습니다</a:t>
            </a:r>
          </a:p>
        </p:txBody>
      </p:sp>
      <p:sp>
        <p:nvSpPr>
          <p:cNvPr id="27" name="TextBox 26">
            <a:extLst>
              <a:ext uri="{FF2B5EF4-FFF2-40B4-BE49-F238E27FC236}">
                <a16:creationId xmlns:a16="http://schemas.microsoft.com/office/drawing/2014/main" id="{29F23181-9D81-2020-FA18-BC3366CAD090}"/>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07 · </a:t>
            </a:r>
            <a:r>
              <a:rPr lang="ko-KR" altLang="en-US" sz="1200">
                <a:solidFill>
                  <a:srgbClr val="A69C90"/>
                </a:solidFill>
                <a:latin typeface="맑은 고딕" panose="020B0503020000020004" pitchFamily="50" charset="-127"/>
                <a:ea typeface="맑은 고딕" panose="020B0503020000020004" pitchFamily="50" charset="-127"/>
              </a:rPr>
              <a:t>프로젝트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아티팩트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예정됨          </a:t>
            </a:r>
            <a:r>
              <a:rPr lang="en-US" altLang="ko-KR" sz="1200">
                <a:solidFill>
                  <a:srgbClr val="A69C90"/>
                </a:solidFill>
                <a:latin typeface="맑은 고딕" panose="020B0503020000020004" pitchFamily="50" charset="-127"/>
                <a:ea typeface="맑은 고딕" panose="020B0503020000020004" pitchFamily="50" charset="-127"/>
              </a:rPr>
              <a:t>45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스킬이 있는데 왜 프로젝트까지 만드나</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스킬로는 안 되는 네 가지가 있습니다</a:t>
            </a:r>
          </a:p>
        </p:txBody>
      </p:sp>
      <p:sp>
        <p:nvSpPr>
          <p:cNvPr id="4" name="Rounded Rectangle 3"/>
          <p:cNvSpPr/>
          <p:nvPr/>
        </p:nvSpPr>
        <p:spPr>
          <a:xfrm>
            <a:off x="566928" y="1874519"/>
            <a:ext cx="2615184" cy="2560320"/>
          </a:xfrm>
          <a:prstGeom prst="roundRect">
            <a:avLst>
              <a:gd name="adj" fmla="val 7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Oval 4"/>
          <p:cNvSpPr/>
          <p:nvPr/>
        </p:nvSpPr>
        <p:spPr>
          <a:xfrm>
            <a:off x="804672" y="208483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804672" y="2084831"/>
            <a:ext cx="347472" cy="347472"/>
          </a:xfrm>
          <a:prstGeom prst="rect">
            <a:avLst/>
          </a:prstGeom>
          <a:noFill/>
        </p:spPr>
        <p:txBody>
          <a:bodyPr wrap="square" lIns="0" tIns="0" rIns="0" bIns="0" anchor="ctr">
            <a:spAutoFit/>
          </a:bodyPr>
          <a:lstStyle/>
          <a:p>
            <a:pPr algn="ctr"/>
            <a:r>
              <a:rPr sz="1500" b="1">
                <a:solidFill>
                  <a:srgbClr val="FFFFFF"/>
                </a:solidFill>
                <a:latin typeface="맑은 고딕"/>
              </a:rPr>
              <a:t>1</a:t>
            </a:r>
          </a:p>
        </p:txBody>
      </p:sp>
      <p:sp>
        <p:nvSpPr>
          <p:cNvPr id="7" name="TextBox 6"/>
          <p:cNvSpPr txBox="1"/>
          <p:nvPr/>
        </p:nvSpPr>
        <p:spPr>
          <a:xfrm>
            <a:off x="804672" y="2578608"/>
            <a:ext cx="2139696" cy="512064"/>
          </a:xfrm>
          <a:prstGeom prst="rect">
            <a:avLst/>
          </a:prstGeom>
          <a:noFill/>
        </p:spPr>
        <p:txBody>
          <a:bodyPr wrap="square" lIns="0" tIns="0" rIns="0" bIns="0" anchor="ctr">
            <a:spAutoFit/>
          </a:bodyPr>
          <a:lstStyle/>
          <a:p>
            <a:pPr algn="l"/>
            <a:r>
              <a:rPr sz="1600" b="1">
                <a:solidFill>
                  <a:srgbClr val="24211D"/>
                </a:solidFill>
                <a:latin typeface="맑은 고딕"/>
              </a:rPr>
              <a:t>내 자료를 담을 수 있다</a:t>
            </a:r>
          </a:p>
        </p:txBody>
      </p:sp>
      <p:sp>
        <p:nvSpPr>
          <p:cNvPr id="8" name="TextBox 7"/>
          <p:cNvSpPr txBox="1"/>
          <p:nvPr/>
        </p:nvSpPr>
        <p:spPr>
          <a:xfrm>
            <a:off x="804672" y="3182112"/>
            <a:ext cx="2139696" cy="566928"/>
          </a:xfrm>
          <a:prstGeom prst="rect">
            <a:avLst/>
          </a:prstGeom>
          <a:noFill/>
        </p:spPr>
        <p:txBody>
          <a:bodyPr wrap="square" lIns="0" tIns="0" rIns="0" bIns="0" anchor="t">
            <a:spAutoFit/>
          </a:bodyPr>
          <a:lstStyle/>
          <a:p>
            <a:pPr algn="l"/>
            <a:r>
              <a:rPr sz="1300" b="0">
                <a:solidFill>
                  <a:srgbClr val="514B43"/>
                </a:solidFill>
                <a:latin typeface="맑은 고딕"/>
              </a:rPr>
              <a:t>스킬은 절차를 담지만</a:t>
            </a:r>
          </a:p>
          <a:p>
            <a:pPr algn="l"/>
            <a:r>
              <a:rPr sz="1300" b="0">
                <a:solidFill>
                  <a:srgbClr val="514B43"/>
                </a:solidFill>
                <a:latin typeface="맑은 고딕"/>
              </a:rPr>
              <a:t>내 자료는 담지 못합니다.</a:t>
            </a:r>
          </a:p>
        </p:txBody>
      </p:sp>
      <p:sp>
        <p:nvSpPr>
          <p:cNvPr id="9" name="TextBox 8"/>
          <p:cNvSpPr txBox="1"/>
          <p:nvPr/>
        </p:nvSpPr>
        <p:spPr>
          <a:xfrm>
            <a:off x="804672" y="3803904"/>
            <a:ext cx="2139696" cy="512064"/>
          </a:xfrm>
          <a:prstGeom prst="rect">
            <a:avLst/>
          </a:prstGeom>
          <a:noFill/>
        </p:spPr>
        <p:txBody>
          <a:bodyPr wrap="square" lIns="0" tIns="0" rIns="0" bIns="0" anchor="t">
            <a:spAutoFit/>
          </a:bodyPr>
          <a:lstStyle/>
          <a:p>
            <a:pPr algn="l"/>
            <a:r>
              <a:rPr sz="1300" b="1">
                <a:solidFill>
                  <a:srgbClr val="A8462A"/>
                </a:solidFill>
                <a:latin typeface="맑은 고딕"/>
              </a:rPr>
              <a:t>프로젝트 지식에 넣으면</a:t>
            </a:r>
          </a:p>
          <a:p>
            <a:pPr algn="l"/>
            <a:r>
              <a:rPr sz="1300" b="1">
                <a:solidFill>
                  <a:srgbClr val="A8462A"/>
                </a:solidFill>
                <a:latin typeface="맑은 고딕"/>
              </a:rPr>
              <a:t>매번 올릴 필요가 없습니다.</a:t>
            </a:r>
          </a:p>
        </p:txBody>
      </p:sp>
      <p:sp>
        <p:nvSpPr>
          <p:cNvPr id="10" name="Rounded Rectangle 9"/>
          <p:cNvSpPr/>
          <p:nvPr/>
        </p:nvSpPr>
        <p:spPr>
          <a:xfrm>
            <a:off x="3383280" y="1874519"/>
            <a:ext cx="2615184" cy="2560320"/>
          </a:xfrm>
          <a:prstGeom prst="roundRect">
            <a:avLst>
              <a:gd name="adj" fmla="val 7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Oval 10"/>
          <p:cNvSpPr/>
          <p:nvPr/>
        </p:nvSpPr>
        <p:spPr>
          <a:xfrm>
            <a:off x="3621024" y="208483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3621024" y="2084831"/>
            <a:ext cx="347472" cy="347472"/>
          </a:xfrm>
          <a:prstGeom prst="rect">
            <a:avLst/>
          </a:prstGeom>
          <a:noFill/>
        </p:spPr>
        <p:txBody>
          <a:bodyPr wrap="square" lIns="0" tIns="0" rIns="0" bIns="0" anchor="ctr">
            <a:spAutoFit/>
          </a:bodyPr>
          <a:lstStyle/>
          <a:p>
            <a:pPr algn="ctr"/>
            <a:r>
              <a:rPr sz="1500" b="1">
                <a:solidFill>
                  <a:srgbClr val="FFFFFF"/>
                </a:solidFill>
                <a:latin typeface="맑은 고딕"/>
              </a:rPr>
              <a:t>2</a:t>
            </a:r>
          </a:p>
        </p:txBody>
      </p:sp>
      <p:sp>
        <p:nvSpPr>
          <p:cNvPr id="13" name="TextBox 12"/>
          <p:cNvSpPr txBox="1"/>
          <p:nvPr/>
        </p:nvSpPr>
        <p:spPr>
          <a:xfrm>
            <a:off x="3621024" y="2578608"/>
            <a:ext cx="2139696" cy="512064"/>
          </a:xfrm>
          <a:prstGeom prst="rect">
            <a:avLst/>
          </a:prstGeom>
          <a:noFill/>
        </p:spPr>
        <p:txBody>
          <a:bodyPr wrap="square" lIns="0" tIns="0" rIns="0" bIns="0" anchor="ctr">
            <a:spAutoFit/>
          </a:bodyPr>
          <a:lstStyle/>
          <a:p>
            <a:pPr algn="l"/>
            <a:r>
              <a:rPr sz="1600" b="1">
                <a:solidFill>
                  <a:srgbClr val="24211D"/>
                </a:solidFill>
                <a:latin typeface="맑은 고딕"/>
              </a:rPr>
              <a:t>대화가 한곳에 쌓인다</a:t>
            </a:r>
          </a:p>
        </p:txBody>
      </p:sp>
      <p:sp>
        <p:nvSpPr>
          <p:cNvPr id="14" name="TextBox 13"/>
          <p:cNvSpPr txBox="1"/>
          <p:nvPr/>
        </p:nvSpPr>
        <p:spPr>
          <a:xfrm>
            <a:off x="3621024" y="3182112"/>
            <a:ext cx="2139696" cy="566928"/>
          </a:xfrm>
          <a:prstGeom prst="rect">
            <a:avLst/>
          </a:prstGeom>
          <a:noFill/>
        </p:spPr>
        <p:txBody>
          <a:bodyPr wrap="square" lIns="0" tIns="0" rIns="0" bIns="0" anchor="t">
            <a:spAutoFit/>
          </a:bodyPr>
          <a:lstStyle/>
          <a:p>
            <a:pPr algn="l"/>
            <a:r>
              <a:rPr sz="1300" b="0">
                <a:solidFill>
                  <a:srgbClr val="514B43"/>
                </a:solidFill>
                <a:latin typeface="맑은 고딕"/>
              </a:rPr>
              <a:t>스킬은 대화를 보관하지</a:t>
            </a:r>
          </a:p>
          <a:p>
            <a:pPr algn="l"/>
            <a:r>
              <a:rPr sz="1300" b="0">
                <a:solidFill>
                  <a:srgbClr val="514B43"/>
                </a:solidFill>
                <a:latin typeface="맑은 고딕"/>
              </a:rPr>
              <a:t>않습니다.</a:t>
            </a:r>
          </a:p>
        </p:txBody>
      </p:sp>
      <p:sp>
        <p:nvSpPr>
          <p:cNvPr id="15" name="TextBox 14"/>
          <p:cNvSpPr txBox="1"/>
          <p:nvPr/>
        </p:nvSpPr>
        <p:spPr>
          <a:xfrm>
            <a:off x="3621024" y="3803904"/>
            <a:ext cx="2139696" cy="512064"/>
          </a:xfrm>
          <a:prstGeom prst="rect">
            <a:avLst/>
          </a:prstGeom>
          <a:noFill/>
        </p:spPr>
        <p:txBody>
          <a:bodyPr wrap="square" lIns="0" tIns="0" rIns="0" bIns="0" anchor="t">
            <a:spAutoFit/>
          </a:bodyPr>
          <a:lstStyle/>
          <a:p>
            <a:pPr algn="l"/>
            <a:r>
              <a:rPr sz="1300" b="1">
                <a:solidFill>
                  <a:srgbClr val="A8462A"/>
                </a:solidFill>
                <a:latin typeface="맑은 고딕"/>
              </a:rPr>
              <a:t>"지난번 그 건" 을</a:t>
            </a:r>
          </a:p>
          <a:p>
            <a:pPr algn="l"/>
            <a:r>
              <a:rPr sz="1300" b="1">
                <a:solidFill>
                  <a:srgbClr val="A8462A"/>
                </a:solidFill>
                <a:latin typeface="맑은 고딕"/>
              </a:rPr>
              <a:t>프로젝트에서 찾습니다.</a:t>
            </a:r>
          </a:p>
        </p:txBody>
      </p:sp>
      <p:sp>
        <p:nvSpPr>
          <p:cNvPr id="16" name="Rounded Rectangle 15"/>
          <p:cNvSpPr/>
          <p:nvPr/>
        </p:nvSpPr>
        <p:spPr>
          <a:xfrm>
            <a:off x="6199632" y="1874519"/>
            <a:ext cx="2615184" cy="2560320"/>
          </a:xfrm>
          <a:prstGeom prst="roundRect">
            <a:avLst>
              <a:gd name="adj" fmla="val 7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Oval 16"/>
          <p:cNvSpPr/>
          <p:nvPr/>
        </p:nvSpPr>
        <p:spPr>
          <a:xfrm>
            <a:off x="6437376" y="208483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TextBox 17"/>
          <p:cNvSpPr txBox="1"/>
          <p:nvPr/>
        </p:nvSpPr>
        <p:spPr>
          <a:xfrm>
            <a:off x="6437376" y="2084831"/>
            <a:ext cx="347472" cy="347472"/>
          </a:xfrm>
          <a:prstGeom prst="rect">
            <a:avLst/>
          </a:prstGeom>
          <a:noFill/>
        </p:spPr>
        <p:txBody>
          <a:bodyPr wrap="square" lIns="0" tIns="0" rIns="0" bIns="0" anchor="ctr">
            <a:spAutoFit/>
          </a:bodyPr>
          <a:lstStyle/>
          <a:p>
            <a:pPr algn="ctr"/>
            <a:r>
              <a:rPr sz="1500" b="1">
                <a:solidFill>
                  <a:srgbClr val="FFFFFF"/>
                </a:solidFill>
                <a:latin typeface="맑은 고딕"/>
              </a:rPr>
              <a:t>3</a:t>
            </a:r>
          </a:p>
        </p:txBody>
      </p:sp>
      <p:sp>
        <p:nvSpPr>
          <p:cNvPr id="19" name="TextBox 18"/>
          <p:cNvSpPr txBox="1"/>
          <p:nvPr/>
        </p:nvSpPr>
        <p:spPr>
          <a:xfrm>
            <a:off x="6437376" y="2578608"/>
            <a:ext cx="2139696" cy="512064"/>
          </a:xfrm>
          <a:prstGeom prst="rect">
            <a:avLst/>
          </a:prstGeom>
          <a:noFill/>
        </p:spPr>
        <p:txBody>
          <a:bodyPr wrap="square" lIns="0" tIns="0" rIns="0" bIns="0" anchor="ctr">
            <a:spAutoFit/>
          </a:bodyPr>
          <a:lstStyle/>
          <a:p>
            <a:pPr algn="l"/>
            <a:r>
              <a:rPr sz="1600" b="1">
                <a:solidFill>
                  <a:srgbClr val="24211D"/>
                </a:solidFill>
                <a:latin typeface="맑은 고딕"/>
              </a:rPr>
              <a:t>조건 없이 늘 켜져 있다</a:t>
            </a:r>
          </a:p>
        </p:txBody>
      </p:sp>
      <p:sp>
        <p:nvSpPr>
          <p:cNvPr id="20" name="TextBox 19"/>
          <p:cNvSpPr txBox="1"/>
          <p:nvPr/>
        </p:nvSpPr>
        <p:spPr>
          <a:xfrm>
            <a:off x="6437376" y="3182112"/>
            <a:ext cx="2139696" cy="566928"/>
          </a:xfrm>
          <a:prstGeom prst="rect">
            <a:avLst/>
          </a:prstGeom>
          <a:noFill/>
        </p:spPr>
        <p:txBody>
          <a:bodyPr wrap="square" lIns="0" tIns="0" rIns="0" bIns="0" anchor="t">
            <a:spAutoFit/>
          </a:bodyPr>
          <a:lstStyle/>
          <a:p>
            <a:pPr algn="l"/>
            <a:r>
              <a:rPr sz="1300" b="0">
                <a:solidFill>
                  <a:srgbClr val="514B43"/>
                </a:solidFill>
                <a:latin typeface="맑은 고딕"/>
              </a:rPr>
              <a:t>스킬은 발동 조건에 맞아야</a:t>
            </a:r>
          </a:p>
          <a:p>
            <a:pPr algn="l"/>
            <a:r>
              <a:rPr sz="1300" b="0">
                <a:solidFill>
                  <a:srgbClr val="514B43"/>
                </a:solidFill>
                <a:latin typeface="맑은 고딕"/>
              </a:rPr>
              <a:t>켜집니다.</a:t>
            </a:r>
          </a:p>
        </p:txBody>
      </p:sp>
      <p:sp>
        <p:nvSpPr>
          <p:cNvPr id="21" name="TextBox 20"/>
          <p:cNvSpPr txBox="1"/>
          <p:nvPr/>
        </p:nvSpPr>
        <p:spPr>
          <a:xfrm>
            <a:off x="6437376" y="3803904"/>
            <a:ext cx="2139696" cy="512064"/>
          </a:xfrm>
          <a:prstGeom prst="rect">
            <a:avLst/>
          </a:prstGeom>
          <a:noFill/>
        </p:spPr>
        <p:txBody>
          <a:bodyPr wrap="square" lIns="0" tIns="0" rIns="0" bIns="0" anchor="t">
            <a:spAutoFit/>
          </a:bodyPr>
          <a:lstStyle/>
          <a:p>
            <a:pPr algn="l"/>
            <a:r>
              <a:rPr sz="1300" b="1">
                <a:solidFill>
                  <a:srgbClr val="A8462A"/>
                </a:solidFill>
                <a:latin typeface="맑은 고딕"/>
              </a:rPr>
              <a:t>프로젝트 지침은 그 안에서</a:t>
            </a:r>
          </a:p>
          <a:p>
            <a:pPr algn="l"/>
            <a:r>
              <a:rPr sz="1300" b="1">
                <a:solidFill>
                  <a:srgbClr val="A8462A"/>
                </a:solidFill>
                <a:latin typeface="맑은 고딕"/>
              </a:rPr>
              <a:t>항상 적용됩니다.</a:t>
            </a:r>
          </a:p>
        </p:txBody>
      </p:sp>
      <p:sp>
        <p:nvSpPr>
          <p:cNvPr id="22" name="Rounded Rectangle 21"/>
          <p:cNvSpPr/>
          <p:nvPr/>
        </p:nvSpPr>
        <p:spPr>
          <a:xfrm>
            <a:off x="9015984" y="1874519"/>
            <a:ext cx="2615184" cy="2560320"/>
          </a:xfrm>
          <a:prstGeom prst="roundRect">
            <a:avLst>
              <a:gd name="adj" fmla="val 7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Oval 22"/>
          <p:cNvSpPr/>
          <p:nvPr/>
        </p:nvSpPr>
        <p:spPr>
          <a:xfrm>
            <a:off x="9253728" y="208483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TextBox 23"/>
          <p:cNvSpPr txBox="1"/>
          <p:nvPr/>
        </p:nvSpPr>
        <p:spPr>
          <a:xfrm>
            <a:off x="9253728" y="2084831"/>
            <a:ext cx="347472" cy="347472"/>
          </a:xfrm>
          <a:prstGeom prst="rect">
            <a:avLst/>
          </a:prstGeom>
          <a:noFill/>
        </p:spPr>
        <p:txBody>
          <a:bodyPr wrap="square" lIns="0" tIns="0" rIns="0" bIns="0" anchor="ctr">
            <a:spAutoFit/>
          </a:bodyPr>
          <a:lstStyle/>
          <a:p>
            <a:pPr algn="ctr"/>
            <a:r>
              <a:rPr sz="1500" b="1">
                <a:solidFill>
                  <a:srgbClr val="FFFFFF"/>
                </a:solidFill>
                <a:latin typeface="맑은 고딕"/>
              </a:rPr>
              <a:t>4</a:t>
            </a:r>
          </a:p>
        </p:txBody>
      </p:sp>
      <p:sp>
        <p:nvSpPr>
          <p:cNvPr id="25" name="TextBox 24"/>
          <p:cNvSpPr txBox="1"/>
          <p:nvPr/>
        </p:nvSpPr>
        <p:spPr>
          <a:xfrm>
            <a:off x="9253728" y="2578608"/>
            <a:ext cx="2139696" cy="512064"/>
          </a:xfrm>
          <a:prstGeom prst="rect">
            <a:avLst/>
          </a:prstGeom>
          <a:noFill/>
        </p:spPr>
        <p:txBody>
          <a:bodyPr wrap="square" lIns="0" tIns="0" rIns="0" bIns="0" anchor="ctr">
            <a:spAutoFit/>
          </a:bodyPr>
          <a:lstStyle/>
          <a:p>
            <a:pPr algn="l"/>
            <a:r>
              <a:rPr sz="1600" b="1">
                <a:solidFill>
                  <a:srgbClr val="24211D"/>
                </a:solidFill>
                <a:latin typeface="맑은 고딕"/>
              </a:rPr>
              <a:t>일과 일이 섞이지 않는다</a:t>
            </a:r>
          </a:p>
        </p:txBody>
      </p:sp>
      <p:sp>
        <p:nvSpPr>
          <p:cNvPr id="26" name="TextBox 25"/>
          <p:cNvSpPr txBox="1"/>
          <p:nvPr/>
        </p:nvSpPr>
        <p:spPr>
          <a:xfrm>
            <a:off x="9253728" y="3182112"/>
            <a:ext cx="2139696" cy="566928"/>
          </a:xfrm>
          <a:prstGeom prst="rect">
            <a:avLst/>
          </a:prstGeom>
          <a:noFill/>
        </p:spPr>
        <p:txBody>
          <a:bodyPr wrap="square" lIns="0" tIns="0" rIns="0" bIns="0" anchor="t">
            <a:spAutoFit/>
          </a:bodyPr>
          <a:lstStyle/>
          <a:p>
            <a:pPr algn="l"/>
            <a:r>
              <a:rPr sz="1300" b="0">
                <a:solidFill>
                  <a:srgbClr val="514B43"/>
                </a:solidFill>
                <a:latin typeface="맑은 고딕"/>
              </a:rPr>
              <a:t>개인 설정에 다 넣으면</a:t>
            </a:r>
          </a:p>
          <a:p>
            <a:pPr algn="l"/>
            <a:r>
              <a:rPr sz="1300" b="0">
                <a:solidFill>
                  <a:srgbClr val="514B43"/>
                </a:solidFill>
                <a:latin typeface="맑은 고딕"/>
              </a:rPr>
              <a:t>주식 얘기에 경매 규칙이 섞입니다.</a:t>
            </a:r>
          </a:p>
        </p:txBody>
      </p:sp>
      <p:sp>
        <p:nvSpPr>
          <p:cNvPr id="27" name="TextBox 26"/>
          <p:cNvSpPr txBox="1"/>
          <p:nvPr/>
        </p:nvSpPr>
        <p:spPr>
          <a:xfrm>
            <a:off x="9253728" y="3803904"/>
            <a:ext cx="2139696" cy="512064"/>
          </a:xfrm>
          <a:prstGeom prst="rect">
            <a:avLst/>
          </a:prstGeom>
          <a:noFill/>
        </p:spPr>
        <p:txBody>
          <a:bodyPr wrap="square" lIns="0" tIns="0" rIns="0" bIns="0" anchor="t">
            <a:spAutoFit/>
          </a:bodyPr>
          <a:lstStyle/>
          <a:p>
            <a:pPr algn="l"/>
            <a:r>
              <a:rPr sz="1300" b="1">
                <a:solidFill>
                  <a:srgbClr val="A8462A"/>
                </a:solidFill>
                <a:latin typeface="맑은 고딕"/>
              </a:rPr>
              <a:t>프로젝트를 나누면</a:t>
            </a:r>
          </a:p>
          <a:p>
            <a:pPr algn="l"/>
            <a:r>
              <a:rPr sz="1300" b="1">
                <a:solidFill>
                  <a:srgbClr val="A8462A"/>
                </a:solidFill>
                <a:latin typeface="맑은 고딕"/>
              </a:rPr>
              <a:t>서로 간섭하지 않습니다.</a:t>
            </a:r>
          </a:p>
        </p:txBody>
      </p:sp>
      <p:sp>
        <p:nvSpPr>
          <p:cNvPr id="28" name="TextBox 27"/>
          <p:cNvSpPr txBox="1"/>
          <p:nvPr/>
        </p:nvSpPr>
        <p:spPr>
          <a:xfrm>
            <a:off x="566928" y="4590288"/>
            <a:ext cx="11064240" cy="292608"/>
          </a:xfrm>
          <a:prstGeom prst="rect">
            <a:avLst/>
          </a:prstGeom>
          <a:noFill/>
        </p:spPr>
        <p:txBody>
          <a:bodyPr wrap="square" lIns="0" tIns="0" rIns="0" bIns="0" anchor="t">
            <a:spAutoFit/>
          </a:bodyPr>
          <a:lstStyle/>
          <a:p>
            <a:pPr algn="l"/>
            <a:r>
              <a:rPr sz="1500" b="1">
                <a:solidFill>
                  <a:srgbClr val="A8462A"/>
                </a:solidFill>
                <a:latin typeface="맑은 고딕"/>
              </a:rPr>
              <a:t>넷을 이렇게 구분하세요</a:t>
            </a:r>
          </a:p>
        </p:txBody>
      </p:sp>
      <p:sp>
        <p:nvSpPr>
          <p:cNvPr id="29" name="Rounded Rectangle 28"/>
          <p:cNvSpPr/>
          <p:nvPr/>
        </p:nvSpPr>
        <p:spPr>
          <a:xfrm>
            <a:off x="566928" y="4937760"/>
            <a:ext cx="2615184" cy="658368"/>
          </a:xfrm>
          <a:prstGeom prst="roundRect">
            <a:avLst>
              <a:gd name="adj" fmla="val 14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TextBox 29"/>
          <p:cNvSpPr txBox="1"/>
          <p:nvPr/>
        </p:nvSpPr>
        <p:spPr>
          <a:xfrm>
            <a:off x="749808" y="5010912"/>
            <a:ext cx="2249424" cy="256032"/>
          </a:xfrm>
          <a:prstGeom prst="rect">
            <a:avLst/>
          </a:prstGeom>
          <a:noFill/>
        </p:spPr>
        <p:txBody>
          <a:bodyPr wrap="square" lIns="0" tIns="0" rIns="0" bIns="0" anchor="t">
            <a:spAutoFit/>
          </a:bodyPr>
          <a:lstStyle/>
          <a:p>
            <a:pPr algn="l"/>
            <a:r>
              <a:rPr sz="1400" b="1">
                <a:solidFill>
                  <a:srgbClr val="D97757"/>
                </a:solidFill>
                <a:latin typeface="맑은 고딕"/>
              </a:rPr>
              <a:t>개인 설정</a:t>
            </a:r>
          </a:p>
        </p:txBody>
      </p:sp>
      <p:sp>
        <p:nvSpPr>
          <p:cNvPr id="31" name="TextBox 30"/>
          <p:cNvSpPr txBox="1"/>
          <p:nvPr/>
        </p:nvSpPr>
        <p:spPr>
          <a:xfrm>
            <a:off x="749808" y="5266944"/>
            <a:ext cx="2249424" cy="274320"/>
          </a:xfrm>
          <a:prstGeom prst="rect">
            <a:avLst/>
          </a:prstGeom>
          <a:noFill/>
        </p:spPr>
        <p:txBody>
          <a:bodyPr wrap="square" lIns="0" tIns="0" rIns="0" bIns="0" anchor="t">
            <a:spAutoFit/>
          </a:bodyPr>
          <a:lstStyle/>
          <a:p>
            <a:pPr algn="l"/>
            <a:r>
              <a:rPr sz="1150" b="0">
                <a:solidFill>
                  <a:srgbClr val="F6F1EA"/>
                </a:solidFill>
                <a:latin typeface="맑은 고딕"/>
              </a:rPr>
              <a:t>나는 누구인가</a:t>
            </a:r>
          </a:p>
          <a:p>
            <a:pPr algn="l"/>
            <a:r>
              <a:rPr sz="1150" b="0">
                <a:solidFill>
                  <a:srgbClr val="F6F1EA"/>
                </a:solidFill>
                <a:latin typeface="맑은 고딕"/>
              </a:rPr>
              <a:t>어디서나 항상</a:t>
            </a:r>
          </a:p>
        </p:txBody>
      </p:sp>
      <p:sp>
        <p:nvSpPr>
          <p:cNvPr id="32" name="Rounded Rectangle 31"/>
          <p:cNvSpPr/>
          <p:nvPr/>
        </p:nvSpPr>
        <p:spPr>
          <a:xfrm>
            <a:off x="3383280" y="4937760"/>
            <a:ext cx="2615184" cy="658368"/>
          </a:xfrm>
          <a:prstGeom prst="roundRect">
            <a:avLst>
              <a:gd name="adj" fmla="val 14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TextBox 32"/>
          <p:cNvSpPr txBox="1"/>
          <p:nvPr/>
        </p:nvSpPr>
        <p:spPr>
          <a:xfrm>
            <a:off x="3566160" y="5010912"/>
            <a:ext cx="2249424" cy="256032"/>
          </a:xfrm>
          <a:prstGeom prst="rect">
            <a:avLst/>
          </a:prstGeom>
          <a:noFill/>
        </p:spPr>
        <p:txBody>
          <a:bodyPr wrap="square" lIns="0" tIns="0" rIns="0" bIns="0" anchor="t">
            <a:spAutoFit/>
          </a:bodyPr>
          <a:lstStyle/>
          <a:p>
            <a:pPr algn="l"/>
            <a:r>
              <a:rPr sz="1400" b="1">
                <a:solidFill>
                  <a:srgbClr val="D97757"/>
                </a:solidFill>
                <a:latin typeface="맑은 고딕"/>
              </a:rPr>
              <a:t>프로젝트</a:t>
            </a:r>
          </a:p>
        </p:txBody>
      </p:sp>
      <p:sp>
        <p:nvSpPr>
          <p:cNvPr id="34" name="TextBox 33"/>
          <p:cNvSpPr txBox="1"/>
          <p:nvPr/>
        </p:nvSpPr>
        <p:spPr>
          <a:xfrm>
            <a:off x="3566160" y="5266944"/>
            <a:ext cx="2249424" cy="274320"/>
          </a:xfrm>
          <a:prstGeom prst="rect">
            <a:avLst/>
          </a:prstGeom>
          <a:noFill/>
        </p:spPr>
        <p:txBody>
          <a:bodyPr wrap="square" lIns="0" tIns="0" rIns="0" bIns="0" anchor="t">
            <a:spAutoFit/>
          </a:bodyPr>
          <a:lstStyle/>
          <a:p>
            <a:pPr algn="l"/>
            <a:r>
              <a:rPr sz="1150" b="0">
                <a:solidFill>
                  <a:srgbClr val="F6F1EA"/>
                </a:solidFill>
                <a:latin typeface="맑은 고딕"/>
              </a:rPr>
              <a:t>이 일의 배경과 자료</a:t>
            </a:r>
          </a:p>
          <a:p>
            <a:pPr algn="l"/>
            <a:r>
              <a:rPr sz="1150" b="0">
                <a:solidFill>
                  <a:srgbClr val="F6F1EA"/>
                </a:solidFill>
                <a:latin typeface="맑은 고딕"/>
              </a:rPr>
              <a:t>그 프로젝트 안에서 항상</a:t>
            </a:r>
          </a:p>
        </p:txBody>
      </p:sp>
      <p:sp>
        <p:nvSpPr>
          <p:cNvPr id="35" name="Rounded Rectangle 34"/>
          <p:cNvSpPr/>
          <p:nvPr/>
        </p:nvSpPr>
        <p:spPr>
          <a:xfrm>
            <a:off x="6199632" y="4937760"/>
            <a:ext cx="2615184" cy="658368"/>
          </a:xfrm>
          <a:prstGeom prst="roundRect">
            <a:avLst>
              <a:gd name="adj" fmla="val 14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TextBox 35"/>
          <p:cNvSpPr txBox="1"/>
          <p:nvPr/>
        </p:nvSpPr>
        <p:spPr>
          <a:xfrm>
            <a:off x="6382512" y="5010912"/>
            <a:ext cx="2249424" cy="256032"/>
          </a:xfrm>
          <a:prstGeom prst="rect">
            <a:avLst/>
          </a:prstGeom>
          <a:noFill/>
        </p:spPr>
        <p:txBody>
          <a:bodyPr wrap="square" lIns="0" tIns="0" rIns="0" bIns="0" anchor="t">
            <a:spAutoFit/>
          </a:bodyPr>
          <a:lstStyle/>
          <a:p>
            <a:pPr algn="l"/>
            <a:r>
              <a:rPr sz="1400" b="1">
                <a:solidFill>
                  <a:srgbClr val="D97757"/>
                </a:solidFill>
                <a:latin typeface="맑은 고딕"/>
              </a:rPr>
              <a:t>스킬</a:t>
            </a:r>
          </a:p>
        </p:txBody>
      </p:sp>
      <p:sp>
        <p:nvSpPr>
          <p:cNvPr id="37" name="TextBox 36"/>
          <p:cNvSpPr txBox="1"/>
          <p:nvPr/>
        </p:nvSpPr>
        <p:spPr>
          <a:xfrm>
            <a:off x="6382512" y="5266944"/>
            <a:ext cx="2249424" cy="274320"/>
          </a:xfrm>
          <a:prstGeom prst="rect">
            <a:avLst/>
          </a:prstGeom>
          <a:noFill/>
        </p:spPr>
        <p:txBody>
          <a:bodyPr wrap="square" lIns="0" tIns="0" rIns="0" bIns="0" anchor="t">
            <a:spAutoFit/>
          </a:bodyPr>
          <a:lstStyle/>
          <a:p>
            <a:pPr algn="l"/>
            <a:r>
              <a:rPr sz="1150" b="0">
                <a:solidFill>
                  <a:srgbClr val="F6F1EA"/>
                </a:solidFill>
                <a:latin typeface="맑은 고딕"/>
              </a:rPr>
              <a:t>이 일을 어떻게 하는가</a:t>
            </a:r>
          </a:p>
          <a:p>
            <a:pPr algn="l"/>
            <a:r>
              <a:rPr sz="1150" b="0">
                <a:solidFill>
                  <a:srgbClr val="F6F1EA"/>
                </a:solidFill>
                <a:latin typeface="맑은 고딕"/>
              </a:rPr>
              <a:t>그 일이 생길 때만</a:t>
            </a:r>
          </a:p>
        </p:txBody>
      </p:sp>
      <p:sp>
        <p:nvSpPr>
          <p:cNvPr id="38" name="Rounded Rectangle 37"/>
          <p:cNvSpPr/>
          <p:nvPr/>
        </p:nvSpPr>
        <p:spPr>
          <a:xfrm>
            <a:off x="9015984" y="4937760"/>
            <a:ext cx="2615184" cy="658368"/>
          </a:xfrm>
          <a:prstGeom prst="roundRect">
            <a:avLst>
              <a:gd name="adj" fmla="val 14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TextBox 38"/>
          <p:cNvSpPr txBox="1"/>
          <p:nvPr/>
        </p:nvSpPr>
        <p:spPr>
          <a:xfrm>
            <a:off x="9198863" y="5010912"/>
            <a:ext cx="2249424" cy="256032"/>
          </a:xfrm>
          <a:prstGeom prst="rect">
            <a:avLst/>
          </a:prstGeom>
          <a:noFill/>
        </p:spPr>
        <p:txBody>
          <a:bodyPr wrap="square" lIns="0" tIns="0" rIns="0" bIns="0" anchor="t">
            <a:spAutoFit/>
          </a:bodyPr>
          <a:lstStyle/>
          <a:p>
            <a:pPr algn="l"/>
            <a:r>
              <a:rPr sz="1400" b="1">
                <a:solidFill>
                  <a:srgbClr val="D97757"/>
                </a:solidFill>
                <a:latin typeface="맑은 고딕"/>
              </a:rPr>
              <a:t>MCP</a:t>
            </a:r>
          </a:p>
        </p:txBody>
      </p:sp>
      <p:sp>
        <p:nvSpPr>
          <p:cNvPr id="40" name="TextBox 39"/>
          <p:cNvSpPr txBox="1"/>
          <p:nvPr/>
        </p:nvSpPr>
        <p:spPr>
          <a:xfrm>
            <a:off x="9198863" y="5266944"/>
            <a:ext cx="2249424" cy="274320"/>
          </a:xfrm>
          <a:prstGeom prst="rect">
            <a:avLst/>
          </a:prstGeom>
          <a:noFill/>
        </p:spPr>
        <p:txBody>
          <a:bodyPr wrap="square" lIns="0" tIns="0" rIns="0" bIns="0" anchor="t">
            <a:spAutoFit/>
          </a:bodyPr>
          <a:lstStyle/>
          <a:p>
            <a:pPr algn="l"/>
            <a:r>
              <a:rPr sz="1150" b="0">
                <a:solidFill>
                  <a:srgbClr val="F6F1EA"/>
                </a:solidFill>
                <a:latin typeface="맑은 고딕"/>
              </a:rPr>
              <a:t>무엇을 만질 수 있는가</a:t>
            </a:r>
          </a:p>
          <a:p>
            <a:pPr algn="l"/>
            <a:r>
              <a:rPr sz="1150" b="0">
                <a:solidFill>
                  <a:srgbClr val="F6F1EA"/>
                </a:solidFill>
                <a:latin typeface="맑은 고딕"/>
              </a:rPr>
              <a:t>손과 발이 된다</a:t>
            </a:r>
          </a:p>
        </p:txBody>
      </p:sp>
      <p:sp>
        <p:nvSpPr>
          <p:cNvPr id="41" name="Rounded Rectangle 40"/>
          <p:cNvSpPr/>
          <p:nvPr/>
        </p:nvSpPr>
        <p:spPr>
          <a:xfrm>
            <a:off x="566928" y="5705856"/>
            <a:ext cx="11064240" cy="512064"/>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TextBox 41"/>
          <p:cNvSpPr txBox="1"/>
          <p:nvPr/>
        </p:nvSpPr>
        <p:spPr>
          <a:xfrm>
            <a:off x="914400" y="5705856"/>
            <a:ext cx="10424160" cy="512064"/>
          </a:xfrm>
          <a:prstGeom prst="rect">
            <a:avLst/>
          </a:prstGeom>
          <a:noFill/>
        </p:spPr>
        <p:txBody>
          <a:bodyPr wrap="square" lIns="0" tIns="0" rIns="0" bIns="0" anchor="ctr">
            <a:spAutoFit/>
          </a:bodyPr>
          <a:lstStyle/>
          <a:p>
            <a:pPr algn="l"/>
            <a:r>
              <a:rPr sz="1600" b="1">
                <a:solidFill>
                  <a:srgbClr val="FFFFFF"/>
                </a:solidFill>
                <a:latin typeface="맑은 고딕"/>
              </a:rPr>
              <a:t>넷은 경쟁 관계가 아닙니다. 프로젝트 안에서 스킬이 돌고, 스킬이 MCP 를 씁니다.</a:t>
            </a:r>
          </a:p>
        </p:txBody>
      </p:sp>
      <p:sp>
        <p:nvSpPr>
          <p:cNvPr id="43" name="TextBox 42"/>
          <p:cNvSpPr txBox="1"/>
          <p:nvPr/>
        </p:nvSpPr>
        <p:spPr>
          <a:xfrm>
            <a:off x="566928" y="6272784"/>
            <a:ext cx="11064240" cy="310896"/>
          </a:xfrm>
          <a:prstGeom prst="rect">
            <a:avLst/>
          </a:prstGeom>
          <a:noFill/>
        </p:spPr>
        <p:txBody>
          <a:bodyPr wrap="square" lIns="0" tIns="0" rIns="0" bIns="0" anchor="t">
            <a:spAutoFit/>
          </a:bodyPr>
          <a:lstStyle/>
          <a:p>
            <a:pPr algn="l"/>
            <a:r>
              <a:rPr sz="1300" b="0">
                <a:solidFill>
                  <a:srgbClr val="514B43"/>
                </a:solidFill>
                <a:latin typeface="맑은 고딕"/>
              </a:rPr>
              <a:t>적용 범위 상세는 앞의 「어디에 쓴 지침이 어디에 적용되나」 슬라이드 참조</a:t>
            </a:r>
          </a:p>
        </p:txBody>
      </p:sp>
      <p:sp>
        <p:nvSpPr>
          <p:cNvPr id="44" name="TextBox 43">
            <a:extLst>
              <a:ext uri="{FF2B5EF4-FFF2-40B4-BE49-F238E27FC236}">
                <a16:creationId xmlns:a16="http://schemas.microsoft.com/office/drawing/2014/main" id="{4EAD1B45-E00B-957A-F297-3FDB7E33DC29}"/>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07 · </a:t>
            </a:r>
            <a:r>
              <a:rPr lang="ko-KR" altLang="en-US" sz="1200">
                <a:solidFill>
                  <a:srgbClr val="A69C90"/>
                </a:solidFill>
                <a:latin typeface="맑은 고딕" panose="020B0503020000020004" pitchFamily="50" charset="-127"/>
                <a:ea typeface="맑은 고딕" panose="020B0503020000020004" pitchFamily="50" charset="-127"/>
              </a:rPr>
              <a:t>프로젝트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아티팩트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예정됨          </a:t>
            </a:r>
            <a:r>
              <a:rPr lang="en-US" altLang="ko-KR" sz="1200">
                <a:solidFill>
                  <a:srgbClr val="A69C90"/>
                </a:solidFill>
                <a:latin typeface="맑은 고딕" panose="020B0503020000020004" pitchFamily="50" charset="-127"/>
                <a:ea typeface="맑은 고딕" panose="020B0503020000020004" pitchFamily="50" charset="-127"/>
              </a:rPr>
              <a:t>46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대화는 흘러가고, 아티팩트는 남습니다</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답이 대화 속에 묻히지 않고 옆에 전용 창으로 뜹니다</a:t>
            </a:r>
          </a:p>
        </p:txBody>
      </p:sp>
      <p:sp>
        <p:nvSpPr>
          <p:cNvPr id="4" name="TextBox 3"/>
          <p:cNvSpPr txBox="1"/>
          <p:nvPr/>
        </p:nvSpPr>
        <p:spPr>
          <a:xfrm>
            <a:off x="566928" y="1874519"/>
            <a:ext cx="11064240" cy="292608"/>
          </a:xfrm>
          <a:prstGeom prst="rect">
            <a:avLst/>
          </a:prstGeom>
          <a:noFill/>
        </p:spPr>
        <p:txBody>
          <a:bodyPr wrap="square" lIns="0" tIns="0" rIns="0" bIns="0" anchor="t">
            <a:spAutoFit/>
          </a:bodyPr>
          <a:lstStyle/>
          <a:p>
            <a:pPr algn="l"/>
            <a:r>
              <a:rPr sz="1500" b="1">
                <a:solidFill>
                  <a:srgbClr val="A8462A"/>
                </a:solidFill>
                <a:latin typeface="맑은 고딕"/>
              </a:rPr>
              <a:t>이런 것이 아티팩트가 됩니다</a:t>
            </a:r>
          </a:p>
        </p:txBody>
      </p:sp>
      <p:sp>
        <p:nvSpPr>
          <p:cNvPr id="5" name="Rounded Rectangle 4"/>
          <p:cNvSpPr/>
          <p:nvPr/>
        </p:nvSpPr>
        <p:spPr>
          <a:xfrm>
            <a:off x="566928" y="2212848"/>
            <a:ext cx="1737360" cy="457200"/>
          </a:xfrm>
          <a:prstGeom prst="roundRect">
            <a:avLst>
              <a:gd name="adj" fmla="val 2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566928" y="2212848"/>
            <a:ext cx="1737360" cy="457200"/>
          </a:xfrm>
          <a:prstGeom prst="rect">
            <a:avLst/>
          </a:prstGeom>
          <a:noFill/>
        </p:spPr>
        <p:txBody>
          <a:bodyPr wrap="square" lIns="0" tIns="0" rIns="0" bIns="0" anchor="ctr">
            <a:spAutoFit/>
          </a:bodyPr>
          <a:lstStyle/>
          <a:p>
            <a:pPr algn="ctr"/>
            <a:r>
              <a:rPr sz="1500" b="1">
                <a:solidFill>
                  <a:srgbClr val="24211D"/>
                </a:solidFill>
                <a:latin typeface="맑은 고딕"/>
              </a:rPr>
              <a:t>문서</a:t>
            </a:r>
          </a:p>
        </p:txBody>
      </p:sp>
      <p:sp>
        <p:nvSpPr>
          <p:cNvPr id="7" name="Rounded Rectangle 6"/>
          <p:cNvSpPr/>
          <p:nvPr/>
        </p:nvSpPr>
        <p:spPr>
          <a:xfrm>
            <a:off x="2432304" y="2212848"/>
            <a:ext cx="1737360" cy="457200"/>
          </a:xfrm>
          <a:prstGeom prst="roundRect">
            <a:avLst>
              <a:gd name="adj" fmla="val 2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TextBox 7"/>
          <p:cNvSpPr txBox="1"/>
          <p:nvPr/>
        </p:nvSpPr>
        <p:spPr>
          <a:xfrm>
            <a:off x="2432304" y="2212848"/>
            <a:ext cx="1737360" cy="457200"/>
          </a:xfrm>
          <a:prstGeom prst="rect">
            <a:avLst/>
          </a:prstGeom>
          <a:noFill/>
        </p:spPr>
        <p:txBody>
          <a:bodyPr wrap="square" lIns="0" tIns="0" rIns="0" bIns="0" anchor="ctr">
            <a:spAutoFit/>
          </a:bodyPr>
          <a:lstStyle/>
          <a:p>
            <a:pPr algn="ctr"/>
            <a:r>
              <a:rPr sz="1500" b="1">
                <a:solidFill>
                  <a:srgbClr val="24211D"/>
                </a:solidFill>
                <a:latin typeface="맑은 고딕"/>
              </a:rPr>
              <a:t>표·목록</a:t>
            </a:r>
          </a:p>
        </p:txBody>
      </p:sp>
      <p:sp>
        <p:nvSpPr>
          <p:cNvPr id="9" name="Rounded Rectangle 8"/>
          <p:cNvSpPr/>
          <p:nvPr/>
        </p:nvSpPr>
        <p:spPr>
          <a:xfrm>
            <a:off x="4297680" y="2212848"/>
            <a:ext cx="1737360" cy="457200"/>
          </a:xfrm>
          <a:prstGeom prst="roundRect">
            <a:avLst>
              <a:gd name="adj" fmla="val 2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TextBox 9"/>
          <p:cNvSpPr txBox="1"/>
          <p:nvPr/>
        </p:nvSpPr>
        <p:spPr>
          <a:xfrm>
            <a:off x="4297680" y="2212848"/>
            <a:ext cx="1737360" cy="457200"/>
          </a:xfrm>
          <a:prstGeom prst="rect">
            <a:avLst/>
          </a:prstGeom>
          <a:noFill/>
        </p:spPr>
        <p:txBody>
          <a:bodyPr wrap="square" lIns="0" tIns="0" rIns="0" bIns="0" anchor="ctr">
            <a:spAutoFit/>
          </a:bodyPr>
          <a:lstStyle/>
          <a:p>
            <a:pPr algn="ctr"/>
            <a:r>
              <a:rPr sz="1500" b="1">
                <a:solidFill>
                  <a:srgbClr val="24211D"/>
                </a:solidFill>
                <a:latin typeface="맑은 고딕"/>
              </a:rPr>
              <a:t>코드</a:t>
            </a:r>
          </a:p>
        </p:txBody>
      </p:sp>
      <p:sp>
        <p:nvSpPr>
          <p:cNvPr id="11" name="Rounded Rectangle 10"/>
          <p:cNvSpPr/>
          <p:nvPr/>
        </p:nvSpPr>
        <p:spPr>
          <a:xfrm>
            <a:off x="6163056" y="2212848"/>
            <a:ext cx="1737360" cy="457200"/>
          </a:xfrm>
          <a:prstGeom prst="roundRect">
            <a:avLst>
              <a:gd name="adj" fmla="val 2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6163056" y="2212848"/>
            <a:ext cx="1737360" cy="457200"/>
          </a:xfrm>
          <a:prstGeom prst="rect">
            <a:avLst/>
          </a:prstGeom>
          <a:noFill/>
        </p:spPr>
        <p:txBody>
          <a:bodyPr wrap="square" lIns="0" tIns="0" rIns="0" bIns="0" anchor="ctr">
            <a:spAutoFit/>
          </a:bodyPr>
          <a:lstStyle/>
          <a:p>
            <a:pPr algn="ctr"/>
            <a:r>
              <a:rPr sz="1500" b="1">
                <a:solidFill>
                  <a:srgbClr val="24211D"/>
                </a:solidFill>
                <a:latin typeface="맑은 고딕"/>
              </a:rPr>
              <a:t>웹페이지</a:t>
            </a:r>
          </a:p>
        </p:txBody>
      </p:sp>
      <p:sp>
        <p:nvSpPr>
          <p:cNvPr id="13" name="Rounded Rectangle 12"/>
          <p:cNvSpPr/>
          <p:nvPr/>
        </p:nvSpPr>
        <p:spPr>
          <a:xfrm>
            <a:off x="8028431" y="2212848"/>
            <a:ext cx="1737360" cy="457200"/>
          </a:xfrm>
          <a:prstGeom prst="roundRect">
            <a:avLst>
              <a:gd name="adj" fmla="val 2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TextBox 13"/>
          <p:cNvSpPr txBox="1"/>
          <p:nvPr/>
        </p:nvSpPr>
        <p:spPr>
          <a:xfrm>
            <a:off x="8028431" y="2212848"/>
            <a:ext cx="1737360" cy="457200"/>
          </a:xfrm>
          <a:prstGeom prst="rect">
            <a:avLst/>
          </a:prstGeom>
          <a:noFill/>
        </p:spPr>
        <p:txBody>
          <a:bodyPr wrap="square" lIns="0" tIns="0" rIns="0" bIns="0" anchor="ctr">
            <a:spAutoFit/>
          </a:bodyPr>
          <a:lstStyle/>
          <a:p>
            <a:pPr algn="ctr"/>
            <a:r>
              <a:rPr sz="1500" b="1">
                <a:solidFill>
                  <a:srgbClr val="24211D"/>
                </a:solidFill>
                <a:latin typeface="맑은 고딕"/>
              </a:rPr>
              <a:t>그림·도표</a:t>
            </a:r>
          </a:p>
        </p:txBody>
      </p:sp>
      <p:sp>
        <p:nvSpPr>
          <p:cNvPr id="15" name="Rounded Rectangle 14"/>
          <p:cNvSpPr/>
          <p:nvPr/>
        </p:nvSpPr>
        <p:spPr>
          <a:xfrm>
            <a:off x="9893807" y="2212848"/>
            <a:ext cx="1737360" cy="457200"/>
          </a:xfrm>
          <a:prstGeom prst="roundRect">
            <a:avLst>
              <a:gd name="adj" fmla="val 2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TextBox 15"/>
          <p:cNvSpPr txBox="1"/>
          <p:nvPr/>
        </p:nvSpPr>
        <p:spPr>
          <a:xfrm>
            <a:off x="9893807" y="2212848"/>
            <a:ext cx="1737360" cy="457200"/>
          </a:xfrm>
          <a:prstGeom prst="rect">
            <a:avLst/>
          </a:prstGeom>
          <a:noFill/>
        </p:spPr>
        <p:txBody>
          <a:bodyPr wrap="square" lIns="0" tIns="0" rIns="0" bIns="0" anchor="ctr">
            <a:spAutoFit/>
          </a:bodyPr>
          <a:lstStyle/>
          <a:p>
            <a:pPr algn="ctr"/>
            <a:r>
              <a:rPr sz="1500" b="1">
                <a:solidFill>
                  <a:srgbClr val="24211D"/>
                </a:solidFill>
                <a:latin typeface="맑은 고딕"/>
              </a:rPr>
              <a:t>계산기·앱</a:t>
            </a:r>
          </a:p>
        </p:txBody>
      </p:sp>
      <p:sp>
        <p:nvSpPr>
          <p:cNvPr id="17" name="TextBox 16"/>
          <p:cNvSpPr txBox="1"/>
          <p:nvPr/>
        </p:nvSpPr>
        <p:spPr>
          <a:xfrm>
            <a:off x="566928" y="2761488"/>
            <a:ext cx="11064240" cy="256032"/>
          </a:xfrm>
          <a:prstGeom prst="rect">
            <a:avLst/>
          </a:prstGeom>
          <a:noFill/>
        </p:spPr>
        <p:txBody>
          <a:bodyPr wrap="square" lIns="0" tIns="0" rIns="0" bIns="0" anchor="t">
            <a:spAutoFit/>
          </a:bodyPr>
          <a:lstStyle/>
          <a:p>
            <a:pPr algn="l"/>
            <a:r>
              <a:rPr sz="1400" b="0">
                <a:solidFill>
                  <a:srgbClr val="514B43"/>
                </a:solidFill>
                <a:latin typeface="맑은 고딕"/>
              </a:rPr>
              <a:t>15줄이 넘고, 따로 떼어 써도 말이 되고, 나중에 다시 볼 만한 것이면 자동으로 만들어집니다</a:t>
            </a:r>
          </a:p>
        </p:txBody>
      </p:sp>
      <p:sp>
        <p:nvSpPr>
          <p:cNvPr id="18" name="TextBox 17"/>
          <p:cNvSpPr txBox="1"/>
          <p:nvPr/>
        </p:nvSpPr>
        <p:spPr>
          <a:xfrm>
            <a:off x="566928" y="3182112"/>
            <a:ext cx="5577840" cy="292608"/>
          </a:xfrm>
          <a:prstGeom prst="rect">
            <a:avLst/>
          </a:prstGeom>
          <a:noFill/>
        </p:spPr>
        <p:txBody>
          <a:bodyPr wrap="square" lIns="0" tIns="0" rIns="0" bIns="0" anchor="t">
            <a:spAutoFit/>
          </a:bodyPr>
          <a:lstStyle/>
          <a:p>
            <a:pPr algn="l"/>
            <a:r>
              <a:rPr sz="1500" b="1">
                <a:solidFill>
                  <a:srgbClr val="A8462A"/>
                </a:solidFill>
                <a:latin typeface="맑은 고딕"/>
              </a:rPr>
              <a:t>이렇게 쓸 수 있습니다</a:t>
            </a:r>
          </a:p>
        </p:txBody>
      </p:sp>
      <p:sp>
        <p:nvSpPr>
          <p:cNvPr id="19" name="Oval 18"/>
          <p:cNvSpPr/>
          <p:nvPr/>
        </p:nvSpPr>
        <p:spPr>
          <a:xfrm>
            <a:off x="566928" y="3584448"/>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TextBox 19"/>
          <p:cNvSpPr txBox="1"/>
          <p:nvPr/>
        </p:nvSpPr>
        <p:spPr>
          <a:xfrm>
            <a:off x="566928" y="3584448"/>
            <a:ext cx="329184" cy="329184"/>
          </a:xfrm>
          <a:prstGeom prst="rect">
            <a:avLst/>
          </a:prstGeom>
          <a:noFill/>
        </p:spPr>
        <p:txBody>
          <a:bodyPr wrap="square" lIns="0" tIns="0" rIns="0" bIns="0" anchor="ctr">
            <a:spAutoFit/>
          </a:bodyPr>
          <a:lstStyle/>
          <a:p>
            <a:pPr algn="ctr"/>
            <a:r>
              <a:rPr sz="1500" b="1">
                <a:solidFill>
                  <a:srgbClr val="FFFFFF"/>
                </a:solidFill>
                <a:latin typeface="맑은 고딕"/>
              </a:rPr>
              <a:t>1</a:t>
            </a:r>
          </a:p>
        </p:txBody>
      </p:sp>
      <p:sp>
        <p:nvSpPr>
          <p:cNvPr id="21" name="TextBox 20"/>
          <p:cNvSpPr txBox="1"/>
          <p:nvPr/>
        </p:nvSpPr>
        <p:spPr>
          <a:xfrm>
            <a:off x="1042415" y="3529584"/>
            <a:ext cx="2103120" cy="256032"/>
          </a:xfrm>
          <a:prstGeom prst="rect">
            <a:avLst/>
          </a:prstGeom>
          <a:noFill/>
        </p:spPr>
        <p:txBody>
          <a:bodyPr wrap="square" lIns="0" tIns="0" rIns="0" bIns="0" anchor="t">
            <a:spAutoFit/>
          </a:bodyPr>
          <a:lstStyle/>
          <a:p>
            <a:pPr algn="l"/>
            <a:r>
              <a:rPr sz="1600" b="1">
                <a:solidFill>
                  <a:srgbClr val="24211D"/>
                </a:solidFill>
                <a:latin typeface="맑은 고딕"/>
              </a:rPr>
              <a:t>버전을 넘나든다</a:t>
            </a:r>
          </a:p>
        </p:txBody>
      </p:sp>
      <p:sp>
        <p:nvSpPr>
          <p:cNvPr id="22" name="TextBox 21"/>
          <p:cNvSpPr txBox="1"/>
          <p:nvPr/>
        </p:nvSpPr>
        <p:spPr>
          <a:xfrm>
            <a:off x="3200400" y="3529584"/>
            <a:ext cx="2944368" cy="256032"/>
          </a:xfrm>
          <a:prstGeom prst="rect">
            <a:avLst/>
          </a:prstGeom>
          <a:noFill/>
        </p:spPr>
        <p:txBody>
          <a:bodyPr wrap="square" lIns="0" tIns="0" rIns="0" bIns="0" anchor="t">
            <a:spAutoFit/>
          </a:bodyPr>
          <a:lstStyle/>
          <a:p>
            <a:pPr algn="l"/>
            <a:r>
              <a:rPr sz="1300" b="0">
                <a:solidFill>
                  <a:srgbClr val="514B43"/>
                </a:solidFill>
                <a:latin typeface="맑은 고딕"/>
              </a:rPr>
              <a:t>이전 버전으로 되돌릴 수 있습니다</a:t>
            </a:r>
          </a:p>
        </p:txBody>
      </p:sp>
      <p:sp>
        <p:nvSpPr>
          <p:cNvPr id="23" name="Oval 22"/>
          <p:cNvSpPr/>
          <p:nvPr/>
        </p:nvSpPr>
        <p:spPr>
          <a:xfrm>
            <a:off x="566928" y="4151375"/>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TextBox 23"/>
          <p:cNvSpPr txBox="1"/>
          <p:nvPr/>
        </p:nvSpPr>
        <p:spPr>
          <a:xfrm>
            <a:off x="566928" y="4151375"/>
            <a:ext cx="329184" cy="329184"/>
          </a:xfrm>
          <a:prstGeom prst="rect">
            <a:avLst/>
          </a:prstGeom>
          <a:noFill/>
        </p:spPr>
        <p:txBody>
          <a:bodyPr wrap="square" lIns="0" tIns="0" rIns="0" bIns="0" anchor="ctr">
            <a:spAutoFit/>
          </a:bodyPr>
          <a:lstStyle/>
          <a:p>
            <a:pPr algn="ctr"/>
            <a:r>
              <a:rPr sz="1500" b="1">
                <a:solidFill>
                  <a:srgbClr val="FFFFFF"/>
                </a:solidFill>
                <a:latin typeface="맑은 고딕"/>
              </a:rPr>
              <a:t>2</a:t>
            </a:r>
          </a:p>
        </p:txBody>
      </p:sp>
      <p:sp>
        <p:nvSpPr>
          <p:cNvPr id="25" name="TextBox 24"/>
          <p:cNvSpPr txBox="1"/>
          <p:nvPr/>
        </p:nvSpPr>
        <p:spPr>
          <a:xfrm>
            <a:off x="1042415" y="4096511"/>
            <a:ext cx="2103120" cy="256032"/>
          </a:xfrm>
          <a:prstGeom prst="rect">
            <a:avLst/>
          </a:prstGeom>
          <a:noFill/>
        </p:spPr>
        <p:txBody>
          <a:bodyPr wrap="square" lIns="0" tIns="0" rIns="0" bIns="0" anchor="t">
            <a:spAutoFit/>
          </a:bodyPr>
          <a:lstStyle/>
          <a:p>
            <a:pPr algn="l"/>
            <a:r>
              <a:rPr sz="1600" b="1">
                <a:solidFill>
                  <a:srgbClr val="24211D"/>
                </a:solidFill>
                <a:latin typeface="맑은 고딕"/>
              </a:rPr>
              <a:t>그 자리에서 고친다</a:t>
            </a:r>
          </a:p>
        </p:txBody>
      </p:sp>
      <p:sp>
        <p:nvSpPr>
          <p:cNvPr id="26" name="TextBox 25"/>
          <p:cNvSpPr txBox="1"/>
          <p:nvPr/>
        </p:nvSpPr>
        <p:spPr>
          <a:xfrm>
            <a:off x="3200400" y="4096511"/>
            <a:ext cx="2944368" cy="256032"/>
          </a:xfrm>
          <a:prstGeom prst="rect">
            <a:avLst/>
          </a:prstGeom>
          <a:noFill/>
        </p:spPr>
        <p:txBody>
          <a:bodyPr wrap="square" lIns="0" tIns="0" rIns="0" bIns="0" anchor="t">
            <a:spAutoFit/>
          </a:bodyPr>
          <a:lstStyle/>
          <a:p>
            <a:pPr algn="l"/>
            <a:r>
              <a:rPr sz="1300" b="0">
                <a:solidFill>
                  <a:srgbClr val="514B43"/>
                </a:solidFill>
                <a:latin typeface="맑은 고딕"/>
              </a:rPr>
              <a:t>고칠 부분을 드래그해 Edit with Claude</a:t>
            </a:r>
          </a:p>
        </p:txBody>
      </p:sp>
      <p:sp>
        <p:nvSpPr>
          <p:cNvPr id="27" name="Oval 26"/>
          <p:cNvSpPr/>
          <p:nvPr/>
        </p:nvSpPr>
        <p:spPr>
          <a:xfrm>
            <a:off x="566928" y="4718303"/>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TextBox 27"/>
          <p:cNvSpPr txBox="1"/>
          <p:nvPr/>
        </p:nvSpPr>
        <p:spPr>
          <a:xfrm>
            <a:off x="566928" y="4718303"/>
            <a:ext cx="329184" cy="329184"/>
          </a:xfrm>
          <a:prstGeom prst="rect">
            <a:avLst/>
          </a:prstGeom>
          <a:noFill/>
        </p:spPr>
        <p:txBody>
          <a:bodyPr wrap="square" lIns="0" tIns="0" rIns="0" bIns="0" anchor="ctr">
            <a:spAutoFit/>
          </a:bodyPr>
          <a:lstStyle/>
          <a:p>
            <a:pPr algn="ctr"/>
            <a:r>
              <a:rPr sz="1500" b="1">
                <a:solidFill>
                  <a:srgbClr val="FFFFFF"/>
                </a:solidFill>
                <a:latin typeface="맑은 고딕"/>
              </a:rPr>
              <a:t>3</a:t>
            </a:r>
          </a:p>
        </p:txBody>
      </p:sp>
      <p:sp>
        <p:nvSpPr>
          <p:cNvPr id="29" name="TextBox 28"/>
          <p:cNvSpPr txBox="1"/>
          <p:nvPr/>
        </p:nvSpPr>
        <p:spPr>
          <a:xfrm>
            <a:off x="1042415" y="4663440"/>
            <a:ext cx="2103120" cy="256032"/>
          </a:xfrm>
          <a:prstGeom prst="rect">
            <a:avLst/>
          </a:prstGeom>
          <a:noFill/>
        </p:spPr>
        <p:txBody>
          <a:bodyPr wrap="square" lIns="0" tIns="0" rIns="0" bIns="0" anchor="t">
            <a:spAutoFit/>
          </a:bodyPr>
          <a:lstStyle/>
          <a:p>
            <a:pPr algn="l"/>
            <a:r>
              <a:rPr sz="1600" b="1">
                <a:solidFill>
                  <a:srgbClr val="24211D"/>
                </a:solidFill>
                <a:latin typeface="맑은 고딕"/>
              </a:rPr>
              <a:t>그대로 꺼낸다</a:t>
            </a:r>
          </a:p>
        </p:txBody>
      </p:sp>
      <p:sp>
        <p:nvSpPr>
          <p:cNvPr id="30" name="TextBox 29"/>
          <p:cNvSpPr txBox="1"/>
          <p:nvPr/>
        </p:nvSpPr>
        <p:spPr>
          <a:xfrm>
            <a:off x="3200400" y="4663440"/>
            <a:ext cx="2944368" cy="256032"/>
          </a:xfrm>
          <a:prstGeom prst="rect">
            <a:avLst/>
          </a:prstGeom>
          <a:noFill/>
        </p:spPr>
        <p:txBody>
          <a:bodyPr wrap="square" lIns="0" tIns="0" rIns="0" bIns="0" anchor="t">
            <a:spAutoFit/>
          </a:bodyPr>
          <a:lstStyle/>
          <a:p>
            <a:pPr algn="l"/>
            <a:r>
              <a:rPr sz="1300" b="0">
                <a:solidFill>
                  <a:srgbClr val="514B43"/>
                </a:solidFill>
                <a:latin typeface="맑은 고딕"/>
              </a:rPr>
              <a:t>코드 보기 · 복사 · 내려받기</a:t>
            </a:r>
          </a:p>
        </p:txBody>
      </p:sp>
      <p:sp>
        <p:nvSpPr>
          <p:cNvPr id="31" name="Rounded Rectangle 30"/>
          <p:cNvSpPr/>
          <p:nvPr/>
        </p:nvSpPr>
        <p:spPr>
          <a:xfrm>
            <a:off x="6345936" y="3182112"/>
            <a:ext cx="5285232" cy="2011680"/>
          </a:xfrm>
          <a:prstGeom prst="roundRect">
            <a:avLst>
              <a:gd name="adj" fmla="val 8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TextBox 31"/>
          <p:cNvSpPr txBox="1"/>
          <p:nvPr/>
        </p:nvSpPr>
        <p:spPr>
          <a:xfrm>
            <a:off x="6620256" y="3401568"/>
            <a:ext cx="4736592" cy="274320"/>
          </a:xfrm>
          <a:prstGeom prst="rect">
            <a:avLst/>
          </a:prstGeom>
          <a:noFill/>
        </p:spPr>
        <p:txBody>
          <a:bodyPr wrap="square" lIns="0" tIns="0" rIns="0" bIns="0" anchor="t">
            <a:spAutoFit/>
          </a:bodyPr>
          <a:lstStyle/>
          <a:p>
            <a:pPr algn="l"/>
            <a:r>
              <a:rPr sz="1500" b="1">
                <a:solidFill>
                  <a:srgbClr val="A8462A"/>
                </a:solidFill>
                <a:latin typeface="맑은 고딕"/>
              </a:rPr>
              <a:t>자주 놓치는 것</a:t>
            </a:r>
          </a:p>
        </p:txBody>
      </p:sp>
      <p:sp>
        <p:nvSpPr>
          <p:cNvPr id="33" name="TextBox 32"/>
          <p:cNvSpPr txBox="1"/>
          <p:nvPr/>
        </p:nvSpPr>
        <p:spPr>
          <a:xfrm>
            <a:off x="6620256" y="3749039"/>
            <a:ext cx="4736592" cy="822960"/>
          </a:xfrm>
          <a:prstGeom prst="rect">
            <a:avLst/>
          </a:prstGeom>
          <a:noFill/>
        </p:spPr>
        <p:txBody>
          <a:bodyPr wrap="square" lIns="0" tIns="0" rIns="0" bIns="0" anchor="t">
            <a:spAutoFit/>
          </a:bodyPr>
          <a:lstStyle/>
          <a:p>
            <a:pPr algn="l"/>
            <a:r>
              <a:rPr sz="1500" b="0">
                <a:solidFill>
                  <a:srgbClr val="24211D"/>
                </a:solidFill>
                <a:latin typeface="맑은 고딕"/>
              </a:rPr>
              <a:t>대화에서 만든 아티팩트는 목록에</a:t>
            </a:r>
          </a:p>
          <a:p>
            <a:pPr algn="l"/>
            <a:r>
              <a:rPr sz="1500" b="0">
                <a:solidFill>
                  <a:srgbClr val="24211D"/>
                </a:solidFill>
                <a:latin typeface="맑은 고딕"/>
              </a:rPr>
              <a:t>자동으로 올라가지 않습니다.</a:t>
            </a:r>
          </a:p>
          <a:p>
            <a:pPr algn="l"/>
            <a:r>
              <a:rPr sz="1500" b="0">
                <a:solidFill>
                  <a:srgbClr val="24211D"/>
                </a:solidFill>
                <a:latin typeface="맑은 고딕"/>
              </a:rPr>
              <a:t>열어서 Publish 를 눌러야 남습니다.</a:t>
            </a:r>
          </a:p>
        </p:txBody>
      </p:sp>
      <p:sp>
        <p:nvSpPr>
          <p:cNvPr id="34" name="TextBox 33"/>
          <p:cNvSpPr txBox="1"/>
          <p:nvPr/>
        </p:nvSpPr>
        <p:spPr>
          <a:xfrm>
            <a:off x="6620256" y="4663440"/>
            <a:ext cx="4736592" cy="402336"/>
          </a:xfrm>
          <a:prstGeom prst="rect">
            <a:avLst/>
          </a:prstGeom>
          <a:noFill/>
        </p:spPr>
        <p:txBody>
          <a:bodyPr wrap="square" lIns="0" tIns="0" rIns="0" bIns="0" anchor="t">
            <a:spAutoFit/>
          </a:bodyPr>
          <a:lstStyle/>
          <a:p>
            <a:pPr algn="l"/>
            <a:r>
              <a:rPr sz="1400" b="0">
                <a:solidFill>
                  <a:srgbClr val="514B43"/>
                </a:solidFill>
                <a:latin typeface="맑은 고딕"/>
              </a:rPr>
              <a:t>오류가 나면 Try fixing with Claude</a:t>
            </a:r>
          </a:p>
          <a:p>
            <a:pPr algn="l"/>
            <a:r>
              <a:rPr sz="1400" b="0">
                <a:solidFill>
                  <a:srgbClr val="514B43"/>
                </a:solidFill>
                <a:latin typeface="맑은 고딕"/>
              </a:rPr>
              <a:t>버튼을 누르면 됩니다.</a:t>
            </a:r>
          </a:p>
        </p:txBody>
      </p:sp>
      <p:sp>
        <p:nvSpPr>
          <p:cNvPr id="35" name="Rounded Rectangle 34"/>
          <p:cNvSpPr/>
          <p:nvPr/>
        </p:nvSpPr>
        <p:spPr>
          <a:xfrm>
            <a:off x="566928" y="5376672"/>
            <a:ext cx="11064240" cy="786384"/>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TextBox 35"/>
          <p:cNvSpPr txBox="1"/>
          <p:nvPr/>
        </p:nvSpPr>
        <p:spPr>
          <a:xfrm>
            <a:off x="914400" y="5376672"/>
            <a:ext cx="10424160" cy="786384"/>
          </a:xfrm>
          <a:prstGeom prst="rect">
            <a:avLst/>
          </a:prstGeom>
          <a:noFill/>
        </p:spPr>
        <p:txBody>
          <a:bodyPr wrap="square" lIns="0" tIns="0" rIns="0" bIns="0" anchor="ctr">
            <a:spAutoFit/>
          </a:bodyPr>
          <a:lstStyle/>
          <a:p>
            <a:pPr algn="l"/>
            <a:r>
              <a:rPr sz="1800" b="1">
                <a:solidFill>
                  <a:srgbClr val="FFFFFF"/>
                </a:solidFill>
                <a:latin typeface="맑은 고딕"/>
              </a:rPr>
              <a:t>먼저 켜야 합니다 — 설정 &gt; Capabilities &gt; 코드 실행 및 파일 생성.</a:t>
            </a:r>
          </a:p>
          <a:p>
            <a:pPr algn="l"/>
            <a:r>
              <a:rPr sz="1800" b="1">
                <a:solidFill>
                  <a:srgbClr val="FFFFFF"/>
                </a:solidFill>
                <a:latin typeface="맑은 고딕"/>
              </a:rPr>
              <a:t>꺼져 있으면 아티팩트가 아예 나오지 않습니다.</a:t>
            </a:r>
          </a:p>
        </p:txBody>
      </p:sp>
      <p:sp>
        <p:nvSpPr>
          <p:cNvPr id="37" name="TextBox 36"/>
          <p:cNvSpPr txBox="1"/>
          <p:nvPr/>
        </p:nvSpPr>
        <p:spPr>
          <a:xfrm>
            <a:off x="566928" y="6272784"/>
            <a:ext cx="11064240" cy="310896"/>
          </a:xfrm>
          <a:prstGeom prst="rect">
            <a:avLst/>
          </a:prstGeom>
          <a:noFill/>
        </p:spPr>
        <p:txBody>
          <a:bodyPr wrap="square" lIns="0" tIns="0" rIns="0" bIns="0" anchor="t">
            <a:spAutoFit/>
          </a:bodyPr>
          <a:lstStyle/>
          <a:p>
            <a:pPr algn="l"/>
            <a:r>
              <a:rPr sz="1300" b="0">
                <a:solidFill>
                  <a:srgbClr val="514B43"/>
                </a:solidFill>
                <a:latin typeface="맑은 고딕"/>
              </a:rPr>
              <a:t>출처: support.claude.com/en/articles/9487310 (2026-08-07 직접 조회) · 무료 플랜에서도 쓸 수 있습니다</a:t>
            </a:r>
          </a:p>
        </p:txBody>
      </p:sp>
      <p:sp>
        <p:nvSpPr>
          <p:cNvPr id="38" name="TextBox 37">
            <a:extLst>
              <a:ext uri="{FF2B5EF4-FFF2-40B4-BE49-F238E27FC236}">
                <a16:creationId xmlns:a16="http://schemas.microsoft.com/office/drawing/2014/main" id="{5446D546-6139-AE2C-86B1-254A8A766B91}"/>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07 · </a:t>
            </a:r>
            <a:r>
              <a:rPr lang="ko-KR" altLang="en-US" sz="1200">
                <a:solidFill>
                  <a:srgbClr val="A69C90"/>
                </a:solidFill>
                <a:latin typeface="맑은 고딕" panose="020B0503020000020004" pitchFamily="50" charset="-127"/>
                <a:ea typeface="맑은 고딕" panose="020B0503020000020004" pitchFamily="50" charset="-127"/>
              </a:rPr>
              <a:t>프로젝트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아티팩트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예정됨          </a:t>
            </a:r>
            <a:r>
              <a:rPr lang="en-US" altLang="ko-KR" sz="1200">
                <a:solidFill>
                  <a:srgbClr val="A69C90"/>
                </a:solidFill>
                <a:latin typeface="맑은 고딕" panose="020B0503020000020004" pitchFamily="50" charset="-127"/>
                <a:ea typeface="맑은 고딕" panose="020B0503020000020004" pitchFamily="50" charset="-127"/>
              </a:rPr>
              <a:t>47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아티팩트는 두 종류입니다</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한 번 만들고 끝나는 것과, 열 때마다 새로 채워지는 것</a:t>
            </a:r>
          </a:p>
        </p:txBody>
      </p:sp>
      <p:sp>
        <p:nvSpPr>
          <p:cNvPr id="4" name="Rounded Rectangle 3"/>
          <p:cNvSpPr/>
          <p:nvPr/>
        </p:nvSpPr>
        <p:spPr>
          <a:xfrm>
            <a:off x="566928" y="1874519"/>
            <a:ext cx="5394960" cy="2615184"/>
          </a:xfrm>
          <a:prstGeom prst="roundRect">
            <a:avLst>
              <a:gd name="adj" fmla="val 7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TextBox 4"/>
          <p:cNvSpPr txBox="1"/>
          <p:nvPr/>
        </p:nvSpPr>
        <p:spPr>
          <a:xfrm>
            <a:off x="896112" y="2103120"/>
            <a:ext cx="4736592" cy="274320"/>
          </a:xfrm>
          <a:prstGeom prst="rect">
            <a:avLst/>
          </a:prstGeom>
          <a:noFill/>
        </p:spPr>
        <p:txBody>
          <a:bodyPr wrap="square" lIns="0" tIns="0" rIns="0" bIns="0" anchor="t">
            <a:spAutoFit/>
          </a:bodyPr>
          <a:lstStyle/>
          <a:p>
            <a:pPr algn="l"/>
            <a:r>
              <a:rPr sz="1500" b="1">
                <a:solidFill>
                  <a:srgbClr val="A8462A"/>
                </a:solidFill>
                <a:latin typeface="맑은 고딕"/>
              </a:rPr>
              <a:t>채팅 아티팩트</a:t>
            </a:r>
          </a:p>
        </p:txBody>
      </p:sp>
      <p:sp>
        <p:nvSpPr>
          <p:cNvPr id="6" name="TextBox 5"/>
          <p:cNvSpPr txBox="1"/>
          <p:nvPr/>
        </p:nvSpPr>
        <p:spPr>
          <a:xfrm>
            <a:off x="896112" y="2450592"/>
            <a:ext cx="4736592" cy="457200"/>
          </a:xfrm>
          <a:prstGeom prst="rect">
            <a:avLst/>
          </a:prstGeom>
          <a:noFill/>
        </p:spPr>
        <p:txBody>
          <a:bodyPr wrap="square" lIns="0" tIns="0" rIns="0" bIns="0" anchor="t">
            <a:spAutoFit/>
          </a:bodyPr>
          <a:lstStyle/>
          <a:p>
            <a:pPr algn="l"/>
            <a:r>
              <a:rPr sz="2400" b="1">
                <a:solidFill>
                  <a:srgbClr val="24211D"/>
                </a:solidFill>
                <a:latin typeface="맑은 고딕"/>
              </a:rPr>
              <a:t>만든 그때 그대로</a:t>
            </a:r>
          </a:p>
        </p:txBody>
      </p:sp>
      <p:sp>
        <p:nvSpPr>
          <p:cNvPr id="7" name="TextBox 6"/>
          <p:cNvSpPr txBox="1"/>
          <p:nvPr/>
        </p:nvSpPr>
        <p:spPr>
          <a:xfrm>
            <a:off x="896112" y="3035808"/>
            <a:ext cx="4736592" cy="1280160"/>
          </a:xfrm>
          <a:prstGeom prst="rect">
            <a:avLst/>
          </a:prstGeom>
          <a:noFill/>
        </p:spPr>
        <p:txBody>
          <a:bodyPr wrap="square" lIns="0" tIns="0" rIns="0" bIns="0" anchor="t">
            <a:spAutoFit/>
          </a:bodyPr>
          <a:lstStyle/>
          <a:p>
            <a:pPr algn="l"/>
            <a:r>
              <a:rPr sz="1600" b="0">
                <a:solidFill>
                  <a:srgbClr val="24211D"/>
                </a:solidFill>
                <a:latin typeface="맑은 고딕"/>
              </a:rPr>
              <a:t>· 대화 중에 만들어져 옆 창에 뜹니다</a:t>
            </a:r>
          </a:p>
          <a:p>
            <a:pPr algn="l"/>
            <a:r>
              <a:rPr sz="1600" b="0">
                <a:solidFill>
                  <a:srgbClr val="24211D"/>
                </a:solidFill>
                <a:latin typeface="맑은 고딕"/>
              </a:rPr>
              <a:t>· 내용이 그 시점으로 고정됩니다</a:t>
            </a:r>
          </a:p>
          <a:p>
            <a:pPr algn="l"/>
            <a:r>
              <a:rPr sz="1600" b="0">
                <a:solidFill>
                  <a:srgbClr val="24211D"/>
                </a:solidFill>
                <a:latin typeface="맑은 고딕"/>
              </a:rPr>
              <a:t>· 무료 플랜에서도 됩니다</a:t>
            </a:r>
          </a:p>
          <a:p>
            <a:pPr algn="l"/>
            <a:r>
              <a:rPr sz="1600" b="0">
                <a:solidFill>
                  <a:srgbClr val="24211D"/>
                </a:solidFill>
                <a:latin typeface="맑은 고딕"/>
              </a:rPr>
              <a:t>· 웹 · 앱 · 데스크탑 어디서나</a:t>
            </a:r>
          </a:p>
        </p:txBody>
      </p:sp>
      <p:sp>
        <p:nvSpPr>
          <p:cNvPr id="8" name="Rounded Rectangle 7"/>
          <p:cNvSpPr/>
          <p:nvPr/>
        </p:nvSpPr>
        <p:spPr>
          <a:xfrm>
            <a:off x="6236208" y="1874519"/>
            <a:ext cx="5394960" cy="2615184"/>
          </a:xfrm>
          <a:prstGeom prst="roundRect">
            <a:avLst>
              <a:gd name="adj" fmla="val 7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TextBox 8"/>
          <p:cNvSpPr txBox="1"/>
          <p:nvPr/>
        </p:nvSpPr>
        <p:spPr>
          <a:xfrm>
            <a:off x="6565392" y="2103120"/>
            <a:ext cx="4736592" cy="274320"/>
          </a:xfrm>
          <a:prstGeom prst="rect">
            <a:avLst/>
          </a:prstGeom>
          <a:noFill/>
        </p:spPr>
        <p:txBody>
          <a:bodyPr wrap="square" lIns="0" tIns="0" rIns="0" bIns="0" anchor="t">
            <a:spAutoFit/>
          </a:bodyPr>
          <a:lstStyle/>
          <a:p>
            <a:pPr algn="l"/>
            <a:r>
              <a:rPr sz="1500" b="1">
                <a:solidFill>
                  <a:srgbClr val="D97757"/>
                </a:solidFill>
                <a:latin typeface="맑은 고딕"/>
              </a:rPr>
              <a:t>Cowork 라이브 아티팩트</a:t>
            </a:r>
          </a:p>
        </p:txBody>
      </p:sp>
      <p:sp>
        <p:nvSpPr>
          <p:cNvPr id="10" name="TextBox 9"/>
          <p:cNvSpPr txBox="1"/>
          <p:nvPr/>
        </p:nvSpPr>
        <p:spPr>
          <a:xfrm>
            <a:off x="6565392" y="2450592"/>
            <a:ext cx="4736592" cy="457200"/>
          </a:xfrm>
          <a:prstGeom prst="rect">
            <a:avLst/>
          </a:prstGeom>
          <a:noFill/>
        </p:spPr>
        <p:txBody>
          <a:bodyPr wrap="square" lIns="0" tIns="0" rIns="0" bIns="0" anchor="t">
            <a:spAutoFit/>
          </a:bodyPr>
          <a:lstStyle/>
          <a:p>
            <a:pPr algn="l"/>
            <a:r>
              <a:rPr sz="2200" b="1">
                <a:solidFill>
                  <a:srgbClr val="FFFFFF"/>
                </a:solidFill>
                <a:latin typeface="맑은 고딕"/>
              </a:rPr>
              <a:t>열 때마다 새로 채워집니다</a:t>
            </a:r>
          </a:p>
        </p:txBody>
      </p:sp>
      <p:sp>
        <p:nvSpPr>
          <p:cNvPr id="11" name="TextBox 10"/>
          <p:cNvSpPr txBox="1"/>
          <p:nvPr/>
        </p:nvSpPr>
        <p:spPr>
          <a:xfrm>
            <a:off x="6565392" y="3035808"/>
            <a:ext cx="4736592" cy="1280160"/>
          </a:xfrm>
          <a:prstGeom prst="rect">
            <a:avLst/>
          </a:prstGeom>
          <a:noFill/>
        </p:spPr>
        <p:txBody>
          <a:bodyPr wrap="square" lIns="0" tIns="0" rIns="0" bIns="0" anchor="t">
            <a:spAutoFit/>
          </a:bodyPr>
          <a:lstStyle/>
          <a:p>
            <a:pPr algn="l"/>
            <a:r>
              <a:rPr sz="1600" b="0">
                <a:solidFill>
                  <a:srgbClr val="F6F1EA"/>
                </a:solidFill>
                <a:latin typeface="맑은 고딕"/>
              </a:rPr>
              <a:t>· 열면 연결된 앱에서 최신 자료를 가져옵니다</a:t>
            </a:r>
          </a:p>
          <a:p>
            <a:pPr algn="l"/>
            <a:r>
              <a:rPr sz="1600" b="0">
                <a:solidFill>
                  <a:srgbClr val="F6F1EA"/>
                </a:solidFill>
                <a:latin typeface="맑은 고딕"/>
              </a:rPr>
              <a:t>· 사이드바 목록에 계속 남습니다</a:t>
            </a:r>
          </a:p>
          <a:p>
            <a:pPr algn="l"/>
            <a:r>
              <a:rPr sz="1600" b="0">
                <a:solidFill>
                  <a:srgbClr val="F6F1EA"/>
                </a:solidFill>
                <a:latin typeface="맑은 고딕"/>
              </a:rPr>
              <a:t>· 고칠 때마다 이전 버전이 저장됩니다</a:t>
            </a:r>
          </a:p>
          <a:p>
            <a:pPr algn="l"/>
            <a:r>
              <a:rPr sz="1600" b="0">
                <a:solidFill>
                  <a:srgbClr val="F6F1EA"/>
                </a:solidFill>
                <a:latin typeface="맑은 고딕"/>
              </a:rPr>
              <a:t>· Pro 이상 · 데스크탑 전용</a:t>
            </a:r>
          </a:p>
        </p:txBody>
      </p:sp>
      <p:sp>
        <p:nvSpPr>
          <p:cNvPr id="12" name="TextBox 11"/>
          <p:cNvSpPr txBox="1"/>
          <p:nvPr/>
        </p:nvSpPr>
        <p:spPr>
          <a:xfrm>
            <a:off x="566928" y="4645152"/>
            <a:ext cx="11064240" cy="274320"/>
          </a:xfrm>
          <a:prstGeom prst="rect">
            <a:avLst/>
          </a:prstGeom>
          <a:noFill/>
        </p:spPr>
        <p:txBody>
          <a:bodyPr wrap="square" lIns="0" tIns="0" rIns="0" bIns="0" anchor="t">
            <a:spAutoFit/>
          </a:bodyPr>
          <a:lstStyle/>
          <a:p>
            <a:pPr algn="l"/>
            <a:r>
              <a:rPr sz="1500" b="1">
                <a:solidFill>
                  <a:srgbClr val="A8462A"/>
                </a:solidFill>
                <a:latin typeface="맑은 고딕"/>
              </a:rPr>
              <a:t>라이브 아티팩트는 이런 데 씁니다</a:t>
            </a:r>
          </a:p>
        </p:txBody>
      </p:sp>
      <p:sp>
        <p:nvSpPr>
          <p:cNvPr id="13" name="Rounded Rectangle 12"/>
          <p:cNvSpPr/>
          <p:nvPr/>
        </p:nvSpPr>
        <p:spPr>
          <a:xfrm>
            <a:off x="566928" y="4974336"/>
            <a:ext cx="3529584" cy="566928"/>
          </a:xfrm>
          <a:prstGeom prst="roundRect">
            <a:avLst>
              <a:gd name="adj" fmla="val 14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TextBox 13"/>
          <p:cNvSpPr txBox="1"/>
          <p:nvPr/>
        </p:nvSpPr>
        <p:spPr>
          <a:xfrm>
            <a:off x="786384" y="5047488"/>
            <a:ext cx="3090672" cy="219456"/>
          </a:xfrm>
          <a:prstGeom prst="rect">
            <a:avLst/>
          </a:prstGeom>
          <a:noFill/>
        </p:spPr>
        <p:txBody>
          <a:bodyPr wrap="square" lIns="0" tIns="0" rIns="0" bIns="0" anchor="t">
            <a:spAutoFit/>
          </a:bodyPr>
          <a:lstStyle/>
          <a:p>
            <a:pPr algn="l"/>
            <a:r>
              <a:rPr sz="1400" b="1">
                <a:solidFill>
                  <a:srgbClr val="24211D"/>
                </a:solidFill>
                <a:latin typeface="맑은 고딕"/>
              </a:rPr>
              <a:t>아침 브리핑</a:t>
            </a:r>
          </a:p>
        </p:txBody>
      </p:sp>
      <p:sp>
        <p:nvSpPr>
          <p:cNvPr id="15" name="TextBox 14"/>
          <p:cNvSpPr txBox="1"/>
          <p:nvPr/>
        </p:nvSpPr>
        <p:spPr>
          <a:xfrm>
            <a:off x="786384" y="5266944"/>
            <a:ext cx="3090672" cy="219456"/>
          </a:xfrm>
          <a:prstGeom prst="rect">
            <a:avLst/>
          </a:prstGeom>
          <a:noFill/>
        </p:spPr>
        <p:txBody>
          <a:bodyPr wrap="square" lIns="0" tIns="0" rIns="0" bIns="0" anchor="t">
            <a:spAutoFit/>
          </a:bodyPr>
          <a:lstStyle/>
          <a:p>
            <a:pPr algn="l"/>
            <a:r>
              <a:rPr sz="1200" b="0">
                <a:solidFill>
                  <a:srgbClr val="514B43"/>
                </a:solidFill>
                <a:latin typeface="맑은 고딕"/>
              </a:rPr>
              <a:t>오늘 일정 · 메일 · 할 일을 한 장으로</a:t>
            </a:r>
          </a:p>
        </p:txBody>
      </p:sp>
      <p:sp>
        <p:nvSpPr>
          <p:cNvPr id="16" name="Rounded Rectangle 15"/>
          <p:cNvSpPr/>
          <p:nvPr/>
        </p:nvSpPr>
        <p:spPr>
          <a:xfrm>
            <a:off x="4334256" y="4974336"/>
            <a:ext cx="3529584" cy="566928"/>
          </a:xfrm>
          <a:prstGeom prst="roundRect">
            <a:avLst>
              <a:gd name="adj" fmla="val 14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TextBox 16"/>
          <p:cNvSpPr txBox="1"/>
          <p:nvPr/>
        </p:nvSpPr>
        <p:spPr>
          <a:xfrm>
            <a:off x="4553712" y="5047488"/>
            <a:ext cx="3090672" cy="219456"/>
          </a:xfrm>
          <a:prstGeom prst="rect">
            <a:avLst/>
          </a:prstGeom>
          <a:noFill/>
        </p:spPr>
        <p:txBody>
          <a:bodyPr wrap="square" lIns="0" tIns="0" rIns="0" bIns="0" anchor="t">
            <a:spAutoFit/>
          </a:bodyPr>
          <a:lstStyle/>
          <a:p>
            <a:pPr algn="l"/>
            <a:r>
              <a:rPr sz="1400" b="1">
                <a:solidFill>
                  <a:srgbClr val="24211D"/>
                </a:solidFill>
                <a:latin typeface="맑은 고딕"/>
              </a:rPr>
              <a:t>현황 추적판</a:t>
            </a:r>
          </a:p>
        </p:txBody>
      </p:sp>
      <p:sp>
        <p:nvSpPr>
          <p:cNvPr id="18" name="TextBox 17"/>
          <p:cNvSpPr txBox="1"/>
          <p:nvPr/>
        </p:nvSpPr>
        <p:spPr>
          <a:xfrm>
            <a:off x="4553712" y="5266944"/>
            <a:ext cx="3090672" cy="219456"/>
          </a:xfrm>
          <a:prstGeom prst="rect">
            <a:avLst/>
          </a:prstGeom>
          <a:noFill/>
        </p:spPr>
        <p:txBody>
          <a:bodyPr wrap="square" lIns="0" tIns="0" rIns="0" bIns="0" anchor="t">
            <a:spAutoFit/>
          </a:bodyPr>
          <a:lstStyle/>
          <a:p>
            <a:pPr algn="l"/>
            <a:r>
              <a:rPr sz="1200" b="0">
                <a:solidFill>
                  <a:srgbClr val="514B43"/>
                </a:solidFill>
                <a:latin typeface="맑은 고딕"/>
              </a:rPr>
              <a:t>진행 중인 건을 열 때마다 최신으로</a:t>
            </a:r>
          </a:p>
        </p:txBody>
      </p:sp>
      <p:sp>
        <p:nvSpPr>
          <p:cNvPr id="19" name="Rounded Rectangle 18"/>
          <p:cNvSpPr/>
          <p:nvPr/>
        </p:nvSpPr>
        <p:spPr>
          <a:xfrm>
            <a:off x="8101583" y="4974336"/>
            <a:ext cx="3529584" cy="566928"/>
          </a:xfrm>
          <a:prstGeom prst="roundRect">
            <a:avLst>
              <a:gd name="adj" fmla="val 14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TextBox 19"/>
          <p:cNvSpPr txBox="1"/>
          <p:nvPr/>
        </p:nvSpPr>
        <p:spPr>
          <a:xfrm>
            <a:off x="8321040" y="5047488"/>
            <a:ext cx="3090672" cy="219456"/>
          </a:xfrm>
          <a:prstGeom prst="rect">
            <a:avLst/>
          </a:prstGeom>
          <a:noFill/>
        </p:spPr>
        <p:txBody>
          <a:bodyPr wrap="square" lIns="0" tIns="0" rIns="0" bIns="0" anchor="t">
            <a:spAutoFit/>
          </a:bodyPr>
          <a:lstStyle/>
          <a:p>
            <a:pPr algn="l"/>
            <a:r>
              <a:rPr sz="1400" b="1">
                <a:solidFill>
                  <a:srgbClr val="24211D"/>
                </a:solidFill>
                <a:latin typeface="맑은 고딕"/>
              </a:rPr>
              <a:t>관심 대상 감시</a:t>
            </a:r>
          </a:p>
        </p:txBody>
      </p:sp>
      <p:sp>
        <p:nvSpPr>
          <p:cNvPr id="21" name="TextBox 20"/>
          <p:cNvSpPr txBox="1"/>
          <p:nvPr/>
        </p:nvSpPr>
        <p:spPr>
          <a:xfrm>
            <a:off x="8321040" y="5266944"/>
            <a:ext cx="3090672" cy="219456"/>
          </a:xfrm>
          <a:prstGeom prst="rect">
            <a:avLst/>
          </a:prstGeom>
          <a:noFill/>
        </p:spPr>
        <p:txBody>
          <a:bodyPr wrap="square" lIns="0" tIns="0" rIns="0" bIns="0" anchor="t">
            <a:spAutoFit/>
          </a:bodyPr>
          <a:lstStyle/>
          <a:p>
            <a:pPr algn="l"/>
            <a:r>
              <a:rPr sz="1200" b="0">
                <a:solidFill>
                  <a:srgbClr val="514B43"/>
                </a:solidFill>
                <a:latin typeface="맑은 고딕"/>
              </a:rPr>
              <a:t>경쟁사 · 관심 종목의 변화를 모아서</a:t>
            </a:r>
          </a:p>
        </p:txBody>
      </p:sp>
      <p:sp>
        <p:nvSpPr>
          <p:cNvPr id="22" name="Rounded Rectangle 21"/>
          <p:cNvSpPr/>
          <p:nvPr/>
        </p:nvSpPr>
        <p:spPr>
          <a:xfrm>
            <a:off x="566928" y="5687568"/>
            <a:ext cx="11064240" cy="530352"/>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TextBox 22"/>
          <p:cNvSpPr txBox="1"/>
          <p:nvPr/>
        </p:nvSpPr>
        <p:spPr>
          <a:xfrm>
            <a:off x="914400" y="5687568"/>
            <a:ext cx="10424160" cy="530352"/>
          </a:xfrm>
          <a:prstGeom prst="rect">
            <a:avLst/>
          </a:prstGeom>
          <a:noFill/>
        </p:spPr>
        <p:txBody>
          <a:bodyPr wrap="square" lIns="0" tIns="0" rIns="0" bIns="0" anchor="ctr">
            <a:spAutoFit/>
          </a:bodyPr>
          <a:lstStyle/>
          <a:p>
            <a:pPr algn="l"/>
            <a:r>
              <a:rPr sz="1500" b="1">
                <a:solidFill>
                  <a:srgbClr val="FFFFFF"/>
                </a:solidFill>
                <a:latin typeface="맑은 고딕"/>
              </a:rPr>
              <a:t>라이브 아티팩트는 커넥터를 쓸 때 따로 묻지 않습니다. 내 컴퓨터에만 저장되어 기기를 바꾸면 따라오지 않습니다.</a:t>
            </a:r>
          </a:p>
        </p:txBody>
      </p:sp>
      <p:sp>
        <p:nvSpPr>
          <p:cNvPr id="24" name="TextBox 23"/>
          <p:cNvSpPr txBox="1"/>
          <p:nvPr/>
        </p:nvSpPr>
        <p:spPr>
          <a:xfrm>
            <a:off x="566928" y="6272784"/>
            <a:ext cx="11064240" cy="310896"/>
          </a:xfrm>
          <a:prstGeom prst="rect">
            <a:avLst/>
          </a:prstGeom>
          <a:noFill/>
        </p:spPr>
        <p:txBody>
          <a:bodyPr wrap="square" lIns="0" tIns="0" rIns="0" bIns="0" anchor="t">
            <a:spAutoFit/>
          </a:bodyPr>
          <a:lstStyle/>
          <a:p>
            <a:pPr algn="l"/>
            <a:r>
              <a:rPr sz="1300" b="0">
                <a:solidFill>
                  <a:srgbClr val="514B43"/>
                </a:solidFill>
                <a:latin typeface="맑은 고딕"/>
              </a:rPr>
              <a:t>출처: support.claude.com/en/articles/14729249 (2026-08-07 직접 조회)</a:t>
            </a:r>
          </a:p>
        </p:txBody>
      </p:sp>
      <p:sp>
        <p:nvSpPr>
          <p:cNvPr id="25" name="TextBox 24">
            <a:extLst>
              <a:ext uri="{FF2B5EF4-FFF2-40B4-BE49-F238E27FC236}">
                <a16:creationId xmlns:a16="http://schemas.microsoft.com/office/drawing/2014/main" id="{152782AB-31F1-8A90-B5CE-85DED6CF2396}"/>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07 · </a:t>
            </a:r>
            <a:r>
              <a:rPr lang="ko-KR" altLang="en-US" sz="1200">
                <a:solidFill>
                  <a:srgbClr val="A69C90"/>
                </a:solidFill>
                <a:latin typeface="맑은 고딕" panose="020B0503020000020004" pitchFamily="50" charset="-127"/>
                <a:ea typeface="맑은 고딕" panose="020B0503020000020004" pitchFamily="50" charset="-127"/>
              </a:rPr>
              <a:t>프로젝트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아티팩트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예정됨          </a:t>
            </a:r>
            <a:r>
              <a:rPr lang="en-US" altLang="ko-KR" sz="1200">
                <a:solidFill>
                  <a:srgbClr val="A69C90"/>
                </a:solidFill>
                <a:latin typeface="맑은 고딕" panose="020B0503020000020004" pitchFamily="50" charset="-127"/>
                <a:ea typeface="맑은 고딕" panose="020B0503020000020004" pitchFamily="50" charset="-127"/>
              </a:rPr>
              <a:t>48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예정됨 — 한 번 설명하면 알아서 반복합니다</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매번 같은 부탁을 다시 하지 않습니다. 결과물만 받아보면 됩니다</a:t>
            </a:r>
          </a:p>
        </p:txBody>
      </p:sp>
      <p:sp>
        <p:nvSpPr>
          <p:cNvPr id="4" name="TextBox 3"/>
          <p:cNvSpPr txBox="1"/>
          <p:nvPr/>
        </p:nvSpPr>
        <p:spPr>
          <a:xfrm>
            <a:off x="566928" y="1874519"/>
            <a:ext cx="5577840" cy="292608"/>
          </a:xfrm>
          <a:prstGeom prst="rect">
            <a:avLst/>
          </a:prstGeom>
          <a:noFill/>
        </p:spPr>
        <p:txBody>
          <a:bodyPr wrap="square" lIns="0" tIns="0" rIns="0" bIns="0" anchor="t">
            <a:spAutoFit/>
          </a:bodyPr>
          <a:lstStyle/>
          <a:p>
            <a:pPr algn="l"/>
            <a:r>
              <a:rPr sz="1500" b="1">
                <a:solidFill>
                  <a:srgbClr val="A8462A"/>
                </a:solidFill>
                <a:latin typeface="맑은 고딕"/>
              </a:rPr>
              <a:t>이런 데 씁니다</a:t>
            </a:r>
          </a:p>
        </p:txBody>
      </p:sp>
      <p:sp>
        <p:nvSpPr>
          <p:cNvPr id="5" name="Oval 4"/>
          <p:cNvSpPr/>
          <p:nvPr/>
        </p:nvSpPr>
        <p:spPr>
          <a:xfrm>
            <a:off x="566928" y="22860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p:cNvSpPr txBox="1"/>
          <p:nvPr/>
        </p:nvSpPr>
        <p:spPr>
          <a:xfrm>
            <a:off x="566928" y="2286000"/>
            <a:ext cx="329184" cy="329184"/>
          </a:xfrm>
          <a:prstGeom prst="rect">
            <a:avLst/>
          </a:prstGeom>
          <a:noFill/>
        </p:spPr>
        <p:txBody>
          <a:bodyPr wrap="square" lIns="0" tIns="0" rIns="0" bIns="0" anchor="ctr">
            <a:spAutoFit/>
          </a:bodyPr>
          <a:lstStyle/>
          <a:p>
            <a:pPr algn="ctr"/>
            <a:r>
              <a:rPr sz="1500" b="1">
                <a:solidFill>
                  <a:srgbClr val="FFFFFF"/>
                </a:solidFill>
                <a:latin typeface="맑은 고딕"/>
              </a:rPr>
              <a:t>1</a:t>
            </a:r>
          </a:p>
        </p:txBody>
      </p:sp>
      <p:sp>
        <p:nvSpPr>
          <p:cNvPr id="7" name="TextBox 6"/>
          <p:cNvSpPr txBox="1"/>
          <p:nvPr/>
        </p:nvSpPr>
        <p:spPr>
          <a:xfrm>
            <a:off x="1042415" y="2240280"/>
            <a:ext cx="1975104" cy="256032"/>
          </a:xfrm>
          <a:prstGeom prst="rect">
            <a:avLst/>
          </a:prstGeom>
          <a:noFill/>
        </p:spPr>
        <p:txBody>
          <a:bodyPr wrap="square" lIns="0" tIns="0" rIns="0" bIns="0" anchor="t">
            <a:spAutoFit/>
          </a:bodyPr>
          <a:lstStyle/>
          <a:p>
            <a:pPr algn="l"/>
            <a:r>
              <a:rPr sz="1600" b="1">
                <a:solidFill>
                  <a:srgbClr val="24211D"/>
                </a:solidFill>
                <a:latin typeface="맑은 고딕"/>
              </a:rPr>
              <a:t>매일 브리핑</a:t>
            </a:r>
          </a:p>
        </p:txBody>
      </p:sp>
      <p:sp>
        <p:nvSpPr>
          <p:cNvPr id="8" name="TextBox 7"/>
          <p:cNvSpPr txBox="1"/>
          <p:nvPr/>
        </p:nvSpPr>
        <p:spPr>
          <a:xfrm>
            <a:off x="3072384" y="2240280"/>
            <a:ext cx="3072384" cy="256032"/>
          </a:xfrm>
          <a:prstGeom prst="rect">
            <a:avLst/>
          </a:prstGeom>
          <a:noFill/>
        </p:spPr>
        <p:txBody>
          <a:bodyPr wrap="square" lIns="0" tIns="0" rIns="0" bIns="0" anchor="t">
            <a:spAutoFit/>
          </a:bodyPr>
          <a:lstStyle/>
          <a:p>
            <a:pPr algn="l"/>
            <a:r>
              <a:rPr sz="1300" b="0">
                <a:solidFill>
                  <a:srgbClr val="514B43"/>
                </a:solidFill>
                <a:latin typeface="맑은 고딕"/>
              </a:rPr>
              <a:t>지난 24시간 메일 · 일정 · 메시지를 요약</a:t>
            </a:r>
          </a:p>
        </p:txBody>
      </p:sp>
      <p:sp>
        <p:nvSpPr>
          <p:cNvPr id="9" name="Oval 8"/>
          <p:cNvSpPr/>
          <p:nvPr/>
        </p:nvSpPr>
        <p:spPr>
          <a:xfrm>
            <a:off x="566928" y="2798064"/>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TextBox 9"/>
          <p:cNvSpPr txBox="1"/>
          <p:nvPr/>
        </p:nvSpPr>
        <p:spPr>
          <a:xfrm>
            <a:off x="566928" y="2798064"/>
            <a:ext cx="329184" cy="329184"/>
          </a:xfrm>
          <a:prstGeom prst="rect">
            <a:avLst/>
          </a:prstGeom>
          <a:noFill/>
        </p:spPr>
        <p:txBody>
          <a:bodyPr wrap="square" lIns="0" tIns="0" rIns="0" bIns="0" anchor="ctr">
            <a:spAutoFit/>
          </a:bodyPr>
          <a:lstStyle/>
          <a:p>
            <a:pPr algn="ctr"/>
            <a:r>
              <a:rPr sz="1500" b="1">
                <a:solidFill>
                  <a:srgbClr val="FFFFFF"/>
                </a:solidFill>
                <a:latin typeface="맑은 고딕"/>
              </a:rPr>
              <a:t>2</a:t>
            </a:r>
          </a:p>
        </p:txBody>
      </p:sp>
      <p:sp>
        <p:nvSpPr>
          <p:cNvPr id="11" name="TextBox 10"/>
          <p:cNvSpPr txBox="1"/>
          <p:nvPr/>
        </p:nvSpPr>
        <p:spPr>
          <a:xfrm>
            <a:off x="1042415" y="2752344"/>
            <a:ext cx="1975104" cy="256032"/>
          </a:xfrm>
          <a:prstGeom prst="rect">
            <a:avLst/>
          </a:prstGeom>
          <a:noFill/>
        </p:spPr>
        <p:txBody>
          <a:bodyPr wrap="square" lIns="0" tIns="0" rIns="0" bIns="0" anchor="t">
            <a:spAutoFit/>
          </a:bodyPr>
          <a:lstStyle/>
          <a:p>
            <a:pPr algn="l"/>
            <a:r>
              <a:rPr sz="1600" b="1">
                <a:solidFill>
                  <a:srgbClr val="24211D"/>
                </a:solidFill>
                <a:latin typeface="맑은 고딕"/>
              </a:rPr>
              <a:t>주간 보고</a:t>
            </a:r>
          </a:p>
        </p:txBody>
      </p:sp>
      <p:sp>
        <p:nvSpPr>
          <p:cNvPr id="12" name="TextBox 11"/>
          <p:cNvSpPr txBox="1"/>
          <p:nvPr/>
        </p:nvSpPr>
        <p:spPr>
          <a:xfrm>
            <a:off x="3072384" y="2752344"/>
            <a:ext cx="3072384" cy="256032"/>
          </a:xfrm>
          <a:prstGeom prst="rect">
            <a:avLst/>
          </a:prstGeom>
          <a:noFill/>
        </p:spPr>
        <p:txBody>
          <a:bodyPr wrap="square" lIns="0" tIns="0" rIns="0" bIns="0" anchor="t">
            <a:spAutoFit/>
          </a:bodyPr>
          <a:lstStyle/>
          <a:p>
            <a:pPr algn="l"/>
            <a:r>
              <a:rPr sz="1300" b="0">
                <a:solidFill>
                  <a:srgbClr val="514B43"/>
                </a:solidFill>
                <a:latin typeface="맑은 고딕"/>
              </a:rPr>
              <a:t>흩어진 자료를 정해진 양식 한 장으로</a:t>
            </a:r>
          </a:p>
        </p:txBody>
      </p:sp>
      <p:sp>
        <p:nvSpPr>
          <p:cNvPr id="13" name="Oval 12"/>
          <p:cNvSpPr/>
          <p:nvPr/>
        </p:nvSpPr>
        <p:spPr>
          <a:xfrm>
            <a:off x="566928" y="3310128"/>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TextBox 13"/>
          <p:cNvSpPr txBox="1"/>
          <p:nvPr/>
        </p:nvSpPr>
        <p:spPr>
          <a:xfrm>
            <a:off x="566928" y="3310128"/>
            <a:ext cx="329184" cy="329184"/>
          </a:xfrm>
          <a:prstGeom prst="rect">
            <a:avLst/>
          </a:prstGeom>
          <a:noFill/>
        </p:spPr>
        <p:txBody>
          <a:bodyPr wrap="square" lIns="0" tIns="0" rIns="0" bIns="0" anchor="ctr">
            <a:spAutoFit/>
          </a:bodyPr>
          <a:lstStyle/>
          <a:p>
            <a:pPr algn="ctr"/>
            <a:r>
              <a:rPr sz="1500" b="1">
                <a:solidFill>
                  <a:srgbClr val="FFFFFF"/>
                </a:solidFill>
                <a:latin typeface="맑은 고딕"/>
              </a:rPr>
              <a:t>3</a:t>
            </a:r>
          </a:p>
        </p:txBody>
      </p:sp>
      <p:sp>
        <p:nvSpPr>
          <p:cNvPr id="15" name="TextBox 14"/>
          <p:cNvSpPr txBox="1"/>
          <p:nvPr/>
        </p:nvSpPr>
        <p:spPr>
          <a:xfrm>
            <a:off x="1042415" y="3264408"/>
            <a:ext cx="1975104" cy="256032"/>
          </a:xfrm>
          <a:prstGeom prst="rect">
            <a:avLst/>
          </a:prstGeom>
          <a:noFill/>
        </p:spPr>
        <p:txBody>
          <a:bodyPr wrap="square" lIns="0" tIns="0" rIns="0" bIns="0" anchor="t">
            <a:spAutoFit/>
          </a:bodyPr>
          <a:lstStyle/>
          <a:p>
            <a:pPr algn="l"/>
            <a:r>
              <a:rPr sz="1600" b="1">
                <a:solidFill>
                  <a:srgbClr val="24211D"/>
                </a:solidFill>
                <a:latin typeface="맑은 고딕"/>
              </a:rPr>
              <a:t>반복 조사</a:t>
            </a:r>
          </a:p>
        </p:txBody>
      </p:sp>
      <p:sp>
        <p:nvSpPr>
          <p:cNvPr id="16" name="TextBox 15"/>
          <p:cNvSpPr txBox="1"/>
          <p:nvPr/>
        </p:nvSpPr>
        <p:spPr>
          <a:xfrm>
            <a:off x="3072384" y="3264408"/>
            <a:ext cx="3072384" cy="256032"/>
          </a:xfrm>
          <a:prstGeom prst="rect">
            <a:avLst/>
          </a:prstGeom>
          <a:noFill/>
        </p:spPr>
        <p:txBody>
          <a:bodyPr wrap="square" lIns="0" tIns="0" rIns="0" bIns="0" anchor="t">
            <a:spAutoFit/>
          </a:bodyPr>
          <a:lstStyle/>
          <a:p>
            <a:pPr algn="l"/>
            <a:r>
              <a:rPr sz="1300" b="0">
                <a:solidFill>
                  <a:srgbClr val="514B43"/>
                </a:solidFill>
                <a:latin typeface="맑은 고딕"/>
              </a:rPr>
              <a:t>관심 주제 · 경쟁사 · 업계 동향 추적</a:t>
            </a:r>
          </a:p>
        </p:txBody>
      </p:sp>
      <p:sp>
        <p:nvSpPr>
          <p:cNvPr id="17" name="Oval 16"/>
          <p:cNvSpPr/>
          <p:nvPr/>
        </p:nvSpPr>
        <p:spPr>
          <a:xfrm>
            <a:off x="566928" y="3822192"/>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TextBox 17"/>
          <p:cNvSpPr txBox="1"/>
          <p:nvPr/>
        </p:nvSpPr>
        <p:spPr>
          <a:xfrm>
            <a:off x="566928" y="3822192"/>
            <a:ext cx="329184" cy="329184"/>
          </a:xfrm>
          <a:prstGeom prst="rect">
            <a:avLst/>
          </a:prstGeom>
          <a:noFill/>
        </p:spPr>
        <p:txBody>
          <a:bodyPr wrap="square" lIns="0" tIns="0" rIns="0" bIns="0" anchor="ctr">
            <a:spAutoFit/>
          </a:bodyPr>
          <a:lstStyle/>
          <a:p>
            <a:pPr algn="ctr"/>
            <a:r>
              <a:rPr sz="1500" b="1">
                <a:solidFill>
                  <a:srgbClr val="FFFFFF"/>
                </a:solidFill>
                <a:latin typeface="맑은 고딕"/>
              </a:rPr>
              <a:t>4</a:t>
            </a:r>
          </a:p>
        </p:txBody>
      </p:sp>
      <p:sp>
        <p:nvSpPr>
          <p:cNvPr id="19" name="TextBox 18"/>
          <p:cNvSpPr txBox="1"/>
          <p:nvPr/>
        </p:nvSpPr>
        <p:spPr>
          <a:xfrm>
            <a:off x="1042415" y="3776472"/>
            <a:ext cx="1975104" cy="256032"/>
          </a:xfrm>
          <a:prstGeom prst="rect">
            <a:avLst/>
          </a:prstGeom>
          <a:noFill/>
        </p:spPr>
        <p:txBody>
          <a:bodyPr wrap="square" lIns="0" tIns="0" rIns="0" bIns="0" anchor="t">
            <a:spAutoFit/>
          </a:bodyPr>
          <a:lstStyle/>
          <a:p>
            <a:pPr algn="l"/>
            <a:r>
              <a:rPr sz="1600" b="1">
                <a:solidFill>
                  <a:srgbClr val="24211D"/>
                </a:solidFill>
                <a:latin typeface="맑은 고딕"/>
              </a:rPr>
              <a:t>파일 정리</a:t>
            </a:r>
          </a:p>
        </p:txBody>
      </p:sp>
      <p:sp>
        <p:nvSpPr>
          <p:cNvPr id="20" name="TextBox 19"/>
          <p:cNvSpPr txBox="1"/>
          <p:nvPr/>
        </p:nvSpPr>
        <p:spPr>
          <a:xfrm>
            <a:off x="3072384" y="3776472"/>
            <a:ext cx="3072384" cy="256032"/>
          </a:xfrm>
          <a:prstGeom prst="rect">
            <a:avLst/>
          </a:prstGeom>
          <a:noFill/>
        </p:spPr>
        <p:txBody>
          <a:bodyPr wrap="square" lIns="0" tIns="0" rIns="0" bIns="0" anchor="t">
            <a:spAutoFit/>
          </a:bodyPr>
          <a:lstStyle/>
          <a:p>
            <a:pPr algn="l"/>
            <a:r>
              <a:rPr sz="1300" b="0">
                <a:solidFill>
                  <a:srgbClr val="514B43"/>
                </a:solidFill>
                <a:latin typeface="맑은 고딕"/>
              </a:rPr>
              <a:t>정해둔 폴더를 주기적으로 정돈</a:t>
            </a:r>
          </a:p>
        </p:txBody>
      </p:sp>
      <p:sp>
        <p:nvSpPr>
          <p:cNvPr id="21" name="Oval 20"/>
          <p:cNvSpPr/>
          <p:nvPr/>
        </p:nvSpPr>
        <p:spPr>
          <a:xfrm>
            <a:off x="566928" y="4334256"/>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TextBox 21"/>
          <p:cNvSpPr txBox="1"/>
          <p:nvPr/>
        </p:nvSpPr>
        <p:spPr>
          <a:xfrm>
            <a:off x="566928" y="4334256"/>
            <a:ext cx="329184" cy="329184"/>
          </a:xfrm>
          <a:prstGeom prst="rect">
            <a:avLst/>
          </a:prstGeom>
          <a:noFill/>
        </p:spPr>
        <p:txBody>
          <a:bodyPr wrap="square" lIns="0" tIns="0" rIns="0" bIns="0" anchor="ctr">
            <a:spAutoFit/>
          </a:bodyPr>
          <a:lstStyle/>
          <a:p>
            <a:pPr algn="ctr"/>
            <a:r>
              <a:rPr sz="1500" b="1">
                <a:solidFill>
                  <a:srgbClr val="FFFFFF"/>
                </a:solidFill>
                <a:latin typeface="맑은 고딕"/>
              </a:rPr>
              <a:t>5</a:t>
            </a:r>
          </a:p>
        </p:txBody>
      </p:sp>
      <p:sp>
        <p:nvSpPr>
          <p:cNvPr id="23" name="TextBox 22"/>
          <p:cNvSpPr txBox="1"/>
          <p:nvPr/>
        </p:nvSpPr>
        <p:spPr>
          <a:xfrm>
            <a:off x="1042415" y="4288536"/>
            <a:ext cx="1975104" cy="256032"/>
          </a:xfrm>
          <a:prstGeom prst="rect">
            <a:avLst/>
          </a:prstGeom>
          <a:noFill/>
        </p:spPr>
        <p:txBody>
          <a:bodyPr wrap="square" lIns="0" tIns="0" rIns="0" bIns="0" anchor="t">
            <a:spAutoFit/>
          </a:bodyPr>
          <a:lstStyle/>
          <a:p>
            <a:pPr algn="l"/>
            <a:r>
              <a:rPr sz="1600" b="1">
                <a:solidFill>
                  <a:srgbClr val="24211D"/>
                </a:solidFill>
                <a:latin typeface="맑은 고딕"/>
              </a:rPr>
              <a:t>진행 상황 정리</a:t>
            </a:r>
          </a:p>
        </p:txBody>
      </p:sp>
      <p:sp>
        <p:nvSpPr>
          <p:cNvPr id="24" name="TextBox 23"/>
          <p:cNvSpPr txBox="1"/>
          <p:nvPr/>
        </p:nvSpPr>
        <p:spPr>
          <a:xfrm>
            <a:off x="3072384" y="4288536"/>
            <a:ext cx="3072384" cy="256032"/>
          </a:xfrm>
          <a:prstGeom prst="rect">
            <a:avLst/>
          </a:prstGeom>
          <a:noFill/>
        </p:spPr>
        <p:txBody>
          <a:bodyPr wrap="square" lIns="0" tIns="0" rIns="0" bIns="0" anchor="t">
            <a:spAutoFit/>
          </a:bodyPr>
          <a:lstStyle/>
          <a:p>
            <a:pPr algn="l"/>
            <a:r>
              <a:rPr sz="1300" b="0">
                <a:solidFill>
                  <a:srgbClr val="514B43"/>
                </a:solidFill>
                <a:latin typeface="맑은 고딕"/>
              </a:rPr>
              <a:t>무엇이 어디까지 됐는지 정리</a:t>
            </a:r>
          </a:p>
        </p:txBody>
      </p:sp>
      <p:sp>
        <p:nvSpPr>
          <p:cNvPr id="25" name="TextBox 24"/>
          <p:cNvSpPr txBox="1"/>
          <p:nvPr/>
        </p:nvSpPr>
        <p:spPr>
          <a:xfrm>
            <a:off x="6492240" y="1874519"/>
            <a:ext cx="5138928" cy="292608"/>
          </a:xfrm>
          <a:prstGeom prst="rect">
            <a:avLst/>
          </a:prstGeom>
          <a:noFill/>
        </p:spPr>
        <p:txBody>
          <a:bodyPr wrap="square" lIns="0" tIns="0" rIns="0" bIns="0" anchor="t">
            <a:spAutoFit/>
          </a:bodyPr>
          <a:lstStyle/>
          <a:p>
            <a:pPr algn="l"/>
            <a:r>
              <a:rPr sz="1500" b="1">
                <a:solidFill>
                  <a:srgbClr val="A8462A"/>
                </a:solidFill>
                <a:latin typeface="맑은 고딕"/>
              </a:rPr>
              <a:t>얼마나 자주 돌릴지 고릅니다</a:t>
            </a:r>
          </a:p>
        </p:txBody>
      </p:sp>
      <p:sp>
        <p:nvSpPr>
          <p:cNvPr id="26" name="Rounded Rectangle 25"/>
          <p:cNvSpPr/>
          <p:nvPr/>
        </p:nvSpPr>
        <p:spPr>
          <a:xfrm>
            <a:off x="6492240" y="2240280"/>
            <a:ext cx="5138928" cy="384048"/>
          </a:xfrm>
          <a:prstGeom prst="roundRect">
            <a:avLst>
              <a:gd name="adj" fmla="val 24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TextBox 26"/>
          <p:cNvSpPr txBox="1"/>
          <p:nvPr/>
        </p:nvSpPr>
        <p:spPr>
          <a:xfrm>
            <a:off x="6803136" y="2240280"/>
            <a:ext cx="4572000" cy="384048"/>
          </a:xfrm>
          <a:prstGeom prst="rect">
            <a:avLst/>
          </a:prstGeom>
          <a:noFill/>
        </p:spPr>
        <p:txBody>
          <a:bodyPr wrap="square" lIns="0" tIns="0" rIns="0" bIns="0" anchor="ctr">
            <a:spAutoFit/>
          </a:bodyPr>
          <a:lstStyle/>
          <a:p>
            <a:pPr algn="l"/>
            <a:r>
              <a:rPr sz="1500" b="1">
                <a:solidFill>
                  <a:srgbClr val="24211D"/>
                </a:solidFill>
                <a:latin typeface="맑은 고딕"/>
              </a:rPr>
              <a:t>매시간</a:t>
            </a:r>
          </a:p>
        </p:txBody>
      </p:sp>
      <p:sp>
        <p:nvSpPr>
          <p:cNvPr id="28" name="Rounded Rectangle 27"/>
          <p:cNvSpPr/>
          <p:nvPr/>
        </p:nvSpPr>
        <p:spPr>
          <a:xfrm>
            <a:off x="6492240" y="2679192"/>
            <a:ext cx="5138928" cy="384048"/>
          </a:xfrm>
          <a:prstGeom prst="roundRect">
            <a:avLst>
              <a:gd name="adj" fmla="val 24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TextBox 28"/>
          <p:cNvSpPr txBox="1"/>
          <p:nvPr/>
        </p:nvSpPr>
        <p:spPr>
          <a:xfrm>
            <a:off x="6803136" y="2679192"/>
            <a:ext cx="4572000" cy="384048"/>
          </a:xfrm>
          <a:prstGeom prst="rect">
            <a:avLst/>
          </a:prstGeom>
          <a:noFill/>
        </p:spPr>
        <p:txBody>
          <a:bodyPr wrap="square" lIns="0" tIns="0" rIns="0" bIns="0" anchor="ctr">
            <a:spAutoFit/>
          </a:bodyPr>
          <a:lstStyle/>
          <a:p>
            <a:pPr algn="l"/>
            <a:r>
              <a:rPr sz="1500" b="1">
                <a:solidFill>
                  <a:srgbClr val="24211D"/>
                </a:solidFill>
                <a:latin typeface="맑은 고딕"/>
              </a:rPr>
              <a:t>매일</a:t>
            </a:r>
          </a:p>
        </p:txBody>
      </p:sp>
      <p:sp>
        <p:nvSpPr>
          <p:cNvPr id="30" name="Rounded Rectangle 29"/>
          <p:cNvSpPr/>
          <p:nvPr/>
        </p:nvSpPr>
        <p:spPr>
          <a:xfrm>
            <a:off x="6492240" y="3118104"/>
            <a:ext cx="5138928" cy="384048"/>
          </a:xfrm>
          <a:prstGeom prst="roundRect">
            <a:avLst>
              <a:gd name="adj" fmla="val 24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TextBox 30"/>
          <p:cNvSpPr txBox="1"/>
          <p:nvPr/>
        </p:nvSpPr>
        <p:spPr>
          <a:xfrm>
            <a:off x="6803136" y="3118104"/>
            <a:ext cx="4572000" cy="384048"/>
          </a:xfrm>
          <a:prstGeom prst="rect">
            <a:avLst/>
          </a:prstGeom>
          <a:noFill/>
        </p:spPr>
        <p:txBody>
          <a:bodyPr wrap="square" lIns="0" tIns="0" rIns="0" bIns="0" anchor="ctr">
            <a:spAutoFit/>
          </a:bodyPr>
          <a:lstStyle/>
          <a:p>
            <a:pPr algn="l"/>
            <a:r>
              <a:rPr sz="1500" b="1">
                <a:solidFill>
                  <a:srgbClr val="24211D"/>
                </a:solidFill>
                <a:latin typeface="맑은 고딕"/>
              </a:rPr>
              <a:t>매주</a:t>
            </a:r>
          </a:p>
        </p:txBody>
      </p:sp>
      <p:sp>
        <p:nvSpPr>
          <p:cNvPr id="32" name="Rounded Rectangle 31"/>
          <p:cNvSpPr/>
          <p:nvPr/>
        </p:nvSpPr>
        <p:spPr>
          <a:xfrm>
            <a:off x="6492240" y="3557016"/>
            <a:ext cx="5138928" cy="384048"/>
          </a:xfrm>
          <a:prstGeom prst="roundRect">
            <a:avLst>
              <a:gd name="adj" fmla="val 24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TextBox 32"/>
          <p:cNvSpPr txBox="1"/>
          <p:nvPr/>
        </p:nvSpPr>
        <p:spPr>
          <a:xfrm>
            <a:off x="6803136" y="3557016"/>
            <a:ext cx="4572000" cy="384048"/>
          </a:xfrm>
          <a:prstGeom prst="rect">
            <a:avLst/>
          </a:prstGeom>
          <a:noFill/>
        </p:spPr>
        <p:txBody>
          <a:bodyPr wrap="square" lIns="0" tIns="0" rIns="0" bIns="0" anchor="ctr">
            <a:spAutoFit/>
          </a:bodyPr>
          <a:lstStyle/>
          <a:p>
            <a:pPr algn="l"/>
            <a:r>
              <a:rPr sz="1500" b="1">
                <a:solidFill>
                  <a:srgbClr val="24211D"/>
                </a:solidFill>
                <a:latin typeface="맑은 고딕"/>
              </a:rPr>
              <a:t>평일만</a:t>
            </a:r>
          </a:p>
        </p:txBody>
      </p:sp>
      <p:sp>
        <p:nvSpPr>
          <p:cNvPr id="34" name="Rounded Rectangle 33"/>
          <p:cNvSpPr/>
          <p:nvPr/>
        </p:nvSpPr>
        <p:spPr>
          <a:xfrm>
            <a:off x="6492240" y="3995928"/>
            <a:ext cx="5138928" cy="384048"/>
          </a:xfrm>
          <a:prstGeom prst="roundRect">
            <a:avLst>
              <a:gd name="adj" fmla="val 24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TextBox 34"/>
          <p:cNvSpPr txBox="1"/>
          <p:nvPr/>
        </p:nvSpPr>
        <p:spPr>
          <a:xfrm>
            <a:off x="6803136" y="3995928"/>
            <a:ext cx="4572000" cy="384048"/>
          </a:xfrm>
          <a:prstGeom prst="rect">
            <a:avLst/>
          </a:prstGeom>
          <a:noFill/>
        </p:spPr>
        <p:txBody>
          <a:bodyPr wrap="square" lIns="0" tIns="0" rIns="0" bIns="0" anchor="ctr">
            <a:spAutoFit/>
          </a:bodyPr>
          <a:lstStyle/>
          <a:p>
            <a:pPr algn="l"/>
            <a:r>
              <a:rPr sz="1500" b="1">
                <a:solidFill>
                  <a:srgbClr val="24211D"/>
                </a:solidFill>
                <a:latin typeface="맑은 고딕"/>
              </a:rPr>
              <a:t>수동으로만</a:t>
            </a:r>
          </a:p>
        </p:txBody>
      </p:sp>
      <p:sp>
        <p:nvSpPr>
          <p:cNvPr id="36" name="Rounded Rectangle 35"/>
          <p:cNvSpPr/>
          <p:nvPr/>
        </p:nvSpPr>
        <p:spPr>
          <a:xfrm>
            <a:off x="6492240" y="4517136"/>
            <a:ext cx="5138928" cy="566928"/>
          </a:xfrm>
          <a:prstGeom prst="roundRect">
            <a:avLst>
              <a:gd name="adj" fmla="val 1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TextBox 36"/>
          <p:cNvSpPr txBox="1"/>
          <p:nvPr/>
        </p:nvSpPr>
        <p:spPr>
          <a:xfrm>
            <a:off x="6803136" y="4517136"/>
            <a:ext cx="4572000" cy="566928"/>
          </a:xfrm>
          <a:prstGeom prst="rect">
            <a:avLst/>
          </a:prstGeom>
          <a:noFill/>
        </p:spPr>
        <p:txBody>
          <a:bodyPr wrap="square" lIns="0" tIns="0" rIns="0" bIns="0" anchor="ctr">
            <a:spAutoFit/>
          </a:bodyPr>
          <a:lstStyle/>
          <a:p>
            <a:pPr algn="l"/>
            <a:r>
              <a:rPr sz="1400" b="0">
                <a:solidFill>
                  <a:srgbClr val="514B43"/>
                </a:solidFill>
                <a:latin typeface="맑은 고딕"/>
              </a:rPr>
              <a:t>평소 쓰는 커넥터 · 스킬 · 플러그인을</a:t>
            </a:r>
          </a:p>
          <a:p>
            <a:pPr algn="l"/>
            <a:r>
              <a:rPr sz="1400" b="0">
                <a:solidFill>
                  <a:srgbClr val="514B43"/>
                </a:solidFill>
                <a:latin typeface="맑은 고딕"/>
              </a:rPr>
              <a:t>그대로 씁니다</a:t>
            </a:r>
          </a:p>
        </p:txBody>
      </p:sp>
      <p:sp>
        <p:nvSpPr>
          <p:cNvPr id="38" name="Rounded Rectangle 37"/>
          <p:cNvSpPr/>
          <p:nvPr/>
        </p:nvSpPr>
        <p:spPr>
          <a:xfrm>
            <a:off x="566928" y="5266944"/>
            <a:ext cx="11064240" cy="82296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TextBox 38"/>
          <p:cNvSpPr txBox="1"/>
          <p:nvPr/>
        </p:nvSpPr>
        <p:spPr>
          <a:xfrm>
            <a:off x="914400" y="5266944"/>
            <a:ext cx="10424160" cy="822960"/>
          </a:xfrm>
          <a:prstGeom prst="rect">
            <a:avLst/>
          </a:prstGeom>
          <a:noFill/>
        </p:spPr>
        <p:txBody>
          <a:bodyPr wrap="square" lIns="0" tIns="0" rIns="0" bIns="0" anchor="ctr">
            <a:spAutoFit/>
          </a:bodyPr>
          <a:lstStyle/>
          <a:p>
            <a:pPr algn="l"/>
            <a:r>
              <a:rPr sz="1800" b="1">
                <a:solidFill>
                  <a:srgbClr val="FFFFFF"/>
                </a:solidFill>
                <a:latin typeface="맑은 고딕"/>
              </a:rPr>
              <a:t>컴퓨터를 꺼둬도, 앱을 닫아둬도 정해진 시각에 돌아갑니다.</a:t>
            </a:r>
          </a:p>
          <a:p>
            <a:pPr algn="l"/>
            <a:r>
              <a:rPr sz="1800" b="1">
                <a:solidFill>
                  <a:srgbClr val="FFFFFF"/>
                </a:solidFill>
                <a:latin typeface="맑은 고딕"/>
              </a:rPr>
              <a:t>원격에서 실행되기 때문입니다.</a:t>
            </a:r>
          </a:p>
        </p:txBody>
      </p:sp>
      <p:sp>
        <p:nvSpPr>
          <p:cNvPr id="40" name="TextBox 39"/>
          <p:cNvSpPr txBox="1"/>
          <p:nvPr/>
        </p:nvSpPr>
        <p:spPr>
          <a:xfrm>
            <a:off x="566928" y="6272784"/>
            <a:ext cx="11064240" cy="310896"/>
          </a:xfrm>
          <a:prstGeom prst="rect">
            <a:avLst/>
          </a:prstGeom>
          <a:noFill/>
        </p:spPr>
        <p:txBody>
          <a:bodyPr wrap="square" lIns="0" tIns="0" rIns="0" bIns="0" anchor="t">
            <a:spAutoFit/>
          </a:bodyPr>
          <a:lstStyle/>
          <a:p>
            <a:pPr algn="l"/>
            <a:r>
              <a:rPr sz="1300" b="0">
                <a:solidFill>
                  <a:srgbClr val="514B43"/>
                </a:solidFill>
                <a:latin typeface="맑은 고딕"/>
              </a:rPr>
              <a:t>출처: support.claude.com/en/articles/13854387 (2026-08-07 직접 조회) · 유료 플랜(Pro 이상)에서 쓸 수 있습니다</a:t>
            </a:r>
          </a:p>
        </p:txBody>
      </p:sp>
      <p:sp>
        <p:nvSpPr>
          <p:cNvPr id="41" name="TextBox 40">
            <a:extLst>
              <a:ext uri="{FF2B5EF4-FFF2-40B4-BE49-F238E27FC236}">
                <a16:creationId xmlns:a16="http://schemas.microsoft.com/office/drawing/2014/main" id="{2D344A9D-576D-E30B-548A-EC7345AE9CFF}"/>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07 · </a:t>
            </a:r>
            <a:r>
              <a:rPr lang="ko-KR" altLang="en-US" sz="1200">
                <a:solidFill>
                  <a:srgbClr val="A69C90"/>
                </a:solidFill>
                <a:latin typeface="맑은 고딕" panose="020B0503020000020004" pitchFamily="50" charset="-127"/>
                <a:ea typeface="맑은 고딕" panose="020B0503020000020004" pitchFamily="50" charset="-127"/>
              </a:rPr>
              <a:t>프로젝트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아티팩트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예정됨          </a:t>
            </a:r>
            <a:r>
              <a:rPr lang="en-US" altLang="ko-KR" sz="1200">
                <a:solidFill>
                  <a:srgbClr val="A69C90"/>
                </a:solidFill>
                <a:latin typeface="맑은 고딕" panose="020B0503020000020004" pitchFamily="50" charset="-127"/>
                <a:ea typeface="맑은 고딕" panose="020B0503020000020004" pitchFamily="50" charset="-127"/>
              </a:rPr>
              <a:t>49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64240" cy="777240"/>
          </a:xfrm>
          <a:prstGeom prst="rect">
            <a:avLst/>
          </a:prstGeom>
          <a:noFill/>
        </p:spPr>
        <p:txBody>
          <a:bodyPr wrap="square" lIns="0" tIns="0" rIns="0" bIns="0" anchor="ctr">
            <a:spAutoFit/>
          </a:bodyPr>
          <a:lstStyle/>
          <a:p>
            <a:pPr algn="l"/>
            <a:r>
              <a:rPr sz="3600" b="1">
                <a:solidFill>
                  <a:srgbClr val="24211D"/>
                </a:solidFill>
                <a:latin typeface="맑은 고딕"/>
              </a:rPr>
              <a:t>만들고, 멈추고, 다시 돌립니다</a:t>
            </a:r>
          </a:p>
        </p:txBody>
      </p:sp>
      <p:sp>
        <p:nvSpPr>
          <p:cNvPr id="3" name="TextBox 2"/>
          <p:cNvSpPr txBox="1"/>
          <p:nvPr/>
        </p:nvSpPr>
        <p:spPr>
          <a:xfrm>
            <a:off x="566928" y="1133856"/>
            <a:ext cx="11064240" cy="384048"/>
          </a:xfrm>
          <a:prstGeom prst="rect">
            <a:avLst/>
          </a:prstGeom>
          <a:noFill/>
        </p:spPr>
        <p:txBody>
          <a:bodyPr wrap="square" lIns="0" tIns="0" rIns="0" bIns="0" anchor="t">
            <a:spAutoFit/>
          </a:bodyPr>
          <a:lstStyle/>
          <a:p>
            <a:pPr algn="l"/>
            <a:r>
              <a:rPr sz="1800" b="0">
                <a:solidFill>
                  <a:srgbClr val="514B43"/>
                </a:solidFill>
                <a:latin typeface="맑은 고딕"/>
              </a:rPr>
              <a:t>좌측 사이드바의 예정됨 → 새 작업</a:t>
            </a:r>
          </a:p>
        </p:txBody>
      </p:sp>
      <p:sp>
        <p:nvSpPr>
          <p:cNvPr id="4" name="Rounded Rectangle 3"/>
          <p:cNvSpPr/>
          <p:nvPr/>
        </p:nvSpPr>
        <p:spPr>
          <a:xfrm>
            <a:off x="566928" y="1874519"/>
            <a:ext cx="5394960" cy="2103120"/>
          </a:xfrm>
          <a:prstGeom prst="roundRect">
            <a:avLst>
              <a:gd name="adj" fmla="val 7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TextBox 4"/>
          <p:cNvSpPr txBox="1"/>
          <p:nvPr/>
        </p:nvSpPr>
        <p:spPr>
          <a:xfrm>
            <a:off x="896112" y="2066543"/>
            <a:ext cx="4736592" cy="256032"/>
          </a:xfrm>
          <a:prstGeom prst="rect">
            <a:avLst/>
          </a:prstGeom>
          <a:noFill/>
        </p:spPr>
        <p:txBody>
          <a:bodyPr wrap="square" lIns="0" tIns="0" rIns="0" bIns="0" anchor="t">
            <a:spAutoFit/>
          </a:bodyPr>
          <a:lstStyle/>
          <a:p>
            <a:pPr algn="l"/>
            <a:r>
              <a:rPr sz="1400" b="1">
                <a:solidFill>
                  <a:srgbClr val="D97757"/>
                </a:solidFill>
                <a:latin typeface="맑은 고딕"/>
              </a:rPr>
              <a:t>권장</a:t>
            </a:r>
          </a:p>
        </p:txBody>
      </p:sp>
      <p:sp>
        <p:nvSpPr>
          <p:cNvPr id="6" name="TextBox 5"/>
          <p:cNvSpPr txBox="1"/>
          <p:nvPr/>
        </p:nvSpPr>
        <p:spPr>
          <a:xfrm>
            <a:off x="896112" y="2359152"/>
            <a:ext cx="4736592" cy="365760"/>
          </a:xfrm>
          <a:prstGeom prst="rect">
            <a:avLst/>
          </a:prstGeom>
          <a:noFill/>
        </p:spPr>
        <p:txBody>
          <a:bodyPr wrap="square" lIns="0" tIns="0" rIns="0" bIns="0" anchor="t">
            <a:spAutoFit/>
          </a:bodyPr>
          <a:lstStyle/>
          <a:p>
            <a:pPr algn="l"/>
            <a:r>
              <a:rPr sz="2200" b="1">
                <a:solidFill>
                  <a:srgbClr val="FFFFFF"/>
                </a:solidFill>
                <a:latin typeface="맑은 고딕"/>
              </a:rPr>
              <a:t>Claude 와 함께 만들기</a:t>
            </a:r>
          </a:p>
        </p:txBody>
      </p:sp>
      <p:sp>
        <p:nvSpPr>
          <p:cNvPr id="7" name="TextBox 6"/>
          <p:cNvSpPr txBox="1"/>
          <p:nvPr/>
        </p:nvSpPr>
        <p:spPr>
          <a:xfrm>
            <a:off x="896112" y="2834640"/>
            <a:ext cx="4736592" cy="1005840"/>
          </a:xfrm>
          <a:prstGeom prst="rect">
            <a:avLst/>
          </a:prstGeom>
          <a:noFill/>
        </p:spPr>
        <p:txBody>
          <a:bodyPr wrap="square" lIns="0" tIns="0" rIns="0" bIns="0" anchor="t">
            <a:spAutoFit/>
          </a:bodyPr>
          <a:lstStyle/>
          <a:p>
            <a:pPr algn="l"/>
            <a:r>
              <a:rPr sz="1500" b="0">
                <a:solidFill>
                  <a:srgbClr val="F6F1EA"/>
                </a:solidFill>
                <a:latin typeface="맑은 고딕"/>
              </a:rPr>
              <a:t>무엇을 언제 하고 싶은지 말하면</a:t>
            </a:r>
          </a:p>
          <a:p>
            <a:pPr algn="l"/>
            <a:r>
              <a:rPr sz="1500" b="0">
                <a:solidFill>
                  <a:srgbClr val="F6F1EA"/>
                </a:solidFill>
                <a:latin typeface="맑은 고딕"/>
              </a:rPr>
              <a:t>Claude 가 부족한 것을 되물어 채웁니다.</a:t>
            </a:r>
          </a:p>
          <a:p>
            <a:pPr algn="l"/>
            <a:endParaRPr sz="1500" b="0">
              <a:solidFill>
                <a:srgbClr val="F6F1EA"/>
              </a:solidFill>
              <a:latin typeface="맑은 고딕"/>
            </a:endParaRPr>
          </a:p>
          <a:p>
            <a:pPr algn="l"/>
            <a:r>
              <a:rPr sz="1500" b="0">
                <a:solidFill>
                  <a:srgbClr val="F6F1EA"/>
                </a:solidFill>
                <a:latin typeface="맑은 고딕"/>
              </a:rPr>
              <a:t>이름 · 주기 · 할 일을 보여주고,</a:t>
            </a:r>
          </a:p>
          <a:p>
            <a:pPr algn="l"/>
            <a:r>
              <a:rPr sz="1500" b="0">
                <a:solidFill>
                  <a:srgbClr val="F6F1EA"/>
                </a:solidFill>
                <a:latin typeface="맑은 고딕"/>
              </a:rPr>
              <a:t>예약 버튼을 누르면 등록됩니다.</a:t>
            </a:r>
          </a:p>
        </p:txBody>
      </p:sp>
      <p:sp>
        <p:nvSpPr>
          <p:cNvPr id="8" name="Rounded Rectangle 7"/>
          <p:cNvSpPr/>
          <p:nvPr/>
        </p:nvSpPr>
        <p:spPr>
          <a:xfrm>
            <a:off x="6236208" y="1874519"/>
            <a:ext cx="5394960" cy="2103120"/>
          </a:xfrm>
          <a:prstGeom prst="roundRect">
            <a:avLst>
              <a:gd name="adj" fmla="val 7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TextBox 8"/>
          <p:cNvSpPr txBox="1"/>
          <p:nvPr/>
        </p:nvSpPr>
        <p:spPr>
          <a:xfrm>
            <a:off x="6565392" y="2066543"/>
            <a:ext cx="4736592" cy="256032"/>
          </a:xfrm>
          <a:prstGeom prst="rect">
            <a:avLst/>
          </a:prstGeom>
          <a:noFill/>
        </p:spPr>
        <p:txBody>
          <a:bodyPr wrap="square" lIns="0" tIns="0" rIns="0" bIns="0" anchor="t">
            <a:spAutoFit/>
          </a:bodyPr>
          <a:lstStyle/>
          <a:p>
            <a:pPr algn="l"/>
            <a:r>
              <a:rPr sz="1400" b="1">
                <a:solidFill>
                  <a:srgbClr val="A8462A"/>
                </a:solidFill>
                <a:latin typeface="맑은 고딕"/>
              </a:rPr>
              <a:t>직접 설정하기</a:t>
            </a:r>
          </a:p>
        </p:txBody>
      </p:sp>
      <p:sp>
        <p:nvSpPr>
          <p:cNvPr id="10" name="TextBox 9"/>
          <p:cNvSpPr txBox="1"/>
          <p:nvPr/>
        </p:nvSpPr>
        <p:spPr>
          <a:xfrm>
            <a:off x="6565392" y="2359152"/>
            <a:ext cx="4736592" cy="310896"/>
          </a:xfrm>
          <a:prstGeom prst="rect">
            <a:avLst/>
          </a:prstGeom>
          <a:noFill/>
        </p:spPr>
        <p:txBody>
          <a:bodyPr wrap="square" lIns="0" tIns="0" rIns="0" bIns="0" anchor="t">
            <a:spAutoFit/>
          </a:bodyPr>
          <a:lstStyle/>
          <a:p>
            <a:pPr algn="l"/>
            <a:r>
              <a:rPr sz="1800" b="1">
                <a:solidFill>
                  <a:srgbClr val="24211D"/>
                </a:solidFill>
                <a:latin typeface="맑은 고딕"/>
              </a:rPr>
              <a:t>이 여섯 가지를 채웁니다</a:t>
            </a:r>
          </a:p>
        </p:txBody>
      </p:sp>
      <p:sp>
        <p:nvSpPr>
          <p:cNvPr id="11" name="TextBox 10"/>
          <p:cNvSpPr txBox="1"/>
          <p:nvPr/>
        </p:nvSpPr>
        <p:spPr>
          <a:xfrm>
            <a:off x="6565392" y="2761488"/>
            <a:ext cx="4736592" cy="1097280"/>
          </a:xfrm>
          <a:prstGeom prst="rect">
            <a:avLst/>
          </a:prstGeom>
          <a:noFill/>
        </p:spPr>
        <p:txBody>
          <a:bodyPr wrap="square" lIns="0" tIns="0" rIns="0" bIns="0" anchor="ctr">
            <a:spAutoFit/>
          </a:bodyPr>
          <a:lstStyle/>
          <a:p>
            <a:pPr algn="l"/>
            <a:r>
              <a:rPr sz="1500" b="0">
                <a:solidFill>
                  <a:srgbClr val="24211D"/>
                </a:solidFill>
                <a:latin typeface="맑은 고딕"/>
              </a:rPr>
              <a:t>작업 이름  ·  무엇을 할지 (프롬프트)</a:t>
            </a:r>
          </a:p>
          <a:p>
            <a:pPr algn="l"/>
            <a:r>
              <a:rPr sz="1500" b="0">
                <a:solidFill>
                  <a:srgbClr val="24211D"/>
                </a:solidFill>
                <a:latin typeface="맑은 고딕"/>
              </a:rPr>
              <a:t>승인 방식  ·  주기</a:t>
            </a:r>
          </a:p>
          <a:p>
            <a:pPr algn="l"/>
            <a:r>
              <a:rPr sz="1500" b="0">
                <a:solidFill>
                  <a:srgbClr val="24211D"/>
                </a:solidFill>
                <a:latin typeface="맑은 고딕"/>
              </a:rPr>
              <a:t>모델 (선택)  ·  작업 폴더 (선택)</a:t>
            </a:r>
          </a:p>
        </p:txBody>
      </p:sp>
      <p:sp>
        <p:nvSpPr>
          <p:cNvPr id="12" name="TextBox 11"/>
          <p:cNvSpPr txBox="1"/>
          <p:nvPr/>
        </p:nvSpPr>
        <p:spPr>
          <a:xfrm>
            <a:off x="566928" y="4133087"/>
            <a:ext cx="11064240" cy="292608"/>
          </a:xfrm>
          <a:prstGeom prst="rect">
            <a:avLst/>
          </a:prstGeom>
          <a:noFill/>
        </p:spPr>
        <p:txBody>
          <a:bodyPr wrap="square" lIns="0" tIns="0" rIns="0" bIns="0" anchor="t">
            <a:spAutoFit/>
          </a:bodyPr>
          <a:lstStyle/>
          <a:p>
            <a:pPr algn="l"/>
            <a:r>
              <a:rPr sz="1500" b="1">
                <a:solidFill>
                  <a:srgbClr val="A8462A"/>
                </a:solidFill>
                <a:latin typeface="맑은 고딕"/>
              </a:rPr>
              <a:t>만든 뒤에는 이렇게 관리합니다</a:t>
            </a:r>
          </a:p>
        </p:txBody>
      </p:sp>
      <p:sp>
        <p:nvSpPr>
          <p:cNvPr id="13" name="Rounded Rectangle 12"/>
          <p:cNvSpPr/>
          <p:nvPr/>
        </p:nvSpPr>
        <p:spPr>
          <a:xfrm>
            <a:off x="566928" y="4480560"/>
            <a:ext cx="2139696" cy="512064"/>
          </a:xfrm>
          <a:prstGeom prst="roundRect">
            <a:avLst>
              <a:gd name="adj" fmla="val 2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TextBox 13"/>
          <p:cNvSpPr txBox="1"/>
          <p:nvPr/>
        </p:nvSpPr>
        <p:spPr>
          <a:xfrm>
            <a:off x="566928" y="4480560"/>
            <a:ext cx="2139696" cy="512064"/>
          </a:xfrm>
          <a:prstGeom prst="rect">
            <a:avLst/>
          </a:prstGeom>
          <a:noFill/>
        </p:spPr>
        <p:txBody>
          <a:bodyPr wrap="square" lIns="0" tIns="0" rIns="0" bIns="0" anchor="ctr">
            <a:spAutoFit/>
          </a:bodyPr>
          <a:lstStyle/>
          <a:p>
            <a:pPr algn="ctr"/>
            <a:r>
              <a:rPr sz="1400" b="1">
                <a:solidFill>
                  <a:srgbClr val="24211D"/>
                </a:solidFill>
                <a:latin typeface="맑은 고딕"/>
              </a:rPr>
              <a:t>지금 바로 실행</a:t>
            </a:r>
          </a:p>
        </p:txBody>
      </p:sp>
      <p:sp>
        <p:nvSpPr>
          <p:cNvPr id="15" name="Rounded Rectangle 14"/>
          <p:cNvSpPr/>
          <p:nvPr/>
        </p:nvSpPr>
        <p:spPr>
          <a:xfrm>
            <a:off x="2798064" y="4480560"/>
            <a:ext cx="2139696" cy="512064"/>
          </a:xfrm>
          <a:prstGeom prst="roundRect">
            <a:avLst>
              <a:gd name="adj" fmla="val 2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TextBox 15"/>
          <p:cNvSpPr txBox="1"/>
          <p:nvPr/>
        </p:nvSpPr>
        <p:spPr>
          <a:xfrm>
            <a:off x="2798064" y="4480560"/>
            <a:ext cx="2139696" cy="512064"/>
          </a:xfrm>
          <a:prstGeom prst="rect">
            <a:avLst/>
          </a:prstGeom>
          <a:noFill/>
        </p:spPr>
        <p:txBody>
          <a:bodyPr wrap="square" lIns="0" tIns="0" rIns="0" bIns="0" anchor="ctr">
            <a:spAutoFit/>
          </a:bodyPr>
          <a:lstStyle/>
          <a:p>
            <a:pPr algn="ctr"/>
            <a:r>
              <a:rPr sz="1400" b="1">
                <a:solidFill>
                  <a:srgbClr val="24211D"/>
                </a:solidFill>
                <a:latin typeface="맑은 고딕"/>
              </a:rPr>
              <a:t>잠시 멈춤</a:t>
            </a:r>
          </a:p>
        </p:txBody>
      </p:sp>
      <p:sp>
        <p:nvSpPr>
          <p:cNvPr id="17" name="Rounded Rectangle 16"/>
          <p:cNvSpPr/>
          <p:nvPr/>
        </p:nvSpPr>
        <p:spPr>
          <a:xfrm>
            <a:off x="5029200" y="4480560"/>
            <a:ext cx="2139696" cy="512064"/>
          </a:xfrm>
          <a:prstGeom prst="roundRect">
            <a:avLst>
              <a:gd name="adj" fmla="val 2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TextBox 17"/>
          <p:cNvSpPr txBox="1"/>
          <p:nvPr/>
        </p:nvSpPr>
        <p:spPr>
          <a:xfrm>
            <a:off x="5029200" y="4480560"/>
            <a:ext cx="2139696" cy="512064"/>
          </a:xfrm>
          <a:prstGeom prst="rect">
            <a:avLst/>
          </a:prstGeom>
          <a:noFill/>
        </p:spPr>
        <p:txBody>
          <a:bodyPr wrap="square" lIns="0" tIns="0" rIns="0" bIns="0" anchor="ctr">
            <a:spAutoFit/>
          </a:bodyPr>
          <a:lstStyle/>
          <a:p>
            <a:pPr algn="ctr"/>
            <a:r>
              <a:rPr sz="1400" b="1">
                <a:solidFill>
                  <a:srgbClr val="24211D"/>
                </a:solidFill>
                <a:latin typeface="맑은 고딕"/>
              </a:rPr>
              <a:t>다시 시작</a:t>
            </a:r>
          </a:p>
        </p:txBody>
      </p:sp>
      <p:sp>
        <p:nvSpPr>
          <p:cNvPr id="19" name="Rounded Rectangle 18"/>
          <p:cNvSpPr/>
          <p:nvPr/>
        </p:nvSpPr>
        <p:spPr>
          <a:xfrm>
            <a:off x="7260336" y="4480560"/>
            <a:ext cx="2139696" cy="512064"/>
          </a:xfrm>
          <a:prstGeom prst="roundRect">
            <a:avLst>
              <a:gd name="adj" fmla="val 2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TextBox 19"/>
          <p:cNvSpPr txBox="1"/>
          <p:nvPr/>
        </p:nvSpPr>
        <p:spPr>
          <a:xfrm>
            <a:off x="7260336" y="4480560"/>
            <a:ext cx="2139696" cy="512064"/>
          </a:xfrm>
          <a:prstGeom prst="rect">
            <a:avLst/>
          </a:prstGeom>
          <a:noFill/>
        </p:spPr>
        <p:txBody>
          <a:bodyPr wrap="square" lIns="0" tIns="0" rIns="0" bIns="0" anchor="ctr">
            <a:spAutoFit/>
          </a:bodyPr>
          <a:lstStyle/>
          <a:p>
            <a:pPr algn="ctr"/>
            <a:r>
              <a:rPr sz="1400" b="1">
                <a:solidFill>
                  <a:srgbClr val="24211D"/>
                </a:solidFill>
                <a:latin typeface="맑은 고딕"/>
              </a:rPr>
              <a:t>내용·주기 수정</a:t>
            </a:r>
          </a:p>
        </p:txBody>
      </p:sp>
      <p:sp>
        <p:nvSpPr>
          <p:cNvPr id="21" name="Rounded Rectangle 20"/>
          <p:cNvSpPr/>
          <p:nvPr/>
        </p:nvSpPr>
        <p:spPr>
          <a:xfrm>
            <a:off x="9491472" y="4480560"/>
            <a:ext cx="2139696" cy="512064"/>
          </a:xfrm>
          <a:prstGeom prst="roundRect">
            <a:avLst>
              <a:gd name="adj" fmla="val 2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TextBox 21"/>
          <p:cNvSpPr txBox="1"/>
          <p:nvPr/>
        </p:nvSpPr>
        <p:spPr>
          <a:xfrm>
            <a:off x="9491472" y="4480560"/>
            <a:ext cx="2139696" cy="512064"/>
          </a:xfrm>
          <a:prstGeom prst="rect">
            <a:avLst/>
          </a:prstGeom>
          <a:noFill/>
        </p:spPr>
        <p:txBody>
          <a:bodyPr wrap="square" lIns="0" tIns="0" rIns="0" bIns="0" anchor="ctr">
            <a:spAutoFit/>
          </a:bodyPr>
          <a:lstStyle/>
          <a:p>
            <a:pPr algn="ctr"/>
            <a:r>
              <a:rPr sz="1400" b="1">
                <a:solidFill>
                  <a:srgbClr val="24211D"/>
                </a:solidFill>
                <a:latin typeface="맑은 고딕"/>
              </a:rPr>
              <a:t>삭제</a:t>
            </a:r>
          </a:p>
        </p:txBody>
      </p:sp>
      <p:sp>
        <p:nvSpPr>
          <p:cNvPr id="23" name="TextBox 22"/>
          <p:cNvSpPr txBox="1"/>
          <p:nvPr/>
        </p:nvSpPr>
        <p:spPr>
          <a:xfrm>
            <a:off x="566928" y="5084064"/>
            <a:ext cx="11064240" cy="256032"/>
          </a:xfrm>
          <a:prstGeom prst="rect">
            <a:avLst/>
          </a:prstGeom>
          <a:noFill/>
        </p:spPr>
        <p:txBody>
          <a:bodyPr wrap="square" lIns="0" tIns="0" rIns="0" bIns="0" anchor="t">
            <a:spAutoFit/>
          </a:bodyPr>
          <a:lstStyle/>
          <a:p>
            <a:pPr algn="l"/>
            <a:r>
              <a:rPr sz="1300" b="0">
                <a:solidFill>
                  <a:srgbClr val="514B43"/>
                </a:solidFill>
                <a:latin typeface="맑은 고딕"/>
              </a:rPr>
              <a:t>예정된 실행과 지난 실행 결과도 같은 화면에서 볼 수 있습니다</a:t>
            </a:r>
          </a:p>
        </p:txBody>
      </p:sp>
      <p:sp>
        <p:nvSpPr>
          <p:cNvPr id="24" name="Rounded Rectangle 23"/>
          <p:cNvSpPr/>
          <p:nvPr/>
        </p:nvSpPr>
        <p:spPr>
          <a:xfrm>
            <a:off x="566928" y="5431536"/>
            <a:ext cx="11064240" cy="786384"/>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TextBox 24"/>
          <p:cNvSpPr txBox="1"/>
          <p:nvPr/>
        </p:nvSpPr>
        <p:spPr>
          <a:xfrm>
            <a:off x="914400" y="5431536"/>
            <a:ext cx="10424160" cy="786384"/>
          </a:xfrm>
          <a:prstGeom prst="rect">
            <a:avLst/>
          </a:prstGeom>
          <a:noFill/>
        </p:spPr>
        <p:txBody>
          <a:bodyPr wrap="square" lIns="0" tIns="0" rIns="0" bIns="0" anchor="ctr">
            <a:spAutoFit/>
          </a:bodyPr>
          <a:lstStyle/>
          <a:p>
            <a:pPr algn="l"/>
            <a:r>
              <a:rPr sz="1800" b="1">
                <a:solidFill>
                  <a:srgbClr val="FFFFFF"/>
                </a:solidFill>
                <a:latin typeface="맑은 고딕"/>
              </a:rPr>
              <a:t>함정 — 내 컴퓨터의 폴더나 프로그램이 필요한 작업은 로컬에서만 돌아갑니다.</a:t>
            </a:r>
          </a:p>
          <a:p>
            <a:pPr algn="l"/>
            <a:r>
              <a:rPr sz="1800" b="1">
                <a:solidFill>
                  <a:srgbClr val="FFFFFF"/>
                </a:solidFill>
                <a:latin typeface="맑은 고딕"/>
              </a:rPr>
              <a:t>그런 작업은 컴퓨터가 켜져 있어야 실행됩니다.</a:t>
            </a:r>
          </a:p>
        </p:txBody>
      </p:sp>
      <p:sp>
        <p:nvSpPr>
          <p:cNvPr id="26" name="TextBox 25"/>
          <p:cNvSpPr txBox="1"/>
          <p:nvPr/>
        </p:nvSpPr>
        <p:spPr>
          <a:xfrm>
            <a:off x="566928" y="6272784"/>
            <a:ext cx="11064240" cy="310896"/>
          </a:xfrm>
          <a:prstGeom prst="rect">
            <a:avLst/>
          </a:prstGeom>
          <a:noFill/>
        </p:spPr>
        <p:txBody>
          <a:bodyPr wrap="square" lIns="0" tIns="0" rIns="0" bIns="0" anchor="t">
            <a:spAutoFit/>
          </a:bodyPr>
          <a:lstStyle/>
          <a:p>
            <a:pPr algn="l"/>
            <a:r>
              <a:rPr sz="1300" b="0">
                <a:solidFill>
                  <a:srgbClr val="514B43"/>
                </a:solidFill>
                <a:latin typeface="맑은 고딕"/>
              </a:rPr>
              <a:t>출처: support.claude.com/en/articles/13854387 (2026-08-07 직접 조회)</a:t>
            </a:r>
          </a:p>
        </p:txBody>
      </p:sp>
      <p:sp>
        <p:nvSpPr>
          <p:cNvPr id="27" name="TextBox 26">
            <a:extLst>
              <a:ext uri="{FF2B5EF4-FFF2-40B4-BE49-F238E27FC236}">
                <a16:creationId xmlns:a16="http://schemas.microsoft.com/office/drawing/2014/main" id="{D773D819-1A75-1B1C-7282-0B3E44BDABF0}"/>
              </a:ext>
            </a:extLst>
          </p:cNvPr>
          <p:cNvSpPr txBox="1"/>
          <p:nvPr/>
        </p:nvSpPr>
        <p:spPr>
          <a:xfrm>
            <a:off x="6350000" y="6451600"/>
            <a:ext cx="5270500" cy="276999"/>
          </a:xfrm>
          <a:prstGeom prst="rect">
            <a:avLst/>
          </a:prstGeom>
          <a:noFill/>
        </p:spPr>
        <p:txBody>
          <a:bodyPr vert="horz" rtlCol="0" anchor="ctr">
            <a:spAutoFit/>
          </a:bodyPr>
          <a:lstStyle/>
          <a:p>
            <a:pPr algn="r"/>
            <a:r>
              <a:rPr lang="en-US" altLang="ko-KR" sz="1200">
                <a:solidFill>
                  <a:srgbClr val="A69C90"/>
                </a:solidFill>
                <a:latin typeface="맑은 고딕" panose="020B0503020000020004" pitchFamily="50" charset="-127"/>
                <a:ea typeface="맑은 고딕" panose="020B0503020000020004" pitchFamily="50" charset="-127"/>
              </a:rPr>
              <a:t>SECTION 07 · </a:t>
            </a:r>
            <a:r>
              <a:rPr lang="ko-KR" altLang="en-US" sz="1200">
                <a:solidFill>
                  <a:srgbClr val="A69C90"/>
                </a:solidFill>
                <a:latin typeface="맑은 고딕" panose="020B0503020000020004" pitchFamily="50" charset="-127"/>
                <a:ea typeface="맑은 고딕" panose="020B0503020000020004" pitchFamily="50" charset="-127"/>
              </a:rPr>
              <a:t>프로젝트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아티팩트 </a:t>
            </a:r>
            <a:r>
              <a:rPr lang="en-US" altLang="ko-KR" sz="1200">
                <a:solidFill>
                  <a:srgbClr val="A69C90"/>
                </a:solidFill>
                <a:latin typeface="맑은 고딕" panose="020B0503020000020004" pitchFamily="50" charset="-127"/>
                <a:ea typeface="맑은 고딕" panose="020B0503020000020004" pitchFamily="50" charset="-127"/>
              </a:rPr>
              <a:t>· </a:t>
            </a:r>
            <a:r>
              <a:rPr lang="ko-KR" altLang="en-US" sz="1200">
                <a:solidFill>
                  <a:srgbClr val="A69C90"/>
                </a:solidFill>
                <a:latin typeface="맑은 고딕" panose="020B0503020000020004" pitchFamily="50" charset="-127"/>
                <a:ea typeface="맑은 고딕" panose="020B0503020000020004" pitchFamily="50" charset="-127"/>
              </a:rPr>
              <a:t>예정됨          </a:t>
            </a:r>
            <a:r>
              <a:rPr lang="en-US" altLang="ko-KR" sz="1200">
                <a:solidFill>
                  <a:srgbClr val="A69C90"/>
                </a:solidFill>
                <a:latin typeface="맑은 고딕" panose="020B0503020000020004" pitchFamily="50" charset="-127"/>
                <a:ea typeface="맑은 고딕" panose="020B0503020000020004" pitchFamily="50" charset="-127"/>
              </a:rPr>
              <a:t>50 / 81</a:t>
            </a:r>
            <a:endParaRPr lang="ko-KR" altLang="en-US" sz="1200">
              <a:solidFill>
                <a:srgbClr val="A69C90"/>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24211D"/>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6643929-5B45-1C83-DF63-455C001C908F}"/>
              </a:ext>
            </a:extLst>
          </p:cNvPr>
          <p:cNvSpPr/>
          <p:nvPr/>
        </p:nvSpPr>
        <p:spPr>
          <a:xfrm>
            <a:off x="8128000" y="0"/>
            <a:ext cx="4064000" cy="6858000"/>
          </a:xfrm>
          <a:prstGeom prst="rect">
            <a:avLst/>
          </a:prstGeom>
          <a:solidFill>
            <a:srgbClr val="302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9BFD9DA7-8168-77CD-238D-692C992E2872}"/>
              </a:ext>
            </a:extLst>
          </p:cNvPr>
          <p:cNvSpPr txBox="1"/>
          <p:nvPr/>
        </p:nvSpPr>
        <p:spPr>
          <a:xfrm>
            <a:off x="8128000" y="1905000"/>
            <a:ext cx="4064000" cy="3016210"/>
          </a:xfrm>
          <a:prstGeom prst="rect">
            <a:avLst/>
          </a:prstGeom>
          <a:noFill/>
        </p:spPr>
        <p:txBody>
          <a:bodyPr vert="horz" rtlCol="0" anchor="ctr">
            <a:spAutoFit/>
          </a:bodyPr>
          <a:lstStyle/>
          <a:p>
            <a:pPr algn="ctr"/>
            <a:r>
              <a:rPr sz="19000" b="1">
                <a:solidFill>
                  <a:srgbClr val="4A4239"/>
                </a:solidFill>
                <a:latin typeface="맑은 고딕"/>
                <a:ea typeface="맑은 고딕"/>
                <a:cs typeface="맑은 고딕"/>
              </a:rPr>
              <a:t>08</a:t>
            </a:r>
            <a:endParaRPr lang="ko-KR" altLang="en-US" sz="19000" b="1">
              <a:solidFill>
                <a:srgbClr val="4A4239"/>
              </a:solidFill>
              <a:latin typeface="맑은 고딕" panose="020B0503020000020004" pitchFamily="50" charset="-127"/>
              <a:ea typeface="맑은 고딕" panose="020B0503020000020004" pitchFamily="50" charset="-127"/>
            </a:endParaRPr>
          </a:p>
        </p:txBody>
      </p:sp>
      <p:sp>
        <p:nvSpPr>
          <p:cNvPr id="4" name="TextBox 3">
            <a:extLst>
              <a:ext uri="{FF2B5EF4-FFF2-40B4-BE49-F238E27FC236}">
                <a16:creationId xmlns:a16="http://schemas.microsoft.com/office/drawing/2014/main" id="{378F55B2-574E-8C0B-7AAF-8BD32B5D1652}"/>
              </a:ext>
            </a:extLst>
          </p:cNvPr>
          <p:cNvSpPr txBox="1"/>
          <p:nvPr/>
        </p:nvSpPr>
        <p:spPr>
          <a:xfrm>
            <a:off x="863600" y="2235200"/>
            <a:ext cx="5842000" cy="353943"/>
          </a:xfrm>
          <a:prstGeom prst="rect">
            <a:avLst/>
          </a:prstGeom>
          <a:noFill/>
        </p:spPr>
        <p:txBody>
          <a:bodyPr vert="horz" rtlCol="0" anchor="ctr">
            <a:spAutoFit/>
          </a:bodyPr>
          <a:lstStyle/>
          <a:p>
            <a:r>
              <a:rPr sz="1700" b="1">
                <a:solidFill>
                  <a:srgbClr val="D97757"/>
                </a:solidFill>
                <a:latin typeface="맑은 고딕"/>
                <a:ea typeface="맑은 고딕"/>
                <a:cs typeface="맑은 고딕"/>
              </a:rPr>
              <a:t>SECTION 08</a:t>
            </a:r>
            <a:endParaRPr lang="ko-KR" altLang="en-US" sz="1700" b="1">
              <a:solidFill>
                <a:srgbClr val="D97757"/>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CE60D38-708F-0ACC-AD36-63E86B791A3D}"/>
              </a:ext>
            </a:extLst>
          </p:cNvPr>
          <p:cNvSpPr txBox="1"/>
          <p:nvPr/>
        </p:nvSpPr>
        <p:spPr>
          <a:xfrm>
            <a:off x="863600" y="2616200"/>
            <a:ext cx="6921500" cy="646331"/>
          </a:xfrm>
          <a:prstGeom prst="rect">
            <a:avLst/>
          </a:prstGeom>
          <a:noFill/>
        </p:spPr>
        <p:txBody>
          <a:bodyPr vert="horz" rtlCol="0" anchor="t">
            <a:spAutoFit/>
          </a:bodyPr>
          <a:lstStyle/>
          <a:p>
            <a:r>
              <a:rPr sz="3600" b="1">
                <a:solidFill>
                  <a:srgbClr val="FFFFFF"/>
                </a:solidFill>
                <a:latin typeface="맑은 고딕"/>
                <a:ea typeface="맑은 고딕"/>
                <a:cs typeface="맑은 고딕"/>
              </a:rPr>
              <a:t>실전 — 테마 레이더 만들기</a:t>
            </a:r>
          </a:p>
        </p:txBody>
      </p:sp>
      <p:sp>
        <p:nvSpPr>
          <p:cNvPr id="6" name="직사각형 5">
            <a:extLst>
              <a:ext uri="{FF2B5EF4-FFF2-40B4-BE49-F238E27FC236}">
                <a16:creationId xmlns:a16="http://schemas.microsoft.com/office/drawing/2014/main" id="{DD183382-56CD-B055-AE31-221491A9C213}"/>
              </a:ext>
            </a:extLst>
          </p:cNvPr>
          <p:cNvSpPr/>
          <p:nvPr/>
        </p:nvSpPr>
        <p:spPr>
          <a:xfrm>
            <a:off x="914400" y="3810000"/>
            <a:ext cx="812800" cy="508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E9FED234-C09F-4AB0-73A7-A1079BC9CE1B}"/>
              </a:ext>
            </a:extLst>
          </p:cNvPr>
          <p:cNvSpPr txBox="1"/>
          <p:nvPr/>
        </p:nvSpPr>
        <p:spPr>
          <a:xfrm>
            <a:off x="863600" y="4114800"/>
            <a:ext cx="6921500" cy="1708160"/>
          </a:xfrm>
          <a:prstGeom prst="rect">
            <a:avLst/>
          </a:prstGeom>
          <a:noFill/>
        </p:spPr>
        <p:txBody>
          <a:bodyPr vert="horz" rtlCol="0" anchor="t">
            <a:spAutoFit/>
          </a:bodyPr>
          <a:lstStyle/>
          <a:p>
            <a:pPr>
              <a:spcAft>
                <a:spcPts val="600"/>
              </a:spcAft>
            </a:pPr>
            <a:r>
              <a:rPr sz="1700">
                <a:solidFill>
                  <a:srgbClr val="C9C0B4"/>
                </a:solidFill>
                <a:latin typeface="맑은 고딕"/>
                <a:ea typeface="맑은 고딕"/>
                <a:cs typeface="맑은 고딕"/>
              </a:rPr>
              <a:t>오늘 만들 화면과 준비물 세 가지</a:t>
            </a:r>
          </a:p>
          <a:p>
            <a:pPr>
              <a:spcAft>
                <a:spcPts val="600"/>
              </a:spcAft>
            </a:pPr>
            <a:r>
              <a:rPr sz="1700">
                <a:solidFill>
                  <a:srgbClr val="C9C0B4"/>
                </a:solidFill>
                <a:latin typeface="맑은 고딕"/>
                <a:ea typeface="맑은 고딕"/>
                <a:cs typeface="맑은 고딕"/>
              </a:rPr>
              <a:t>커넥터 하나로 시작합니다</a:t>
            </a:r>
          </a:p>
          <a:p>
            <a:pPr>
              <a:spcAft>
                <a:spcPts val="600"/>
              </a:spcAft>
            </a:pPr>
            <a:r>
              <a:rPr sz="1700">
                <a:solidFill>
                  <a:srgbClr val="C9C0B4"/>
                </a:solidFill>
                <a:latin typeface="맑은 고딕"/>
                <a:ea typeface="맑은 고딕"/>
                <a:cs typeface="맑은 고딕"/>
              </a:rPr>
              <a:t>도구는 만드는 게 아니라 딸려옵니다</a:t>
            </a:r>
          </a:p>
          <a:p>
            <a:pPr>
              <a:spcAft>
                <a:spcPts val="600"/>
              </a:spcAft>
            </a:pPr>
            <a:r>
              <a:rPr sz="1700">
                <a:solidFill>
                  <a:srgbClr val="C9C0B4"/>
                </a:solidFill>
                <a:latin typeface="맑은 고딕"/>
                <a:ea typeface="맑은 고딕"/>
                <a:cs typeface="맑은 고딕"/>
              </a:rPr>
              <a:t>한 문장씩 넣어 화면을 쌓아 갑니다</a:t>
            </a:r>
          </a:p>
          <a:p>
            <a:pPr>
              <a:spcAft>
                <a:spcPts val="600"/>
              </a:spcAft>
            </a:pPr>
            <a:r>
              <a:rPr sz="1700">
                <a:solidFill>
                  <a:srgbClr val="C9C0B4"/>
                </a:solidFill>
                <a:latin typeface="맑은 고딕"/>
                <a:ea typeface="맑은 고딕"/>
                <a:cs typeface="맑은 고딕"/>
              </a:rPr>
              <a:t>사람마다 다른 화면이 나옵니다</a:t>
            </a:r>
          </a:p>
        </p:txBody>
      </p:sp>
      <p:sp>
        <p:nvSpPr>
          <p:cNvPr id="8" name="TextBox 7">
            <a:extLst>
              <a:ext uri="{FF2B5EF4-FFF2-40B4-BE49-F238E27FC236}">
                <a16:creationId xmlns:a16="http://schemas.microsoft.com/office/drawing/2014/main" id="{C0002559-B967-2887-69BE-F3A1DD341FD3}"/>
              </a:ext>
            </a:extLst>
          </p:cNvPr>
          <p:cNvSpPr txBox="1"/>
          <p:nvPr/>
        </p:nvSpPr>
        <p:spPr>
          <a:xfrm>
            <a:off x="863600" y="6172200"/>
            <a:ext cx="5842000" cy="292388"/>
          </a:xfrm>
          <a:prstGeom prst="rect">
            <a:avLst/>
          </a:prstGeom>
          <a:noFill/>
        </p:spPr>
        <p:txBody>
          <a:bodyPr vert="horz" rtlCol="0" anchor="ctr">
            <a:spAutoFit/>
          </a:bodyPr>
          <a:lstStyle/>
          <a:p>
            <a:r>
              <a:rPr lang="en-US" altLang="ko-KR" sz="1300">
                <a:solidFill>
                  <a:srgbClr val="726859"/>
                </a:solidFill>
                <a:latin typeface="맑은 고딕" panose="020B0503020000020004" pitchFamily="50" charset="-127"/>
                <a:ea typeface="맑은 고딕" panose="020B0503020000020004" pitchFamily="50" charset="-127"/>
              </a:rPr>
              <a:t>Claude 데스크탑 시작하기</a:t>
            </a:r>
          </a:p>
        </p:txBody>
      </p:sp>
      <p:pic>
        <p:nvPicPr>
          <p:cNvPr id="10" name="그래픽 9">
            <a:extLst>
              <a:ext uri="{FF2B5EF4-FFF2-40B4-BE49-F238E27FC236}">
                <a16:creationId xmlns:a16="http://schemas.microsoft.com/office/drawing/2014/main" id="{C3F91544-AA8B-8F05-DD1A-7749234F5B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600" y="889000"/>
            <a:ext cx="812800" cy="8128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오늘 만들 화면은 이것입니다</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마지막 20분, 각자 노트북에서 이 화면을 직접 만듭니다</a:t>
            </a:r>
          </a:p>
        </p:txBody>
      </p:sp>
      <p:sp>
        <p:nvSpPr>
          <p:cNvPr id="4" name="Rounded Rectangle 3"/>
          <p:cNvSpPr/>
          <p:nvPr/>
        </p:nvSpPr>
        <p:spPr>
          <a:xfrm>
            <a:off x="571500" y="1879600"/>
            <a:ext cx="11061700" cy="3581400"/>
          </a:xfrm>
          <a:prstGeom prst="roundRect">
            <a:avLst>
              <a:gd name="adj" fmla="val 2000"/>
            </a:avLst>
          </a:prstGeom>
          <a:solidFill>
            <a:srgbClr val="F2F2F2"/>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71500" y="3492500"/>
            <a:ext cx="11061700" cy="381000"/>
          </a:xfrm>
          <a:prstGeom prst="rect">
            <a:avLst/>
          </a:prstGeom>
          <a:noFill/>
        </p:spPr>
        <p:txBody>
          <a:bodyPr wrap="square" lIns="0" tIns="0" rIns="0" bIns="0" anchor="t">
            <a:spAutoFit/>
          </a:bodyPr>
          <a:lstStyle/>
          <a:p>
            <a:pPr algn="ctr">
              <a:lnSpc>
                <a:spcPct val="100000"/>
              </a:lnSpc>
            </a:pPr>
            <a:r>
              <a:rPr sz="1700" b="1">
                <a:solidFill>
                  <a:srgbClr val="9A938A"/>
                </a:solidFill>
                <a:latin typeface="맑은 고딕"/>
                <a:ea typeface="맑은 고딕"/>
                <a:cs typeface="맑은 고딕"/>
              </a:rPr>
              <a:t>[ 스크린샷 삽입: 완성된 「한국 테마 레이더」 아티팩트 전체 화면 ]</a:t>
            </a:r>
          </a:p>
        </p:txBody>
      </p:sp>
      <p:sp>
        <p:nvSpPr>
          <p:cNvPr id="6" name="Rounded Rectangle 5"/>
          <p:cNvSpPr/>
          <p:nvPr/>
        </p:nvSpPr>
        <p:spPr>
          <a:xfrm>
            <a:off x="571500" y="5638800"/>
            <a:ext cx="11061700" cy="5334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3600" y="5772150"/>
            <a:ext cx="10477500" cy="304800"/>
          </a:xfrm>
          <a:prstGeom prst="rect">
            <a:avLst/>
          </a:prstGeom>
          <a:noFill/>
        </p:spPr>
        <p:txBody>
          <a:bodyPr wrap="square" lIns="0" tIns="0" rIns="0" bIns="0" anchor="t">
            <a:spAutoFit/>
          </a:bodyPr>
          <a:lstStyle/>
          <a:p>
            <a:pPr algn="l">
              <a:lnSpc>
                <a:spcPct val="100000"/>
              </a:lnSpc>
            </a:pPr>
            <a:r>
              <a:rPr sz="1500" b="1">
                <a:solidFill>
                  <a:srgbClr val="F6F1EA"/>
                </a:solidFill>
                <a:latin typeface="맑은 고딕"/>
                <a:ea typeface="맑은 고딕"/>
                <a:cs typeface="맑은 고딕"/>
              </a:rPr>
              <a:t>코드는 한 줄도 쓰지 않습니다.  한 문장씩 말로 시켜서 만듭니다.</a:t>
            </a:r>
          </a:p>
        </p:txBody>
      </p:sp>
      <p:sp>
        <p:nvSpPr>
          <p:cNvPr id="8" name="TextBox 7"/>
          <p:cNvSpPr txBox="1"/>
          <p:nvPr/>
        </p:nvSpPr>
        <p:spPr>
          <a:xfrm>
            <a:off x="571500" y="6273800"/>
            <a:ext cx="11061700" cy="304800"/>
          </a:xfrm>
          <a:prstGeom prst="rect">
            <a:avLst/>
          </a:prstGeom>
          <a:noFill/>
        </p:spPr>
        <p:txBody>
          <a:bodyPr wrap="square" lIns="0" tIns="0" rIns="0" bIns="0" anchor="t">
            <a:spAutoFit/>
          </a:bodyPr>
          <a:lstStyle/>
          <a:p>
            <a:pPr algn="l">
              <a:lnSpc>
                <a:spcPct val="100000"/>
              </a:lnSpc>
            </a:pPr>
            <a:r>
              <a:rPr sz="1350" b="0">
                <a:solidFill>
                  <a:srgbClr val="514B43"/>
                </a:solidFill>
                <a:latin typeface="맑은 고딕"/>
                <a:ea typeface="맑은 고딕"/>
                <a:cs typeface="맑은 고딕"/>
              </a:rPr>
              <a:t>화면은 예시이며 시세는 조회 시점에 따라 달라집니다</a:t>
            </a:r>
          </a:p>
        </p:txBody>
      </p:sp>
      <p:sp>
        <p:nvSpPr>
          <p:cNvPr id="9" name="TextBox 8"/>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52 / 81</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만들기 전에 네 가지를 확인합니다</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하나라도 빠지면 화면이 만들어지지 않습니다</a:t>
            </a:r>
          </a:p>
        </p:txBody>
      </p:sp>
      <p:sp>
        <p:nvSpPr>
          <p:cNvPr id="4" name="Rounded Rectangle 3"/>
          <p:cNvSpPr/>
          <p:nvPr/>
        </p:nvSpPr>
        <p:spPr>
          <a:xfrm>
            <a:off x="571500" y="1930400"/>
            <a:ext cx="2641600" cy="3403600"/>
          </a:xfrm>
          <a:prstGeom prst="roundRect">
            <a:avLst>
              <a:gd name="adj" fmla="val 6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unded Rectangle 4"/>
          <p:cNvSpPr/>
          <p:nvPr/>
        </p:nvSpPr>
        <p:spPr>
          <a:xfrm>
            <a:off x="850900" y="2209800"/>
            <a:ext cx="431800" cy="431800"/>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900" y="2298700"/>
            <a:ext cx="431800" cy="304800"/>
          </a:xfrm>
          <a:prstGeom prst="rect">
            <a:avLst/>
          </a:prstGeom>
          <a:noFill/>
        </p:spPr>
        <p:txBody>
          <a:bodyPr wrap="square" lIns="0" tIns="0" rIns="0" bIns="0" anchor="t">
            <a:spAutoFit/>
          </a:bodyPr>
          <a:lstStyle/>
          <a:p>
            <a:pPr algn="ctr">
              <a:lnSpc>
                <a:spcPct val="100000"/>
              </a:lnSpc>
            </a:pPr>
            <a:r>
              <a:rPr sz="1600" b="1">
                <a:solidFill>
                  <a:srgbClr val="FFFFFF"/>
                </a:solidFill>
                <a:latin typeface="맑은 고딕"/>
                <a:ea typeface="맑은 고딕"/>
                <a:cs typeface="맑은 고딕"/>
              </a:rPr>
              <a:t>1</a:t>
            </a:r>
          </a:p>
        </p:txBody>
      </p:sp>
      <p:sp>
        <p:nvSpPr>
          <p:cNvPr id="7" name="TextBox 6"/>
          <p:cNvSpPr txBox="1"/>
          <p:nvPr/>
        </p:nvSpPr>
        <p:spPr>
          <a:xfrm>
            <a:off x="850900" y="2819400"/>
            <a:ext cx="2082800" cy="635000"/>
          </a:xfrm>
          <a:prstGeom prst="rect">
            <a:avLst/>
          </a:prstGeom>
          <a:noFill/>
        </p:spPr>
        <p:txBody>
          <a:bodyPr wrap="square" lIns="0" tIns="0" rIns="0" bIns="0" anchor="t">
            <a:spAutoFit/>
          </a:bodyPr>
          <a:lstStyle/>
          <a:p>
            <a:pPr algn="l">
              <a:lnSpc>
                <a:spcPct val="120000"/>
              </a:lnSpc>
            </a:pPr>
            <a:r>
              <a:rPr sz="1900" b="1">
                <a:solidFill>
                  <a:srgbClr val="24211D"/>
                </a:solidFill>
                <a:latin typeface="맑은 고딕"/>
                <a:ea typeface="맑은 고딕"/>
                <a:cs typeface="맑은 고딕"/>
              </a:rPr>
              <a:t>요금제가 Pro 이상</a:t>
            </a:r>
          </a:p>
        </p:txBody>
      </p:sp>
      <p:sp>
        <p:nvSpPr>
          <p:cNvPr id="8" name="TextBox 7"/>
          <p:cNvSpPr txBox="1"/>
          <p:nvPr/>
        </p:nvSpPr>
        <p:spPr>
          <a:xfrm>
            <a:off x="850900" y="3479800"/>
            <a:ext cx="2082800" cy="304800"/>
          </a:xfrm>
          <a:prstGeom prst="rect">
            <a:avLst/>
          </a:prstGeom>
          <a:noFill/>
        </p:spPr>
        <p:txBody>
          <a:bodyPr wrap="square" lIns="0" tIns="0" rIns="0" bIns="0" anchor="t">
            <a:spAutoFit/>
          </a:bodyPr>
          <a:lstStyle/>
          <a:p>
            <a:pPr algn="l">
              <a:lnSpc>
                <a:spcPct val="100000"/>
              </a:lnSpc>
            </a:pPr>
            <a:r>
              <a:rPr sz="1350" b="0">
                <a:solidFill>
                  <a:srgbClr val="726859"/>
                </a:solidFill>
                <a:latin typeface="맑은 고딕"/>
                <a:ea typeface="맑은 고딕"/>
                <a:cs typeface="맑은 고딕"/>
              </a:rPr>
              <a:t>설정 &gt; 계정</a:t>
            </a:r>
          </a:p>
        </p:txBody>
      </p:sp>
      <p:sp>
        <p:nvSpPr>
          <p:cNvPr id="9" name="TextBox 8"/>
          <p:cNvSpPr txBox="1"/>
          <p:nvPr/>
        </p:nvSpPr>
        <p:spPr>
          <a:xfrm>
            <a:off x="850900" y="3911600"/>
            <a:ext cx="2082800" cy="1270000"/>
          </a:xfrm>
          <a:prstGeom prst="rect">
            <a:avLst/>
          </a:prstGeom>
          <a:noFill/>
        </p:spPr>
        <p:txBody>
          <a:bodyPr wrap="square" lIns="0" tIns="0" rIns="0" bIns="0" anchor="t">
            <a:spAutoFit/>
          </a:bodyPr>
          <a:lstStyle/>
          <a:p>
            <a:pPr algn="l">
              <a:lnSpc>
                <a:spcPct val="135000"/>
              </a:lnSpc>
            </a:pPr>
            <a:r>
              <a:rPr sz="1500" b="0">
                <a:solidFill>
                  <a:srgbClr val="514B43"/>
                </a:solidFill>
                <a:latin typeface="맑은 고딕"/>
                <a:ea typeface="맑은 고딕"/>
                <a:cs typeface="맑은 고딕"/>
              </a:rPr>
              <a:t>무료 계정에서는</a:t>
            </a:r>
          </a:p>
          <a:p>
            <a:pPr algn="l">
              <a:lnSpc>
                <a:spcPct val="135000"/>
              </a:lnSpc>
            </a:pPr>
            <a:r>
              <a:rPr sz="1500" b="0">
                <a:solidFill>
                  <a:srgbClr val="514B43"/>
                </a:solidFill>
                <a:latin typeface="맑은 고딕"/>
                <a:ea typeface="맑은 고딕"/>
                <a:cs typeface="맑은 고딕"/>
              </a:rPr>
              <a:t>아티팩트가 아예</a:t>
            </a:r>
          </a:p>
          <a:p>
            <a:pPr algn="l">
              <a:lnSpc>
                <a:spcPct val="135000"/>
              </a:lnSpc>
            </a:pPr>
            <a:r>
              <a:rPr sz="1500" b="0">
                <a:solidFill>
                  <a:srgbClr val="514B43"/>
                </a:solidFill>
                <a:latin typeface="맑은 고딕"/>
                <a:ea typeface="맑은 고딕"/>
                <a:cs typeface="맑은 고딕"/>
              </a:rPr>
              <a:t>만들어지지 않습니다</a:t>
            </a:r>
          </a:p>
        </p:txBody>
      </p:sp>
      <p:sp>
        <p:nvSpPr>
          <p:cNvPr id="10" name="Rounded Rectangle 9"/>
          <p:cNvSpPr/>
          <p:nvPr/>
        </p:nvSpPr>
        <p:spPr>
          <a:xfrm>
            <a:off x="3378200" y="1930400"/>
            <a:ext cx="2641600" cy="3403600"/>
          </a:xfrm>
          <a:prstGeom prst="roundRect">
            <a:avLst>
              <a:gd name="adj" fmla="val 6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3657600" y="2209800"/>
            <a:ext cx="431800" cy="431800"/>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657600" y="2298700"/>
            <a:ext cx="431800" cy="304800"/>
          </a:xfrm>
          <a:prstGeom prst="rect">
            <a:avLst/>
          </a:prstGeom>
          <a:noFill/>
        </p:spPr>
        <p:txBody>
          <a:bodyPr wrap="square" lIns="0" tIns="0" rIns="0" bIns="0" anchor="t">
            <a:spAutoFit/>
          </a:bodyPr>
          <a:lstStyle/>
          <a:p>
            <a:pPr algn="ctr">
              <a:lnSpc>
                <a:spcPct val="100000"/>
              </a:lnSpc>
            </a:pPr>
            <a:r>
              <a:rPr sz="1600" b="1">
                <a:solidFill>
                  <a:srgbClr val="FFFFFF"/>
                </a:solidFill>
                <a:latin typeface="맑은 고딕"/>
                <a:ea typeface="맑은 고딕"/>
                <a:cs typeface="맑은 고딕"/>
              </a:rPr>
              <a:t>2</a:t>
            </a:r>
          </a:p>
        </p:txBody>
      </p:sp>
      <p:sp>
        <p:nvSpPr>
          <p:cNvPr id="13" name="TextBox 12"/>
          <p:cNvSpPr txBox="1"/>
          <p:nvPr/>
        </p:nvSpPr>
        <p:spPr>
          <a:xfrm>
            <a:off x="3657600" y="2819400"/>
            <a:ext cx="2082800" cy="635000"/>
          </a:xfrm>
          <a:prstGeom prst="rect">
            <a:avLst/>
          </a:prstGeom>
          <a:noFill/>
        </p:spPr>
        <p:txBody>
          <a:bodyPr wrap="square" lIns="0" tIns="0" rIns="0" bIns="0" anchor="t">
            <a:spAutoFit/>
          </a:bodyPr>
          <a:lstStyle/>
          <a:p>
            <a:pPr algn="l">
              <a:lnSpc>
                <a:spcPct val="120000"/>
              </a:lnSpc>
            </a:pPr>
            <a:r>
              <a:rPr sz="1900" b="1">
                <a:solidFill>
                  <a:srgbClr val="24211D"/>
                </a:solidFill>
                <a:latin typeface="맑은 고딕"/>
                <a:ea typeface="맑은 고딕"/>
                <a:cs typeface="맑은 고딕"/>
              </a:rPr>
              <a:t>도구함에 2개 담기</a:t>
            </a:r>
          </a:p>
        </p:txBody>
      </p:sp>
      <p:sp>
        <p:nvSpPr>
          <p:cNvPr id="14" name="TextBox 13"/>
          <p:cNvSpPr txBox="1"/>
          <p:nvPr/>
        </p:nvSpPr>
        <p:spPr>
          <a:xfrm>
            <a:off x="3657600" y="3479800"/>
            <a:ext cx="2082800" cy="304800"/>
          </a:xfrm>
          <a:prstGeom prst="rect">
            <a:avLst/>
          </a:prstGeom>
          <a:noFill/>
        </p:spPr>
        <p:txBody>
          <a:bodyPr wrap="square" lIns="0" tIns="0" rIns="0" bIns="0" anchor="t">
            <a:spAutoFit/>
          </a:bodyPr>
          <a:lstStyle/>
          <a:p>
            <a:pPr algn="l">
              <a:lnSpc>
                <a:spcPct val="100000"/>
              </a:lnSpc>
            </a:pPr>
            <a:r>
              <a:rPr sz="1350" b="0">
                <a:solidFill>
                  <a:srgbClr val="726859"/>
                </a:solidFill>
                <a:latin typeface="맑은 고딕"/>
                <a:ea typeface="맑은 고딕"/>
                <a:cs typeface="맑은 고딕"/>
              </a:rPr>
              <a:t>playmcp.kakao.com</a:t>
            </a:r>
          </a:p>
        </p:txBody>
      </p:sp>
      <p:sp>
        <p:nvSpPr>
          <p:cNvPr id="15" name="TextBox 14"/>
          <p:cNvSpPr txBox="1"/>
          <p:nvPr/>
        </p:nvSpPr>
        <p:spPr>
          <a:xfrm>
            <a:off x="3657600" y="3911600"/>
            <a:ext cx="2082800" cy="1270000"/>
          </a:xfrm>
          <a:prstGeom prst="rect">
            <a:avLst/>
          </a:prstGeom>
          <a:noFill/>
        </p:spPr>
        <p:txBody>
          <a:bodyPr wrap="square" lIns="0" tIns="0" rIns="0" bIns="0" anchor="t">
            <a:spAutoFit/>
          </a:bodyPr>
          <a:lstStyle/>
          <a:p>
            <a:pPr algn="l">
              <a:lnSpc>
                <a:spcPct val="135000"/>
              </a:lnSpc>
            </a:pPr>
            <a:r>
              <a:rPr sz="1500" b="0">
                <a:solidFill>
                  <a:srgbClr val="514B43"/>
                </a:solidFill>
                <a:latin typeface="맑은 고딕"/>
                <a:ea typeface="맑은 고딕"/>
                <a:cs typeface="맑은 고딕"/>
              </a:rPr>
              <a:t>한국 주식 정보</a:t>
            </a:r>
          </a:p>
          <a:p>
            <a:r>
              <a:rPr sz="1500" b="0">
                <a:solidFill>
                  <a:srgbClr val="514B43"/>
                </a:solidFill>
                <a:latin typeface="맑은 고딕"/>
                <a:ea typeface="맑은 고딕"/>
                <a:cs typeface="맑은 고딕"/>
              </a:rPr>
              <a:t>네이버 검색 mcp</a:t>
            </a:r>
          </a:p>
        </p:txBody>
      </p:sp>
      <p:sp>
        <p:nvSpPr>
          <p:cNvPr id="16" name="Rounded Rectangle 15"/>
          <p:cNvSpPr/>
          <p:nvPr/>
        </p:nvSpPr>
        <p:spPr>
          <a:xfrm>
            <a:off x="6184900" y="1930400"/>
            <a:ext cx="2641600" cy="3403600"/>
          </a:xfrm>
          <a:prstGeom prst="roundRect">
            <a:avLst>
              <a:gd name="adj" fmla="val 6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6464300" y="2209800"/>
            <a:ext cx="431800" cy="431800"/>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64300" y="2298700"/>
            <a:ext cx="431800" cy="304800"/>
          </a:xfrm>
          <a:prstGeom prst="rect">
            <a:avLst/>
          </a:prstGeom>
          <a:noFill/>
        </p:spPr>
        <p:txBody>
          <a:bodyPr wrap="square" lIns="0" tIns="0" rIns="0" bIns="0" anchor="t">
            <a:spAutoFit/>
          </a:bodyPr>
          <a:lstStyle/>
          <a:p>
            <a:pPr algn="ctr">
              <a:lnSpc>
                <a:spcPct val="100000"/>
              </a:lnSpc>
            </a:pPr>
            <a:r>
              <a:rPr sz="1600" b="1">
                <a:solidFill>
                  <a:srgbClr val="FFFFFF"/>
                </a:solidFill>
                <a:latin typeface="맑은 고딕"/>
                <a:ea typeface="맑은 고딕"/>
                <a:cs typeface="맑은 고딕"/>
              </a:rPr>
              <a:t>3</a:t>
            </a:r>
          </a:p>
        </p:txBody>
      </p:sp>
      <p:sp>
        <p:nvSpPr>
          <p:cNvPr id="19" name="TextBox 18"/>
          <p:cNvSpPr txBox="1"/>
          <p:nvPr/>
        </p:nvSpPr>
        <p:spPr>
          <a:xfrm>
            <a:off x="6464300" y="2819400"/>
            <a:ext cx="2082800" cy="635000"/>
          </a:xfrm>
          <a:prstGeom prst="rect">
            <a:avLst/>
          </a:prstGeom>
          <a:noFill/>
        </p:spPr>
        <p:txBody>
          <a:bodyPr wrap="square" lIns="0" tIns="0" rIns="0" bIns="0" anchor="t">
            <a:spAutoFit/>
          </a:bodyPr>
          <a:lstStyle/>
          <a:p>
            <a:pPr algn="l">
              <a:lnSpc>
                <a:spcPct val="120000"/>
              </a:lnSpc>
            </a:pPr>
            <a:r>
              <a:rPr sz="1900" b="1">
                <a:solidFill>
                  <a:srgbClr val="24211D"/>
                </a:solidFill>
                <a:latin typeface="맑은 고딕"/>
                <a:ea typeface="맑은 고딕"/>
                <a:cs typeface="맑은 고딕"/>
              </a:rPr>
              <a:t>PlayMCP 커넥터</a:t>
            </a:r>
          </a:p>
        </p:txBody>
      </p:sp>
      <p:sp>
        <p:nvSpPr>
          <p:cNvPr id="20" name="TextBox 19"/>
          <p:cNvSpPr txBox="1"/>
          <p:nvPr/>
        </p:nvSpPr>
        <p:spPr>
          <a:xfrm>
            <a:off x="6464300" y="3479800"/>
            <a:ext cx="2082800" cy="304800"/>
          </a:xfrm>
          <a:prstGeom prst="rect">
            <a:avLst/>
          </a:prstGeom>
          <a:noFill/>
        </p:spPr>
        <p:txBody>
          <a:bodyPr wrap="square" lIns="0" tIns="0" rIns="0" bIns="0" anchor="t">
            <a:spAutoFit/>
          </a:bodyPr>
          <a:lstStyle/>
          <a:p>
            <a:pPr algn="l">
              <a:lnSpc>
                <a:spcPct val="100000"/>
              </a:lnSpc>
            </a:pPr>
            <a:r>
              <a:rPr sz="1350" b="0">
                <a:solidFill>
                  <a:srgbClr val="726859"/>
                </a:solidFill>
                <a:latin typeface="맑은 고딕"/>
                <a:ea typeface="맑은 고딕"/>
                <a:cs typeface="맑은 고딕"/>
              </a:rPr>
              <a:t>설정 &gt; 커넥터</a:t>
            </a:r>
          </a:p>
        </p:txBody>
      </p:sp>
      <p:sp>
        <p:nvSpPr>
          <p:cNvPr id="21" name="TextBox 20"/>
          <p:cNvSpPr txBox="1"/>
          <p:nvPr/>
        </p:nvSpPr>
        <p:spPr>
          <a:xfrm>
            <a:off x="6464300" y="3911600"/>
            <a:ext cx="2082800" cy="1270000"/>
          </a:xfrm>
          <a:prstGeom prst="rect">
            <a:avLst/>
          </a:prstGeom>
          <a:noFill/>
        </p:spPr>
        <p:txBody>
          <a:bodyPr wrap="square" lIns="0" tIns="0" rIns="0" bIns="0" anchor="t">
            <a:spAutoFit/>
          </a:bodyPr>
          <a:lstStyle/>
          <a:p>
            <a:pPr algn="l">
              <a:lnSpc>
                <a:spcPct val="135000"/>
              </a:lnSpc>
            </a:pPr>
            <a:r>
              <a:rPr sz="1500" b="0">
                <a:solidFill>
                  <a:srgbClr val="514B43"/>
                </a:solidFill>
                <a:latin typeface="맑은 고딕"/>
                <a:ea typeface="맑은 고딕"/>
                <a:cs typeface="맑은 고딕"/>
              </a:rPr>
              <a:t>담은 뒤에 연결합니다</a:t>
            </a:r>
          </a:p>
          <a:p>
            <a:pPr algn="l">
              <a:lnSpc>
                <a:spcPct val="135000"/>
              </a:lnSpc>
            </a:pPr>
            <a:r>
              <a:rPr sz="1500" b="0">
                <a:solidFill>
                  <a:srgbClr val="514B43"/>
                </a:solidFill>
                <a:latin typeface="맑은 고딕"/>
                <a:ea typeface="맑은 고딕"/>
                <a:cs typeface="맑은 고딕"/>
              </a:rPr>
              <a:t>거꾸로 하면</a:t>
            </a:r>
          </a:p>
          <a:p>
            <a:pPr algn="l">
              <a:lnSpc>
                <a:spcPct val="135000"/>
              </a:lnSpc>
            </a:pPr>
            <a:r>
              <a:rPr sz="1500" b="0">
                <a:solidFill>
                  <a:srgbClr val="514B43"/>
                </a:solidFill>
                <a:latin typeface="맑은 고딕"/>
                <a:ea typeface="맑은 고딕"/>
                <a:cs typeface="맑은 고딕"/>
              </a:rPr>
              <a:t>쓸 도구가 없습니다</a:t>
            </a:r>
          </a:p>
        </p:txBody>
      </p:sp>
      <p:sp>
        <p:nvSpPr>
          <p:cNvPr id="22" name="Rounded Rectangle 21"/>
          <p:cNvSpPr/>
          <p:nvPr/>
        </p:nvSpPr>
        <p:spPr>
          <a:xfrm>
            <a:off x="571500" y="5588000"/>
            <a:ext cx="11061700" cy="5334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63600" y="5721350"/>
            <a:ext cx="10477500" cy="304800"/>
          </a:xfrm>
          <a:prstGeom prst="rect">
            <a:avLst/>
          </a:prstGeom>
          <a:noFill/>
        </p:spPr>
        <p:txBody>
          <a:bodyPr wrap="square" lIns="0" tIns="0" rIns="0" bIns="0" anchor="t">
            <a:spAutoFit/>
          </a:bodyPr>
          <a:lstStyle/>
          <a:p>
            <a:pPr algn="l">
              <a:lnSpc>
                <a:spcPct val="100000"/>
              </a:lnSpc>
            </a:pPr>
            <a:r>
              <a:rPr sz="1500" b="1">
                <a:solidFill>
                  <a:srgbClr val="F6F1EA"/>
                </a:solidFill>
                <a:latin typeface="맑은 고딕"/>
                <a:ea typeface="맑은 고딕"/>
                <a:cs typeface="맑은 고딕"/>
              </a:rPr>
              <a:t>순서가 있습니다.  웹에서 먼저 담고, 그다음 앱에서 연결합니다.</a:t>
            </a:r>
          </a:p>
        </p:txBody>
      </p:sp>
      <p:sp>
        <p:nvSpPr>
          <p:cNvPr id="24" name="TextBox 23"/>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53 / 81</a:t>
            </a:r>
          </a:p>
        </p:txBody>
      </p:sp>
      <p:sp>
        <p:nvSpPr>
          <p:cNvPr id="16" name="Rounded Rectangle 15"/>
          <p:cNvSpPr/>
          <p:nvPr/>
        </p:nvSpPr>
        <p:spPr>
          <a:xfrm>
            <a:off x="8991600" y="1930400"/>
            <a:ext cx="2641600" cy="3403600"/>
          </a:xfrm>
          <a:prstGeom prst="roundRect">
            <a:avLst>
              <a:gd name="adj" fmla="val 6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9271000" y="2209800"/>
            <a:ext cx="431800" cy="431800"/>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271000" y="2298700"/>
            <a:ext cx="431800" cy="304800"/>
          </a:xfrm>
          <a:prstGeom prst="rect">
            <a:avLst/>
          </a:prstGeom>
          <a:noFill/>
        </p:spPr>
        <p:txBody>
          <a:bodyPr wrap="square" lIns="0" tIns="0" rIns="0" bIns="0" anchor="t">
            <a:spAutoFit/>
          </a:bodyPr>
          <a:lstStyle/>
          <a:p>
            <a:pPr algn="ctr">
              <a:lnSpc>
                <a:spcPct val="100000"/>
              </a:lnSpc>
            </a:pPr>
            <a:r>
              <a:rPr sz="1600" b="1">
                <a:solidFill>
                  <a:srgbClr val="FFFFFF"/>
                </a:solidFill>
                <a:latin typeface="맑은 고딕"/>
                <a:ea typeface="맑은 고딕"/>
                <a:cs typeface="맑은 고딕"/>
              </a:rPr>
              <a:t>4</a:t>
            </a:r>
          </a:p>
        </p:txBody>
      </p:sp>
      <p:sp>
        <p:nvSpPr>
          <p:cNvPr id="19" name="TextBox 18"/>
          <p:cNvSpPr txBox="1"/>
          <p:nvPr/>
        </p:nvSpPr>
        <p:spPr>
          <a:xfrm>
            <a:off x="9271000" y="2819400"/>
            <a:ext cx="2082800" cy="635000"/>
          </a:xfrm>
          <a:prstGeom prst="rect">
            <a:avLst/>
          </a:prstGeom>
          <a:noFill/>
        </p:spPr>
        <p:txBody>
          <a:bodyPr wrap="square" lIns="0" tIns="0" rIns="0" bIns="0" anchor="t">
            <a:spAutoFit/>
          </a:bodyPr>
          <a:lstStyle/>
          <a:p>
            <a:pPr algn="l">
              <a:lnSpc>
                <a:spcPct val="120000"/>
              </a:lnSpc>
            </a:pPr>
            <a:r>
              <a:rPr sz="1900" b="1">
                <a:solidFill>
                  <a:srgbClr val="24211D"/>
                </a:solidFill>
                <a:latin typeface="맑은 고딕"/>
                <a:ea typeface="맑은 고딕"/>
                <a:cs typeface="맑은 고딕"/>
              </a:rPr>
              <a:t>새 대화를 연다</a:t>
            </a:r>
          </a:p>
        </p:txBody>
      </p:sp>
      <p:sp>
        <p:nvSpPr>
          <p:cNvPr id="20" name="TextBox 19"/>
          <p:cNvSpPr txBox="1"/>
          <p:nvPr/>
        </p:nvSpPr>
        <p:spPr>
          <a:xfrm>
            <a:off x="9271000" y="3479800"/>
            <a:ext cx="2082800" cy="304800"/>
          </a:xfrm>
          <a:prstGeom prst="rect">
            <a:avLst/>
          </a:prstGeom>
          <a:noFill/>
        </p:spPr>
        <p:txBody>
          <a:bodyPr wrap="square" lIns="0" tIns="0" rIns="0" bIns="0" anchor="t">
            <a:spAutoFit/>
          </a:bodyPr>
          <a:lstStyle/>
          <a:p>
            <a:pPr algn="l">
              <a:lnSpc>
                <a:spcPct val="100000"/>
              </a:lnSpc>
            </a:pPr>
            <a:r>
              <a:rPr sz="1350" b="0">
                <a:solidFill>
                  <a:srgbClr val="726859"/>
                </a:solidFill>
                <a:latin typeface="맑은 고딕"/>
                <a:ea typeface="맑은 고딕"/>
                <a:cs typeface="맑은 고딕"/>
              </a:rPr>
              <a:t>왼쪽 사이드바</a:t>
            </a:r>
          </a:p>
        </p:txBody>
      </p:sp>
      <p:sp>
        <p:nvSpPr>
          <p:cNvPr id="21" name="TextBox 20"/>
          <p:cNvSpPr txBox="1"/>
          <p:nvPr/>
        </p:nvSpPr>
        <p:spPr>
          <a:xfrm>
            <a:off x="9271000" y="3911600"/>
            <a:ext cx="2082800" cy="1270000"/>
          </a:xfrm>
          <a:prstGeom prst="rect">
            <a:avLst/>
          </a:prstGeom>
          <a:noFill/>
        </p:spPr>
        <p:txBody>
          <a:bodyPr wrap="square" lIns="0" tIns="0" rIns="0" bIns="0" anchor="t">
            <a:spAutoFit/>
          </a:bodyPr>
          <a:lstStyle/>
          <a:p>
            <a:pPr algn="l">
              <a:lnSpc>
                <a:spcPct val="135000"/>
              </a:lnSpc>
            </a:pPr>
            <a:r>
              <a:rPr sz="1500" b="0">
                <a:solidFill>
                  <a:srgbClr val="514B43"/>
                </a:solidFill>
                <a:latin typeface="맑은 고딕"/>
                <a:ea typeface="맑은 고딕"/>
                <a:cs typeface="맑은 고딕"/>
              </a:rPr>
              <a:t>커넥터를 방금 켰다면</a:t>
            </a:r>
          </a:p>
          <a:p>
            <a:pPr algn="l">
              <a:lnSpc>
                <a:spcPct val="135000"/>
              </a:lnSpc>
            </a:pPr>
            <a:r>
              <a:rPr sz="1500" b="0">
                <a:solidFill>
                  <a:srgbClr val="514B43"/>
                </a:solidFill>
                <a:latin typeface="맑은 고딕"/>
                <a:ea typeface="맑은 고딕"/>
                <a:cs typeface="맑은 고딕"/>
              </a:rPr>
              <a:t>이전 대화에서는</a:t>
            </a:r>
          </a:p>
          <a:p>
            <a:pPr algn="l">
              <a:lnSpc>
                <a:spcPct val="135000"/>
              </a:lnSpc>
            </a:pPr>
            <a:r>
              <a:rPr sz="1500" b="0">
                <a:solidFill>
                  <a:srgbClr val="514B43"/>
                </a:solidFill>
                <a:latin typeface="맑은 고딕"/>
                <a:ea typeface="맑은 고딕"/>
                <a:cs typeface="맑은 고딕"/>
              </a:rPr>
              <a:t>잡히지 않습니다</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커넥터는 하나면 됩니다</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시세 · 순위 · 차트 · 뉴스가 전부 한 곳에서 나옵니다</a:t>
            </a:r>
          </a:p>
        </p:txBody>
      </p:sp>
      <p:sp>
        <p:nvSpPr>
          <p:cNvPr id="4" name="Rounded Rectangle 3"/>
          <p:cNvSpPr/>
          <p:nvPr/>
        </p:nvSpPr>
        <p:spPr>
          <a:xfrm>
            <a:off x="571500" y="2032000"/>
            <a:ext cx="3454400" cy="13208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71500" y="2413000"/>
            <a:ext cx="3454400" cy="355600"/>
          </a:xfrm>
          <a:prstGeom prst="rect">
            <a:avLst/>
          </a:prstGeom>
          <a:noFill/>
        </p:spPr>
        <p:txBody>
          <a:bodyPr wrap="square" lIns="0" tIns="0" rIns="0" bIns="0" anchor="t">
            <a:spAutoFit/>
          </a:bodyPr>
          <a:lstStyle/>
          <a:p>
            <a:pPr algn="ctr">
              <a:lnSpc>
                <a:spcPct val="100000"/>
              </a:lnSpc>
            </a:pPr>
            <a:r>
              <a:rPr sz="2000" b="1">
                <a:solidFill>
                  <a:srgbClr val="24211D"/>
                </a:solidFill>
                <a:latin typeface="맑은 고딕"/>
                <a:ea typeface="맑은 고딕"/>
                <a:cs typeface="맑은 고딕"/>
              </a:rPr>
              <a:t>내 아티팩트</a:t>
            </a:r>
          </a:p>
        </p:txBody>
      </p:sp>
      <p:sp>
        <p:nvSpPr>
          <p:cNvPr id="6" name="TextBox 5"/>
          <p:cNvSpPr txBox="1"/>
          <p:nvPr/>
        </p:nvSpPr>
        <p:spPr>
          <a:xfrm>
            <a:off x="571500" y="2794000"/>
            <a:ext cx="3454400" cy="304800"/>
          </a:xfrm>
          <a:prstGeom prst="rect">
            <a:avLst/>
          </a:prstGeom>
          <a:noFill/>
        </p:spPr>
        <p:txBody>
          <a:bodyPr wrap="square" lIns="0" tIns="0" rIns="0" bIns="0" anchor="t">
            <a:spAutoFit/>
          </a:bodyPr>
          <a:lstStyle/>
          <a:p>
            <a:pPr algn="ctr">
              <a:lnSpc>
                <a:spcPct val="100000"/>
              </a:lnSpc>
            </a:pPr>
            <a:r>
              <a:rPr sz="1400" b="0">
                <a:solidFill>
                  <a:srgbClr val="726859"/>
                </a:solidFill>
                <a:latin typeface="맑은 고딕"/>
                <a:ea typeface="맑은 고딕"/>
                <a:cs typeface="맑은 고딕"/>
              </a:rPr>
              <a:t>화면</a:t>
            </a:r>
          </a:p>
        </p:txBody>
      </p:sp>
      <p:sp>
        <p:nvSpPr>
          <p:cNvPr id="7" name="TextBox 6"/>
          <p:cNvSpPr txBox="1"/>
          <p:nvPr/>
        </p:nvSpPr>
        <p:spPr>
          <a:xfrm>
            <a:off x="4076700" y="2489200"/>
            <a:ext cx="381000" cy="406400"/>
          </a:xfrm>
          <a:prstGeom prst="rect">
            <a:avLst/>
          </a:prstGeom>
          <a:noFill/>
        </p:spPr>
        <p:txBody>
          <a:bodyPr wrap="square" lIns="0" tIns="0" rIns="0" bIns="0" anchor="t">
            <a:spAutoFit/>
          </a:bodyPr>
          <a:lstStyle/>
          <a:p>
            <a:pPr algn="ctr">
              <a:lnSpc>
                <a:spcPct val="100000"/>
              </a:lnSpc>
            </a:pPr>
            <a:r>
              <a:rPr sz="2400" b="1">
                <a:solidFill>
                  <a:srgbClr val="D97757"/>
                </a:solidFill>
                <a:latin typeface="맑은 고딕"/>
                <a:ea typeface="맑은 고딕"/>
                <a:cs typeface="맑은 고딕"/>
              </a:rPr>
              <a:t>→</a:t>
            </a:r>
          </a:p>
        </p:txBody>
      </p:sp>
      <p:sp>
        <p:nvSpPr>
          <p:cNvPr id="8" name="Rounded Rectangle 7"/>
          <p:cNvSpPr/>
          <p:nvPr/>
        </p:nvSpPr>
        <p:spPr>
          <a:xfrm>
            <a:off x="4508500" y="2032000"/>
            <a:ext cx="3454400" cy="132080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508500" y="2413000"/>
            <a:ext cx="3454400" cy="355600"/>
          </a:xfrm>
          <a:prstGeom prst="rect">
            <a:avLst/>
          </a:prstGeom>
          <a:noFill/>
        </p:spPr>
        <p:txBody>
          <a:bodyPr wrap="square" lIns="0" tIns="0" rIns="0" bIns="0" anchor="t">
            <a:spAutoFit/>
          </a:bodyPr>
          <a:lstStyle/>
          <a:p>
            <a:pPr algn="ctr">
              <a:lnSpc>
                <a:spcPct val="100000"/>
              </a:lnSpc>
            </a:pPr>
            <a:r>
              <a:rPr sz="2000" b="1">
                <a:solidFill>
                  <a:srgbClr val="F6F1EA"/>
                </a:solidFill>
                <a:latin typeface="맑은 고딕"/>
                <a:ea typeface="맑은 고딕"/>
                <a:cs typeface="맑은 고딕"/>
              </a:rPr>
              <a:t>PlayMCP</a:t>
            </a:r>
          </a:p>
        </p:txBody>
      </p:sp>
      <p:sp>
        <p:nvSpPr>
          <p:cNvPr id="10" name="TextBox 9"/>
          <p:cNvSpPr txBox="1"/>
          <p:nvPr/>
        </p:nvSpPr>
        <p:spPr>
          <a:xfrm>
            <a:off x="4508500" y="2794000"/>
            <a:ext cx="3454400" cy="304800"/>
          </a:xfrm>
          <a:prstGeom prst="rect">
            <a:avLst/>
          </a:prstGeom>
          <a:noFill/>
        </p:spPr>
        <p:txBody>
          <a:bodyPr wrap="square" lIns="0" tIns="0" rIns="0" bIns="0" anchor="t">
            <a:spAutoFit/>
          </a:bodyPr>
          <a:lstStyle/>
          <a:p>
            <a:pPr algn="ctr">
              <a:lnSpc>
                <a:spcPct val="100000"/>
              </a:lnSpc>
            </a:pPr>
            <a:r>
              <a:rPr sz="1400" b="0">
                <a:solidFill>
                  <a:srgbClr val="C9C0B4"/>
                </a:solidFill>
                <a:latin typeface="맑은 고딕"/>
                <a:ea typeface="맑은 고딕"/>
                <a:cs typeface="맑은 고딕"/>
              </a:rPr>
              <a:t>도구함 · 주식 + 뉴스</a:t>
            </a:r>
          </a:p>
        </p:txBody>
      </p:sp>
      <p:sp>
        <p:nvSpPr>
          <p:cNvPr id="11" name="TextBox 10"/>
          <p:cNvSpPr txBox="1"/>
          <p:nvPr/>
        </p:nvSpPr>
        <p:spPr>
          <a:xfrm>
            <a:off x="8013700" y="2489200"/>
            <a:ext cx="381000" cy="406400"/>
          </a:xfrm>
          <a:prstGeom prst="rect">
            <a:avLst/>
          </a:prstGeom>
          <a:noFill/>
        </p:spPr>
        <p:txBody>
          <a:bodyPr wrap="square" lIns="0" tIns="0" rIns="0" bIns="0" anchor="t">
            <a:spAutoFit/>
          </a:bodyPr>
          <a:lstStyle/>
          <a:p>
            <a:pPr algn="ctr">
              <a:lnSpc>
                <a:spcPct val="100000"/>
              </a:lnSpc>
            </a:pPr>
            <a:r>
              <a:rPr sz="2400" b="1">
                <a:solidFill>
                  <a:srgbClr val="D97757"/>
                </a:solidFill>
                <a:latin typeface="맑은 고딕"/>
                <a:ea typeface="맑은 고딕"/>
                <a:cs typeface="맑은 고딕"/>
              </a:rPr>
              <a:t>→</a:t>
            </a:r>
          </a:p>
        </p:txBody>
      </p:sp>
      <p:sp>
        <p:nvSpPr>
          <p:cNvPr id="12" name="Rounded Rectangle 11"/>
          <p:cNvSpPr/>
          <p:nvPr/>
        </p:nvSpPr>
        <p:spPr>
          <a:xfrm>
            <a:off x="8445500" y="2032000"/>
            <a:ext cx="3454400" cy="13208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45500" y="2413000"/>
            <a:ext cx="3454400" cy="355600"/>
          </a:xfrm>
          <a:prstGeom prst="rect">
            <a:avLst/>
          </a:prstGeom>
          <a:noFill/>
        </p:spPr>
        <p:txBody>
          <a:bodyPr wrap="square" lIns="0" tIns="0" rIns="0" bIns="0" anchor="t">
            <a:spAutoFit/>
          </a:bodyPr>
          <a:lstStyle/>
          <a:p>
            <a:pPr algn="ctr">
              <a:lnSpc>
                <a:spcPct val="100000"/>
              </a:lnSpc>
            </a:pPr>
            <a:r>
              <a:rPr sz="2000" b="1">
                <a:solidFill>
                  <a:srgbClr val="24211D"/>
                </a:solidFill>
                <a:latin typeface="맑은 고딕"/>
                <a:ea typeface="맑은 고딕"/>
                <a:cs typeface="맑은 고딕"/>
              </a:rPr>
              <a:t>한국투자증권 · 네이버</a:t>
            </a:r>
          </a:p>
        </p:txBody>
      </p:sp>
      <p:sp>
        <p:nvSpPr>
          <p:cNvPr id="14" name="TextBox 13"/>
          <p:cNvSpPr txBox="1"/>
          <p:nvPr/>
        </p:nvSpPr>
        <p:spPr>
          <a:xfrm>
            <a:off x="8445500" y="2794000"/>
            <a:ext cx="3454400" cy="304800"/>
          </a:xfrm>
          <a:prstGeom prst="rect">
            <a:avLst/>
          </a:prstGeom>
          <a:noFill/>
        </p:spPr>
        <p:txBody>
          <a:bodyPr wrap="square" lIns="0" tIns="0" rIns="0" bIns="0" anchor="t">
            <a:spAutoFit/>
          </a:bodyPr>
          <a:lstStyle/>
          <a:p>
            <a:pPr algn="ctr">
              <a:lnSpc>
                <a:spcPct val="100000"/>
              </a:lnSpc>
            </a:pPr>
            <a:r>
              <a:rPr sz="1400" b="0">
                <a:solidFill>
                  <a:srgbClr val="726859"/>
                </a:solidFill>
                <a:latin typeface="맑은 고딕"/>
                <a:ea typeface="맑은 고딕"/>
                <a:cs typeface="맑은 고딕"/>
              </a:rPr>
              <a:t>시세는 KIS · 뉴스는 검색</a:t>
            </a:r>
          </a:p>
        </p:txBody>
      </p:sp>
      <p:sp>
        <p:nvSpPr>
          <p:cNvPr id="19" name="Rounded Rectangle 18"/>
          <p:cNvSpPr/>
          <p:nvPr/>
        </p:nvSpPr>
        <p:spPr>
          <a:xfrm>
            <a:off x="571500" y="5080000"/>
            <a:ext cx="11061700" cy="5334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63600" y="5213350"/>
            <a:ext cx="10477500" cy="304800"/>
          </a:xfrm>
          <a:prstGeom prst="rect">
            <a:avLst/>
          </a:prstGeom>
          <a:noFill/>
        </p:spPr>
        <p:txBody>
          <a:bodyPr wrap="square" lIns="0" tIns="0" rIns="0" bIns="0" anchor="t">
            <a:spAutoFit/>
          </a:bodyPr>
          <a:lstStyle/>
          <a:p>
            <a:pPr algn="l">
              <a:lnSpc>
                <a:spcPct val="100000"/>
              </a:lnSpc>
            </a:pPr>
            <a:r>
              <a:rPr sz="1500" b="1">
                <a:solidFill>
                  <a:srgbClr val="F6F1EA"/>
                </a:solidFill>
                <a:latin typeface="맑은 고딕"/>
                <a:ea typeface="맑은 고딕"/>
                <a:cs typeface="맑은 고딕"/>
              </a:rPr>
              <a:t>커넥터는 하나입니다.  안 될 때 원인도 하나라 그 자리에서 잡힙니다.</a:t>
            </a:r>
          </a:p>
        </p:txBody>
      </p:sp>
      <p:sp>
        <p:nvSpPr>
          <p:cNvPr id="21" name="TextBox 20"/>
          <p:cNvSpPr txBox="1"/>
          <p:nvPr/>
        </p:nvSpPr>
        <p:spPr>
          <a:xfrm>
            <a:off x="571500" y="6273800"/>
            <a:ext cx="11061700" cy="304800"/>
          </a:xfrm>
          <a:prstGeom prst="rect">
            <a:avLst/>
          </a:prstGeom>
          <a:noFill/>
        </p:spPr>
        <p:txBody>
          <a:bodyPr wrap="square" lIns="0" tIns="0" rIns="0" bIns="0" anchor="t">
            <a:spAutoFit/>
          </a:bodyPr>
          <a:lstStyle/>
          <a:p>
            <a:pPr algn="l">
              <a:lnSpc>
                <a:spcPct val="100000"/>
              </a:lnSpc>
            </a:pPr>
            <a:r>
              <a:rPr sz="1350" b="0">
                <a:solidFill>
                  <a:srgbClr val="514B43"/>
                </a:solidFill>
                <a:latin typeface="맑은 고딕"/>
                <a:ea typeface="맑은 고딕"/>
                <a:cs typeface="맑은 고딕"/>
              </a:rPr>
              <a:t>출처: kko.kakao.com/connectclaude · playmcp.kakao.com/llms.txt (2026-08-10 직접 조회)</a:t>
            </a:r>
          </a:p>
        </p:txBody>
      </p:sp>
      <p:sp>
        <p:nvSpPr>
          <p:cNvPr id="22" name="TextBox 21"/>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54 / 81</a:t>
            </a:r>
          </a:p>
        </p:txBody>
      </p:sp>
      <p:sp>
        <p:nvSpPr>
          <p:cNvPr id="23" name="TextBox 22"/>
          <p:cNvSpPr txBox="1"/>
          <p:nvPr/>
        </p:nvSpPr>
        <p:spPr>
          <a:xfrm>
            <a:off x="571500" y="3505200"/>
            <a:ext cx="11061700" cy="330200"/>
          </a:xfrm>
          <a:prstGeom prst="rect">
            <a:avLst/>
          </a:prstGeom>
          <a:noFill/>
        </p:spPr>
        <p:txBody>
          <a:bodyPr wrap="square" lIns="0" tIns="0" rIns="0" bIns="0">
            <a:spAutoFit/>
          </a:bodyPr>
          <a:lstStyle/>
          <a:p>
            <a:pPr algn="l">
              <a:lnSpc>
                <a:spcPct val="100000"/>
              </a:lnSpc>
            </a:pPr>
            <a:r>
              <a:rPr sz="1700" b="1">
                <a:solidFill>
                  <a:srgbClr val="24211D"/>
                </a:solidFill>
                <a:latin typeface="맑은 고딕"/>
                <a:ea typeface="맑은 고딕"/>
                <a:cs typeface="맑은 고딕"/>
              </a:rPr>
              <a:t>붙이는 순서 — 웹에서 먼저, 앱에서 나중</a:t>
            </a:r>
          </a:p>
        </p:txBody>
      </p:sp>
      <p:sp>
        <p:nvSpPr>
          <p:cNvPr id="24" name="Rounded Rectangle 23"/>
          <p:cNvSpPr/>
          <p:nvPr/>
        </p:nvSpPr>
        <p:spPr>
          <a:xfrm>
            <a:off x="571500" y="3886200"/>
            <a:ext cx="5334000" cy="11430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63600" y="4064000"/>
            <a:ext cx="1524000" cy="304800"/>
          </a:xfrm>
          <a:prstGeom prst="rect">
            <a:avLst/>
          </a:prstGeom>
          <a:noFill/>
        </p:spPr>
        <p:txBody>
          <a:bodyPr wrap="square" lIns="0" tIns="0" rIns="0" bIns="0">
            <a:spAutoFit/>
          </a:bodyPr>
          <a:lstStyle/>
          <a:p>
            <a:pPr algn="l">
              <a:lnSpc>
                <a:spcPct val="100000"/>
              </a:lnSpc>
            </a:pPr>
            <a:r>
              <a:rPr sz="1600" b="1">
                <a:solidFill>
                  <a:srgbClr val="D97757"/>
                </a:solidFill>
                <a:latin typeface="맑은 고딕"/>
                <a:ea typeface="맑은 고딕"/>
                <a:cs typeface="맑은 고딕"/>
              </a:rPr>
              <a:t>① 웹</a:t>
            </a:r>
          </a:p>
        </p:txBody>
      </p:sp>
      <p:sp>
        <p:nvSpPr>
          <p:cNvPr id="26" name="TextBox 25"/>
          <p:cNvSpPr txBox="1"/>
          <p:nvPr/>
        </p:nvSpPr>
        <p:spPr>
          <a:xfrm>
            <a:off x="863600" y="4368800"/>
            <a:ext cx="4826000" cy="558800"/>
          </a:xfrm>
          <a:prstGeom prst="rect">
            <a:avLst/>
          </a:prstGeom>
          <a:noFill/>
        </p:spPr>
        <p:txBody>
          <a:bodyPr wrap="square" lIns="0" tIns="0" rIns="0" bIns="0">
            <a:spAutoFit/>
          </a:bodyPr>
          <a:lstStyle/>
          <a:p>
            <a:pPr algn="l">
              <a:lnSpc>
                <a:spcPct val="130000"/>
              </a:lnSpc>
            </a:pPr>
            <a:r>
              <a:rPr sz="1500" b="0">
                <a:solidFill>
                  <a:srgbClr val="514B43"/>
                </a:solidFill>
                <a:latin typeface="맑은 고딕"/>
                <a:ea typeface="맑은 고딕"/>
                <a:cs typeface="맑은 고딕"/>
              </a:rPr>
              <a:t>playmcp.kakao.com 로그인</a:t>
            </a:r>
          </a:p>
          <a:p>
            <a:pPr algn="l">
              <a:lnSpc>
                <a:spcPct val="130000"/>
              </a:lnSpc>
            </a:pPr>
            <a:r>
              <a:rPr sz="1500" b="0">
                <a:solidFill>
                  <a:srgbClr val="514B43"/>
                </a:solidFill>
                <a:latin typeface="맑은 고딕"/>
                <a:ea typeface="맑은 고딕"/>
                <a:cs typeface="맑은 고딕"/>
              </a:rPr>
              <a:t>→ 한국 주식 정보 · 네이버 검색 담기</a:t>
            </a:r>
          </a:p>
        </p:txBody>
      </p:sp>
      <p:sp>
        <p:nvSpPr>
          <p:cNvPr id="27" name="Rounded Rectangle 26"/>
          <p:cNvSpPr/>
          <p:nvPr/>
        </p:nvSpPr>
        <p:spPr>
          <a:xfrm>
            <a:off x="6299200" y="3886200"/>
            <a:ext cx="5334000" cy="1143000"/>
          </a:xfrm>
          <a:prstGeom prst="roundRect">
            <a:avLst>
              <a:gd name="adj" fmla="val 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591300" y="4064000"/>
            <a:ext cx="1524000" cy="304800"/>
          </a:xfrm>
          <a:prstGeom prst="rect">
            <a:avLst/>
          </a:prstGeom>
          <a:noFill/>
        </p:spPr>
        <p:txBody>
          <a:bodyPr wrap="square" lIns="0" tIns="0" rIns="0" bIns="0">
            <a:spAutoFit/>
          </a:bodyPr>
          <a:lstStyle/>
          <a:p>
            <a:pPr algn="l">
              <a:lnSpc>
                <a:spcPct val="100000"/>
              </a:lnSpc>
            </a:pPr>
            <a:r>
              <a:rPr sz="1600" b="1">
                <a:solidFill>
                  <a:srgbClr val="D97757"/>
                </a:solidFill>
                <a:latin typeface="맑은 고딕"/>
                <a:ea typeface="맑은 고딕"/>
                <a:cs typeface="맑은 고딕"/>
              </a:rPr>
              <a:t>② 앱</a:t>
            </a:r>
          </a:p>
        </p:txBody>
      </p:sp>
      <p:sp>
        <p:nvSpPr>
          <p:cNvPr id="29" name="TextBox 28"/>
          <p:cNvSpPr txBox="1"/>
          <p:nvPr/>
        </p:nvSpPr>
        <p:spPr>
          <a:xfrm>
            <a:off x="6591300" y="4368800"/>
            <a:ext cx="4826000" cy="558800"/>
          </a:xfrm>
          <a:prstGeom prst="rect">
            <a:avLst/>
          </a:prstGeom>
          <a:noFill/>
        </p:spPr>
        <p:txBody>
          <a:bodyPr wrap="square" lIns="0" tIns="0" rIns="0" bIns="0">
            <a:spAutoFit/>
          </a:bodyPr>
          <a:lstStyle/>
          <a:p>
            <a:pPr algn="l">
              <a:lnSpc>
                <a:spcPct val="130000"/>
              </a:lnSpc>
            </a:pPr>
            <a:r>
              <a:rPr sz="1500" b="0">
                <a:solidFill>
                  <a:srgbClr val="F6F1EA"/>
                </a:solidFill>
                <a:latin typeface="맑은 고딕"/>
                <a:ea typeface="맑은 고딕"/>
                <a:cs typeface="맑은 고딕"/>
              </a:rPr>
              <a:t>설정 &gt; 커넥터 &gt; 커넥터 둘러보기</a:t>
            </a:r>
          </a:p>
          <a:p>
            <a:pPr algn="l">
              <a:lnSpc>
                <a:spcPct val="130000"/>
              </a:lnSpc>
            </a:pPr>
            <a:r>
              <a:rPr sz="1500" b="0">
                <a:solidFill>
                  <a:srgbClr val="F6F1EA"/>
                </a:solidFill>
                <a:latin typeface="맑은 고딕"/>
                <a:ea typeface="맑은 고딕"/>
                <a:cs typeface="맑은 고딕"/>
              </a:rPr>
              <a:t>→ PlayMCP 선택 → 연결 → 카카오 로그인</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도구는 만드는 게 아니라 딸려옵니다</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커넥터를 붙이면 그 안의 도구가 통째로 따라옵니다</a:t>
            </a:r>
          </a:p>
        </p:txBody>
      </p:sp>
      <p:sp>
        <p:nvSpPr>
          <p:cNvPr id="4" name="TextBox 3"/>
          <p:cNvSpPr txBox="1"/>
          <p:nvPr/>
        </p:nvSpPr>
        <p:spPr>
          <a:xfrm>
            <a:off x="2489200" y="1930400"/>
            <a:ext cx="5334000" cy="304800"/>
          </a:xfrm>
          <a:prstGeom prst="rect">
            <a:avLst/>
          </a:prstGeom>
          <a:noFill/>
        </p:spPr>
        <p:txBody>
          <a:bodyPr wrap="square" lIns="0" tIns="0" rIns="0" bIns="0" anchor="t">
            <a:spAutoFit/>
          </a:bodyPr>
          <a:lstStyle/>
          <a:p>
            <a:pPr algn="l">
              <a:lnSpc>
                <a:spcPct val="100000"/>
              </a:lnSpc>
            </a:pPr>
            <a:r>
              <a:rPr sz="1400" b="1">
                <a:solidFill>
                  <a:srgbClr val="726859"/>
                </a:solidFill>
                <a:latin typeface="맑은 고딕"/>
                <a:ea typeface="맑은 고딕"/>
                <a:cs typeface="맑은 고딕"/>
              </a:rPr>
              <a:t>무엇인가</a:t>
            </a:r>
          </a:p>
        </p:txBody>
      </p:sp>
      <p:sp>
        <p:nvSpPr>
          <p:cNvPr id="5" name="TextBox 4"/>
          <p:cNvSpPr txBox="1"/>
          <p:nvPr/>
        </p:nvSpPr>
        <p:spPr>
          <a:xfrm>
            <a:off x="8636000" y="1930400"/>
            <a:ext cx="2997200" cy="304800"/>
          </a:xfrm>
          <a:prstGeom prst="rect">
            <a:avLst/>
          </a:prstGeom>
          <a:noFill/>
        </p:spPr>
        <p:txBody>
          <a:bodyPr wrap="square" lIns="0" tIns="0" rIns="0" bIns="0" anchor="t">
            <a:spAutoFit/>
          </a:bodyPr>
          <a:lstStyle/>
          <a:p>
            <a:pPr algn="l">
              <a:lnSpc>
                <a:spcPct val="100000"/>
              </a:lnSpc>
            </a:pPr>
            <a:r>
              <a:rPr sz="1400" b="1">
                <a:solidFill>
                  <a:srgbClr val="726859"/>
                </a:solidFill>
                <a:latin typeface="맑은 고딕"/>
                <a:ea typeface="맑은 고딕"/>
                <a:cs typeface="맑은 고딕"/>
              </a:rPr>
              <a:t>누가 만드나</a:t>
            </a:r>
          </a:p>
        </p:txBody>
      </p:sp>
      <p:sp>
        <p:nvSpPr>
          <p:cNvPr id="6" name="Rounded Rectangle 5"/>
          <p:cNvSpPr/>
          <p:nvPr/>
        </p:nvSpPr>
        <p:spPr>
          <a:xfrm>
            <a:off x="571500" y="2311400"/>
            <a:ext cx="11061700" cy="685800"/>
          </a:xfrm>
          <a:prstGeom prst="roundRect">
            <a:avLst>
              <a:gd name="adj" fmla="val 8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3600" y="2489200"/>
            <a:ext cx="1524000" cy="330200"/>
          </a:xfrm>
          <a:prstGeom prst="rect">
            <a:avLst/>
          </a:prstGeom>
          <a:noFill/>
        </p:spPr>
        <p:txBody>
          <a:bodyPr wrap="square" lIns="0" tIns="0" rIns="0" bIns="0" anchor="t">
            <a:spAutoFit/>
          </a:bodyPr>
          <a:lstStyle/>
          <a:p>
            <a:pPr algn="l">
              <a:lnSpc>
                <a:spcPct val="100000"/>
              </a:lnSpc>
            </a:pPr>
            <a:r>
              <a:rPr sz="1800" b="1">
                <a:solidFill>
                  <a:srgbClr val="24211D"/>
                </a:solidFill>
                <a:latin typeface="맑은 고딕"/>
                <a:ea typeface="맑은 고딕"/>
                <a:cs typeface="맑은 고딕"/>
              </a:rPr>
              <a:t>커넥터</a:t>
            </a:r>
          </a:p>
        </p:txBody>
      </p:sp>
      <p:sp>
        <p:nvSpPr>
          <p:cNvPr id="8" name="TextBox 7"/>
          <p:cNvSpPr txBox="1"/>
          <p:nvPr/>
        </p:nvSpPr>
        <p:spPr>
          <a:xfrm>
            <a:off x="2489200" y="2501900"/>
            <a:ext cx="5842000" cy="330200"/>
          </a:xfrm>
          <a:prstGeom prst="rect">
            <a:avLst/>
          </a:prstGeom>
          <a:noFill/>
        </p:spPr>
        <p:txBody>
          <a:bodyPr wrap="square" lIns="0" tIns="0" rIns="0" bIns="0" anchor="t">
            <a:spAutoFit/>
          </a:bodyPr>
          <a:lstStyle/>
          <a:p>
            <a:pPr algn="l">
              <a:lnSpc>
                <a:spcPct val="100000"/>
              </a:lnSpc>
            </a:pPr>
            <a:r>
              <a:rPr sz="1700" b="0">
                <a:solidFill>
                  <a:srgbClr val="514B43"/>
                </a:solidFill>
                <a:latin typeface="맑은 고딕"/>
                <a:ea typeface="맑은 고딕"/>
                <a:cs typeface="맑은 고딕"/>
              </a:rPr>
              <a:t>공구함을 책상 옆에 놓는 것</a:t>
            </a:r>
          </a:p>
        </p:txBody>
      </p:sp>
      <p:sp>
        <p:nvSpPr>
          <p:cNvPr id="9" name="TextBox 8"/>
          <p:cNvSpPr txBox="1"/>
          <p:nvPr/>
        </p:nvSpPr>
        <p:spPr>
          <a:xfrm>
            <a:off x="8636000" y="2501900"/>
            <a:ext cx="2997200" cy="330200"/>
          </a:xfrm>
          <a:prstGeom prst="rect">
            <a:avLst/>
          </a:prstGeom>
          <a:noFill/>
        </p:spPr>
        <p:txBody>
          <a:bodyPr wrap="square" lIns="0" tIns="0" rIns="0" bIns="0" anchor="t">
            <a:spAutoFit/>
          </a:bodyPr>
          <a:lstStyle/>
          <a:p>
            <a:pPr algn="l">
              <a:lnSpc>
                <a:spcPct val="100000"/>
              </a:lnSpc>
            </a:pPr>
            <a:r>
              <a:rPr sz="1700" b="0">
                <a:solidFill>
                  <a:srgbClr val="514B43"/>
                </a:solidFill>
                <a:latin typeface="맑은 고딕"/>
                <a:ea typeface="맑은 고딕"/>
                <a:cs typeface="맑은 고딕"/>
              </a:rPr>
              <a:t>내가 붙인다</a:t>
            </a:r>
          </a:p>
        </p:txBody>
      </p:sp>
      <p:sp>
        <p:nvSpPr>
          <p:cNvPr id="10" name="Rounded Rectangle 9"/>
          <p:cNvSpPr/>
          <p:nvPr/>
        </p:nvSpPr>
        <p:spPr>
          <a:xfrm>
            <a:off x="571500" y="3098800"/>
            <a:ext cx="11061700" cy="685800"/>
          </a:xfrm>
          <a:prstGeom prst="roundRect">
            <a:avLst>
              <a:gd name="adj" fmla="val 8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63600" y="3276600"/>
            <a:ext cx="1524000" cy="330200"/>
          </a:xfrm>
          <a:prstGeom prst="rect">
            <a:avLst/>
          </a:prstGeom>
          <a:noFill/>
        </p:spPr>
        <p:txBody>
          <a:bodyPr wrap="square" lIns="0" tIns="0" rIns="0" bIns="0" anchor="t">
            <a:spAutoFit/>
          </a:bodyPr>
          <a:lstStyle/>
          <a:p>
            <a:pPr algn="l">
              <a:lnSpc>
                <a:spcPct val="100000"/>
              </a:lnSpc>
            </a:pPr>
            <a:r>
              <a:rPr sz="1800" b="1">
                <a:solidFill>
                  <a:srgbClr val="D97757"/>
                </a:solidFill>
                <a:latin typeface="맑은 고딕"/>
                <a:ea typeface="맑은 고딕"/>
                <a:cs typeface="맑은 고딕"/>
              </a:rPr>
              <a:t>도구</a:t>
            </a:r>
          </a:p>
        </p:txBody>
      </p:sp>
      <p:sp>
        <p:nvSpPr>
          <p:cNvPr id="12" name="TextBox 11"/>
          <p:cNvSpPr txBox="1"/>
          <p:nvPr/>
        </p:nvSpPr>
        <p:spPr>
          <a:xfrm>
            <a:off x="2489200" y="3289300"/>
            <a:ext cx="5842000" cy="330200"/>
          </a:xfrm>
          <a:prstGeom prst="rect">
            <a:avLst/>
          </a:prstGeom>
          <a:noFill/>
        </p:spPr>
        <p:txBody>
          <a:bodyPr wrap="square" lIns="0" tIns="0" rIns="0" bIns="0" anchor="t">
            <a:spAutoFit/>
          </a:bodyPr>
          <a:lstStyle/>
          <a:p>
            <a:pPr algn="l">
              <a:lnSpc>
                <a:spcPct val="100000"/>
              </a:lnSpc>
            </a:pPr>
            <a:r>
              <a:rPr sz="1700" b="0">
                <a:solidFill>
                  <a:srgbClr val="514B43"/>
                </a:solidFill>
                <a:latin typeface="맑은 고딕"/>
                <a:ea typeface="맑은 고딕"/>
                <a:cs typeface="맑은 고딕"/>
              </a:rPr>
              <a:t>공구함 안에 든 공구</a:t>
            </a:r>
          </a:p>
        </p:txBody>
      </p:sp>
      <p:sp>
        <p:nvSpPr>
          <p:cNvPr id="13" name="TextBox 12"/>
          <p:cNvSpPr txBox="1"/>
          <p:nvPr/>
        </p:nvSpPr>
        <p:spPr>
          <a:xfrm>
            <a:off x="8636000" y="3289300"/>
            <a:ext cx="2997200" cy="330200"/>
          </a:xfrm>
          <a:prstGeom prst="rect">
            <a:avLst/>
          </a:prstGeom>
          <a:noFill/>
        </p:spPr>
        <p:txBody>
          <a:bodyPr wrap="square" lIns="0" tIns="0" rIns="0" bIns="0" anchor="t">
            <a:spAutoFit/>
          </a:bodyPr>
          <a:lstStyle/>
          <a:p>
            <a:pPr algn="l">
              <a:lnSpc>
                <a:spcPct val="100000"/>
              </a:lnSpc>
            </a:pPr>
            <a:r>
              <a:rPr sz="1700" b="1">
                <a:solidFill>
                  <a:srgbClr val="24211D"/>
                </a:solidFill>
                <a:latin typeface="맑은 고딕"/>
                <a:ea typeface="맑은 고딕"/>
                <a:cs typeface="맑은 고딕"/>
              </a:rPr>
              <a:t>이미 들어 있다</a:t>
            </a:r>
          </a:p>
        </p:txBody>
      </p:sp>
      <p:sp>
        <p:nvSpPr>
          <p:cNvPr id="14" name="Rounded Rectangle 13"/>
          <p:cNvSpPr/>
          <p:nvPr/>
        </p:nvSpPr>
        <p:spPr>
          <a:xfrm>
            <a:off x="571500" y="3886200"/>
            <a:ext cx="11061700" cy="685800"/>
          </a:xfrm>
          <a:prstGeom prst="roundRect">
            <a:avLst>
              <a:gd name="adj" fmla="val 8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63600" y="4064000"/>
            <a:ext cx="1524000" cy="330200"/>
          </a:xfrm>
          <a:prstGeom prst="rect">
            <a:avLst/>
          </a:prstGeom>
          <a:noFill/>
        </p:spPr>
        <p:txBody>
          <a:bodyPr wrap="square" lIns="0" tIns="0" rIns="0" bIns="0" anchor="t">
            <a:spAutoFit/>
          </a:bodyPr>
          <a:lstStyle/>
          <a:p>
            <a:pPr algn="l">
              <a:lnSpc>
                <a:spcPct val="100000"/>
              </a:lnSpc>
            </a:pPr>
            <a:r>
              <a:rPr sz="1800" b="1">
                <a:solidFill>
                  <a:srgbClr val="24211D"/>
                </a:solidFill>
                <a:latin typeface="맑은 고딕"/>
                <a:ea typeface="맑은 고딕"/>
                <a:cs typeface="맑은 고딕"/>
              </a:rPr>
              <a:t>스킬</a:t>
            </a:r>
          </a:p>
        </p:txBody>
      </p:sp>
      <p:sp>
        <p:nvSpPr>
          <p:cNvPr id="16" name="TextBox 15"/>
          <p:cNvSpPr txBox="1"/>
          <p:nvPr/>
        </p:nvSpPr>
        <p:spPr>
          <a:xfrm>
            <a:off x="2489200" y="4076700"/>
            <a:ext cx="5842000" cy="330200"/>
          </a:xfrm>
          <a:prstGeom prst="rect">
            <a:avLst/>
          </a:prstGeom>
          <a:noFill/>
        </p:spPr>
        <p:txBody>
          <a:bodyPr wrap="square" lIns="0" tIns="0" rIns="0" bIns="0" anchor="t">
            <a:spAutoFit/>
          </a:bodyPr>
          <a:lstStyle/>
          <a:p>
            <a:pPr algn="l">
              <a:lnSpc>
                <a:spcPct val="100000"/>
              </a:lnSpc>
            </a:pPr>
            <a:r>
              <a:rPr sz="1700" b="0">
                <a:solidFill>
                  <a:srgbClr val="514B43"/>
                </a:solidFill>
                <a:latin typeface="맑은 고딕"/>
                <a:ea typeface="맑은 고딕"/>
                <a:cs typeface="맑은 고딕"/>
              </a:rPr>
              <a:t>그 공구로 일하는 순서를 적은 매뉴얼</a:t>
            </a:r>
          </a:p>
        </p:txBody>
      </p:sp>
      <p:sp>
        <p:nvSpPr>
          <p:cNvPr id="17" name="TextBox 16"/>
          <p:cNvSpPr txBox="1"/>
          <p:nvPr/>
        </p:nvSpPr>
        <p:spPr>
          <a:xfrm>
            <a:off x="8636000" y="4076700"/>
            <a:ext cx="2997200" cy="330200"/>
          </a:xfrm>
          <a:prstGeom prst="rect">
            <a:avLst/>
          </a:prstGeom>
          <a:noFill/>
        </p:spPr>
        <p:txBody>
          <a:bodyPr wrap="square" lIns="0" tIns="0" rIns="0" bIns="0" anchor="t">
            <a:spAutoFit/>
          </a:bodyPr>
          <a:lstStyle/>
          <a:p>
            <a:pPr algn="l">
              <a:lnSpc>
                <a:spcPct val="100000"/>
              </a:lnSpc>
            </a:pPr>
            <a:r>
              <a:rPr sz="1700" b="0">
                <a:solidFill>
                  <a:srgbClr val="514B43"/>
                </a:solidFill>
                <a:latin typeface="맑은 고딕"/>
                <a:ea typeface="맑은 고딕"/>
                <a:cs typeface="맑은 고딕"/>
              </a:rPr>
              <a:t>내가 쓰거나 받는다</a:t>
            </a:r>
          </a:p>
        </p:txBody>
      </p:sp>
      <p:sp>
        <p:nvSpPr>
          <p:cNvPr id="18" name="Rounded Rectangle 17"/>
          <p:cNvSpPr/>
          <p:nvPr/>
        </p:nvSpPr>
        <p:spPr>
          <a:xfrm>
            <a:off x="571500" y="4673600"/>
            <a:ext cx="11061700" cy="685800"/>
          </a:xfrm>
          <a:prstGeom prst="roundRect">
            <a:avLst>
              <a:gd name="adj" fmla="val 8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63600" y="4851400"/>
            <a:ext cx="1524000" cy="330200"/>
          </a:xfrm>
          <a:prstGeom prst="rect">
            <a:avLst/>
          </a:prstGeom>
          <a:noFill/>
        </p:spPr>
        <p:txBody>
          <a:bodyPr wrap="square" lIns="0" tIns="0" rIns="0" bIns="0" anchor="t">
            <a:spAutoFit/>
          </a:bodyPr>
          <a:lstStyle/>
          <a:p>
            <a:pPr algn="l">
              <a:lnSpc>
                <a:spcPct val="100000"/>
              </a:lnSpc>
            </a:pPr>
            <a:r>
              <a:rPr sz="1800" b="1">
                <a:solidFill>
                  <a:srgbClr val="24211D"/>
                </a:solidFill>
                <a:latin typeface="맑은 고딕"/>
                <a:ea typeface="맑은 고딕"/>
                <a:cs typeface="맑은 고딕"/>
              </a:rPr>
              <a:t>아티팩트</a:t>
            </a:r>
          </a:p>
        </p:txBody>
      </p:sp>
      <p:sp>
        <p:nvSpPr>
          <p:cNvPr id="20" name="TextBox 19"/>
          <p:cNvSpPr txBox="1"/>
          <p:nvPr/>
        </p:nvSpPr>
        <p:spPr>
          <a:xfrm>
            <a:off x="2489200" y="4864100"/>
            <a:ext cx="5842000" cy="330200"/>
          </a:xfrm>
          <a:prstGeom prst="rect">
            <a:avLst/>
          </a:prstGeom>
          <a:noFill/>
        </p:spPr>
        <p:txBody>
          <a:bodyPr wrap="square" lIns="0" tIns="0" rIns="0" bIns="0" anchor="t">
            <a:spAutoFit/>
          </a:bodyPr>
          <a:lstStyle/>
          <a:p>
            <a:pPr algn="l">
              <a:lnSpc>
                <a:spcPct val="100000"/>
              </a:lnSpc>
            </a:pPr>
            <a:r>
              <a:rPr sz="1700" b="0">
                <a:solidFill>
                  <a:srgbClr val="514B43"/>
                </a:solidFill>
                <a:latin typeface="맑은 고딕"/>
                <a:ea typeface="맑은 고딕"/>
                <a:cs typeface="맑은 고딕"/>
              </a:rPr>
              <a:t>그 일의 결과물</a:t>
            </a:r>
          </a:p>
        </p:txBody>
      </p:sp>
      <p:sp>
        <p:nvSpPr>
          <p:cNvPr id="21" name="TextBox 20"/>
          <p:cNvSpPr txBox="1"/>
          <p:nvPr/>
        </p:nvSpPr>
        <p:spPr>
          <a:xfrm>
            <a:off x="8636000" y="4864100"/>
            <a:ext cx="2997200" cy="330200"/>
          </a:xfrm>
          <a:prstGeom prst="rect">
            <a:avLst/>
          </a:prstGeom>
          <a:noFill/>
        </p:spPr>
        <p:txBody>
          <a:bodyPr wrap="square" lIns="0" tIns="0" rIns="0" bIns="0" anchor="t">
            <a:spAutoFit/>
          </a:bodyPr>
          <a:lstStyle/>
          <a:p>
            <a:pPr algn="l">
              <a:lnSpc>
                <a:spcPct val="100000"/>
              </a:lnSpc>
            </a:pPr>
            <a:r>
              <a:rPr sz="1700" b="0">
                <a:solidFill>
                  <a:srgbClr val="514B43"/>
                </a:solidFill>
                <a:latin typeface="맑은 고딕"/>
                <a:ea typeface="맑은 고딕"/>
                <a:cs typeface="맑은 고딕"/>
              </a:rPr>
              <a:t>Claude 가 만든다</a:t>
            </a:r>
          </a:p>
        </p:txBody>
      </p:sp>
      <p:sp>
        <p:nvSpPr>
          <p:cNvPr id="22" name="Rounded Rectangle 21"/>
          <p:cNvSpPr/>
          <p:nvPr/>
        </p:nvSpPr>
        <p:spPr>
          <a:xfrm>
            <a:off x="571500" y="5588000"/>
            <a:ext cx="11061700" cy="5334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63600" y="5721350"/>
            <a:ext cx="10477500" cy="304800"/>
          </a:xfrm>
          <a:prstGeom prst="rect">
            <a:avLst/>
          </a:prstGeom>
          <a:noFill/>
        </p:spPr>
        <p:txBody>
          <a:bodyPr wrap="square" lIns="0" tIns="0" rIns="0" bIns="0" anchor="t">
            <a:spAutoFit/>
          </a:bodyPr>
          <a:lstStyle/>
          <a:p>
            <a:pPr algn="l">
              <a:lnSpc>
                <a:spcPct val="100000"/>
              </a:lnSpc>
            </a:pPr>
            <a:r>
              <a:rPr sz="1500" b="1">
                <a:solidFill>
                  <a:srgbClr val="F6F1EA"/>
                </a:solidFill>
                <a:latin typeface="맑은 고딕"/>
                <a:ea typeface="맑은 고딕"/>
                <a:cs typeface="맑은 고딕"/>
              </a:rPr>
              <a:t>도구 이름을 외울 필요는 없습니다.  "등락률 상위 알려줘" 하면 Claude 가 알아서 집습니다.</a:t>
            </a:r>
          </a:p>
        </p:txBody>
      </p:sp>
      <p:sp>
        <p:nvSpPr>
          <p:cNvPr id="24" name="TextBox 23"/>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55 / 81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한 문장씩 넣습니다 ①</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뭘 할 수 있는지 먼저 물어봅니다</a:t>
            </a:r>
          </a:p>
        </p:txBody>
      </p:sp>
      <p:sp>
        <p:nvSpPr>
          <p:cNvPr id="4" name="Rounded Rectangle 3"/>
          <p:cNvSpPr/>
          <p:nvPr/>
        </p:nvSpPr>
        <p:spPr>
          <a:xfrm>
            <a:off x="571500" y="1930400"/>
            <a:ext cx="11061700" cy="7874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4700" y="2176780"/>
            <a:ext cx="10655300" cy="787400"/>
          </a:xfrm>
          <a:prstGeom prst="rect">
            <a:avLst/>
          </a:prstGeom>
          <a:noFill/>
        </p:spPr>
        <p:txBody>
          <a:bodyPr wrap="square" lIns="0" tIns="0" rIns="0" bIns="0" anchor="t">
            <a:spAutoFit/>
          </a:bodyPr>
          <a:lstStyle/>
          <a:p>
            <a:pPr algn="l">
              <a:lnSpc>
                <a:spcPct val="115000"/>
              </a:lnSpc>
            </a:pPr>
            <a:r>
              <a:rPr sz="1600" b="0">
                <a:solidFill>
                  <a:srgbClr val="24211D"/>
                </a:solidFill>
                <a:latin typeface="맑은 고딕"/>
                <a:ea typeface="맑은 고딕"/>
                <a:cs typeface="맑은 고딕"/>
              </a:rPr>
              <a:t>나는 한국 주식 테마에 대한 아티팩트를 MCP를 이용해서 만들고 싶어.</a:t>
            </a:r>
          </a:p>
        </p:txBody>
      </p:sp>
      <p:sp>
        <p:nvSpPr>
          <p:cNvPr id="6" name="Rounded Rectangle 5"/>
          <p:cNvSpPr/>
          <p:nvPr/>
        </p:nvSpPr>
        <p:spPr>
          <a:xfrm>
            <a:off x="571500" y="2895600"/>
            <a:ext cx="11061700" cy="7874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74700" y="3141980"/>
            <a:ext cx="10655300" cy="787400"/>
          </a:xfrm>
          <a:prstGeom prst="rect">
            <a:avLst/>
          </a:prstGeom>
          <a:noFill/>
        </p:spPr>
        <p:txBody>
          <a:bodyPr wrap="square" lIns="0" tIns="0" rIns="0" bIns="0" anchor="t">
            <a:spAutoFit/>
          </a:bodyPr>
          <a:lstStyle/>
          <a:p>
            <a:pPr algn="l">
              <a:lnSpc>
                <a:spcPct val="115000"/>
              </a:lnSpc>
            </a:pPr>
            <a:r>
              <a:rPr sz="1600" b="0">
                <a:solidFill>
                  <a:srgbClr val="24211D"/>
                </a:solidFill>
                <a:latin typeface="맑은 고딕"/>
                <a:ea typeface="맑은 고딕"/>
                <a:cs typeface="맑은 고딕"/>
              </a:rPr>
              <a:t>내가 지금 쓸 수 있는 커넥터랑 도구에 뭐가 있는지 먼저 알려줘.</a:t>
            </a:r>
          </a:p>
        </p:txBody>
      </p:sp>
      <p:sp>
        <p:nvSpPr>
          <p:cNvPr id="8" name="Rounded Rectangle 7"/>
          <p:cNvSpPr/>
          <p:nvPr/>
        </p:nvSpPr>
        <p:spPr>
          <a:xfrm>
            <a:off x="571500" y="3860800"/>
            <a:ext cx="11061700" cy="7874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4700" y="4107179"/>
            <a:ext cx="10655300" cy="787400"/>
          </a:xfrm>
          <a:prstGeom prst="rect">
            <a:avLst/>
          </a:prstGeom>
          <a:noFill/>
        </p:spPr>
        <p:txBody>
          <a:bodyPr wrap="square" lIns="0" tIns="0" rIns="0" bIns="0" anchor="t">
            <a:spAutoFit/>
          </a:bodyPr>
          <a:lstStyle/>
          <a:p>
            <a:pPr algn="l">
              <a:lnSpc>
                <a:spcPct val="115000"/>
              </a:lnSpc>
            </a:pPr>
            <a:r>
              <a:rPr sz="1600" b="0">
                <a:solidFill>
                  <a:srgbClr val="24211D"/>
                </a:solidFill>
                <a:latin typeface="맑은 고딕"/>
                <a:ea typeface="맑은 고딕"/>
                <a:cs typeface="맑은 고딕"/>
              </a:rPr>
              <a:t>그 도구로 삼성전자 현재가를 한번 가져와 봐.</a:t>
            </a:r>
          </a:p>
        </p:txBody>
      </p:sp>
      <p:sp>
        <p:nvSpPr>
          <p:cNvPr id="10" name="Rounded Rectangle 9"/>
          <p:cNvSpPr/>
          <p:nvPr/>
        </p:nvSpPr>
        <p:spPr>
          <a:xfrm>
            <a:off x="571500" y="4826000"/>
            <a:ext cx="11061700" cy="7874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4700" y="5072380"/>
            <a:ext cx="10655300" cy="787400"/>
          </a:xfrm>
          <a:prstGeom prst="rect">
            <a:avLst/>
          </a:prstGeom>
          <a:noFill/>
        </p:spPr>
        <p:txBody>
          <a:bodyPr wrap="square" lIns="0" tIns="0" rIns="0" bIns="0" anchor="t">
            <a:spAutoFit/>
          </a:bodyPr>
          <a:lstStyle/>
          <a:p>
            <a:pPr algn="l">
              <a:lnSpc>
                <a:spcPct val="115000"/>
              </a:lnSpc>
            </a:pPr>
            <a:r>
              <a:rPr sz="1600" b="0">
                <a:solidFill>
                  <a:srgbClr val="24211D"/>
                </a:solidFill>
                <a:latin typeface="맑은 고딕"/>
                <a:ea typeface="맑은 고딕"/>
                <a:cs typeface="맑은 고딕"/>
              </a:rPr>
              <a:t>오늘 많이 오른 종목이랑 많이 내린 종목도 20개씩 보여줘.</a:t>
            </a:r>
          </a:p>
        </p:txBody>
      </p:sp>
      <p:sp>
        <p:nvSpPr>
          <p:cNvPr id="12" name="TextBox 11"/>
          <p:cNvSpPr txBox="1"/>
          <p:nvPr/>
        </p:nvSpPr>
        <p:spPr>
          <a:xfrm>
            <a:off x="571500" y="6273800"/>
            <a:ext cx="11061700" cy="304800"/>
          </a:xfrm>
          <a:prstGeom prst="rect">
            <a:avLst/>
          </a:prstGeom>
          <a:noFill/>
        </p:spPr>
        <p:txBody>
          <a:bodyPr wrap="square" lIns="0" tIns="0" rIns="0" bIns="0" anchor="t">
            <a:spAutoFit/>
          </a:bodyPr>
          <a:lstStyle/>
          <a:p>
            <a:pPr algn="l">
              <a:lnSpc>
                <a:spcPct val="100000"/>
              </a:lnSpc>
            </a:pPr>
            <a:r>
              <a:rPr sz="1350" b="0">
                <a:solidFill>
                  <a:srgbClr val="514B43"/>
                </a:solidFill>
                <a:latin typeface="맑은 고딕"/>
                <a:ea typeface="맑은 고딕"/>
                <a:cs typeface="맑은 고딕"/>
              </a:rPr>
              <a:t>여기서 숫자가 안 나오면 뒤는 전부 안 됩니다. 커넥터부터 다시 확인하세요.</a:t>
            </a:r>
          </a:p>
        </p:txBody>
      </p:sp>
      <p:sp>
        <p:nvSpPr>
          <p:cNvPr id="13" name="TextBox 12"/>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56 / 81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한 문장씩 넣습니다 ②</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이제 화면으로 만듭니다</a:t>
            </a:r>
          </a:p>
        </p:txBody>
      </p:sp>
      <p:sp>
        <p:nvSpPr>
          <p:cNvPr id="4" name="Rounded Rectangle 3"/>
          <p:cNvSpPr/>
          <p:nvPr/>
        </p:nvSpPr>
        <p:spPr>
          <a:xfrm>
            <a:off x="571500" y="1930400"/>
            <a:ext cx="11061700" cy="7112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4700" y="2147887"/>
            <a:ext cx="10655300" cy="711200"/>
          </a:xfrm>
          <a:prstGeom prst="rect">
            <a:avLst/>
          </a:prstGeom>
          <a:noFill/>
        </p:spPr>
        <p:txBody>
          <a:bodyPr wrap="square" lIns="0" tIns="0" rIns="0" bIns="0" anchor="t">
            <a:spAutoFit/>
          </a:bodyPr>
          <a:lstStyle/>
          <a:p>
            <a:pPr algn="l">
              <a:lnSpc>
                <a:spcPct val="115000"/>
              </a:lnSpc>
            </a:pPr>
            <a:r>
              <a:rPr sz="1500" b="0">
                <a:solidFill>
                  <a:srgbClr val="24211D"/>
                </a:solidFill>
                <a:latin typeface="맑은 고딕"/>
                <a:ea typeface="맑은 고딕"/>
                <a:cs typeface="맑은 고딕"/>
              </a:rPr>
              <a:t>좋아, 방금 본 걸 아티팩트로 만들어줘. 제목은 "한국 테마 레이더"로 해줘.</a:t>
            </a:r>
          </a:p>
        </p:txBody>
      </p:sp>
      <p:sp>
        <p:nvSpPr>
          <p:cNvPr id="6" name="Rounded Rectangle 5"/>
          <p:cNvSpPr/>
          <p:nvPr/>
        </p:nvSpPr>
        <p:spPr>
          <a:xfrm>
            <a:off x="571500" y="2768600"/>
            <a:ext cx="11061700" cy="7112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74700" y="2986087"/>
            <a:ext cx="10655300" cy="711200"/>
          </a:xfrm>
          <a:prstGeom prst="rect">
            <a:avLst/>
          </a:prstGeom>
          <a:noFill/>
        </p:spPr>
        <p:txBody>
          <a:bodyPr wrap="square" lIns="0" tIns="0" rIns="0" bIns="0" anchor="t">
            <a:spAutoFit/>
          </a:bodyPr>
          <a:lstStyle/>
          <a:p>
            <a:pPr algn="l">
              <a:lnSpc>
                <a:spcPct val="115000"/>
              </a:lnSpc>
            </a:pPr>
            <a:r>
              <a:rPr sz="1500" b="0">
                <a:solidFill>
                  <a:srgbClr val="24211D"/>
                </a:solidFill>
                <a:latin typeface="맑은 고딕"/>
                <a:ea typeface="맑은 고딕"/>
                <a:cs typeface="맑은 고딕"/>
              </a:rPr>
              <a:t>오른 종목이랑 내린 종목을 좌우 두 칸으로 나눠줘.</a:t>
            </a:r>
          </a:p>
        </p:txBody>
      </p:sp>
      <p:sp>
        <p:nvSpPr>
          <p:cNvPr id="8" name="Rounded Rectangle 7"/>
          <p:cNvSpPr/>
          <p:nvPr/>
        </p:nvSpPr>
        <p:spPr>
          <a:xfrm>
            <a:off x="571500" y="3606800"/>
            <a:ext cx="11061700" cy="7112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4700" y="3824287"/>
            <a:ext cx="10655300" cy="711200"/>
          </a:xfrm>
          <a:prstGeom prst="rect">
            <a:avLst/>
          </a:prstGeom>
          <a:noFill/>
        </p:spPr>
        <p:txBody>
          <a:bodyPr wrap="square" lIns="0" tIns="0" rIns="0" bIns="0" anchor="t">
            <a:spAutoFit/>
          </a:bodyPr>
          <a:lstStyle/>
          <a:p>
            <a:pPr algn="l">
              <a:lnSpc>
                <a:spcPct val="115000"/>
              </a:lnSpc>
            </a:pPr>
            <a:r>
              <a:rPr sz="1500" b="0">
                <a:solidFill>
                  <a:srgbClr val="24211D"/>
                </a:solidFill>
                <a:latin typeface="맑은 고딕"/>
                <a:ea typeface="맑은 고딕"/>
                <a:cs typeface="맑은 고딕"/>
              </a:rPr>
              <a:t>금액이 읽기 힘든데 원 단위 콤마로 바꿔줄래? 1,422,000원 이런 식으로.</a:t>
            </a:r>
          </a:p>
        </p:txBody>
      </p:sp>
      <p:sp>
        <p:nvSpPr>
          <p:cNvPr id="10" name="Rounded Rectangle 9"/>
          <p:cNvSpPr/>
          <p:nvPr/>
        </p:nvSpPr>
        <p:spPr>
          <a:xfrm>
            <a:off x="571500" y="4445000"/>
            <a:ext cx="11061700" cy="7112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4700" y="4662487"/>
            <a:ext cx="10655300" cy="711200"/>
          </a:xfrm>
          <a:prstGeom prst="rect">
            <a:avLst/>
          </a:prstGeom>
          <a:noFill/>
        </p:spPr>
        <p:txBody>
          <a:bodyPr wrap="square" lIns="0" tIns="0" rIns="0" bIns="0" anchor="t">
            <a:spAutoFit/>
          </a:bodyPr>
          <a:lstStyle/>
          <a:p>
            <a:pPr algn="l">
              <a:lnSpc>
                <a:spcPct val="115000"/>
              </a:lnSpc>
            </a:pPr>
            <a:r>
              <a:rPr sz="1500" b="0">
                <a:solidFill>
                  <a:srgbClr val="24211D"/>
                </a:solidFill>
                <a:latin typeface="맑은 고딕"/>
                <a:ea typeface="맑은 고딕"/>
                <a:cs typeface="맑은 고딕"/>
              </a:rPr>
              <a:t>맨 위에 새로고침 버튼을 하나 만들어줘. 누르면 다시 불러오게.</a:t>
            </a:r>
          </a:p>
        </p:txBody>
      </p:sp>
      <p:sp>
        <p:nvSpPr>
          <p:cNvPr id="12" name="Rounded Rectangle 11"/>
          <p:cNvSpPr/>
          <p:nvPr/>
        </p:nvSpPr>
        <p:spPr>
          <a:xfrm>
            <a:off x="571500" y="5283200"/>
            <a:ext cx="11061700" cy="7112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74700" y="5500687"/>
            <a:ext cx="10655300" cy="711200"/>
          </a:xfrm>
          <a:prstGeom prst="rect">
            <a:avLst/>
          </a:prstGeom>
          <a:noFill/>
        </p:spPr>
        <p:txBody>
          <a:bodyPr wrap="square" lIns="0" tIns="0" rIns="0" bIns="0" anchor="t">
            <a:spAutoFit/>
          </a:bodyPr>
          <a:lstStyle/>
          <a:p>
            <a:pPr algn="l">
              <a:lnSpc>
                <a:spcPct val="115000"/>
              </a:lnSpc>
            </a:pPr>
            <a:r>
              <a:rPr sz="1500" b="0">
                <a:solidFill>
                  <a:srgbClr val="24211D"/>
                </a:solidFill>
                <a:latin typeface="맑은 고딕"/>
                <a:ea typeface="맑은 고딕"/>
                <a:cs typeface="맑은 고딕"/>
              </a:rPr>
              <a:t>불러온 값을 저장해 뒀다가, 다시 열면 저장된 걸 먼저 보여주고 10분 지났으면 알아서 갱신해줘.</a:t>
            </a:r>
          </a:p>
        </p:txBody>
      </p:sp>
      <p:sp>
        <p:nvSpPr>
          <p:cNvPr id="14" name="TextBox 13"/>
          <p:cNvSpPr txBox="1"/>
          <p:nvPr/>
        </p:nvSpPr>
        <p:spPr>
          <a:xfrm>
            <a:off x="571500" y="6273800"/>
            <a:ext cx="11061700" cy="304800"/>
          </a:xfrm>
          <a:prstGeom prst="rect">
            <a:avLst/>
          </a:prstGeom>
          <a:noFill/>
        </p:spPr>
        <p:txBody>
          <a:bodyPr wrap="square" lIns="0" tIns="0" rIns="0" bIns="0" anchor="t">
            <a:spAutoFit/>
          </a:bodyPr>
          <a:lstStyle/>
          <a:p>
            <a:pPr algn="l">
              <a:lnSpc>
                <a:spcPct val="100000"/>
              </a:lnSpc>
            </a:pPr>
            <a:r>
              <a:rPr sz="1350" b="0">
                <a:solidFill>
                  <a:srgbClr val="514B43"/>
                </a:solidFill>
                <a:latin typeface="맑은 고딕"/>
                <a:ea typeface="맑은 고딕"/>
                <a:cs typeface="맑은 고딕"/>
              </a:rPr>
              <a:t>첫 아티팩트가 만들어지는 순간입니다. 안 만들어지면 요금제를 확인하세요.</a:t>
            </a:r>
          </a:p>
        </p:txBody>
      </p:sp>
      <p:sp>
        <p:nvSpPr>
          <p:cNvPr id="15" name="TextBox 14"/>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57 / 81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한 문장씩 넣습니다 ③</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테마를 붙여 갑니다</a:t>
            </a:r>
          </a:p>
        </p:txBody>
      </p:sp>
      <p:sp>
        <p:nvSpPr>
          <p:cNvPr id="4" name="Rounded Rectangle 3"/>
          <p:cNvSpPr/>
          <p:nvPr/>
        </p:nvSpPr>
        <p:spPr>
          <a:xfrm>
            <a:off x="571500" y="1930400"/>
            <a:ext cx="11061700" cy="6096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4700" y="2106295"/>
            <a:ext cx="10655300" cy="609600"/>
          </a:xfrm>
          <a:prstGeom prst="rect">
            <a:avLst/>
          </a:prstGeom>
          <a:noFill/>
        </p:spPr>
        <p:txBody>
          <a:bodyPr wrap="square" lIns="0" tIns="0" rIns="0" bIns="0" anchor="t">
            <a:spAutoFit/>
          </a:bodyPr>
          <a:lstStyle/>
          <a:p>
            <a:pPr algn="l">
              <a:lnSpc>
                <a:spcPct val="115000"/>
              </a:lnSpc>
            </a:pPr>
            <a:r>
              <a:rPr sz="1400" b="0">
                <a:solidFill>
                  <a:srgbClr val="24211D"/>
                </a:solidFill>
                <a:latin typeface="맑은 고딕"/>
                <a:ea typeface="맑은 고딕"/>
                <a:cs typeface="맑은 고딕"/>
              </a:rPr>
              <a:t>이제 테마를 넣고 싶어. 요즘 거래대금이 많이 몰리는 테마 20개를 네가 골라서 순위표 아래에 카드로 나열해줘.</a:t>
            </a:r>
          </a:p>
        </p:txBody>
      </p:sp>
      <p:sp>
        <p:nvSpPr>
          <p:cNvPr id="6" name="Rounded Rectangle 5"/>
          <p:cNvSpPr/>
          <p:nvPr/>
        </p:nvSpPr>
        <p:spPr>
          <a:xfrm>
            <a:off x="571500" y="2641600"/>
            <a:ext cx="11061700" cy="6096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74700" y="2817495"/>
            <a:ext cx="10655300" cy="609600"/>
          </a:xfrm>
          <a:prstGeom prst="rect">
            <a:avLst/>
          </a:prstGeom>
          <a:noFill/>
        </p:spPr>
        <p:txBody>
          <a:bodyPr wrap="square" lIns="0" tIns="0" rIns="0" bIns="0" anchor="t">
            <a:spAutoFit/>
          </a:bodyPr>
          <a:lstStyle/>
          <a:p>
            <a:pPr algn="l">
              <a:lnSpc>
                <a:spcPct val="115000"/>
              </a:lnSpc>
            </a:pPr>
            <a:r>
              <a:rPr sz="1400" b="0">
                <a:solidFill>
                  <a:srgbClr val="24211D"/>
                </a:solidFill>
                <a:latin typeface="맑은 고딕"/>
                <a:ea typeface="맑은 고딕"/>
                <a:cs typeface="맑은 고딕"/>
              </a:rPr>
              <a:t>카드마다 그 테마 점수랑, 신선도·자금신호·촉매강도·모멘텀 네 가지를 막대로 보여줘.</a:t>
            </a:r>
          </a:p>
        </p:txBody>
      </p:sp>
      <p:sp>
        <p:nvSpPr>
          <p:cNvPr id="8" name="Rounded Rectangle 7"/>
          <p:cNvSpPr/>
          <p:nvPr/>
        </p:nvSpPr>
        <p:spPr>
          <a:xfrm>
            <a:off x="571500" y="3352800"/>
            <a:ext cx="11061700" cy="6096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4700" y="3528695"/>
            <a:ext cx="10655300" cy="609600"/>
          </a:xfrm>
          <a:prstGeom prst="rect">
            <a:avLst/>
          </a:prstGeom>
          <a:noFill/>
        </p:spPr>
        <p:txBody>
          <a:bodyPr wrap="square" lIns="0" tIns="0" rIns="0" bIns="0" anchor="t">
            <a:spAutoFit/>
          </a:bodyPr>
          <a:lstStyle/>
          <a:p>
            <a:pPr algn="l">
              <a:lnSpc>
                <a:spcPct val="115000"/>
              </a:lnSpc>
            </a:pPr>
            <a:r>
              <a:rPr sz="1400" b="0">
                <a:solidFill>
                  <a:srgbClr val="24211D"/>
                </a:solidFill>
                <a:latin typeface="맑은 고딕"/>
                <a:ea typeface="맑은 고딕"/>
                <a:cs typeface="맑은 고딕"/>
              </a:rPr>
              <a:t>카드마다 그 테마의 대표 ETF랑 관련주도 같이 보여주고, 각각 지금 몇 퍼센트인지 옆에 붙여줘.</a:t>
            </a:r>
          </a:p>
        </p:txBody>
      </p:sp>
      <p:sp>
        <p:nvSpPr>
          <p:cNvPr id="10" name="Rounded Rectangle 9"/>
          <p:cNvSpPr/>
          <p:nvPr/>
        </p:nvSpPr>
        <p:spPr>
          <a:xfrm>
            <a:off x="571500" y="4064000"/>
            <a:ext cx="11061700" cy="6096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4700" y="4239895"/>
            <a:ext cx="10655300" cy="609600"/>
          </a:xfrm>
          <a:prstGeom prst="rect">
            <a:avLst/>
          </a:prstGeom>
          <a:noFill/>
        </p:spPr>
        <p:txBody>
          <a:bodyPr wrap="square" lIns="0" tIns="0" rIns="0" bIns="0" anchor="t">
            <a:spAutoFit/>
          </a:bodyPr>
          <a:lstStyle/>
          <a:p>
            <a:pPr algn="l">
              <a:lnSpc>
                <a:spcPct val="115000"/>
              </a:lnSpc>
            </a:pPr>
            <a:r>
              <a:rPr sz="1400" b="0">
                <a:solidFill>
                  <a:srgbClr val="24211D"/>
                </a:solidFill>
                <a:latin typeface="맑은 고딕"/>
                <a:ea typeface="맑은 고딕"/>
                <a:cs typeface="맑은 고딕"/>
              </a:rPr>
              <a:t>카드마다 대표 ETF랑 대표 관련주의 최근 한 달 흐름을 한 그래프에 두 선으로 그려줘. 시작을 0%로 맞춰서.</a:t>
            </a:r>
          </a:p>
        </p:txBody>
      </p:sp>
      <p:sp>
        <p:nvSpPr>
          <p:cNvPr id="12" name="Rounded Rectangle 11"/>
          <p:cNvSpPr/>
          <p:nvPr/>
        </p:nvSpPr>
        <p:spPr>
          <a:xfrm>
            <a:off x="571500" y="4775200"/>
            <a:ext cx="11061700" cy="6096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74700" y="4951095"/>
            <a:ext cx="10655300" cy="609600"/>
          </a:xfrm>
          <a:prstGeom prst="rect">
            <a:avLst/>
          </a:prstGeom>
          <a:noFill/>
        </p:spPr>
        <p:txBody>
          <a:bodyPr wrap="square" lIns="0" tIns="0" rIns="0" bIns="0" anchor="t">
            <a:spAutoFit/>
          </a:bodyPr>
          <a:lstStyle/>
          <a:p>
            <a:pPr algn="l">
              <a:lnSpc>
                <a:spcPct val="115000"/>
              </a:lnSpc>
            </a:pPr>
            <a:r>
              <a:rPr sz="1400" b="0">
                <a:solidFill>
                  <a:srgbClr val="24211D"/>
                </a:solidFill>
                <a:latin typeface="맑은 고딕"/>
                <a:ea typeface="맑은 고딕"/>
                <a:cs typeface="맑은 고딕"/>
              </a:rPr>
              <a:t>그 테마가 지금 왜 움직이는지도 카드에 한 줄로 적어주고 날짜를 붙여줘.</a:t>
            </a:r>
          </a:p>
        </p:txBody>
      </p:sp>
      <p:sp>
        <p:nvSpPr>
          <p:cNvPr id="14" name="Rounded Rectangle 13"/>
          <p:cNvSpPr/>
          <p:nvPr/>
        </p:nvSpPr>
        <p:spPr>
          <a:xfrm>
            <a:off x="571500" y="5486400"/>
            <a:ext cx="11061700" cy="6096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4700" y="5662295"/>
            <a:ext cx="10655300" cy="609600"/>
          </a:xfrm>
          <a:prstGeom prst="rect">
            <a:avLst/>
          </a:prstGeom>
          <a:noFill/>
        </p:spPr>
        <p:txBody>
          <a:bodyPr wrap="square" lIns="0" tIns="0" rIns="0" bIns="0" anchor="t">
            <a:spAutoFit/>
          </a:bodyPr>
          <a:lstStyle/>
          <a:p>
            <a:pPr algn="l">
              <a:lnSpc>
                <a:spcPct val="115000"/>
              </a:lnSpc>
            </a:pPr>
            <a:r>
              <a:rPr sz="1400" b="0">
                <a:solidFill>
                  <a:srgbClr val="24211D"/>
                </a:solidFill>
                <a:latin typeface="맑은 고딕"/>
                <a:ea typeface="맑은 고딕"/>
                <a:cs typeface="맑은 고딕"/>
              </a:rPr>
              <a:t>카드마다 뉴스 버튼을 만들어줘. 누르면 그 테마 이름으로 뉴스를 검색해서 제목을 5개 가져오고, 제목을 누르면 원문이 열리게 해줘.</a:t>
            </a:r>
          </a:p>
        </p:txBody>
      </p:sp>
      <p:sp>
        <p:nvSpPr>
          <p:cNvPr id="16" name="TextBox 15"/>
          <p:cNvSpPr txBox="1"/>
          <p:nvPr/>
        </p:nvSpPr>
        <p:spPr>
          <a:xfrm>
            <a:off x="571500" y="6273800"/>
            <a:ext cx="11061700" cy="304800"/>
          </a:xfrm>
          <a:prstGeom prst="rect">
            <a:avLst/>
          </a:prstGeom>
          <a:noFill/>
        </p:spPr>
        <p:txBody>
          <a:bodyPr wrap="square" lIns="0" tIns="0" rIns="0" bIns="0" anchor="t">
            <a:spAutoFit/>
          </a:bodyPr>
          <a:lstStyle/>
          <a:p>
            <a:pPr algn="l">
              <a:lnSpc>
                <a:spcPct val="100000"/>
              </a:lnSpc>
            </a:pPr>
            <a:r>
              <a:rPr sz="1350" b="0">
                <a:solidFill>
                  <a:srgbClr val="514B43"/>
                </a:solidFill>
                <a:latin typeface="맑은 고딕"/>
                <a:ea typeface="맑은 고딕"/>
                <a:cs typeface="맑은 고딕"/>
              </a:rPr>
              <a:t>테마와 종목은 Claude 가 정한 것입니다. 정답이 아닙니다 — 본인 관심사로 바꿔보게 하세요.</a:t>
            </a:r>
          </a:p>
        </p:txBody>
      </p:sp>
      <p:sp>
        <p:nvSpPr>
          <p:cNvPr id="17" name="TextBox 16"/>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58 / 81</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한 문장씩 넣습니다 ④</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지도를 올리고 마무리합니다</a:t>
            </a:r>
          </a:p>
        </p:txBody>
      </p:sp>
      <p:sp>
        <p:nvSpPr>
          <p:cNvPr id="4" name="Rounded Rectangle 3"/>
          <p:cNvSpPr/>
          <p:nvPr/>
        </p:nvSpPr>
        <p:spPr>
          <a:xfrm>
            <a:off x="571500" y="1930400"/>
            <a:ext cx="11061700" cy="7112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4700" y="2147887"/>
            <a:ext cx="10655300" cy="711200"/>
          </a:xfrm>
          <a:prstGeom prst="rect">
            <a:avLst/>
          </a:prstGeom>
          <a:noFill/>
        </p:spPr>
        <p:txBody>
          <a:bodyPr wrap="square" lIns="0" tIns="0" rIns="0" bIns="0" anchor="t">
            <a:spAutoFit/>
          </a:bodyPr>
          <a:lstStyle/>
          <a:p>
            <a:pPr algn="l">
              <a:lnSpc>
                <a:spcPct val="115000"/>
              </a:lnSpc>
            </a:pPr>
            <a:r>
              <a:rPr sz="1500" b="0">
                <a:solidFill>
                  <a:srgbClr val="24211D"/>
                </a:solidFill>
                <a:latin typeface="맑은 고딕"/>
                <a:ea typeface="맑은 고딕"/>
                <a:cs typeface="맑은 고딕"/>
              </a:rPr>
              <a:t>순위표 위에 테마들을 한눈에 보는 지도를 넣고 싶어. 가로는 초기부터 성숙까지, 세로는 둔화부터 가속까지로 해서 테마를 동그라미로 찍어줘.</a:t>
            </a:r>
          </a:p>
        </p:txBody>
      </p:sp>
      <p:sp>
        <p:nvSpPr>
          <p:cNvPr id="6" name="Rounded Rectangle 5"/>
          <p:cNvSpPr/>
          <p:nvPr/>
        </p:nvSpPr>
        <p:spPr>
          <a:xfrm>
            <a:off x="571500" y="2768600"/>
            <a:ext cx="11061700" cy="7112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74700" y="2986087"/>
            <a:ext cx="10655300" cy="711200"/>
          </a:xfrm>
          <a:prstGeom prst="rect">
            <a:avLst/>
          </a:prstGeom>
          <a:noFill/>
        </p:spPr>
        <p:txBody>
          <a:bodyPr wrap="square" lIns="0" tIns="0" rIns="0" bIns="0" anchor="t">
            <a:spAutoFit/>
          </a:bodyPr>
          <a:lstStyle/>
          <a:p>
            <a:pPr algn="l">
              <a:lnSpc>
                <a:spcPct val="115000"/>
              </a:lnSpc>
            </a:pPr>
            <a:r>
              <a:rPr sz="1500" b="0">
                <a:solidFill>
                  <a:srgbClr val="24211D"/>
                </a:solidFill>
                <a:latin typeface="맑은 고딕"/>
                <a:ea typeface="맑은 고딕"/>
                <a:cs typeface="맑은 고딕"/>
              </a:rPr>
              <a:t>지도를 네 칸으로 나눠서 이름표를 달고, 왼쪽 위 칸만 연한 초록으로 강조해줘.</a:t>
            </a:r>
          </a:p>
        </p:txBody>
      </p:sp>
      <p:sp>
        <p:nvSpPr>
          <p:cNvPr id="8" name="Rounded Rectangle 7"/>
          <p:cNvSpPr/>
          <p:nvPr/>
        </p:nvSpPr>
        <p:spPr>
          <a:xfrm>
            <a:off x="571500" y="3606800"/>
            <a:ext cx="11061700" cy="7112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4700" y="3824287"/>
            <a:ext cx="10655300" cy="711200"/>
          </a:xfrm>
          <a:prstGeom prst="rect">
            <a:avLst/>
          </a:prstGeom>
          <a:noFill/>
        </p:spPr>
        <p:txBody>
          <a:bodyPr wrap="square" lIns="0" tIns="0" rIns="0" bIns="0" anchor="t">
            <a:spAutoFit/>
          </a:bodyPr>
          <a:lstStyle/>
          <a:p>
            <a:pPr algn="l">
              <a:lnSpc>
                <a:spcPct val="115000"/>
              </a:lnSpc>
            </a:pPr>
            <a:r>
              <a:rPr sz="1500" b="0">
                <a:solidFill>
                  <a:srgbClr val="24211D"/>
                </a:solidFill>
                <a:latin typeface="맑은 고딕"/>
                <a:ea typeface="맑은 고딕"/>
                <a:cs typeface="맑은 고딕"/>
              </a:rPr>
              <a:t>동그라미 크기를 점수에 맞춰 다르게 하고, 겹치면 알아서 밀어내서 안 겹치게 해줘.</a:t>
            </a:r>
          </a:p>
        </p:txBody>
      </p:sp>
      <p:sp>
        <p:nvSpPr>
          <p:cNvPr id="10" name="Rounded Rectangle 9"/>
          <p:cNvSpPr/>
          <p:nvPr/>
        </p:nvSpPr>
        <p:spPr>
          <a:xfrm>
            <a:off x="571500" y="4445000"/>
            <a:ext cx="11061700" cy="7112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4700" y="4662487"/>
            <a:ext cx="10655300" cy="711200"/>
          </a:xfrm>
          <a:prstGeom prst="rect">
            <a:avLst/>
          </a:prstGeom>
          <a:noFill/>
        </p:spPr>
        <p:txBody>
          <a:bodyPr wrap="square" lIns="0" tIns="0" rIns="0" bIns="0" anchor="t">
            <a:spAutoFit/>
          </a:bodyPr>
          <a:lstStyle/>
          <a:p>
            <a:pPr algn="l">
              <a:lnSpc>
                <a:spcPct val="115000"/>
              </a:lnSpc>
            </a:pPr>
            <a:r>
              <a:rPr sz="1500" b="0">
                <a:solidFill>
                  <a:srgbClr val="24211D"/>
                </a:solidFill>
                <a:latin typeface="맑은 고딕"/>
                <a:ea typeface="맑은 고딕"/>
                <a:cs typeface="맑은 고딕"/>
              </a:rPr>
              <a:t>열 때마다 자동으로 불러오니까 느린데, 버튼 누를 때만 부르게 바꿔줘.</a:t>
            </a:r>
          </a:p>
        </p:txBody>
      </p:sp>
      <p:sp>
        <p:nvSpPr>
          <p:cNvPr id="12" name="Rounded Rectangle 11"/>
          <p:cNvSpPr/>
          <p:nvPr/>
        </p:nvSpPr>
        <p:spPr>
          <a:xfrm>
            <a:off x="571500" y="5283200"/>
            <a:ext cx="11061700" cy="7112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74700" y="5500687"/>
            <a:ext cx="10655300" cy="711200"/>
          </a:xfrm>
          <a:prstGeom prst="rect">
            <a:avLst/>
          </a:prstGeom>
          <a:noFill/>
        </p:spPr>
        <p:txBody>
          <a:bodyPr wrap="square" lIns="0" tIns="0" rIns="0" bIns="0" anchor="t">
            <a:spAutoFit/>
          </a:bodyPr>
          <a:lstStyle/>
          <a:p>
            <a:pPr algn="l">
              <a:lnSpc>
                <a:spcPct val="115000"/>
              </a:lnSpc>
            </a:pPr>
            <a:r>
              <a:rPr sz="1500" b="0">
                <a:solidFill>
                  <a:srgbClr val="24211D"/>
                </a:solidFill>
                <a:latin typeface="맑은 고딕"/>
                <a:ea typeface="맑은 고딕"/>
                <a:cs typeface="맑은 고딕"/>
              </a:rPr>
              <a:t>맨 아래에 투자 추천이 아니라는 문구를 넣어줘.</a:t>
            </a:r>
          </a:p>
        </p:txBody>
      </p:sp>
      <p:sp>
        <p:nvSpPr>
          <p:cNvPr id="14" name="TextBox 13"/>
          <p:cNvSpPr txBox="1"/>
          <p:nvPr/>
        </p:nvSpPr>
        <p:spPr>
          <a:xfrm>
            <a:off x="571500" y="6273800"/>
            <a:ext cx="11061700" cy="304800"/>
          </a:xfrm>
          <a:prstGeom prst="rect">
            <a:avLst/>
          </a:prstGeom>
          <a:noFill/>
        </p:spPr>
        <p:txBody>
          <a:bodyPr wrap="square" lIns="0" tIns="0" rIns="0" bIns="0" anchor="t">
            <a:spAutoFit/>
          </a:bodyPr>
          <a:lstStyle/>
          <a:p>
            <a:pPr algn="l">
              <a:lnSpc>
                <a:spcPct val="100000"/>
              </a:lnSpc>
            </a:pPr>
            <a:r>
              <a:rPr sz="1350" b="0">
                <a:solidFill>
                  <a:srgbClr val="514B43"/>
                </a:solidFill>
                <a:latin typeface="맑은 고딕"/>
                <a:ea typeface="맑은 고딕"/>
                <a:cs typeface="맑은 고딕"/>
              </a:rPr>
              <a:t>마지막 문장을 건너뛰지 마세요. 이 화면을 남에게 보여주게 되는 순간이 옵니다.</a:t>
            </a:r>
          </a:p>
        </p:txBody>
      </p:sp>
      <p:sp>
        <p:nvSpPr>
          <p:cNvPr id="15" name="TextBox 14"/>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59 / 81</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사람마다 다른 화면이 나옵니다</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실패가 아닙니다. 원래 그렇습니다</a:t>
            </a:r>
          </a:p>
        </p:txBody>
      </p:sp>
      <p:sp>
        <p:nvSpPr>
          <p:cNvPr id="4" name="Rounded Rectangle 3"/>
          <p:cNvSpPr/>
          <p:nvPr/>
        </p:nvSpPr>
        <p:spPr>
          <a:xfrm>
            <a:off x="571500" y="1930400"/>
            <a:ext cx="5334000" cy="3048000"/>
          </a:xfrm>
          <a:prstGeom prst="roundRect">
            <a:avLst>
              <a:gd name="adj" fmla="val 6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14400" y="2235200"/>
            <a:ext cx="4572000" cy="355600"/>
          </a:xfrm>
          <a:prstGeom prst="rect">
            <a:avLst/>
          </a:prstGeom>
          <a:noFill/>
        </p:spPr>
        <p:txBody>
          <a:bodyPr wrap="square" lIns="0" tIns="0" rIns="0" bIns="0" anchor="t">
            <a:spAutoFit/>
          </a:bodyPr>
          <a:lstStyle/>
          <a:p>
            <a:pPr algn="l">
              <a:lnSpc>
                <a:spcPct val="100000"/>
              </a:lnSpc>
            </a:pPr>
            <a:r>
              <a:rPr sz="2000" b="1">
                <a:solidFill>
                  <a:srgbClr val="24211D"/>
                </a:solidFill>
                <a:latin typeface="맑은 고딕"/>
                <a:ea typeface="맑은 고딕"/>
                <a:cs typeface="맑은 고딕"/>
              </a:rPr>
              <a:t>말로 시키면</a:t>
            </a:r>
          </a:p>
        </p:txBody>
      </p:sp>
      <p:sp>
        <p:nvSpPr>
          <p:cNvPr id="6" name="TextBox 5"/>
          <p:cNvSpPr txBox="1"/>
          <p:nvPr/>
        </p:nvSpPr>
        <p:spPr>
          <a:xfrm>
            <a:off x="914400" y="2717800"/>
            <a:ext cx="4572000" cy="2032000"/>
          </a:xfrm>
          <a:prstGeom prst="rect">
            <a:avLst/>
          </a:prstGeom>
          <a:noFill/>
        </p:spPr>
        <p:txBody>
          <a:bodyPr wrap="square" lIns="0" tIns="0" rIns="0" bIns="0" anchor="t">
            <a:spAutoFit/>
          </a:bodyPr>
          <a:lstStyle/>
          <a:p>
            <a:pPr algn="l">
              <a:lnSpc>
                <a:spcPct val="140000"/>
              </a:lnSpc>
            </a:pPr>
            <a:r>
              <a:rPr sz="1700" b="0">
                <a:solidFill>
                  <a:srgbClr val="514B43"/>
                </a:solidFill>
                <a:latin typeface="맑은 고딕"/>
                <a:ea typeface="맑은 고딕"/>
                <a:cs typeface="맑은 고딕"/>
              </a:rPr>
              <a:t>같은 문장을 넣어도</a:t>
            </a:r>
          </a:p>
          <a:p>
            <a:pPr algn="l">
              <a:lnSpc>
                <a:spcPct val="140000"/>
              </a:lnSpc>
            </a:pPr>
            <a:r>
              <a:rPr sz="1700" b="0">
                <a:solidFill>
                  <a:srgbClr val="514B43"/>
                </a:solidFill>
                <a:latin typeface="맑은 고딕"/>
                <a:ea typeface="맑은 고딕"/>
                <a:cs typeface="맑은 고딕"/>
              </a:rPr>
              <a:t>테마도 색도 배치도 조금씩 다릅니다.</a:t>
            </a:r>
          </a:p>
          <a:p>
            <a:pPr algn="l">
              <a:lnSpc>
                <a:spcPct val="140000"/>
              </a:lnSpc>
            </a:pPr>
            <a:endParaRPr sz="1700" b="0">
              <a:solidFill>
                <a:srgbClr val="514B43"/>
              </a:solidFill>
              <a:latin typeface="맑은 고딕"/>
              <a:ea typeface="맑은 고딕"/>
              <a:cs typeface="맑은 고딕"/>
            </a:endParaRPr>
          </a:p>
          <a:p>
            <a:pPr algn="l">
              <a:lnSpc>
                <a:spcPct val="140000"/>
              </a:lnSpc>
            </a:pPr>
            <a:r>
              <a:rPr sz="1700" b="0">
                <a:solidFill>
                  <a:srgbClr val="514B43"/>
                </a:solidFill>
                <a:latin typeface="맑은 고딕"/>
                <a:ea typeface="맑은 고딕"/>
                <a:cs typeface="맑은 고딕"/>
              </a:rPr>
              <a:t>대신 내가 무엇을 시켰는지</a:t>
            </a:r>
          </a:p>
          <a:p>
            <a:pPr algn="l">
              <a:lnSpc>
                <a:spcPct val="140000"/>
              </a:lnSpc>
            </a:pPr>
            <a:r>
              <a:rPr sz="1700" b="0">
                <a:solidFill>
                  <a:srgbClr val="514B43"/>
                </a:solidFill>
                <a:latin typeface="맑은 고딕"/>
                <a:ea typeface="맑은 고딕"/>
                <a:cs typeface="맑은 고딕"/>
              </a:rPr>
              <a:t>하나하나 기억에 남습니다.</a:t>
            </a:r>
          </a:p>
        </p:txBody>
      </p:sp>
      <p:sp>
        <p:nvSpPr>
          <p:cNvPr id="7" name="Rounded Rectangle 6"/>
          <p:cNvSpPr/>
          <p:nvPr/>
        </p:nvSpPr>
        <p:spPr>
          <a:xfrm>
            <a:off x="6299200" y="1930400"/>
            <a:ext cx="5334000" cy="3048000"/>
          </a:xfrm>
          <a:prstGeom prst="roundRect">
            <a:avLst>
              <a:gd name="adj" fmla="val 6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642100" y="2235200"/>
            <a:ext cx="4572000" cy="355600"/>
          </a:xfrm>
          <a:prstGeom prst="rect">
            <a:avLst/>
          </a:prstGeom>
          <a:noFill/>
        </p:spPr>
        <p:txBody>
          <a:bodyPr wrap="square" lIns="0" tIns="0" rIns="0" bIns="0" anchor="t">
            <a:spAutoFit/>
          </a:bodyPr>
          <a:lstStyle/>
          <a:p>
            <a:pPr algn="l">
              <a:lnSpc>
                <a:spcPct val="100000"/>
              </a:lnSpc>
            </a:pPr>
            <a:r>
              <a:rPr sz="2000" b="1">
                <a:solidFill>
                  <a:srgbClr val="F6F1EA"/>
                </a:solidFill>
                <a:latin typeface="맑은 고딕"/>
                <a:ea typeface="맑은 고딕"/>
                <a:cs typeface="맑은 고딕"/>
              </a:rPr>
              <a:t>파일을 주면</a:t>
            </a:r>
          </a:p>
        </p:txBody>
      </p:sp>
      <p:sp>
        <p:nvSpPr>
          <p:cNvPr id="9" name="TextBox 8"/>
          <p:cNvSpPr txBox="1"/>
          <p:nvPr/>
        </p:nvSpPr>
        <p:spPr>
          <a:xfrm>
            <a:off x="6642100" y="2717800"/>
            <a:ext cx="4572000" cy="2032000"/>
          </a:xfrm>
          <a:prstGeom prst="rect">
            <a:avLst/>
          </a:prstGeom>
          <a:noFill/>
        </p:spPr>
        <p:txBody>
          <a:bodyPr wrap="square" lIns="0" tIns="0" rIns="0" bIns="0" anchor="t">
            <a:spAutoFit/>
          </a:bodyPr>
          <a:lstStyle/>
          <a:p>
            <a:pPr algn="l">
              <a:lnSpc>
                <a:spcPct val="140000"/>
              </a:lnSpc>
            </a:pPr>
            <a:r>
              <a:rPr sz="1700" b="0">
                <a:solidFill>
                  <a:srgbClr val="C9C0B4"/>
                </a:solidFill>
                <a:latin typeface="맑은 고딕"/>
                <a:ea typeface="맑은 고딕"/>
                <a:cs typeface="맑은 고딕"/>
              </a:rPr>
              <a:t>완성된 HTML 을 주고</a:t>
            </a:r>
          </a:p>
          <a:p>
            <a:pPr algn="l">
              <a:lnSpc>
                <a:spcPct val="140000"/>
              </a:lnSpc>
            </a:pPr>
            <a:r>
              <a:rPr sz="1700" b="0">
                <a:solidFill>
                  <a:srgbClr val="C9C0B4"/>
                </a:solidFill>
                <a:latin typeface="맑은 고딕"/>
                <a:ea typeface="맑은 고딕"/>
                <a:cs typeface="맑은 고딕"/>
              </a:rPr>
              <a:t>"이대로 만들어줘" 하면</a:t>
            </a:r>
          </a:p>
          <a:p>
            <a:pPr algn="l">
              <a:lnSpc>
                <a:spcPct val="140000"/>
              </a:lnSpc>
            </a:pPr>
            <a:r>
              <a:rPr sz="1700" b="0">
                <a:solidFill>
                  <a:srgbClr val="C9C0B4"/>
                </a:solidFill>
                <a:latin typeface="맑은 고딕"/>
                <a:ea typeface="맑은 고딕"/>
                <a:cs typeface="맑은 고딕"/>
              </a:rPr>
              <a:t>거의 똑같이 나옵니다.</a:t>
            </a:r>
          </a:p>
          <a:p>
            <a:pPr algn="l">
              <a:lnSpc>
                <a:spcPct val="140000"/>
              </a:lnSpc>
            </a:pPr>
            <a:endParaRPr sz="1700" b="0">
              <a:solidFill>
                <a:srgbClr val="C9C0B4"/>
              </a:solidFill>
              <a:latin typeface="맑은 고딕"/>
              <a:ea typeface="맑은 고딕"/>
              <a:cs typeface="맑은 고딕"/>
            </a:endParaRPr>
          </a:p>
          <a:p>
            <a:pPr algn="l">
              <a:lnSpc>
                <a:spcPct val="140000"/>
              </a:lnSpc>
            </a:pPr>
            <a:r>
              <a:rPr sz="1700" b="0">
                <a:solidFill>
                  <a:srgbClr val="C9C0B4"/>
                </a:solidFill>
                <a:latin typeface="맑은 고딕"/>
                <a:ea typeface="맑은 고딕"/>
                <a:cs typeface="맑은 고딕"/>
              </a:rPr>
              <a:t>대신 왜 그렇게 됐는지는</a:t>
            </a:r>
          </a:p>
          <a:p>
            <a:pPr algn="l">
              <a:lnSpc>
                <a:spcPct val="140000"/>
              </a:lnSpc>
            </a:pPr>
            <a:r>
              <a:rPr sz="1700" b="0">
                <a:solidFill>
                  <a:srgbClr val="C9C0B4"/>
                </a:solidFill>
                <a:latin typeface="맑은 고딕"/>
                <a:ea typeface="맑은 고딕"/>
                <a:cs typeface="맑은 고딕"/>
              </a:rPr>
              <a:t>남지 않습니다.</a:t>
            </a:r>
          </a:p>
        </p:txBody>
      </p:sp>
      <p:sp>
        <p:nvSpPr>
          <p:cNvPr id="10" name="Rounded Rectangle 9"/>
          <p:cNvSpPr/>
          <p:nvPr/>
        </p:nvSpPr>
        <p:spPr>
          <a:xfrm>
            <a:off x="571500" y="5181600"/>
            <a:ext cx="11061700" cy="5334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63600" y="5314950"/>
            <a:ext cx="10477500" cy="304800"/>
          </a:xfrm>
          <a:prstGeom prst="rect">
            <a:avLst/>
          </a:prstGeom>
          <a:noFill/>
        </p:spPr>
        <p:txBody>
          <a:bodyPr wrap="square" lIns="0" tIns="0" rIns="0" bIns="0" anchor="t">
            <a:spAutoFit/>
          </a:bodyPr>
          <a:lstStyle/>
          <a:p>
            <a:pPr algn="l">
              <a:lnSpc>
                <a:spcPct val="100000"/>
              </a:lnSpc>
            </a:pPr>
            <a:r>
              <a:rPr sz="1500" b="1">
                <a:solidFill>
                  <a:srgbClr val="F6F1EA"/>
                </a:solidFill>
                <a:latin typeface="맑은 고딕"/>
                <a:ea typeface="맑은 고딕"/>
                <a:cs typeface="맑은 고딕"/>
              </a:rPr>
              <a:t>오늘은 앞의 방식으로 만듭니다.  똑같은 화면이 필요하면 그때 파일을 받으세요.</a:t>
            </a:r>
          </a:p>
        </p:txBody>
      </p:sp>
      <p:sp>
        <p:nvSpPr>
          <p:cNvPr id="12" name="TextBox 11"/>
          <p:cNvSpPr txBox="1"/>
          <p:nvPr/>
        </p:nvSpPr>
        <p:spPr>
          <a:xfrm>
            <a:off x="571500" y="6273800"/>
            <a:ext cx="11061700" cy="304800"/>
          </a:xfrm>
          <a:prstGeom prst="rect">
            <a:avLst/>
          </a:prstGeom>
          <a:noFill/>
        </p:spPr>
        <p:txBody>
          <a:bodyPr wrap="square" lIns="0" tIns="0" rIns="0" bIns="0" anchor="t">
            <a:spAutoFit/>
          </a:bodyPr>
          <a:lstStyle/>
          <a:p>
            <a:pPr algn="l">
              <a:lnSpc>
                <a:spcPct val="100000"/>
              </a:lnSpc>
            </a:pPr>
            <a:r>
              <a:rPr sz="1350" b="0">
                <a:solidFill>
                  <a:srgbClr val="514B43"/>
                </a:solidFill>
                <a:latin typeface="맑은 고딕"/>
                <a:ea typeface="맑은 고딕"/>
                <a:cs typeface="맑은 고딕"/>
              </a:rPr>
              <a:t>완성본 파일과 프롬프트 전문은 GitHub 자료실에 있습니다</a:t>
            </a:r>
          </a:p>
        </p:txBody>
      </p:sp>
      <p:sp>
        <p:nvSpPr>
          <p:cNvPr id="13" name="TextBox 12"/>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60 / 81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571500" y="2286000"/>
            <a:ext cx="11061700" cy="482600"/>
          </a:xfrm>
          <a:prstGeom prst="roundRect">
            <a:avLst>
              <a:gd name="adj" fmla="val 8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안 될 때는 이 순서로 봅니다</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대부분 이 일곱 가지 안에 있습니다</a:t>
            </a:r>
          </a:p>
        </p:txBody>
      </p:sp>
      <p:sp>
        <p:nvSpPr>
          <p:cNvPr id="4" name="TextBox 3"/>
          <p:cNvSpPr txBox="1"/>
          <p:nvPr/>
        </p:nvSpPr>
        <p:spPr>
          <a:xfrm>
            <a:off x="863600" y="1930400"/>
            <a:ext cx="3810000" cy="304800"/>
          </a:xfrm>
          <a:prstGeom prst="rect">
            <a:avLst/>
          </a:prstGeom>
          <a:noFill/>
        </p:spPr>
        <p:txBody>
          <a:bodyPr wrap="square" lIns="0" tIns="0" rIns="0" bIns="0" anchor="t">
            <a:spAutoFit/>
          </a:bodyPr>
          <a:lstStyle/>
          <a:p>
            <a:pPr algn="l">
              <a:lnSpc>
                <a:spcPct val="100000"/>
              </a:lnSpc>
            </a:pPr>
            <a:r>
              <a:rPr sz="1400" b="1">
                <a:solidFill>
                  <a:srgbClr val="726859"/>
                </a:solidFill>
                <a:latin typeface="맑은 고딕"/>
                <a:ea typeface="맑은 고딕"/>
                <a:cs typeface="맑은 고딕"/>
              </a:rPr>
              <a:t>증상</a:t>
            </a:r>
          </a:p>
        </p:txBody>
      </p:sp>
      <p:sp>
        <p:nvSpPr>
          <p:cNvPr id="5" name="TextBox 4"/>
          <p:cNvSpPr txBox="1"/>
          <p:nvPr/>
        </p:nvSpPr>
        <p:spPr>
          <a:xfrm>
            <a:off x="5080000" y="1930400"/>
            <a:ext cx="3048000" cy="304800"/>
          </a:xfrm>
          <a:prstGeom prst="rect">
            <a:avLst/>
          </a:prstGeom>
          <a:noFill/>
        </p:spPr>
        <p:txBody>
          <a:bodyPr wrap="square" lIns="0" tIns="0" rIns="0" bIns="0" anchor="t">
            <a:spAutoFit/>
          </a:bodyPr>
          <a:lstStyle/>
          <a:p>
            <a:pPr algn="l">
              <a:lnSpc>
                <a:spcPct val="100000"/>
              </a:lnSpc>
            </a:pPr>
            <a:r>
              <a:rPr sz="1400" b="1">
                <a:solidFill>
                  <a:srgbClr val="726859"/>
                </a:solidFill>
                <a:latin typeface="맑은 고딕"/>
                <a:ea typeface="맑은 고딕"/>
                <a:cs typeface="맑은 고딕"/>
              </a:rPr>
              <a:t>왜 그런가</a:t>
            </a:r>
          </a:p>
        </p:txBody>
      </p:sp>
      <p:sp>
        <p:nvSpPr>
          <p:cNvPr id="6" name="TextBox 5"/>
          <p:cNvSpPr txBox="1"/>
          <p:nvPr/>
        </p:nvSpPr>
        <p:spPr>
          <a:xfrm>
            <a:off x="8382000" y="1930400"/>
            <a:ext cx="3251200" cy="304800"/>
          </a:xfrm>
          <a:prstGeom prst="rect">
            <a:avLst/>
          </a:prstGeom>
          <a:noFill/>
        </p:spPr>
        <p:txBody>
          <a:bodyPr wrap="square" lIns="0" tIns="0" rIns="0" bIns="0" anchor="t">
            <a:spAutoFit/>
          </a:bodyPr>
          <a:lstStyle/>
          <a:p>
            <a:pPr algn="l">
              <a:lnSpc>
                <a:spcPct val="100000"/>
              </a:lnSpc>
            </a:pPr>
            <a:r>
              <a:rPr sz="1400" b="1">
                <a:solidFill>
                  <a:srgbClr val="726859"/>
                </a:solidFill>
                <a:latin typeface="맑은 고딕"/>
                <a:ea typeface="맑은 고딕"/>
                <a:cs typeface="맑은 고딕"/>
              </a:rPr>
              <a:t>이렇게 하세요</a:t>
            </a:r>
          </a:p>
        </p:txBody>
      </p:sp>
      <p:sp>
        <p:nvSpPr>
          <p:cNvPr id="7" name="Rounded Rectangle 6"/>
          <p:cNvSpPr/>
          <p:nvPr/>
        </p:nvSpPr>
        <p:spPr>
          <a:xfrm>
            <a:off x="571500" y="3327400"/>
            <a:ext cx="11061700" cy="482600"/>
          </a:xfrm>
          <a:prstGeom prst="roundRect">
            <a:avLst>
              <a:gd name="adj" fmla="val 8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3600" y="2425700"/>
            <a:ext cx="4064000" cy="304800"/>
          </a:xfrm>
          <a:prstGeom prst="rect">
            <a:avLst/>
          </a:prstGeom>
          <a:noFill/>
        </p:spPr>
        <p:txBody>
          <a:bodyPr wrap="square" lIns="0" tIns="0" rIns="0" bIns="0" anchor="t">
            <a:spAutoFit/>
          </a:bodyPr>
          <a:lstStyle/>
          <a:p>
            <a:pPr algn="l">
              <a:lnSpc>
                <a:spcPct val="100000"/>
              </a:lnSpc>
            </a:pPr>
            <a:r>
              <a:rPr sz="1600" b="1">
                <a:solidFill>
                  <a:srgbClr val="24211D"/>
                </a:solidFill>
                <a:latin typeface="맑은 고딕"/>
                <a:ea typeface="맑은 고딕"/>
                <a:cs typeface="맑은 고딕"/>
              </a:rPr>
              <a:t>커넥터를 못 찾는다</a:t>
            </a:r>
          </a:p>
        </p:txBody>
      </p:sp>
      <p:sp>
        <p:nvSpPr>
          <p:cNvPr id="9" name="TextBox 8"/>
          <p:cNvSpPr txBox="1"/>
          <p:nvPr/>
        </p:nvSpPr>
        <p:spPr>
          <a:xfrm>
            <a:off x="5080000" y="2438400"/>
            <a:ext cx="31750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새 대화가 아님</a:t>
            </a:r>
          </a:p>
        </p:txBody>
      </p:sp>
      <p:sp>
        <p:nvSpPr>
          <p:cNvPr id="10" name="TextBox 9"/>
          <p:cNvSpPr txBox="1"/>
          <p:nvPr/>
        </p:nvSpPr>
        <p:spPr>
          <a:xfrm>
            <a:off x="8382000" y="2438400"/>
            <a:ext cx="32512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새 대화를 열고 다시</a:t>
            </a:r>
          </a:p>
        </p:txBody>
      </p:sp>
      <p:sp>
        <p:nvSpPr>
          <p:cNvPr id="11" name="TextBox 10"/>
          <p:cNvSpPr txBox="1"/>
          <p:nvPr/>
        </p:nvSpPr>
        <p:spPr>
          <a:xfrm>
            <a:off x="863600" y="3467100"/>
            <a:ext cx="4064000" cy="304800"/>
          </a:xfrm>
          <a:prstGeom prst="rect">
            <a:avLst/>
          </a:prstGeom>
          <a:noFill/>
        </p:spPr>
        <p:txBody>
          <a:bodyPr wrap="square" lIns="0" tIns="0" rIns="0" bIns="0" anchor="t">
            <a:spAutoFit/>
          </a:bodyPr>
          <a:lstStyle/>
          <a:p>
            <a:pPr algn="l">
              <a:lnSpc>
                <a:spcPct val="100000"/>
              </a:lnSpc>
            </a:pPr>
            <a:r>
              <a:rPr sz="1600" b="1">
                <a:solidFill>
                  <a:srgbClr val="24211D"/>
                </a:solidFill>
                <a:latin typeface="맑은 고딕"/>
                <a:ea typeface="맑은 고딕"/>
                <a:cs typeface="맑은 고딕"/>
              </a:rPr>
              <a:t>아티팩트가 안 만들어진다</a:t>
            </a:r>
          </a:p>
        </p:txBody>
      </p:sp>
      <p:sp>
        <p:nvSpPr>
          <p:cNvPr id="12" name="TextBox 11"/>
          <p:cNvSpPr txBox="1"/>
          <p:nvPr/>
        </p:nvSpPr>
        <p:spPr>
          <a:xfrm>
            <a:off x="5080000" y="3479800"/>
            <a:ext cx="31750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무료 요금제</a:t>
            </a:r>
          </a:p>
        </p:txBody>
      </p:sp>
      <p:sp>
        <p:nvSpPr>
          <p:cNvPr id="13" name="TextBox 12"/>
          <p:cNvSpPr txBox="1"/>
          <p:nvPr/>
        </p:nvSpPr>
        <p:spPr>
          <a:xfrm>
            <a:off x="8382000" y="3479800"/>
            <a:ext cx="32512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Pro 이상이 필요합니다</a:t>
            </a:r>
          </a:p>
        </p:txBody>
      </p:sp>
      <p:sp>
        <p:nvSpPr>
          <p:cNvPr id="14" name="Rounded Rectangle 13"/>
          <p:cNvSpPr/>
          <p:nvPr/>
        </p:nvSpPr>
        <p:spPr>
          <a:xfrm>
            <a:off x="571500" y="4368800"/>
            <a:ext cx="11061700" cy="482600"/>
          </a:xfrm>
          <a:prstGeom prst="roundRect">
            <a:avLst>
              <a:gd name="adj" fmla="val 8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63600" y="3987800"/>
            <a:ext cx="4064000" cy="304800"/>
          </a:xfrm>
          <a:prstGeom prst="rect">
            <a:avLst/>
          </a:prstGeom>
          <a:noFill/>
        </p:spPr>
        <p:txBody>
          <a:bodyPr wrap="square" lIns="0" tIns="0" rIns="0" bIns="0" anchor="t">
            <a:spAutoFit/>
          </a:bodyPr>
          <a:lstStyle/>
          <a:p>
            <a:pPr algn="l">
              <a:lnSpc>
                <a:spcPct val="100000"/>
              </a:lnSpc>
            </a:pPr>
            <a:r>
              <a:rPr sz="1600" b="1">
                <a:solidFill>
                  <a:srgbClr val="24211D"/>
                </a:solidFill>
                <a:latin typeface="맑은 고딕"/>
                <a:ea typeface="맑은 고딕"/>
                <a:cs typeface="맑은 고딕"/>
              </a:rPr>
              <a:t>화면은 뜨는데 숫자가 빈다</a:t>
            </a:r>
          </a:p>
        </p:txBody>
      </p:sp>
      <p:sp>
        <p:nvSpPr>
          <p:cNvPr id="16" name="TextBox 15"/>
          <p:cNvSpPr txBox="1"/>
          <p:nvPr/>
        </p:nvSpPr>
        <p:spPr>
          <a:xfrm>
            <a:off x="5080000" y="4000500"/>
            <a:ext cx="31750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도구 호출 실패</a:t>
            </a:r>
          </a:p>
        </p:txBody>
      </p:sp>
      <p:sp>
        <p:nvSpPr>
          <p:cNvPr id="17" name="TextBox 16"/>
          <p:cNvSpPr txBox="1"/>
          <p:nvPr/>
        </p:nvSpPr>
        <p:spPr>
          <a:xfrm>
            <a:off x="8382000" y="4000500"/>
            <a:ext cx="32512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왜 안 들어오는지 물어보기</a:t>
            </a:r>
          </a:p>
        </p:txBody>
      </p:sp>
      <p:sp>
        <p:nvSpPr>
          <p:cNvPr id="18" name="TextBox 17"/>
          <p:cNvSpPr txBox="1"/>
          <p:nvPr/>
        </p:nvSpPr>
        <p:spPr>
          <a:xfrm>
            <a:off x="863600" y="4508500"/>
            <a:ext cx="4064000" cy="304800"/>
          </a:xfrm>
          <a:prstGeom prst="rect">
            <a:avLst/>
          </a:prstGeom>
          <a:noFill/>
        </p:spPr>
        <p:txBody>
          <a:bodyPr wrap="square" lIns="0" tIns="0" rIns="0" bIns="0" anchor="t">
            <a:spAutoFit/>
          </a:bodyPr>
          <a:lstStyle/>
          <a:p>
            <a:pPr algn="l">
              <a:lnSpc>
                <a:spcPct val="100000"/>
              </a:lnSpc>
            </a:pPr>
            <a:r>
              <a:rPr sz="1600" b="1">
                <a:solidFill>
                  <a:srgbClr val="24211D"/>
                </a:solidFill>
                <a:latin typeface="맑은 고딕"/>
                <a:ea typeface="맑은 고딕"/>
                <a:cs typeface="맑은 고딕"/>
              </a:rPr>
              <a:t>금액이 142.2만원 으로 나온다</a:t>
            </a:r>
          </a:p>
        </p:txBody>
      </p:sp>
      <p:sp>
        <p:nvSpPr>
          <p:cNvPr id="19" name="TextBox 18"/>
          <p:cNvSpPr txBox="1"/>
          <p:nvPr/>
        </p:nvSpPr>
        <p:spPr>
          <a:xfrm>
            <a:off x="5080000" y="4521200"/>
            <a:ext cx="31750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지시가 무시됨</a:t>
            </a:r>
          </a:p>
        </p:txBody>
      </p:sp>
      <p:sp>
        <p:nvSpPr>
          <p:cNvPr id="20" name="TextBox 19"/>
          <p:cNvSpPr txBox="1"/>
          <p:nvPr/>
        </p:nvSpPr>
        <p:spPr>
          <a:xfrm>
            <a:off x="8382000" y="4521200"/>
            <a:ext cx="32512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원 단위 콤마로 다시 시키기</a:t>
            </a:r>
          </a:p>
        </p:txBody>
      </p:sp>
      <p:sp>
        <p:nvSpPr>
          <p:cNvPr id="21" name="Rounded Rectangle 20"/>
          <p:cNvSpPr/>
          <p:nvPr/>
        </p:nvSpPr>
        <p:spPr>
          <a:xfrm>
            <a:off x="571500" y="5410200"/>
            <a:ext cx="11061700" cy="482600"/>
          </a:xfrm>
          <a:prstGeom prst="roundRect">
            <a:avLst>
              <a:gd name="adj" fmla="val 8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63600" y="5029200"/>
            <a:ext cx="4064000" cy="304800"/>
          </a:xfrm>
          <a:prstGeom prst="rect">
            <a:avLst/>
          </a:prstGeom>
          <a:noFill/>
        </p:spPr>
        <p:txBody>
          <a:bodyPr wrap="square" lIns="0" tIns="0" rIns="0" bIns="0" anchor="t">
            <a:spAutoFit/>
          </a:bodyPr>
          <a:lstStyle/>
          <a:p>
            <a:pPr algn="l">
              <a:lnSpc>
                <a:spcPct val="100000"/>
              </a:lnSpc>
            </a:pPr>
            <a:r>
              <a:rPr sz="1600" b="1">
                <a:solidFill>
                  <a:srgbClr val="24211D"/>
                </a:solidFill>
                <a:latin typeface="맑은 고딕"/>
                <a:ea typeface="맑은 고딕"/>
                <a:cs typeface="맑은 고딕"/>
              </a:rPr>
              <a:t>고치랬더니 화면이 통째로 바뀐다</a:t>
            </a:r>
          </a:p>
        </p:txBody>
      </p:sp>
      <p:sp>
        <p:nvSpPr>
          <p:cNvPr id="23" name="TextBox 22"/>
          <p:cNvSpPr txBox="1"/>
          <p:nvPr/>
        </p:nvSpPr>
        <p:spPr>
          <a:xfrm>
            <a:off x="5080000" y="5041900"/>
            <a:ext cx="31750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범위를 안 정해줌</a:t>
            </a:r>
          </a:p>
        </p:txBody>
      </p:sp>
      <p:sp>
        <p:nvSpPr>
          <p:cNvPr id="24" name="TextBox 23"/>
          <p:cNvSpPr txBox="1"/>
          <p:nvPr/>
        </p:nvSpPr>
        <p:spPr>
          <a:xfrm>
            <a:off x="8382000" y="5041900"/>
            <a:ext cx="32512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"다른 건 그대로 두고" 붙이기</a:t>
            </a:r>
          </a:p>
        </p:txBody>
      </p:sp>
      <p:sp>
        <p:nvSpPr>
          <p:cNvPr id="25" name="TextBox 24"/>
          <p:cNvSpPr txBox="1"/>
          <p:nvPr/>
        </p:nvSpPr>
        <p:spPr>
          <a:xfrm>
            <a:off x="863600" y="5549900"/>
            <a:ext cx="4064000" cy="304800"/>
          </a:xfrm>
          <a:prstGeom prst="rect">
            <a:avLst/>
          </a:prstGeom>
          <a:noFill/>
        </p:spPr>
        <p:txBody>
          <a:bodyPr wrap="square" lIns="0" tIns="0" rIns="0" bIns="0" anchor="t">
            <a:spAutoFit/>
          </a:bodyPr>
          <a:lstStyle/>
          <a:p>
            <a:pPr algn="l">
              <a:lnSpc>
                <a:spcPct val="100000"/>
              </a:lnSpc>
            </a:pPr>
            <a:r>
              <a:rPr sz="1600" b="1">
                <a:solidFill>
                  <a:srgbClr val="24211D"/>
                </a:solidFill>
                <a:latin typeface="맑은 고딕"/>
                <a:ea typeface="맑은 고딕"/>
                <a:cs typeface="맑은 고딕"/>
              </a:rPr>
              <a:t>어제 값이 나온다</a:t>
            </a:r>
          </a:p>
        </p:txBody>
      </p:sp>
      <p:sp>
        <p:nvSpPr>
          <p:cNvPr id="26" name="TextBox 25"/>
          <p:cNvSpPr txBox="1"/>
          <p:nvPr/>
        </p:nvSpPr>
        <p:spPr>
          <a:xfrm>
            <a:off x="5080000" y="5562600"/>
            <a:ext cx="31750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장 시작 전 · 주말</a:t>
            </a:r>
          </a:p>
        </p:txBody>
      </p:sp>
      <p:sp>
        <p:nvSpPr>
          <p:cNvPr id="27" name="TextBox 26"/>
          <p:cNvSpPr txBox="1"/>
          <p:nvPr/>
        </p:nvSpPr>
        <p:spPr>
          <a:xfrm>
            <a:off x="8382000" y="5562600"/>
            <a:ext cx="32512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고장이 아닙니다</a:t>
            </a:r>
          </a:p>
        </p:txBody>
      </p:sp>
      <p:sp>
        <p:nvSpPr>
          <p:cNvPr id="28" name="Rounded Rectangle 27"/>
          <p:cNvSpPr/>
          <p:nvPr/>
        </p:nvSpPr>
        <p:spPr>
          <a:xfrm>
            <a:off x="571500" y="5969000"/>
            <a:ext cx="11061700" cy="4318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63600" y="6057900"/>
            <a:ext cx="10477500" cy="284480"/>
          </a:xfrm>
          <a:prstGeom prst="rect">
            <a:avLst/>
          </a:prstGeom>
          <a:noFill/>
        </p:spPr>
        <p:txBody>
          <a:bodyPr wrap="square" lIns="0" tIns="0" rIns="0" bIns="0" anchor="t">
            <a:spAutoFit/>
          </a:bodyPr>
          <a:lstStyle/>
          <a:p>
            <a:pPr algn="l">
              <a:lnSpc>
                <a:spcPct val="100000"/>
              </a:lnSpc>
            </a:pPr>
            <a:r>
              <a:rPr sz="1400" b="1">
                <a:solidFill>
                  <a:srgbClr val="F6F1EA"/>
                </a:solidFill>
                <a:latin typeface="맑은 고딕"/>
                <a:ea typeface="맑은 고딕"/>
                <a:cs typeface="맑은 고딕"/>
              </a:rPr>
              <a:t>여섯 번째가 중요합니다.  "다른 건 그대로 두고 ○○만 고쳐줘" 를 습관으로 만드세요.</a:t>
            </a:r>
          </a:p>
        </p:txBody>
      </p:sp>
      <p:sp>
        <p:nvSpPr>
          <p:cNvPr id="30" name="TextBox 29"/>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61 / 81</a:t>
            </a:r>
          </a:p>
        </p:txBody>
      </p:sp>
      <p:sp>
        <p:nvSpPr>
          <p:cNvPr id="8" name="TextBox 7"/>
          <p:cNvSpPr txBox="1"/>
          <p:nvPr/>
        </p:nvSpPr>
        <p:spPr>
          <a:xfrm>
            <a:off x="863600" y="2946400"/>
            <a:ext cx="4064000" cy="304800"/>
          </a:xfrm>
          <a:prstGeom prst="rect">
            <a:avLst/>
          </a:prstGeom>
          <a:noFill/>
        </p:spPr>
        <p:txBody>
          <a:bodyPr wrap="square" lIns="0" tIns="0" rIns="0" bIns="0" anchor="t">
            <a:spAutoFit/>
          </a:bodyPr>
          <a:lstStyle/>
          <a:p>
            <a:pPr algn="l">
              <a:lnSpc>
                <a:spcPct val="100000"/>
              </a:lnSpc>
            </a:pPr>
            <a:r>
              <a:rPr sz="1600" b="1">
                <a:solidFill>
                  <a:srgbClr val="24211D"/>
                </a:solidFill>
                <a:latin typeface="맑은 고딕"/>
                <a:ea typeface="맑은 고딕"/>
                <a:cs typeface="맑은 고딕"/>
              </a:rPr>
              <a:t>시세는 되는데 뉴스만 안 나온다</a:t>
            </a:r>
          </a:p>
        </p:txBody>
      </p:sp>
      <p:sp>
        <p:nvSpPr>
          <p:cNvPr id="9" name="TextBox 8"/>
          <p:cNvSpPr txBox="1"/>
          <p:nvPr/>
        </p:nvSpPr>
        <p:spPr>
          <a:xfrm>
            <a:off x="5080000" y="2959100"/>
            <a:ext cx="31750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도구함에 네이버 검색을 안 담음</a:t>
            </a:r>
          </a:p>
        </p:txBody>
      </p:sp>
      <p:sp>
        <p:nvSpPr>
          <p:cNvPr id="10" name="TextBox 9"/>
          <p:cNvSpPr txBox="1"/>
          <p:nvPr/>
        </p:nvSpPr>
        <p:spPr>
          <a:xfrm>
            <a:off x="8382000" y="2959100"/>
            <a:ext cx="3251200" cy="304800"/>
          </a:xfrm>
          <a:prstGeom prst="rect">
            <a:avLst/>
          </a:prstGeom>
          <a:noFill/>
        </p:spPr>
        <p:txBody>
          <a:bodyPr wrap="square" lIns="0" tIns="0" rIns="0" bIns="0" anchor="t">
            <a:spAutoFit/>
          </a:bodyPr>
          <a:lstStyle/>
          <a:p>
            <a:pPr algn="l">
              <a:lnSpc>
                <a:spcPct val="100000"/>
              </a:lnSpc>
            </a:pPr>
            <a:r>
              <a:rPr sz="1500" b="0">
                <a:solidFill>
                  <a:srgbClr val="514B43"/>
                </a:solidFill>
                <a:latin typeface="맑은 고딕"/>
                <a:ea typeface="맑은 고딕"/>
                <a:cs typeface="맑은 고딕"/>
              </a:rPr>
              <a:t>웹에서 담고 새 대화 열기</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nchor="t">
            <a:spAutoFit/>
          </a:bodyPr>
          <a:lstStyle/>
          <a:p>
            <a:pPr algn="l">
              <a:lnSpc>
                <a:spcPct val="100000"/>
              </a:lnSpc>
            </a:pPr>
            <a:r>
              <a:rPr sz="3600" b="1">
                <a:solidFill>
                  <a:srgbClr val="24211D"/>
                </a:solidFill>
                <a:latin typeface="맑은 고딕"/>
                <a:ea typeface="맑은 고딕"/>
                <a:cs typeface="맑은 고딕"/>
              </a:rPr>
              <a:t>숫자의 출처를 물어보세요</a:t>
            </a:r>
          </a:p>
        </p:txBody>
      </p:sp>
      <p:sp>
        <p:nvSpPr>
          <p:cNvPr id="3" name="TextBox 2"/>
          <p:cNvSpPr txBox="1"/>
          <p:nvPr/>
        </p:nvSpPr>
        <p:spPr>
          <a:xfrm>
            <a:off x="571500" y="1130300"/>
            <a:ext cx="11061700" cy="381000"/>
          </a:xfrm>
          <a:prstGeom prst="rect">
            <a:avLst/>
          </a:prstGeom>
          <a:noFill/>
        </p:spPr>
        <p:txBody>
          <a:bodyPr wrap="square" lIns="0" tIns="0" rIns="0" bIns="0" anchor="t">
            <a:spAutoFit/>
          </a:bodyPr>
          <a:lstStyle/>
          <a:p>
            <a:pPr algn="l">
              <a:lnSpc>
                <a:spcPct val="100000"/>
              </a:lnSpc>
            </a:pPr>
            <a:r>
              <a:rPr sz="1800" b="0">
                <a:solidFill>
                  <a:srgbClr val="514B43"/>
                </a:solidFill>
                <a:latin typeface="맑은 고딕"/>
                <a:ea typeface="맑은 고딕"/>
                <a:cs typeface="맑은 고딕"/>
              </a:rPr>
              <a:t>답할 수 없는 숫자는 쓰지 않습니다</a:t>
            </a:r>
          </a:p>
        </p:txBody>
      </p:sp>
      <p:sp>
        <p:nvSpPr>
          <p:cNvPr id="4" name="Rounded Rectangle 3"/>
          <p:cNvSpPr/>
          <p:nvPr/>
        </p:nvSpPr>
        <p:spPr>
          <a:xfrm>
            <a:off x="571500" y="1981200"/>
            <a:ext cx="11061700" cy="812800"/>
          </a:xfrm>
          <a:prstGeom prst="roundRect">
            <a:avLst>
              <a:gd name="adj" fmla="val 10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4700" y="2221865"/>
            <a:ext cx="10655300" cy="812800"/>
          </a:xfrm>
          <a:prstGeom prst="rect">
            <a:avLst/>
          </a:prstGeom>
          <a:noFill/>
        </p:spPr>
        <p:txBody>
          <a:bodyPr wrap="square" lIns="0" tIns="0" rIns="0" bIns="0" anchor="t">
            <a:spAutoFit/>
          </a:bodyPr>
          <a:lstStyle/>
          <a:p>
            <a:pPr algn="l">
              <a:lnSpc>
                <a:spcPct val="115000"/>
              </a:lnSpc>
            </a:pPr>
            <a:r>
              <a:rPr sz="1800" b="0">
                <a:solidFill>
                  <a:srgbClr val="24211D"/>
                </a:solidFill>
                <a:latin typeface="맑은 고딕"/>
                <a:ea typeface="맑은 고딕"/>
                <a:cs typeface="맑은 고딕"/>
              </a:rPr>
              <a:t>이 화면에 나오는 숫자들이 각각 어디서 온 건지 알려줘.</a:t>
            </a:r>
          </a:p>
        </p:txBody>
      </p:sp>
      <p:sp>
        <p:nvSpPr>
          <p:cNvPr id="6" name="Rounded Rectangle 5"/>
          <p:cNvSpPr/>
          <p:nvPr/>
        </p:nvSpPr>
        <p:spPr>
          <a:xfrm>
            <a:off x="571500" y="3098800"/>
            <a:ext cx="11061700" cy="6858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3600" y="3289300"/>
            <a:ext cx="3048000" cy="330200"/>
          </a:xfrm>
          <a:prstGeom prst="rect">
            <a:avLst/>
          </a:prstGeom>
          <a:noFill/>
        </p:spPr>
        <p:txBody>
          <a:bodyPr wrap="square" lIns="0" tIns="0" rIns="0" bIns="0" anchor="t">
            <a:spAutoFit/>
          </a:bodyPr>
          <a:lstStyle/>
          <a:p>
            <a:pPr algn="l">
              <a:lnSpc>
                <a:spcPct val="100000"/>
              </a:lnSpc>
            </a:pPr>
            <a:r>
              <a:rPr sz="1700" b="1">
                <a:solidFill>
                  <a:srgbClr val="D97757"/>
                </a:solidFill>
                <a:latin typeface="맑은 고딕"/>
                <a:ea typeface="맑은 고딕"/>
                <a:cs typeface="맑은 고딕"/>
              </a:rPr>
              <a:t>출처를 대지 못하면</a:t>
            </a:r>
          </a:p>
        </p:txBody>
      </p:sp>
      <p:sp>
        <p:nvSpPr>
          <p:cNvPr id="8" name="TextBox 7"/>
          <p:cNvSpPr txBox="1"/>
          <p:nvPr/>
        </p:nvSpPr>
        <p:spPr>
          <a:xfrm>
            <a:off x="4064000" y="3289300"/>
            <a:ext cx="7239000" cy="330200"/>
          </a:xfrm>
          <a:prstGeom prst="rect">
            <a:avLst/>
          </a:prstGeom>
          <a:noFill/>
        </p:spPr>
        <p:txBody>
          <a:bodyPr wrap="square" lIns="0" tIns="0" rIns="0" bIns="0" anchor="t">
            <a:spAutoFit/>
          </a:bodyPr>
          <a:lstStyle/>
          <a:p>
            <a:pPr algn="l">
              <a:lnSpc>
                <a:spcPct val="100000"/>
              </a:lnSpc>
            </a:pPr>
            <a:r>
              <a:rPr sz="1700" b="0">
                <a:solidFill>
                  <a:srgbClr val="24211D"/>
                </a:solidFill>
                <a:latin typeface="맑은 고딕"/>
                <a:ea typeface="맑은 고딕"/>
                <a:cs typeface="맑은 고딕"/>
              </a:rPr>
              <a:t>그 숫자는 쓰지 않습니다</a:t>
            </a:r>
          </a:p>
        </p:txBody>
      </p:sp>
      <p:sp>
        <p:nvSpPr>
          <p:cNvPr id="9" name="Rounded Rectangle 8"/>
          <p:cNvSpPr/>
          <p:nvPr/>
        </p:nvSpPr>
        <p:spPr>
          <a:xfrm>
            <a:off x="571500" y="3886200"/>
            <a:ext cx="11061700" cy="6858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63600" y="4076700"/>
            <a:ext cx="3048000" cy="330200"/>
          </a:xfrm>
          <a:prstGeom prst="rect">
            <a:avLst/>
          </a:prstGeom>
          <a:noFill/>
        </p:spPr>
        <p:txBody>
          <a:bodyPr wrap="square" lIns="0" tIns="0" rIns="0" bIns="0" anchor="t">
            <a:spAutoFit/>
          </a:bodyPr>
          <a:lstStyle/>
          <a:p>
            <a:pPr algn="l">
              <a:lnSpc>
                <a:spcPct val="100000"/>
              </a:lnSpc>
            </a:pPr>
            <a:r>
              <a:rPr sz="1700" b="1">
                <a:solidFill>
                  <a:srgbClr val="D97757"/>
                </a:solidFill>
                <a:latin typeface="맑은 고딕"/>
                <a:ea typeface="맑은 고딕"/>
                <a:cs typeface="맑은 고딕"/>
              </a:rPr>
              <a:t>테마를 묶은 기준은</a:t>
            </a:r>
          </a:p>
        </p:txBody>
      </p:sp>
      <p:sp>
        <p:nvSpPr>
          <p:cNvPr id="11" name="TextBox 10"/>
          <p:cNvSpPr txBox="1"/>
          <p:nvPr/>
        </p:nvSpPr>
        <p:spPr>
          <a:xfrm>
            <a:off x="4064000" y="4076700"/>
            <a:ext cx="7239000" cy="330200"/>
          </a:xfrm>
          <a:prstGeom prst="rect">
            <a:avLst/>
          </a:prstGeom>
          <a:noFill/>
        </p:spPr>
        <p:txBody>
          <a:bodyPr wrap="square" lIns="0" tIns="0" rIns="0" bIns="0" anchor="t">
            <a:spAutoFit/>
          </a:bodyPr>
          <a:lstStyle/>
          <a:p>
            <a:pPr algn="l">
              <a:lnSpc>
                <a:spcPct val="100000"/>
              </a:lnSpc>
            </a:pPr>
            <a:r>
              <a:rPr sz="1700" b="0">
                <a:solidFill>
                  <a:srgbClr val="24211D"/>
                </a:solidFill>
                <a:latin typeface="맑은 고딕"/>
                <a:ea typeface="맑은 고딕"/>
                <a:cs typeface="맑은 고딕"/>
              </a:rPr>
              <a:t>사람이 정한 것입니다. 정답이 아닙니다</a:t>
            </a:r>
          </a:p>
        </p:txBody>
      </p:sp>
      <p:sp>
        <p:nvSpPr>
          <p:cNvPr id="12" name="Rounded Rectangle 11"/>
          <p:cNvSpPr/>
          <p:nvPr/>
        </p:nvSpPr>
        <p:spPr>
          <a:xfrm>
            <a:off x="571500" y="4673600"/>
            <a:ext cx="11061700" cy="6858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63600" y="4864100"/>
            <a:ext cx="3048000" cy="330200"/>
          </a:xfrm>
          <a:prstGeom prst="rect">
            <a:avLst/>
          </a:prstGeom>
          <a:noFill/>
        </p:spPr>
        <p:txBody>
          <a:bodyPr wrap="square" lIns="0" tIns="0" rIns="0" bIns="0" anchor="t">
            <a:spAutoFit/>
          </a:bodyPr>
          <a:lstStyle/>
          <a:p>
            <a:pPr algn="l">
              <a:lnSpc>
                <a:spcPct val="100000"/>
              </a:lnSpc>
            </a:pPr>
            <a:r>
              <a:rPr sz="1700" b="1">
                <a:solidFill>
                  <a:srgbClr val="D97757"/>
                </a:solidFill>
                <a:latin typeface="맑은 고딕"/>
                <a:ea typeface="맑은 고딕"/>
                <a:cs typeface="맑은 고딕"/>
              </a:rPr>
              <a:t>오른쪽 위에 있다고</a:t>
            </a:r>
          </a:p>
        </p:txBody>
      </p:sp>
      <p:sp>
        <p:nvSpPr>
          <p:cNvPr id="14" name="TextBox 13"/>
          <p:cNvSpPr txBox="1"/>
          <p:nvPr/>
        </p:nvSpPr>
        <p:spPr>
          <a:xfrm>
            <a:off x="4064000" y="4864100"/>
            <a:ext cx="7239000" cy="330200"/>
          </a:xfrm>
          <a:prstGeom prst="rect">
            <a:avLst/>
          </a:prstGeom>
          <a:noFill/>
        </p:spPr>
        <p:txBody>
          <a:bodyPr wrap="square" lIns="0" tIns="0" rIns="0" bIns="0" anchor="t">
            <a:spAutoFit/>
          </a:bodyPr>
          <a:lstStyle/>
          <a:p>
            <a:pPr algn="l">
              <a:lnSpc>
                <a:spcPct val="100000"/>
              </a:lnSpc>
            </a:pPr>
            <a:r>
              <a:rPr sz="1700" b="0">
                <a:solidFill>
                  <a:srgbClr val="24211D"/>
                </a:solidFill>
                <a:latin typeface="맑은 고딕"/>
                <a:ea typeface="맑은 고딕"/>
                <a:cs typeface="맑은 고딕"/>
              </a:rPr>
              <a:t>좋은 것이 아닙니다. 지나온 흐름일 뿐입니다</a:t>
            </a:r>
          </a:p>
        </p:txBody>
      </p:sp>
      <p:sp>
        <p:nvSpPr>
          <p:cNvPr id="15" name="Rounded Rectangle 14"/>
          <p:cNvSpPr/>
          <p:nvPr/>
        </p:nvSpPr>
        <p:spPr>
          <a:xfrm>
            <a:off x="571500" y="5537200"/>
            <a:ext cx="11061700" cy="5842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63600" y="5695950"/>
            <a:ext cx="10477500" cy="304800"/>
          </a:xfrm>
          <a:prstGeom prst="rect">
            <a:avLst/>
          </a:prstGeom>
          <a:noFill/>
        </p:spPr>
        <p:txBody>
          <a:bodyPr wrap="square" lIns="0" tIns="0" rIns="0" bIns="0" anchor="t">
            <a:spAutoFit/>
          </a:bodyPr>
          <a:lstStyle/>
          <a:p>
            <a:pPr algn="l">
              <a:lnSpc>
                <a:spcPct val="100000"/>
              </a:lnSpc>
            </a:pPr>
            <a:r>
              <a:rPr sz="1500" b="1">
                <a:solidFill>
                  <a:srgbClr val="F6F1EA"/>
                </a:solidFill>
                <a:latin typeface="맑은 고딕"/>
                <a:ea typeface="맑은 고딕"/>
                <a:cs typeface="맑은 고딕"/>
              </a:rPr>
              <a:t>투자 판단과 그 결과는 본인 책임입니다.  Claude 는 판단 재료를 모아줄 뿐 대신 결정하지 않습니다.</a:t>
            </a:r>
          </a:p>
        </p:txBody>
      </p:sp>
      <p:sp>
        <p:nvSpPr>
          <p:cNvPr id="17" name="TextBox 16"/>
          <p:cNvSpPr txBox="1"/>
          <p:nvPr/>
        </p:nvSpPr>
        <p:spPr>
          <a:xfrm>
            <a:off x="571500" y="6273800"/>
            <a:ext cx="11061700" cy="304800"/>
          </a:xfrm>
          <a:prstGeom prst="rect">
            <a:avLst/>
          </a:prstGeom>
          <a:noFill/>
        </p:spPr>
        <p:txBody>
          <a:bodyPr wrap="square" lIns="0" tIns="0" rIns="0" bIns="0" anchor="t">
            <a:spAutoFit/>
          </a:bodyPr>
          <a:lstStyle/>
          <a:p>
            <a:pPr algn="l">
              <a:lnSpc>
                <a:spcPct val="100000"/>
              </a:lnSpc>
            </a:pPr>
            <a:r>
              <a:rPr sz="1350" b="0">
                <a:solidFill>
                  <a:srgbClr val="514B43"/>
                </a:solidFill>
                <a:latin typeface="맑은 고딕"/>
                <a:ea typeface="맑은 고딕"/>
                <a:cs typeface="맑은 고딕"/>
              </a:rPr>
              <a:t>시세·차트는 한국투자증권(KIS) 공식 API · 뉴스는 네이버 검색 결과 · 매매 전 원본 공시를 확인하십시오</a:t>
            </a:r>
          </a:p>
        </p:txBody>
      </p:sp>
      <p:sp>
        <p:nvSpPr>
          <p:cNvPr id="18" name="TextBox 17"/>
          <p:cNvSpPr txBox="1"/>
          <p:nvPr/>
        </p:nvSpPr>
        <p:spPr>
          <a:xfrm>
            <a:off x="6350000" y="6451600"/>
            <a:ext cx="5270500" cy="279400"/>
          </a:xfrm>
          <a:prstGeom prst="rect">
            <a:avLst/>
          </a:prstGeom>
          <a:noFill/>
        </p:spPr>
        <p:txBody>
          <a:bodyPr wrap="square" lIns="0" tIns="0" rIns="0" bIns="0" anchor="t">
            <a:spAutoFit/>
          </a:bodyPr>
          <a:lstStyle/>
          <a:p>
            <a:pPr algn="r">
              <a:lnSpc>
                <a:spcPct val="100000"/>
              </a:lnSpc>
            </a:pPr>
            <a:r>
              <a:rPr sz="1200" b="0">
                <a:solidFill>
                  <a:srgbClr val="A69C90"/>
                </a:solidFill>
                <a:latin typeface="맑은 고딕"/>
                <a:ea typeface="맑은 고딕"/>
                <a:cs typeface="맑은 고딕"/>
              </a:rPr>
              <a:t>SECTION 08 · 실전 주식 테마 레이더          62 / 81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129016" y="0"/>
            <a:ext cx="4059936" cy="6858000"/>
          </a:xfrm>
          <a:prstGeom prst="rect">
            <a:avLst/>
          </a:prstGeom>
          <a:solidFill>
            <a:srgbClr val="30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9016" y="1901952"/>
            <a:ext cx="4059936" cy="3017520"/>
          </a:xfrm>
          <a:prstGeom prst="rect">
            <a:avLst/>
          </a:prstGeom>
          <a:noFill/>
        </p:spPr>
        <p:txBody>
          <a:bodyPr wrap="square" lIns="0" rIns="0" tIns="0" bIns="0">
            <a:spAutoFit/>
          </a:bodyPr>
          <a:lstStyle/>
          <a:p>
            <a:pPr algn="ctr">
              <a:spcAft>
                <a:spcPts val="0"/>
              </a:spcAft>
            </a:pPr>
            <a:r>
              <a:rPr sz="19000" b="1">
                <a:solidFill>
                  <a:srgbClr val="4A4239"/>
                </a:solidFill>
                <a:latin typeface="맑은 고딕"/>
              </a:rPr>
              <a:t>09</a:t>
            </a:r>
          </a:p>
        </p:txBody>
      </p:sp>
      <p:sp>
        <p:nvSpPr>
          <p:cNvPr id="4" name="TextBox 3"/>
          <p:cNvSpPr txBox="1"/>
          <p:nvPr/>
        </p:nvSpPr>
        <p:spPr>
          <a:xfrm>
            <a:off x="859536" y="2231136"/>
            <a:ext cx="5843016" cy="356616"/>
          </a:xfrm>
          <a:prstGeom prst="rect">
            <a:avLst/>
          </a:prstGeom>
          <a:noFill/>
        </p:spPr>
        <p:txBody>
          <a:bodyPr wrap="square" lIns="0" rIns="0" tIns="0" bIns="0">
            <a:spAutoFit/>
          </a:bodyPr>
          <a:lstStyle/>
          <a:p>
            <a:pPr>
              <a:spcAft>
                <a:spcPts val="0"/>
              </a:spcAft>
            </a:pPr>
            <a:r>
              <a:rPr sz="1700" b="1">
                <a:solidFill>
                  <a:srgbClr val="D97757"/>
                </a:solidFill>
                <a:latin typeface="맑은 고딕"/>
              </a:rPr>
              <a:t>SECTION 09</a:t>
            </a:r>
          </a:p>
        </p:txBody>
      </p:sp>
      <p:sp>
        <p:nvSpPr>
          <p:cNvPr id="5" name="TextBox 4"/>
          <p:cNvSpPr txBox="1"/>
          <p:nvPr/>
        </p:nvSpPr>
        <p:spPr>
          <a:xfrm>
            <a:off x="859536" y="2615184"/>
            <a:ext cx="6922008" cy="649224"/>
          </a:xfrm>
          <a:prstGeom prst="rect">
            <a:avLst/>
          </a:prstGeom>
          <a:noFill/>
        </p:spPr>
        <p:txBody>
          <a:bodyPr wrap="square" lIns="0" rIns="0" tIns="0" bIns="0">
            <a:spAutoFit/>
          </a:bodyPr>
          <a:lstStyle/>
          <a:p>
            <a:pPr>
              <a:spcAft>
                <a:spcPts val="0"/>
              </a:spcAft>
            </a:pPr>
            <a:r>
              <a:rPr sz="3600" b="1">
                <a:solidFill>
                  <a:srgbClr val="FFFFFF"/>
                </a:solidFill>
                <a:latin typeface="맑은 고딕"/>
              </a:rPr>
              <a:t>경매 물건 분석</a:t>
            </a:r>
          </a:p>
        </p:txBody>
      </p:sp>
      <p:sp>
        <p:nvSpPr>
          <p:cNvPr id="6" name="Rectangle 5"/>
          <p:cNvSpPr/>
          <p:nvPr/>
        </p:nvSpPr>
        <p:spPr>
          <a:xfrm>
            <a:off x="914400" y="3813048"/>
            <a:ext cx="81381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114800"/>
            <a:ext cx="6922008" cy="1709928"/>
          </a:xfrm>
          <a:prstGeom prst="rect">
            <a:avLst/>
          </a:prstGeom>
          <a:noFill/>
        </p:spPr>
        <p:txBody>
          <a:bodyPr wrap="square" lIns="0" rIns="0" tIns="0" bIns="0">
            <a:spAutoFit/>
          </a:bodyPr>
          <a:lstStyle/>
          <a:p>
            <a:pPr>
              <a:spcAft>
                <a:spcPts val="600"/>
              </a:spcAft>
            </a:pPr>
            <a:r>
              <a:rPr sz="1700" b="0">
                <a:solidFill>
                  <a:srgbClr val="C9C0B4"/>
                </a:solidFill>
                <a:latin typeface="맑은 고딕"/>
              </a:rPr>
              <a:t>서류를 넣으면 물건카드가 나옵니다</a:t>
            </a:r>
          </a:p>
          <a:p>
            <a:pPr>
              <a:spcAft>
                <a:spcPts val="600"/>
              </a:spcAft>
            </a:pPr>
            <a:r>
              <a:rPr sz="1700" b="0">
                <a:solidFill>
                  <a:srgbClr val="C9C0B4"/>
                </a:solidFill>
                <a:latin typeface="맑은 고딕"/>
              </a:rPr>
              <a:t>설치는 폴더 · 프로젝트 · 스킬 세 단계</a:t>
            </a:r>
          </a:p>
          <a:p>
            <a:pPr>
              <a:spcAft>
                <a:spcPts val="600"/>
              </a:spcAft>
            </a:pPr>
            <a:r>
              <a:rPr sz="1700" b="0">
                <a:solidFill>
                  <a:srgbClr val="C9C0B4"/>
                </a:solidFill>
                <a:latin typeface="맑은 고딕"/>
              </a:rPr>
              <a:t>MCP 네 개를 붙입니다</a:t>
            </a:r>
          </a:p>
          <a:p>
            <a:pPr>
              <a:spcAft>
                <a:spcPts val="600"/>
              </a:spcAft>
            </a:pPr>
            <a:r>
              <a:rPr sz="1700" b="0">
                <a:solidFill>
                  <a:srgbClr val="C9C0B4"/>
                </a:solidFill>
                <a:latin typeface="맑은 고딕"/>
              </a:rPr>
              <a:t>공시가격과 종부세는 주의해서 봅니다</a:t>
            </a:r>
          </a:p>
        </p:txBody>
      </p:sp>
      <p:sp>
        <p:nvSpPr>
          <p:cNvPr id="8" name="TextBox 7"/>
          <p:cNvSpPr txBox="1"/>
          <p:nvPr/>
        </p:nvSpPr>
        <p:spPr>
          <a:xfrm>
            <a:off x="859536" y="6172200"/>
            <a:ext cx="5843016" cy="292608"/>
          </a:xfrm>
          <a:prstGeom prst="rect">
            <a:avLst/>
          </a:prstGeom>
          <a:noFill/>
        </p:spPr>
        <p:txBody>
          <a:bodyPr wrap="square" lIns="0" rIns="0" tIns="0" bIns="0">
            <a:spAutoFit/>
          </a:bodyPr>
          <a:lstStyle/>
          <a:p>
            <a:pPr>
              <a:spcAft>
                <a:spcPts val="0"/>
              </a:spcAft>
            </a:pPr>
            <a:r>
              <a:rPr sz="1300" b="0">
                <a:solidFill>
                  <a:srgbClr val="726859"/>
                </a:solidFill>
                <a:latin typeface="맑은 고딕"/>
              </a:rPr>
              <a:t>Claude 데스크탑 시작하기</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777240"/>
          </a:xfrm>
          <a:prstGeom prst="rect">
            <a:avLst/>
          </a:prstGeom>
          <a:noFill/>
        </p:spPr>
        <p:txBody>
          <a:bodyPr wrap="square" lIns="0" rIns="0" tIns="0" bIns="0">
            <a:spAutoFit/>
          </a:bodyPr>
          <a:lstStyle/>
          <a:p>
            <a:pPr>
              <a:spcAft>
                <a:spcPts val="0"/>
              </a:spcAft>
            </a:pPr>
            <a:r>
              <a:rPr sz="3600" b="1">
                <a:solidFill>
                  <a:srgbClr val="24211D"/>
                </a:solidFill>
                <a:latin typeface="맑은 고딕"/>
              </a:rPr>
              <a:t>서류를 넣으면 물건카드가 나옵니다</a:t>
            </a:r>
          </a:p>
        </p:txBody>
      </p:sp>
      <p:sp>
        <p:nvSpPr>
          <p:cNvPr id="3" name="TextBox 2"/>
          <p:cNvSpPr txBox="1"/>
          <p:nvPr/>
        </p:nvSpPr>
        <p:spPr>
          <a:xfrm>
            <a:off x="566928" y="1133856"/>
            <a:ext cx="11064240" cy="384048"/>
          </a:xfrm>
          <a:prstGeom prst="rect">
            <a:avLst/>
          </a:prstGeom>
          <a:noFill/>
        </p:spPr>
        <p:txBody>
          <a:bodyPr wrap="square" lIns="0" rIns="0" tIns="0" bIns="0">
            <a:spAutoFit/>
          </a:bodyPr>
          <a:lstStyle/>
          <a:p>
            <a:pPr>
              <a:spcAft>
                <a:spcPts val="0"/>
              </a:spcAft>
            </a:pPr>
            <a:r>
              <a:rPr sz="1800" b="0">
                <a:solidFill>
                  <a:srgbClr val="514B43"/>
                </a:solidFill>
                <a:latin typeface="맑은 고딕"/>
              </a:rPr>
              <a:t>한 마디만 하면 22~24장짜리 검토 보고서가 만들어집니다</a:t>
            </a:r>
          </a:p>
        </p:txBody>
      </p:sp>
      <p:sp>
        <p:nvSpPr>
          <p:cNvPr id="4" name="Rectangle 3"/>
          <p:cNvSpPr/>
          <p:nvPr/>
        </p:nvSpPr>
        <p:spPr>
          <a:xfrm>
            <a:off x="566928" y="1929384"/>
            <a:ext cx="3575304" cy="34015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 y="2212848"/>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295144"/>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1</a:t>
            </a:r>
          </a:p>
        </p:txBody>
      </p:sp>
      <p:sp>
        <p:nvSpPr>
          <p:cNvPr id="7" name="TextBox 6"/>
          <p:cNvSpPr txBox="1"/>
          <p:nvPr/>
        </p:nvSpPr>
        <p:spPr>
          <a:xfrm>
            <a:off x="850392" y="2816352"/>
            <a:ext cx="3008376" cy="630936"/>
          </a:xfrm>
          <a:prstGeom prst="rect">
            <a:avLst/>
          </a:prstGeom>
          <a:noFill/>
        </p:spPr>
        <p:txBody>
          <a:bodyPr wrap="square" lIns="0" rIns="0" tIns="0" bIns="0">
            <a:spAutoFit/>
          </a:bodyPr>
          <a:lstStyle/>
          <a:p>
            <a:pPr>
              <a:spcAft>
                <a:spcPts val="0"/>
              </a:spcAft>
            </a:pPr>
            <a:r>
              <a:rPr sz="1900" b="1">
                <a:solidFill>
                  <a:srgbClr val="24211D"/>
                </a:solidFill>
                <a:latin typeface="맑은 고딕"/>
              </a:rPr>
              <a:t>서류를 넣는다</a:t>
            </a:r>
          </a:p>
        </p:txBody>
      </p:sp>
      <p:sp>
        <p:nvSpPr>
          <p:cNvPr id="8" name="TextBox 7"/>
          <p:cNvSpPr txBox="1"/>
          <p:nvPr/>
        </p:nvSpPr>
        <p:spPr>
          <a:xfrm>
            <a:off x="850392" y="3483863"/>
            <a:ext cx="3008376"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물건 폴더에 PDF</a:t>
            </a:r>
          </a:p>
        </p:txBody>
      </p:sp>
      <p:sp>
        <p:nvSpPr>
          <p:cNvPr id="9" name="TextBox 8"/>
          <p:cNvSpPr txBox="1"/>
          <p:nvPr/>
        </p:nvSpPr>
        <p:spPr>
          <a:xfrm>
            <a:off x="850392" y="3913631"/>
            <a:ext cx="3008376" cy="1207008"/>
          </a:xfrm>
          <a:prstGeom prst="rect">
            <a:avLst/>
          </a:prstGeom>
          <a:noFill/>
        </p:spPr>
        <p:txBody>
          <a:bodyPr wrap="square" lIns="0" rIns="0" tIns="0" bIns="0">
            <a:spAutoFit/>
          </a:bodyPr>
          <a:lstStyle/>
          <a:p>
            <a:pPr>
              <a:spcAft>
                <a:spcPts val="300"/>
              </a:spcAft>
            </a:pPr>
            <a:r>
              <a:rPr sz="1500" b="0">
                <a:solidFill>
                  <a:srgbClr val="514B43"/>
                </a:solidFill>
                <a:latin typeface="맑은 고딕"/>
              </a:rPr>
              <a:t>경매정보 · 등기부</a:t>
            </a:r>
          </a:p>
          <a:p>
            <a:pPr>
              <a:spcAft>
                <a:spcPts val="300"/>
              </a:spcAft>
            </a:pPr>
            <a:r>
              <a:rPr sz="1500" b="0">
                <a:solidFill>
                  <a:srgbClr val="514B43"/>
                </a:solidFill>
                <a:latin typeface="맑은 고딕"/>
              </a:rPr>
              <a:t>매각물건명세서</a:t>
            </a:r>
          </a:p>
          <a:p>
            <a:pPr>
              <a:spcAft>
                <a:spcPts val="300"/>
              </a:spcAft>
            </a:pPr>
            <a:r>
              <a:rPr sz="1500" b="0">
                <a:solidFill>
                  <a:srgbClr val="514B43"/>
                </a:solidFill>
                <a:latin typeface="맑은 고딕"/>
              </a:rPr>
              <a:t>현황조사서</a:t>
            </a:r>
          </a:p>
          <a:p>
            <a:pPr>
              <a:spcAft>
                <a:spcPts val="300"/>
              </a:spcAft>
            </a:pPr>
            <a:r>
              <a:rPr sz="1500" b="0">
                <a:solidFill>
                  <a:srgbClr val="514B43"/>
                </a:solidFill>
                <a:latin typeface="맑은 고딕"/>
              </a:rPr>
              <a:t>감정평가서</a:t>
            </a:r>
          </a:p>
          <a:p>
            <a:pPr>
              <a:spcAft>
                <a:spcPts val="300"/>
              </a:spcAft>
            </a:pPr>
            <a:r>
              <a:rPr sz="1500" b="0">
                <a:solidFill>
                  <a:srgbClr val="514B43"/>
                </a:solidFill>
                <a:latin typeface="맑은 고딕"/>
              </a:rPr>
              <a:t>문건접수내역</a:t>
            </a:r>
          </a:p>
        </p:txBody>
      </p:sp>
      <p:sp>
        <p:nvSpPr>
          <p:cNvPr id="10" name="Rectangle 9"/>
          <p:cNvSpPr/>
          <p:nvPr/>
        </p:nvSpPr>
        <p:spPr>
          <a:xfrm>
            <a:off x="4315968" y="1929384"/>
            <a:ext cx="3575304" cy="34015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1" y="2212848"/>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2295144"/>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2</a:t>
            </a:r>
          </a:p>
        </p:txBody>
      </p:sp>
      <p:sp>
        <p:nvSpPr>
          <p:cNvPr id="13" name="TextBox 12"/>
          <p:cNvSpPr txBox="1"/>
          <p:nvPr/>
        </p:nvSpPr>
        <p:spPr>
          <a:xfrm>
            <a:off x="4599431" y="2816352"/>
            <a:ext cx="3008376" cy="630936"/>
          </a:xfrm>
          <a:prstGeom prst="rect">
            <a:avLst/>
          </a:prstGeom>
          <a:noFill/>
        </p:spPr>
        <p:txBody>
          <a:bodyPr wrap="square" lIns="0" rIns="0" tIns="0" bIns="0">
            <a:spAutoFit/>
          </a:bodyPr>
          <a:lstStyle/>
          <a:p>
            <a:pPr>
              <a:spcAft>
                <a:spcPts val="0"/>
              </a:spcAft>
            </a:pPr>
            <a:r>
              <a:rPr sz="1900" b="1">
                <a:solidFill>
                  <a:srgbClr val="24211D"/>
                </a:solidFill>
                <a:latin typeface="맑은 고딕"/>
              </a:rPr>
              <a:t>한 마디 한다</a:t>
            </a:r>
          </a:p>
        </p:txBody>
      </p:sp>
      <p:sp>
        <p:nvSpPr>
          <p:cNvPr id="14" name="TextBox 13"/>
          <p:cNvSpPr txBox="1"/>
          <p:nvPr/>
        </p:nvSpPr>
        <p:spPr>
          <a:xfrm>
            <a:off x="4599431" y="3483863"/>
            <a:ext cx="3008376"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새 대화에서</a:t>
            </a:r>
          </a:p>
        </p:txBody>
      </p:sp>
      <p:sp>
        <p:nvSpPr>
          <p:cNvPr id="15" name="TextBox 14"/>
          <p:cNvSpPr txBox="1"/>
          <p:nvPr/>
        </p:nvSpPr>
        <p:spPr>
          <a:xfrm>
            <a:off x="4599431" y="3913631"/>
            <a:ext cx="3008376" cy="1207008"/>
          </a:xfrm>
          <a:prstGeom prst="rect">
            <a:avLst/>
          </a:prstGeom>
          <a:noFill/>
        </p:spPr>
        <p:txBody>
          <a:bodyPr wrap="square" lIns="0" rIns="0" tIns="0" bIns="0">
            <a:spAutoFit/>
          </a:bodyPr>
          <a:lstStyle/>
          <a:p>
            <a:pPr>
              <a:spcAft>
                <a:spcPts val="300"/>
              </a:spcAft>
            </a:pPr>
            <a:r>
              <a:rPr sz="1500" b="0">
                <a:solidFill>
                  <a:srgbClr val="514B43"/>
                </a:solidFill>
                <a:latin typeface="맑은 고딕"/>
              </a:rPr>
              <a:t>"이 물건 분석해줘"</a:t>
            </a:r>
          </a:p>
          <a:p>
            <a:pPr>
              <a:spcAft>
                <a:spcPts val="300"/>
              </a:spcAft>
            </a:pPr>
            <a:r>
              <a:rPr sz="1500" b="0">
                <a:solidFill>
                  <a:srgbClr val="514B43"/>
                </a:solidFill>
                <a:latin typeface="맑은 고딕"/>
              </a:rPr>
              <a:t/>
            </a:r>
          </a:p>
          <a:p>
            <a:pPr>
              <a:spcAft>
                <a:spcPts val="300"/>
              </a:spcAft>
            </a:pPr>
            <a:r>
              <a:rPr sz="1500" b="0">
                <a:solidFill>
                  <a:srgbClr val="514B43"/>
                </a:solidFill>
                <a:latin typeface="맑은 고딕"/>
              </a:rPr>
              <a:t>권리분석부터 세금까지</a:t>
            </a:r>
          </a:p>
          <a:p>
            <a:pPr>
              <a:spcAft>
                <a:spcPts val="300"/>
              </a:spcAft>
            </a:pPr>
            <a:r>
              <a:rPr sz="1500" b="0">
                <a:solidFill>
                  <a:srgbClr val="514B43"/>
                </a:solidFill>
                <a:latin typeface="맑은 고딕"/>
              </a:rPr>
              <a:t>순서대로 검토합니다</a:t>
            </a:r>
          </a:p>
        </p:txBody>
      </p:sp>
      <p:sp>
        <p:nvSpPr>
          <p:cNvPr id="16" name="Rectangle 15"/>
          <p:cNvSpPr/>
          <p:nvPr/>
        </p:nvSpPr>
        <p:spPr>
          <a:xfrm>
            <a:off x="8055864" y="1929384"/>
            <a:ext cx="3575304" cy="34015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39328" y="2212848"/>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2295144"/>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3</a:t>
            </a:r>
          </a:p>
        </p:txBody>
      </p:sp>
      <p:sp>
        <p:nvSpPr>
          <p:cNvPr id="19" name="TextBox 18"/>
          <p:cNvSpPr txBox="1"/>
          <p:nvPr/>
        </p:nvSpPr>
        <p:spPr>
          <a:xfrm>
            <a:off x="8339328" y="2816352"/>
            <a:ext cx="3008376" cy="630936"/>
          </a:xfrm>
          <a:prstGeom prst="rect">
            <a:avLst/>
          </a:prstGeom>
          <a:noFill/>
        </p:spPr>
        <p:txBody>
          <a:bodyPr wrap="square" lIns="0" rIns="0" tIns="0" bIns="0">
            <a:spAutoFit/>
          </a:bodyPr>
          <a:lstStyle/>
          <a:p>
            <a:pPr>
              <a:spcAft>
                <a:spcPts val="0"/>
              </a:spcAft>
            </a:pPr>
            <a:r>
              <a:rPr sz="1900" b="1">
                <a:solidFill>
                  <a:srgbClr val="24211D"/>
                </a:solidFill>
                <a:latin typeface="맑은 고딕"/>
              </a:rPr>
              <a:t>물건카드가 나온다</a:t>
            </a:r>
          </a:p>
        </p:txBody>
      </p:sp>
      <p:sp>
        <p:nvSpPr>
          <p:cNvPr id="20" name="TextBox 19"/>
          <p:cNvSpPr txBox="1"/>
          <p:nvPr/>
        </p:nvSpPr>
        <p:spPr>
          <a:xfrm>
            <a:off x="8339328" y="3483863"/>
            <a:ext cx="3008376"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PPTX 22~24장</a:t>
            </a:r>
          </a:p>
        </p:txBody>
      </p:sp>
      <p:sp>
        <p:nvSpPr>
          <p:cNvPr id="21" name="TextBox 20"/>
          <p:cNvSpPr txBox="1"/>
          <p:nvPr/>
        </p:nvSpPr>
        <p:spPr>
          <a:xfrm>
            <a:off x="8339328" y="3913631"/>
            <a:ext cx="3008376" cy="1207008"/>
          </a:xfrm>
          <a:prstGeom prst="rect">
            <a:avLst/>
          </a:prstGeom>
          <a:noFill/>
        </p:spPr>
        <p:txBody>
          <a:bodyPr wrap="square" lIns="0" rIns="0" tIns="0" bIns="0">
            <a:spAutoFit/>
          </a:bodyPr>
          <a:lstStyle/>
          <a:p>
            <a:pPr>
              <a:spcAft>
                <a:spcPts val="300"/>
              </a:spcAft>
            </a:pPr>
            <a:r>
              <a:rPr sz="1500" b="0">
                <a:solidFill>
                  <a:srgbClr val="514B43"/>
                </a:solidFill>
                <a:latin typeface="맑은 고딕"/>
              </a:rPr>
              <a:t>권리 순위 · 임차인</a:t>
            </a:r>
          </a:p>
          <a:p>
            <a:pPr>
              <a:spcAft>
                <a:spcPts val="300"/>
              </a:spcAft>
            </a:pPr>
            <a:r>
              <a:rPr sz="1500" b="0">
                <a:solidFill>
                  <a:srgbClr val="514B43"/>
                </a:solidFill>
                <a:latin typeface="맑은 고딕"/>
              </a:rPr>
              <a:t>예상 배당 · 입찰가</a:t>
            </a:r>
          </a:p>
          <a:p>
            <a:pPr>
              <a:spcAft>
                <a:spcPts val="300"/>
              </a:spcAft>
            </a:pPr>
            <a:r>
              <a:rPr sz="1500" b="0">
                <a:solidFill>
                  <a:srgbClr val="514B43"/>
                </a:solidFill>
                <a:latin typeface="맑은 고딕"/>
              </a:rPr>
              <a:t>취득세 · 보유세</a:t>
            </a:r>
          </a:p>
          <a:p>
            <a:pPr>
              <a:spcAft>
                <a:spcPts val="300"/>
              </a:spcAft>
            </a:pPr>
            <a:r>
              <a:rPr sz="1500" b="0">
                <a:solidFill>
                  <a:srgbClr val="514B43"/>
                </a:solidFill>
                <a:latin typeface="맑은 고딕"/>
              </a:rPr>
              <a:t>명도 계획</a:t>
            </a:r>
          </a:p>
        </p:txBody>
      </p:sp>
      <p:sp>
        <p:nvSpPr>
          <p:cNvPr id="22" name="Rectangle 21"/>
          <p:cNvSpPr/>
          <p:nvPr/>
        </p:nvSpPr>
        <p:spPr>
          <a:xfrm>
            <a:off x="566928" y="5586984"/>
            <a:ext cx="11064240" cy="530352"/>
          </a:xfrm>
          <a:prstGeom prst="rect">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5724144"/>
            <a:ext cx="10479024" cy="301752"/>
          </a:xfrm>
          <a:prstGeom prst="rect">
            <a:avLst/>
          </a:prstGeom>
          <a:noFill/>
        </p:spPr>
        <p:txBody>
          <a:bodyPr wrap="square" lIns="0" rIns="0" tIns="0" bIns="0">
            <a:spAutoFit/>
          </a:bodyPr>
          <a:lstStyle/>
          <a:p>
            <a:pPr>
              <a:spcAft>
                <a:spcPts val="0"/>
              </a:spcAft>
            </a:pPr>
            <a:r>
              <a:rPr sz="1500" b="0">
                <a:solidFill>
                  <a:srgbClr val="F6F1EA"/>
                </a:solidFill>
                <a:latin typeface="맑은 고딕"/>
              </a:rPr>
              <a:t>마지막 장이 결론입니다.  답을 준 게 아니라 「무엇을 더 봐야 하는지」를 알려줍니다.</a:t>
            </a:r>
          </a:p>
        </p:txBody>
      </p:sp>
      <p:sp>
        <p:nvSpPr>
          <p:cNvPr id="24" name="TextBox 23"/>
          <p:cNvSpPr txBox="1"/>
          <p:nvPr/>
        </p:nvSpPr>
        <p:spPr>
          <a:xfrm>
            <a:off x="6345936" y="6455664"/>
            <a:ext cx="5266944" cy="283464"/>
          </a:xfrm>
          <a:prstGeom prst="rect">
            <a:avLst/>
          </a:prstGeom>
          <a:noFill/>
        </p:spPr>
        <p:txBody>
          <a:bodyPr wrap="square" lIns="0" rIns="0" tIns="0" bIns="0">
            <a:spAutoFit/>
          </a:bodyPr>
          <a:lstStyle/>
          <a:p>
            <a:pPr algn="r">
              <a:spcAft>
                <a:spcPts val="0"/>
              </a:spcAft>
            </a:pPr>
            <a:r>
              <a:rPr sz="1200" b="0">
                <a:solidFill>
                  <a:srgbClr val="A69C90"/>
                </a:solidFill>
                <a:latin typeface="맑은 고딕"/>
              </a:rPr>
              <a:t>SECTION 09 · 경매 물건 분석          64 / 81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777240"/>
          </a:xfrm>
          <a:prstGeom prst="rect">
            <a:avLst/>
          </a:prstGeom>
          <a:noFill/>
        </p:spPr>
        <p:txBody>
          <a:bodyPr wrap="square" lIns="0" rIns="0" tIns="0" bIns="0">
            <a:spAutoFit/>
          </a:bodyPr>
          <a:lstStyle/>
          <a:p>
            <a:pPr>
              <a:spcAft>
                <a:spcPts val="0"/>
              </a:spcAft>
            </a:pPr>
            <a:r>
              <a:rPr sz="3600" b="1">
                <a:solidFill>
                  <a:srgbClr val="24211D"/>
                </a:solidFill>
                <a:latin typeface="맑은 고딕"/>
              </a:rPr>
              <a:t>서류 여덟 가지가 각각 다른 것을 말해줍니다</a:t>
            </a:r>
          </a:p>
        </p:txBody>
      </p:sp>
      <p:sp>
        <p:nvSpPr>
          <p:cNvPr id="3" name="TextBox 2"/>
          <p:cNvSpPr txBox="1"/>
          <p:nvPr/>
        </p:nvSpPr>
        <p:spPr>
          <a:xfrm>
            <a:off x="566928" y="1133856"/>
            <a:ext cx="11064240" cy="384048"/>
          </a:xfrm>
          <a:prstGeom prst="rect">
            <a:avLst/>
          </a:prstGeom>
          <a:noFill/>
        </p:spPr>
        <p:txBody>
          <a:bodyPr wrap="square" lIns="0" rIns="0" tIns="0" bIns="0">
            <a:spAutoFit/>
          </a:bodyPr>
          <a:lstStyle/>
          <a:p>
            <a:pPr>
              <a:spcAft>
                <a:spcPts val="0"/>
              </a:spcAft>
            </a:pPr>
            <a:r>
              <a:rPr sz="1800" b="0">
                <a:solidFill>
                  <a:srgbClr val="514B43"/>
                </a:solidFill>
                <a:latin typeface="맑은 고딕"/>
              </a:rPr>
              <a:t>많이 넣을수록 정확해집니다. 특히 위의 셋은 꼭 넣으세요</a:t>
            </a:r>
          </a:p>
        </p:txBody>
      </p:sp>
      <p:graphicFrame>
        <p:nvGraphicFramePr>
          <p:cNvPr id="4" name="Table 3"/>
          <p:cNvGraphicFramePr>
            <a:graphicFrameLocks noGrp="1"/>
          </p:cNvGraphicFramePr>
          <p:nvPr/>
        </p:nvGraphicFramePr>
        <p:xfrm>
          <a:off x="566928" y="1828800"/>
          <a:ext cx="11064240" cy="3657600"/>
        </p:xfrm>
        <a:graphic>
          <a:graphicData uri="http://schemas.openxmlformats.org/drawingml/2006/table">
            <a:tbl>
              <a:tblPr firstRow="1" bandRow="1">
                <a:tableStyleId>{5C22544A-7EE6-4342-B048-85BDC9FD1C3A}</a:tableStyleId>
              </a:tblPr>
              <a:tblGrid>
                <a:gridCol w="2651760"/>
                <a:gridCol w="6035040"/>
                <a:gridCol w="2377440"/>
              </a:tblGrid>
              <a:tr h="406400">
                <a:tc>
                  <a:txBody>
                    <a:bodyPr/>
                    <a:lstStyle/>
                    <a:p>
                      <a:r>
                        <a:rPr sz="1400" b="1">
                          <a:solidFill>
                            <a:srgbClr val="F6F1EA"/>
                          </a:solidFill>
                          <a:latin typeface="맑은 고딕"/>
                        </a:rPr>
                        <a:t>서류</a:t>
                      </a:r>
                    </a:p>
                  </a:txBody>
                  <a:tcPr anchor="ctr" marL="91440" marR="91440">
                    <a:solidFill>
                      <a:srgbClr val="24211D"/>
                    </a:solidFill>
                  </a:tcPr>
                </a:tc>
                <a:tc>
                  <a:txBody>
                    <a:bodyPr/>
                    <a:lstStyle/>
                    <a:p>
                      <a:r>
                        <a:rPr sz="1400" b="1">
                          <a:solidFill>
                            <a:srgbClr val="F6F1EA"/>
                          </a:solidFill>
                          <a:latin typeface="맑은 고딕"/>
                        </a:rPr>
                        <a:t>무엇을 말해주나</a:t>
                      </a:r>
                    </a:p>
                  </a:txBody>
                  <a:tcPr anchor="ctr" marL="91440" marR="91440">
                    <a:solidFill>
                      <a:srgbClr val="24211D"/>
                    </a:solidFill>
                  </a:tcPr>
                </a:tc>
                <a:tc>
                  <a:txBody>
                    <a:bodyPr/>
                    <a:lstStyle/>
                    <a:p>
                      <a:r>
                        <a:rPr sz="1400" b="1">
                          <a:solidFill>
                            <a:srgbClr val="F6F1EA"/>
                          </a:solidFill>
                          <a:latin typeface="맑은 고딕"/>
                        </a:rPr>
                        <a:t> </a:t>
                      </a:r>
                    </a:p>
                  </a:txBody>
                  <a:tcPr anchor="ctr" marL="91440" marR="91440">
                    <a:solidFill>
                      <a:srgbClr val="24211D"/>
                    </a:solidFill>
                  </a:tcPr>
                </a:tc>
              </a:tr>
              <a:tr h="406400">
                <a:tc>
                  <a:txBody>
                    <a:bodyPr/>
                    <a:lstStyle/>
                    <a:p>
                      <a:r>
                        <a:rPr sz="1300" b="1">
                          <a:solidFill>
                            <a:srgbClr val="24211D"/>
                          </a:solidFill>
                          <a:latin typeface="맑은 고딕"/>
                        </a:rPr>
                        <a:t>매각물건명세서</a:t>
                      </a:r>
                    </a:p>
                  </a:txBody>
                  <a:tcPr anchor="ctr" marL="91440" marR="91440">
                    <a:solidFill>
                      <a:srgbClr val="FFFFFF"/>
                    </a:solidFill>
                  </a:tcPr>
                </a:tc>
                <a:tc>
                  <a:txBody>
                    <a:bodyPr/>
                    <a:lstStyle/>
                    <a:p>
                      <a:r>
                        <a:rPr sz="1300" b="0">
                          <a:solidFill>
                            <a:srgbClr val="514B43"/>
                          </a:solidFill>
                          <a:latin typeface="맑은 고딕"/>
                        </a:rPr>
                        <a:t>인수되는 권리가 있나 · 임차인이 몇 명이고 대항력이 있나</a:t>
                      </a:r>
                    </a:p>
                  </a:txBody>
                  <a:tcPr anchor="ctr" marL="91440" marR="91440">
                    <a:solidFill>
                      <a:srgbClr val="FFFFFF"/>
                    </a:solidFill>
                  </a:tcPr>
                </a:tc>
                <a:tc>
                  <a:txBody>
                    <a:bodyPr/>
                    <a:lstStyle/>
                    <a:p>
                      <a:r>
                        <a:rPr sz="1300" b="0">
                          <a:solidFill>
                            <a:srgbClr val="D97757"/>
                          </a:solidFill>
                          <a:latin typeface="맑은 고딕"/>
                        </a:rPr>
                        <a:t>★ 없으면 절반이 날아감</a:t>
                      </a:r>
                    </a:p>
                  </a:txBody>
                  <a:tcPr anchor="ctr" marL="91440" marR="91440">
                    <a:solidFill>
                      <a:srgbClr val="FFFFFF"/>
                    </a:solidFill>
                  </a:tcPr>
                </a:tc>
              </a:tr>
              <a:tr h="406400">
                <a:tc>
                  <a:txBody>
                    <a:bodyPr/>
                    <a:lstStyle/>
                    <a:p>
                      <a:r>
                        <a:rPr sz="1300" b="1">
                          <a:solidFill>
                            <a:srgbClr val="24211D"/>
                          </a:solidFill>
                          <a:latin typeface="맑은 고딕"/>
                        </a:rPr>
                        <a:t>등기부 (토지·건물)</a:t>
                      </a:r>
                    </a:p>
                  </a:txBody>
                  <a:tcPr anchor="ctr" marL="91440" marR="91440">
                    <a:solidFill>
                      <a:srgbClr val="F5F1EB"/>
                    </a:solidFill>
                  </a:tcPr>
                </a:tc>
                <a:tc>
                  <a:txBody>
                    <a:bodyPr/>
                    <a:lstStyle/>
                    <a:p>
                      <a:r>
                        <a:rPr sz="1300" b="0">
                          <a:solidFill>
                            <a:srgbClr val="514B43"/>
                          </a:solidFill>
                          <a:latin typeface="맑은 고딕"/>
                        </a:rPr>
                        <a:t>말소기준권리가 무엇이고 무엇이 지워지나</a:t>
                      </a:r>
                    </a:p>
                  </a:txBody>
                  <a:tcPr anchor="ctr" marL="91440" marR="91440">
                    <a:solidFill>
                      <a:srgbClr val="F5F1EB"/>
                    </a:solidFill>
                  </a:tcPr>
                </a:tc>
                <a:tc>
                  <a:txBody>
                    <a:bodyPr/>
                    <a:lstStyle/>
                    <a:p>
                      <a:r>
                        <a:rPr sz="1300" b="0">
                          <a:solidFill>
                            <a:srgbClr val="D97757"/>
                          </a:solidFill>
                          <a:latin typeface="맑은 고딕"/>
                        </a:rPr>
                        <a:t>★ 토지 등기부가 자주 빠짐</a:t>
                      </a:r>
                    </a:p>
                  </a:txBody>
                  <a:tcPr anchor="ctr" marL="91440" marR="91440">
                    <a:solidFill>
                      <a:srgbClr val="F5F1EB"/>
                    </a:solidFill>
                  </a:tcPr>
                </a:tc>
              </a:tr>
              <a:tr h="406400">
                <a:tc>
                  <a:txBody>
                    <a:bodyPr/>
                    <a:lstStyle/>
                    <a:p>
                      <a:r>
                        <a:rPr sz="1300" b="1">
                          <a:solidFill>
                            <a:srgbClr val="24211D"/>
                          </a:solidFill>
                          <a:latin typeface="맑은 고딕"/>
                        </a:rPr>
                        <a:t>현황조사서</a:t>
                      </a:r>
                    </a:p>
                  </a:txBody>
                  <a:tcPr anchor="ctr" marL="91440" marR="91440">
                    <a:solidFill>
                      <a:srgbClr val="FFFFFF"/>
                    </a:solidFill>
                  </a:tcPr>
                </a:tc>
                <a:tc>
                  <a:txBody>
                    <a:bodyPr/>
                    <a:lstStyle/>
                    <a:p>
                      <a:r>
                        <a:rPr sz="1300" b="0">
                          <a:solidFill>
                            <a:srgbClr val="514B43"/>
                          </a:solidFill>
                          <a:latin typeface="맑은 고딕"/>
                        </a:rPr>
                        <a:t>실제로 누가 살고 있나</a:t>
                      </a:r>
                    </a:p>
                  </a:txBody>
                  <a:tcPr anchor="ctr" marL="91440" marR="91440">
                    <a:solidFill>
                      <a:srgbClr val="FFFFFF"/>
                    </a:solidFill>
                  </a:tcPr>
                </a:tc>
                <a:tc>
                  <a:txBody>
                    <a:bodyPr/>
                    <a:lstStyle/>
                    <a:p>
                      <a:r>
                        <a:rPr sz="1300" b="0">
                          <a:solidFill>
                            <a:srgbClr val="D97757"/>
                          </a:solidFill>
                          <a:latin typeface="맑은 고딕"/>
                        </a:rPr>
                        <a:t>★ 꼭</a:t>
                      </a:r>
                    </a:p>
                  </a:txBody>
                  <a:tcPr anchor="ctr" marL="91440" marR="91440">
                    <a:solidFill>
                      <a:srgbClr val="FFFFFF"/>
                    </a:solidFill>
                  </a:tcPr>
                </a:tc>
              </a:tr>
              <a:tr h="406400">
                <a:tc>
                  <a:txBody>
                    <a:bodyPr/>
                    <a:lstStyle/>
                    <a:p>
                      <a:r>
                        <a:rPr sz="1300" b="1">
                          <a:solidFill>
                            <a:srgbClr val="24211D"/>
                          </a:solidFill>
                          <a:latin typeface="맑은 고딕"/>
                        </a:rPr>
                        <a:t>전입세대열람</a:t>
                      </a:r>
                    </a:p>
                  </a:txBody>
                  <a:tcPr anchor="ctr" marL="91440" marR="91440">
                    <a:solidFill>
                      <a:srgbClr val="F5F1EB"/>
                    </a:solidFill>
                  </a:tcPr>
                </a:tc>
                <a:tc>
                  <a:txBody>
                    <a:bodyPr/>
                    <a:lstStyle/>
                    <a:p>
                      <a:r>
                        <a:rPr sz="1300" b="0">
                          <a:solidFill>
                            <a:srgbClr val="514B43"/>
                          </a:solidFill>
                          <a:latin typeface="맑은 고딕"/>
                        </a:rPr>
                        <a:t>전입일이 근저당보다 빠른가</a:t>
                      </a:r>
                    </a:p>
                  </a:txBody>
                  <a:tcPr anchor="ctr" marL="91440" marR="91440">
                    <a:solidFill>
                      <a:srgbClr val="F5F1EB"/>
                    </a:solidFill>
                  </a:tcPr>
                </a:tc>
                <a:tc>
                  <a:txBody>
                    <a:bodyPr/>
                    <a:lstStyle/>
                    <a:p>
                      <a:r>
                        <a:rPr sz="1300" b="0">
                          <a:solidFill>
                            <a:srgbClr val="D97757"/>
                          </a:solidFill>
                          <a:latin typeface="맑은 고딕"/>
                        </a:rPr>
                        <a:t> </a:t>
                      </a:r>
                    </a:p>
                  </a:txBody>
                  <a:tcPr anchor="ctr" marL="91440" marR="91440">
                    <a:solidFill>
                      <a:srgbClr val="F5F1EB"/>
                    </a:solidFill>
                  </a:tcPr>
                </a:tc>
              </a:tr>
              <a:tr h="406400">
                <a:tc>
                  <a:txBody>
                    <a:bodyPr/>
                    <a:lstStyle/>
                    <a:p>
                      <a:r>
                        <a:rPr sz="1300" b="1">
                          <a:solidFill>
                            <a:srgbClr val="24211D"/>
                          </a:solidFill>
                          <a:latin typeface="맑은 고딕"/>
                        </a:rPr>
                        <a:t>감정평가서</a:t>
                      </a:r>
                    </a:p>
                  </a:txBody>
                  <a:tcPr anchor="ctr" marL="91440" marR="91440">
                    <a:solidFill>
                      <a:srgbClr val="FFFFFF"/>
                    </a:solidFill>
                  </a:tcPr>
                </a:tc>
                <a:tc>
                  <a:txBody>
                    <a:bodyPr/>
                    <a:lstStyle/>
                    <a:p>
                      <a:r>
                        <a:rPr sz="1300" b="0">
                          <a:solidFill>
                            <a:srgbClr val="514B43"/>
                          </a:solidFill>
                          <a:latin typeface="맑은 고딕"/>
                        </a:rPr>
                        <a:t>감정가가 적정한가 · 기준시점이 얼마나 지났나</a:t>
                      </a:r>
                    </a:p>
                  </a:txBody>
                  <a:tcPr anchor="ctr" marL="91440" marR="91440">
                    <a:solidFill>
                      <a:srgbClr val="FFFFFF"/>
                    </a:solidFill>
                  </a:tcPr>
                </a:tc>
                <a:tc>
                  <a:txBody>
                    <a:bodyPr/>
                    <a:lstStyle/>
                    <a:p>
                      <a:r>
                        <a:rPr sz="1300" b="0">
                          <a:solidFill>
                            <a:srgbClr val="D97757"/>
                          </a:solidFill>
                          <a:latin typeface="맑은 고딕"/>
                        </a:rPr>
                        <a:t> </a:t>
                      </a:r>
                    </a:p>
                  </a:txBody>
                  <a:tcPr anchor="ctr" marL="91440" marR="91440">
                    <a:solidFill>
                      <a:srgbClr val="FFFFFF"/>
                    </a:solidFill>
                  </a:tcPr>
                </a:tc>
              </a:tr>
              <a:tr h="406400">
                <a:tc>
                  <a:txBody>
                    <a:bodyPr/>
                    <a:lstStyle/>
                    <a:p>
                      <a:r>
                        <a:rPr sz="1300" b="1">
                          <a:solidFill>
                            <a:srgbClr val="24211D"/>
                          </a:solidFill>
                          <a:latin typeface="맑은 고딕"/>
                        </a:rPr>
                        <a:t>건축물대장</a:t>
                      </a:r>
                    </a:p>
                  </a:txBody>
                  <a:tcPr anchor="ctr" marL="91440" marR="91440">
                    <a:solidFill>
                      <a:srgbClr val="F5F1EB"/>
                    </a:solidFill>
                  </a:tcPr>
                </a:tc>
                <a:tc>
                  <a:txBody>
                    <a:bodyPr/>
                    <a:lstStyle/>
                    <a:p>
                      <a:r>
                        <a:rPr sz="1300" b="0">
                          <a:solidFill>
                            <a:srgbClr val="514B43"/>
                          </a:solidFill>
                          <a:latin typeface="맑은 고딕"/>
                        </a:rPr>
                        <a:t>면적 · 용도 · 위반건축물 여부</a:t>
                      </a:r>
                    </a:p>
                  </a:txBody>
                  <a:tcPr anchor="ctr" marL="91440" marR="91440">
                    <a:solidFill>
                      <a:srgbClr val="F5F1EB"/>
                    </a:solidFill>
                  </a:tcPr>
                </a:tc>
                <a:tc>
                  <a:txBody>
                    <a:bodyPr/>
                    <a:lstStyle/>
                    <a:p>
                      <a:r>
                        <a:rPr sz="1300" b="0">
                          <a:solidFill>
                            <a:srgbClr val="D97757"/>
                          </a:solidFill>
                          <a:latin typeface="맑은 고딕"/>
                        </a:rPr>
                        <a:t> </a:t>
                      </a:r>
                    </a:p>
                  </a:txBody>
                  <a:tcPr anchor="ctr" marL="91440" marR="91440">
                    <a:solidFill>
                      <a:srgbClr val="F5F1EB"/>
                    </a:solidFill>
                  </a:tcPr>
                </a:tc>
              </a:tr>
              <a:tr h="406400">
                <a:tc>
                  <a:txBody>
                    <a:bodyPr/>
                    <a:lstStyle/>
                    <a:p>
                      <a:r>
                        <a:rPr sz="1300" b="1">
                          <a:solidFill>
                            <a:srgbClr val="24211D"/>
                          </a:solidFill>
                          <a:latin typeface="맑은 고딕"/>
                        </a:rPr>
                        <a:t>문건/송달내역</a:t>
                      </a:r>
                    </a:p>
                  </a:txBody>
                  <a:tcPr anchor="ctr" marL="91440" marR="91440">
                    <a:solidFill>
                      <a:srgbClr val="FFFFFF"/>
                    </a:solidFill>
                  </a:tcPr>
                </a:tc>
                <a:tc>
                  <a:txBody>
                    <a:bodyPr/>
                    <a:lstStyle/>
                    <a:p>
                      <a:r>
                        <a:rPr sz="1300" b="0">
                          <a:solidFill>
                            <a:srgbClr val="514B43"/>
                          </a:solidFill>
                          <a:latin typeface="맑은 고딕"/>
                        </a:rPr>
                        <a:t>채무자가 저항하나 · 기일을 누가 세웠나</a:t>
                      </a:r>
                    </a:p>
                  </a:txBody>
                  <a:tcPr anchor="ctr" marL="91440" marR="91440">
                    <a:solidFill>
                      <a:srgbClr val="FFFFFF"/>
                    </a:solidFill>
                  </a:tcPr>
                </a:tc>
                <a:tc>
                  <a:txBody>
                    <a:bodyPr/>
                    <a:lstStyle/>
                    <a:p>
                      <a:r>
                        <a:rPr sz="1300" b="0">
                          <a:solidFill>
                            <a:srgbClr val="D97757"/>
                          </a:solidFill>
                          <a:latin typeface="맑은 고딕"/>
                        </a:rPr>
                        <a:t> </a:t>
                      </a:r>
                    </a:p>
                  </a:txBody>
                  <a:tcPr anchor="ctr" marL="91440" marR="91440">
                    <a:solidFill>
                      <a:srgbClr val="FFFFFF"/>
                    </a:solidFill>
                  </a:tcPr>
                </a:tc>
              </a:tr>
              <a:tr h="406400">
                <a:tc>
                  <a:txBody>
                    <a:bodyPr/>
                    <a:lstStyle/>
                    <a:p>
                      <a:r>
                        <a:rPr sz="1300" b="1">
                          <a:solidFill>
                            <a:srgbClr val="24211D"/>
                          </a:solidFill>
                          <a:latin typeface="맑은 고딕"/>
                        </a:rPr>
                        <a:t>경매정보 출력물</a:t>
                      </a:r>
                    </a:p>
                  </a:txBody>
                  <a:tcPr anchor="ctr" marL="91440" marR="91440">
                    <a:solidFill>
                      <a:srgbClr val="F5F1EB"/>
                    </a:solidFill>
                  </a:tcPr>
                </a:tc>
                <a:tc>
                  <a:txBody>
                    <a:bodyPr/>
                    <a:lstStyle/>
                    <a:p>
                      <a:r>
                        <a:rPr sz="1300" b="0">
                          <a:solidFill>
                            <a:srgbClr val="514B43"/>
                          </a:solidFill>
                          <a:latin typeface="맑은 고딕"/>
                        </a:rPr>
                        <a:t>유찰 회차 · 최저매각가격</a:t>
                      </a:r>
                    </a:p>
                  </a:txBody>
                  <a:tcPr anchor="ctr" marL="91440" marR="91440">
                    <a:solidFill>
                      <a:srgbClr val="F5F1EB"/>
                    </a:solidFill>
                  </a:tcPr>
                </a:tc>
                <a:tc>
                  <a:txBody>
                    <a:bodyPr/>
                    <a:lstStyle/>
                    <a:p>
                      <a:r>
                        <a:rPr sz="1300" b="0">
                          <a:solidFill>
                            <a:srgbClr val="D97757"/>
                          </a:solidFill>
                          <a:latin typeface="맑은 고딕"/>
                        </a:rPr>
                        <a:t> </a:t>
                      </a:r>
                    </a:p>
                  </a:txBody>
                  <a:tcPr anchor="ctr" marL="91440" marR="91440">
                    <a:solidFill>
                      <a:srgbClr val="F5F1EB"/>
                    </a:solidFill>
                  </a:tcPr>
                </a:tc>
              </a:tr>
            </a:tbl>
          </a:graphicData>
        </a:graphic>
      </p:graphicFrame>
      <p:sp>
        <p:nvSpPr>
          <p:cNvPr id="5" name="TextBox 4"/>
          <p:cNvSpPr txBox="1"/>
          <p:nvPr/>
        </p:nvSpPr>
        <p:spPr>
          <a:xfrm>
            <a:off x="6345936" y="6455664"/>
            <a:ext cx="5266944" cy="283464"/>
          </a:xfrm>
          <a:prstGeom prst="rect">
            <a:avLst/>
          </a:prstGeom>
          <a:noFill/>
        </p:spPr>
        <p:txBody>
          <a:bodyPr wrap="square" lIns="0" rIns="0" tIns="0" bIns="0">
            <a:spAutoFit/>
          </a:bodyPr>
          <a:lstStyle/>
          <a:p>
            <a:pPr algn="r">
              <a:spcAft>
                <a:spcPts val="0"/>
              </a:spcAft>
            </a:pPr>
            <a:r>
              <a:rPr sz="1200" b="0">
                <a:solidFill>
                  <a:srgbClr val="A69C90"/>
                </a:solidFill>
                <a:latin typeface="맑은 고딕"/>
              </a:rPr>
              <a:t>SECTION 09 · 경매 물건 분석          65 / 81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777240"/>
          </a:xfrm>
          <a:prstGeom prst="rect">
            <a:avLst/>
          </a:prstGeom>
          <a:noFill/>
        </p:spPr>
        <p:txBody>
          <a:bodyPr wrap="square" lIns="0" rIns="0" tIns="0" bIns="0">
            <a:spAutoFit/>
          </a:bodyPr>
          <a:lstStyle/>
          <a:p>
            <a:pPr>
              <a:spcAft>
                <a:spcPts val="0"/>
              </a:spcAft>
            </a:pPr>
            <a:r>
              <a:rPr sz="3600" b="1">
                <a:solidFill>
                  <a:srgbClr val="24211D"/>
                </a:solidFill>
                <a:latin typeface="맑은 고딕"/>
              </a:rPr>
              <a:t>설치는 세 단계입니다</a:t>
            </a:r>
          </a:p>
        </p:txBody>
      </p:sp>
      <p:sp>
        <p:nvSpPr>
          <p:cNvPr id="3" name="TextBox 2"/>
          <p:cNvSpPr txBox="1"/>
          <p:nvPr/>
        </p:nvSpPr>
        <p:spPr>
          <a:xfrm>
            <a:off x="566928" y="1133856"/>
            <a:ext cx="11064240" cy="384048"/>
          </a:xfrm>
          <a:prstGeom prst="rect">
            <a:avLst/>
          </a:prstGeom>
          <a:noFill/>
        </p:spPr>
        <p:txBody>
          <a:bodyPr wrap="square" lIns="0" rIns="0" tIns="0" bIns="0">
            <a:spAutoFit/>
          </a:bodyPr>
          <a:lstStyle/>
          <a:p>
            <a:pPr>
              <a:spcAft>
                <a:spcPts val="0"/>
              </a:spcAft>
            </a:pPr>
            <a:r>
              <a:rPr sz="1800" b="0">
                <a:solidFill>
                  <a:srgbClr val="514B43"/>
                </a:solidFill>
                <a:latin typeface="맑은 고딕"/>
              </a:rPr>
              <a:t>폴더 만들고, 프로젝트 만들고, 스킬 넣으면 끝입니다</a:t>
            </a:r>
          </a:p>
        </p:txBody>
      </p:sp>
      <p:sp>
        <p:nvSpPr>
          <p:cNvPr id="4" name="Rectangle 3"/>
          <p:cNvSpPr/>
          <p:nvPr/>
        </p:nvSpPr>
        <p:spPr>
          <a:xfrm>
            <a:off x="566928" y="1929384"/>
            <a:ext cx="3575304" cy="34015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 y="2212848"/>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295144"/>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1</a:t>
            </a:r>
          </a:p>
        </p:txBody>
      </p:sp>
      <p:sp>
        <p:nvSpPr>
          <p:cNvPr id="7" name="TextBox 6"/>
          <p:cNvSpPr txBox="1"/>
          <p:nvPr/>
        </p:nvSpPr>
        <p:spPr>
          <a:xfrm>
            <a:off x="850392" y="2816352"/>
            <a:ext cx="3008376" cy="630936"/>
          </a:xfrm>
          <a:prstGeom prst="rect">
            <a:avLst/>
          </a:prstGeom>
          <a:noFill/>
        </p:spPr>
        <p:txBody>
          <a:bodyPr wrap="square" lIns="0" rIns="0" tIns="0" bIns="0">
            <a:spAutoFit/>
          </a:bodyPr>
          <a:lstStyle/>
          <a:p>
            <a:pPr>
              <a:spcAft>
                <a:spcPts val="0"/>
              </a:spcAft>
            </a:pPr>
            <a:r>
              <a:rPr sz="1900" b="1">
                <a:solidFill>
                  <a:srgbClr val="24211D"/>
                </a:solidFill>
                <a:latin typeface="맑은 고딕"/>
              </a:rPr>
              <a:t>폴더 만들기</a:t>
            </a:r>
          </a:p>
        </p:txBody>
      </p:sp>
      <p:sp>
        <p:nvSpPr>
          <p:cNvPr id="8" name="TextBox 7"/>
          <p:cNvSpPr txBox="1"/>
          <p:nvPr/>
        </p:nvSpPr>
        <p:spPr>
          <a:xfrm>
            <a:off x="850392" y="3483863"/>
            <a:ext cx="3008376"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C:\경매\</a:t>
            </a:r>
          </a:p>
        </p:txBody>
      </p:sp>
      <p:sp>
        <p:nvSpPr>
          <p:cNvPr id="9" name="TextBox 8"/>
          <p:cNvSpPr txBox="1"/>
          <p:nvPr/>
        </p:nvSpPr>
        <p:spPr>
          <a:xfrm>
            <a:off x="850392" y="3913631"/>
            <a:ext cx="3008376" cy="1207008"/>
          </a:xfrm>
          <a:prstGeom prst="rect">
            <a:avLst/>
          </a:prstGeom>
          <a:noFill/>
        </p:spPr>
        <p:txBody>
          <a:bodyPr wrap="square" lIns="0" rIns="0" tIns="0" bIns="0">
            <a:spAutoFit/>
          </a:bodyPr>
          <a:lstStyle/>
          <a:p>
            <a:pPr>
              <a:spcAft>
                <a:spcPts val="300"/>
              </a:spcAft>
            </a:pPr>
            <a:r>
              <a:rPr sz="1500" b="0">
                <a:solidFill>
                  <a:srgbClr val="514B43"/>
                </a:solidFill>
                <a:latin typeface="맑은 고딕"/>
              </a:rPr>
              <a:t>물건마다 폴더 하나</a:t>
            </a:r>
          </a:p>
          <a:p>
            <a:pPr>
              <a:spcAft>
                <a:spcPts val="300"/>
              </a:spcAft>
            </a:pPr>
            <a:r>
              <a:rPr sz="1500" b="0">
                <a:solidFill>
                  <a:srgbClr val="514B43"/>
                </a:solidFill>
                <a:latin typeface="맑은 고딕"/>
              </a:rPr>
              <a:t/>
            </a:r>
          </a:p>
          <a:p>
            <a:pPr>
              <a:spcAft>
                <a:spcPts val="300"/>
              </a:spcAft>
            </a:pPr>
            <a:r>
              <a:rPr sz="1500" b="0">
                <a:solidFill>
                  <a:srgbClr val="514B43"/>
                </a:solidFill>
                <a:latin typeface="맑은 고딕"/>
              </a:rPr>
              <a:t>이름은 소재지로</a:t>
            </a:r>
          </a:p>
          <a:p>
            <a:pPr>
              <a:spcAft>
                <a:spcPts val="300"/>
              </a:spcAft>
            </a:pPr>
            <a:r>
              <a:rPr sz="1500" b="0">
                <a:solidFill>
                  <a:srgbClr val="514B43"/>
                </a:solidFill>
                <a:latin typeface="맑은 고딕"/>
              </a:rPr>
              <a:t>예) 평택 고덕동 1990-13</a:t>
            </a:r>
          </a:p>
          <a:p>
            <a:pPr>
              <a:spcAft>
                <a:spcPts val="300"/>
              </a:spcAft>
            </a:pPr>
            <a:r>
              <a:rPr sz="1500" b="0">
                <a:solidFill>
                  <a:srgbClr val="514B43"/>
                </a:solidFill>
                <a:latin typeface="맑은 고딕"/>
              </a:rPr>
              <a:t/>
            </a:r>
          </a:p>
          <a:p>
            <a:pPr>
              <a:spcAft>
                <a:spcPts val="300"/>
              </a:spcAft>
            </a:pPr>
            <a:r>
              <a:rPr sz="1500" b="0">
                <a:solidFill>
                  <a:srgbClr val="514B43"/>
                </a:solidFill>
                <a:latin typeface="맑은 고딕"/>
              </a:rPr>
              <a:t>사건번호로 짓지 않습니다</a:t>
            </a:r>
          </a:p>
        </p:txBody>
      </p:sp>
      <p:sp>
        <p:nvSpPr>
          <p:cNvPr id="10" name="Rectangle 9"/>
          <p:cNvSpPr/>
          <p:nvPr/>
        </p:nvSpPr>
        <p:spPr>
          <a:xfrm>
            <a:off x="4315968" y="1929384"/>
            <a:ext cx="3575304" cy="34015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1" y="2212848"/>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2295144"/>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2</a:t>
            </a:r>
          </a:p>
        </p:txBody>
      </p:sp>
      <p:sp>
        <p:nvSpPr>
          <p:cNvPr id="13" name="TextBox 12"/>
          <p:cNvSpPr txBox="1"/>
          <p:nvPr/>
        </p:nvSpPr>
        <p:spPr>
          <a:xfrm>
            <a:off x="4599431" y="2816352"/>
            <a:ext cx="3008376" cy="630936"/>
          </a:xfrm>
          <a:prstGeom prst="rect">
            <a:avLst/>
          </a:prstGeom>
          <a:noFill/>
        </p:spPr>
        <p:txBody>
          <a:bodyPr wrap="square" lIns="0" rIns="0" tIns="0" bIns="0">
            <a:spAutoFit/>
          </a:bodyPr>
          <a:lstStyle/>
          <a:p>
            <a:pPr>
              <a:spcAft>
                <a:spcPts val="0"/>
              </a:spcAft>
            </a:pPr>
            <a:r>
              <a:rPr sz="1900" b="1">
                <a:solidFill>
                  <a:srgbClr val="24211D"/>
                </a:solidFill>
                <a:latin typeface="맑은 고딕"/>
              </a:rPr>
              <a:t>프로젝트 만들기</a:t>
            </a:r>
          </a:p>
        </p:txBody>
      </p:sp>
      <p:sp>
        <p:nvSpPr>
          <p:cNvPr id="14" name="TextBox 13"/>
          <p:cNvSpPr txBox="1"/>
          <p:nvPr/>
        </p:nvSpPr>
        <p:spPr>
          <a:xfrm>
            <a:off x="4599431" y="3483863"/>
            <a:ext cx="3008376"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프로젝트 &gt; 새 프로젝트</a:t>
            </a:r>
          </a:p>
        </p:txBody>
      </p:sp>
      <p:sp>
        <p:nvSpPr>
          <p:cNvPr id="15" name="TextBox 14"/>
          <p:cNvSpPr txBox="1"/>
          <p:nvPr/>
        </p:nvSpPr>
        <p:spPr>
          <a:xfrm>
            <a:off x="4599431" y="3913631"/>
            <a:ext cx="3008376" cy="1207008"/>
          </a:xfrm>
          <a:prstGeom prst="rect">
            <a:avLst/>
          </a:prstGeom>
          <a:noFill/>
        </p:spPr>
        <p:txBody>
          <a:bodyPr wrap="square" lIns="0" rIns="0" tIns="0" bIns="0">
            <a:spAutoFit/>
          </a:bodyPr>
          <a:lstStyle/>
          <a:p>
            <a:pPr>
              <a:spcAft>
                <a:spcPts val="300"/>
              </a:spcAft>
            </a:pPr>
            <a:r>
              <a:rPr sz="1500" b="0">
                <a:solidFill>
                  <a:srgbClr val="514B43"/>
                </a:solidFill>
                <a:latin typeface="맑은 고딕"/>
              </a:rPr>
              <a:t>이름 : 경매 물건 분석</a:t>
            </a:r>
          </a:p>
          <a:p>
            <a:pPr>
              <a:spcAft>
                <a:spcPts val="300"/>
              </a:spcAft>
            </a:pPr>
            <a:r>
              <a:rPr sz="1500" b="0">
                <a:solidFill>
                  <a:srgbClr val="514B43"/>
                </a:solidFill>
                <a:latin typeface="맑은 고딕"/>
              </a:rPr>
              <a:t/>
            </a:r>
          </a:p>
          <a:p>
            <a:pPr>
              <a:spcAft>
                <a:spcPts val="300"/>
              </a:spcAft>
            </a:pPr>
            <a:r>
              <a:rPr sz="1500" b="0">
                <a:solidFill>
                  <a:srgbClr val="514B43"/>
                </a:solidFill>
                <a:latin typeface="맑은 고딕"/>
              </a:rPr>
              <a:t>「지침 편집」에</a:t>
            </a:r>
          </a:p>
          <a:p>
            <a:pPr>
              <a:spcAft>
                <a:spcPts val="300"/>
              </a:spcAft>
            </a:pPr>
            <a:r>
              <a:rPr sz="1500" b="0">
                <a:solidFill>
                  <a:srgbClr val="514B43"/>
                </a:solidFill>
                <a:latin typeface="맑은 고딕"/>
              </a:rPr>
              <a:t>프로젝트지침.md 붙여넣기</a:t>
            </a:r>
          </a:p>
          <a:p>
            <a:pPr>
              <a:spcAft>
                <a:spcPts val="300"/>
              </a:spcAft>
            </a:pPr>
            <a:r>
              <a:rPr sz="1500" b="0">
                <a:solidFill>
                  <a:srgbClr val="514B43"/>
                </a:solidFill>
                <a:latin typeface="맑은 고딕"/>
              </a:rPr>
              <a:t/>
            </a:r>
          </a:p>
          <a:p>
            <a:pPr>
              <a:spcAft>
                <a:spcPts val="300"/>
              </a:spcAft>
            </a:pPr>
            <a:r>
              <a:rPr sz="1500" b="0">
                <a:solidFill>
                  <a:srgbClr val="514B43"/>
                </a:solidFill>
                <a:latin typeface="맑은 고딕"/>
              </a:rPr>
              <a:t>폴더를 연결합니다</a:t>
            </a:r>
          </a:p>
        </p:txBody>
      </p:sp>
      <p:sp>
        <p:nvSpPr>
          <p:cNvPr id="16" name="Rectangle 15"/>
          <p:cNvSpPr/>
          <p:nvPr/>
        </p:nvSpPr>
        <p:spPr>
          <a:xfrm>
            <a:off x="8055864" y="1929384"/>
            <a:ext cx="3575304" cy="34015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39328" y="2212848"/>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2295144"/>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3</a:t>
            </a:r>
          </a:p>
        </p:txBody>
      </p:sp>
      <p:sp>
        <p:nvSpPr>
          <p:cNvPr id="19" name="TextBox 18"/>
          <p:cNvSpPr txBox="1"/>
          <p:nvPr/>
        </p:nvSpPr>
        <p:spPr>
          <a:xfrm>
            <a:off x="8339328" y="2816352"/>
            <a:ext cx="3008376" cy="630936"/>
          </a:xfrm>
          <a:prstGeom prst="rect">
            <a:avLst/>
          </a:prstGeom>
          <a:noFill/>
        </p:spPr>
        <p:txBody>
          <a:bodyPr wrap="square" lIns="0" rIns="0" tIns="0" bIns="0">
            <a:spAutoFit/>
          </a:bodyPr>
          <a:lstStyle/>
          <a:p>
            <a:pPr>
              <a:spcAft>
                <a:spcPts val="0"/>
              </a:spcAft>
            </a:pPr>
            <a:r>
              <a:rPr sz="1900" b="1">
                <a:solidFill>
                  <a:srgbClr val="24211D"/>
                </a:solidFill>
                <a:latin typeface="맑은 고딕"/>
              </a:rPr>
              <a:t>스킬 넣기</a:t>
            </a:r>
          </a:p>
        </p:txBody>
      </p:sp>
      <p:sp>
        <p:nvSpPr>
          <p:cNvPr id="20" name="TextBox 19"/>
          <p:cNvSpPr txBox="1"/>
          <p:nvPr/>
        </p:nvSpPr>
        <p:spPr>
          <a:xfrm>
            <a:off x="8339328" y="3483863"/>
            <a:ext cx="3008376"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.skill 파일 6개</a:t>
            </a:r>
          </a:p>
        </p:txBody>
      </p:sp>
      <p:sp>
        <p:nvSpPr>
          <p:cNvPr id="21" name="TextBox 20"/>
          <p:cNvSpPr txBox="1"/>
          <p:nvPr/>
        </p:nvSpPr>
        <p:spPr>
          <a:xfrm>
            <a:off x="8339328" y="3913631"/>
            <a:ext cx="3008376" cy="1207008"/>
          </a:xfrm>
          <a:prstGeom prst="rect">
            <a:avLst/>
          </a:prstGeom>
          <a:noFill/>
        </p:spPr>
        <p:txBody>
          <a:bodyPr wrap="square" lIns="0" rIns="0" tIns="0" bIns="0">
            <a:spAutoFit/>
          </a:bodyPr>
          <a:lstStyle/>
          <a:p>
            <a:pPr>
              <a:spcAft>
                <a:spcPts val="300"/>
              </a:spcAft>
            </a:pPr>
            <a:r>
              <a:rPr sz="1500" b="0">
                <a:solidFill>
                  <a:srgbClr val="514B43"/>
                </a:solidFill>
                <a:latin typeface="맑은 고딕"/>
              </a:rPr>
              <a:t>채팅창에 끌어다 놓고</a:t>
            </a:r>
          </a:p>
          <a:p>
            <a:pPr>
              <a:spcAft>
                <a:spcPts val="300"/>
              </a:spcAft>
            </a:pPr>
            <a:r>
              <a:rPr sz="1500" b="0">
                <a:solidFill>
                  <a:srgbClr val="514B43"/>
                </a:solidFill>
                <a:latin typeface="맑은 고딕"/>
              </a:rPr>
              <a:t>저장 버튼</a:t>
            </a:r>
          </a:p>
          <a:p>
            <a:pPr>
              <a:spcAft>
                <a:spcPts val="300"/>
              </a:spcAft>
            </a:pPr>
            <a:r>
              <a:rPr sz="1500" b="0">
                <a:solidFill>
                  <a:srgbClr val="514B43"/>
                </a:solidFill>
                <a:latin typeface="맑은 고딕"/>
              </a:rPr>
              <a:t/>
            </a:r>
          </a:p>
          <a:p>
            <a:pPr>
              <a:spcAft>
                <a:spcPts val="300"/>
              </a:spcAft>
            </a:pPr>
            <a:r>
              <a:rPr sz="1500" b="0">
                <a:solidFill>
                  <a:srgbClr val="514B43"/>
                </a:solidFill>
                <a:latin typeface="맑은 고딕"/>
              </a:rPr>
              <a:t>auction-property-card</a:t>
            </a:r>
          </a:p>
          <a:p>
            <a:pPr>
              <a:spcAft>
                <a:spcPts val="300"/>
              </a:spcAft>
            </a:pPr>
            <a:r>
              <a:rPr sz="1500" b="0">
                <a:solidFill>
                  <a:srgbClr val="514B43"/>
                </a:solidFill>
                <a:latin typeface="맑은 고딕"/>
              </a:rPr>
              <a:t>하나만 넣어도 됩니다</a:t>
            </a:r>
          </a:p>
        </p:txBody>
      </p:sp>
      <p:sp>
        <p:nvSpPr>
          <p:cNvPr id="22" name="Rectangle 21"/>
          <p:cNvSpPr/>
          <p:nvPr/>
        </p:nvSpPr>
        <p:spPr>
          <a:xfrm>
            <a:off x="566928" y="5586984"/>
            <a:ext cx="11064240" cy="530352"/>
          </a:xfrm>
          <a:prstGeom prst="rect">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5724144"/>
            <a:ext cx="10479024" cy="301752"/>
          </a:xfrm>
          <a:prstGeom prst="rect">
            <a:avLst/>
          </a:prstGeom>
          <a:noFill/>
        </p:spPr>
        <p:txBody>
          <a:bodyPr wrap="square" lIns="0" rIns="0" tIns="0" bIns="0">
            <a:spAutoFit/>
          </a:bodyPr>
          <a:lstStyle/>
          <a:p>
            <a:pPr>
              <a:spcAft>
                <a:spcPts val="0"/>
              </a:spcAft>
            </a:pPr>
            <a:r>
              <a:rPr sz="1500" b="0">
                <a:solidFill>
                  <a:srgbClr val="F6F1EA"/>
                </a:solidFill>
                <a:latin typeface="맑은 고딕"/>
              </a:rPr>
              <a:t>파일은 GitHub  →  claude-guide-kr  →  경매물건분석  폴더에 다 있습니다.</a:t>
            </a:r>
          </a:p>
        </p:txBody>
      </p:sp>
      <p:sp>
        <p:nvSpPr>
          <p:cNvPr id="24" name="TextBox 23"/>
          <p:cNvSpPr txBox="1"/>
          <p:nvPr/>
        </p:nvSpPr>
        <p:spPr>
          <a:xfrm>
            <a:off x="6345936" y="6455664"/>
            <a:ext cx="5266944" cy="283464"/>
          </a:xfrm>
          <a:prstGeom prst="rect">
            <a:avLst/>
          </a:prstGeom>
          <a:noFill/>
        </p:spPr>
        <p:txBody>
          <a:bodyPr wrap="square" lIns="0" rIns="0" tIns="0" bIns="0">
            <a:spAutoFit/>
          </a:bodyPr>
          <a:lstStyle/>
          <a:p>
            <a:pPr algn="r">
              <a:spcAft>
                <a:spcPts val="0"/>
              </a:spcAft>
            </a:pPr>
            <a:r>
              <a:rPr sz="1200" b="0">
                <a:solidFill>
                  <a:srgbClr val="A69C90"/>
                </a:solidFill>
                <a:latin typeface="맑은 고딕"/>
              </a:rPr>
              <a:t>SECTION 09 · 경매 물건 분석          66 / 81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777240"/>
          </a:xfrm>
          <a:prstGeom prst="rect">
            <a:avLst/>
          </a:prstGeom>
          <a:noFill/>
        </p:spPr>
        <p:txBody>
          <a:bodyPr wrap="square" lIns="0" rIns="0" tIns="0" bIns="0">
            <a:spAutoFit/>
          </a:bodyPr>
          <a:lstStyle/>
          <a:p>
            <a:pPr>
              <a:spcAft>
                <a:spcPts val="0"/>
              </a:spcAft>
            </a:pPr>
            <a:r>
              <a:rPr sz="3600" b="1">
                <a:solidFill>
                  <a:srgbClr val="24211D"/>
                </a:solidFill>
                <a:latin typeface="맑은 고딕"/>
              </a:rPr>
              <a:t>MCP 네 개를 붙입니다</a:t>
            </a:r>
          </a:p>
        </p:txBody>
      </p:sp>
      <p:sp>
        <p:nvSpPr>
          <p:cNvPr id="3" name="TextBox 2"/>
          <p:cNvSpPr txBox="1"/>
          <p:nvPr/>
        </p:nvSpPr>
        <p:spPr>
          <a:xfrm>
            <a:off x="566928" y="1133856"/>
            <a:ext cx="11064240" cy="384048"/>
          </a:xfrm>
          <a:prstGeom prst="rect">
            <a:avLst/>
          </a:prstGeom>
          <a:noFill/>
        </p:spPr>
        <p:txBody>
          <a:bodyPr wrap="square" lIns="0" rIns="0" tIns="0" bIns="0">
            <a:spAutoFit/>
          </a:bodyPr>
          <a:lstStyle/>
          <a:p>
            <a:pPr>
              <a:spcAft>
                <a:spcPts val="0"/>
              </a:spcAft>
            </a:pPr>
            <a:r>
              <a:rPr sz="1800" b="0">
                <a:solidFill>
                  <a:srgbClr val="514B43"/>
                </a:solidFill>
                <a:latin typeface="맑은 고딕"/>
              </a:rPr>
              <a:t>기본 config에 이미 들어 있습니다. 키와 폴더만 준비하면 됩니다</a:t>
            </a:r>
          </a:p>
        </p:txBody>
      </p:sp>
      <p:sp>
        <p:nvSpPr>
          <p:cNvPr id="4" name="Rectangle 3"/>
          <p:cNvSpPr/>
          <p:nvPr/>
        </p:nvSpPr>
        <p:spPr>
          <a:xfrm>
            <a:off x="566928" y="1929384"/>
            <a:ext cx="2642616" cy="34015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 y="2212848"/>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295144"/>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1</a:t>
            </a:r>
          </a:p>
        </p:txBody>
      </p:sp>
      <p:sp>
        <p:nvSpPr>
          <p:cNvPr id="7" name="TextBox 6"/>
          <p:cNvSpPr txBox="1"/>
          <p:nvPr/>
        </p:nvSpPr>
        <p:spPr>
          <a:xfrm>
            <a:off x="850392" y="2816352"/>
            <a:ext cx="2075688" cy="630936"/>
          </a:xfrm>
          <a:prstGeom prst="rect">
            <a:avLst/>
          </a:prstGeom>
          <a:noFill/>
        </p:spPr>
        <p:txBody>
          <a:bodyPr wrap="square" lIns="0" rIns="0" tIns="0" bIns="0">
            <a:spAutoFit/>
          </a:bodyPr>
          <a:lstStyle/>
          <a:p>
            <a:pPr>
              <a:spcAft>
                <a:spcPts val="0"/>
              </a:spcAft>
            </a:pPr>
            <a:r>
              <a:rPr sz="1700" b="1">
                <a:solidFill>
                  <a:srgbClr val="24211D"/>
                </a:solidFill>
                <a:latin typeface="맑은 고딕"/>
              </a:rPr>
              <a:t>korean-law</a:t>
            </a:r>
          </a:p>
        </p:txBody>
      </p:sp>
      <p:sp>
        <p:nvSpPr>
          <p:cNvPr id="8" name="TextBox 7"/>
          <p:cNvSpPr txBox="1"/>
          <p:nvPr/>
        </p:nvSpPr>
        <p:spPr>
          <a:xfrm>
            <a:off x="850392" y="3483863"/>
            <a:ext cx="2075688"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법령 · 판례</a:t>
            </a:r>
          </a:p>
        </p:txBody>
      </p:sp>
      <p:sp>
        <p:nvSpPr>
          <p:cNvPr id="9" name="TextBox 8"/>
          <p:cNvSpPr txBox="1"/>
          <p:nvPr/>
        </p:nvSpPr>
        <p:spPr>
          <a:xfrm>
            <a:off x="850392" y="3913631"/>
            <a:ext cx="2075688" cy="1207008"/>
          </a:xfrm>
          <a:prstGeom prst="rect">
            <a:avLst/>
          </a:prstGeom>
          <a:noFill/>
        </p:spPr>
        <p:txBody>
          <a:bodyPr wrap="square" lIns="0" rIns="0" tIns="0" bIns="0">
            <a:spAutoFit/>
          </a:bodyPr>
          <a:lstStyle/>
          <a:p>
            <a:pPr>
              <a:spcAft>
                <a:spcPts val="300"/>
              </a:spcAft>
            </a:pPr>
            <a:r>
              <a:rPr sz="1400" b="0">
                <a:solidFill>
                  <a:srgbClr val="514B43"/>
                </a:solidFill>
                <a:latin typeface="맑은 고딕"/>
              </a:rPr>
              <a:t>세율을 조문에서</a:t>
            </a:r>
          </a:p>
          <a:p>
            <a:pPr>
              <a:spcAft>
                <a:spcPts val="300"/>
              </a:spcAft>
            </a:pPr>
            <a:r>
              <a:rPr sz="1400" b="0">
                <a:solidFill>
                  <a:srgbClr val="514B43"/>
                </a:solidFill>
                <a:latin typeface="맑은 고딕"/>
              </a:rPr>
              <a:t>직접 읽습니다</a:t>
            </a:r>
          </a:p>
          <a:p>
            <a:pPr>
              <a:spcAft>
                <a:spcPts val="300"/>
              </a:spcAft>
            </a:pPr>
            <a:r>
              <a:rPr sz="1400" b="0">
                <a:solidFill>
                  <a:srgbClr val="514B43"/>
                </a:solidFill>
                <a:latin typeface="맑은 고딕"/>
              </a:rPr>
              <a:t/>
            </a:r>
          </a:p>
          <a:p>
            <a:pPr>
              <a:spcAft>
                <a:spcPts val="300"/>
              </a:spcAft>
            </a:pPr>
            <a:r>
              <a:rPr sz="1400" b="0">
                <a:solidFill>
                  <a:srgbClr val="514B43"/>
                </a:solidFill>
                <a:latin typeface="맑은 고딕"/>
              </a:rPr>
              <a:t>폴더가 필요 없습니다</a:t>
            </a:r>
          </a:p>
          <a:p>
            <a:pPr>
              <a:spcAft>
                <a:spcPts val="300"/>
              </a:spcAft>
            </a:pPr>
            <a:r>
              <a:rPr sz="1400" b="0">
                <a:solidFill>
                  <a:srgbClr val="514B43"/>
                </a:solidFill>
                <a:latin typeface="맑은 고딕"/>
              </a:rPr>
              <a:t>npx 가 알아서 받습니다</a:t>
            </a:r>
          </a:p>
        </p:txBody>
      </p:sp>
      <p:sp>
        <p:nvSpPr>
          <p:cNvPr id="10" name="Rectangle 9"/>
          <p:cNvSpPr/>
          <p:nvPr/>
        </p:nvSpPr>
        <p:spPr>
          <a:xfrm>
            <a:off x="3374136" y="1929384"/>
            <a:ext cx="2642616" cy="34015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0" y="2212848"/>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2295144"/>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2</a:t>
            </a:r>
          </a:p>
        </p:txBody>
      </p:sp>
      <p:sp>
        <p:nvSpPr>
          <p:cNvPr id="13" name="TextBox 12"/>
          <p:cNvSpPr txBox="1"/>
          <p:nvPr/>
        </p:nvSpPr>
        <p:spPr>
          <a:xfrm>
            <a:off x="3657600" y="2816352"/>
            <a:ext cx="2075688" cy="630936"/>
          </a:xfrm>
          <a:prstGeom prst="rect">
            <a:avLst/>
          </a:prstGeom>
          <a:noFill/>
        </p:spPr>
        <p:txBody>
          <a:bodyPr wrap="square" lIns="0" rIns="0" tIns="0" bIns="0">
            <a:spAutoFit/>
          </a:bodyPr>
          <a:lstStyle/>
          <a:p>
            <a:pPr>
              <a:spcAft>
                <a:spcPts val="0"/>
              </a:spcAft>
            </a:pPr>
            <a:r>
              <a:rPr sz="1700" b="1">
                <a:solidFill>
                  <a:srgbClr val="24211D"/>
                </a:solidFill>
                <a:latin typeface="맑은 고딕"/>
              </a:rPr>
              <a:t>real-estate</a:t>
            </a:r>
          </a:p>
        </p:txBody>
      </p:sp>
      <p:sp>
        <p:nvSpPr>
          <p:cNvPr id="14" name="TextBox 13"/>
          <p:cNvSpPr txBox="1"/>
          <p:nvPr/>
        </p:nvSpPr>
        <p:spPr>
          <a:xfrm>
            <a:off x="3657600" y="3483863"/>
            <a:ext cx="2075688"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국토부 실거래가</a:t>
            </a:r>
          </a:p>
        </p:txBody>
      </p:sp>
      <p:sp>
        <p:nvSpPr>
          <p:cNvPr id="15" name="TextBox 14"/>
          <p:cNvSpPr txBox="1"/>
          <p:nvPr/>
        </p:nvSpPr>
        <p:spPr>
          <a:xfrm>
            <a:off x="3657600" y="3913631"/>
            <a:ext cx="2075688" cy="1207008"/>
          </a:xfrm>
          <a:prstGeom prst="rect">
            <a:avLst/>
          </a:prstGeom>
          <a:noFill/>
        </p:spPr>
        <p:txBody>
          <a:bodyPr wrap="square" lIns="0" rIns="0" tIns="0" bIns="0">
            <a:spAutoFit/>
          </a:bodyPr>
          <a:lstStyle/>
          <a:p>
            <a:pPr>
              <a:spcAft>
                <a:spcPts val="300"/>
              </a:spcAft>
            </a:pPr>
            <a:r>
              <a:rPr sz="1400" b="0">
                <a:solidFill>
                  <a:srgbClr val="514B43"/>
                </a:solidFill>
                <a:latin typeface="맑은 고딕"/>
              </a:rPr>
              <a:t>매매 · 전월세</a:t>
            </a:r>
          </a:p>
          <a:p>
            <a:pPr>
              <a:spcAft>
                <a:spcPts val="300"/>
              </a:spcAft>
            </a:pPr>
            <a:r>
              <a:rPr sz="1400" b="0">
                <a:solidFill>
                  <a:srgbClr val="514B43"/>
                </a:solidFill>
                <a:latin typeface="맑은 고딕"/>
              </a:rPr>
              <a:t>시세 대조의 근거</a:t>
            </a:r>
          </a:p>
          <a:p>
            <a:pPr>
              <a:spcAft>
                <a:spcPts val="300"/>
              </a:spcAft>
            </a:pPr>
            <a:r>
              <a:rPr sz="1400" b="0">
                <a:solidFill>
                  <a:srgbClr val="514B43"/>
                </a:solidFill>
                <a:latin typeface="맑은 고딕"/>
              </a:rPr>
              <a:t/>
            </a:r>
          </a:p>
          <a:p>
            <a:pPr>
              <a:spcAft>
                <a:spcPts val="300"/>
              </a:spcAft>
            </a:pPr>
            <a:r>
              <a:rPr sz="1400" b="0">
                <a:solidFill>
                  <a:srgbClr val="514B43"/>
                </a:solidFill>
                <a:latin typeface="맑은 고딕"/>
              </a:rPr>
              <a:t>GitHub 에서 ZIP</a:t>
            </a:r>
          </a:p>
          <a:p>
            <a:pPr>
              <a:spcAft>
                <a:spcPts val="300"/>
              </a:spcAft>
            </a:pPr>
            <a:r>
              <a:rPr sz="1400" b="0">
                <a:solidFill>
                  <a:srgbClr val="514B43"/>
                </a:solidFill>
                <a:latin typeface="맑은 고딕"/>
              </a:rPr>
              <a:t>tae0y/real-estate-mcp</a:t>
            </a:r>
          </a:p>
        </p:txBody>
      </p:sp>
      <p:sp>
        <p:nvSpPr>
          <p:cNvPr id="16" name="Rectangle 15"/>
          <p:cNvSpPr/>
          <p:nvPr/>
        </p:nvSpPr>
        <p:spPr>
          <a:xfrm>
            <a:off x="6181344" y="1929384"/>
            <a:ext cx="2642616" cy="34015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64807" y="2212848"/>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7" y="2295144"/>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3</a:t>
            </a:r>
          </a:p>
        </p:txBody>
      </p:sp>
      <p:sp>
        <p:nvSpPr>
          <p:cNvPr id="19" name="TextBox 18"/>
          <p:cNvSpPr txBox="1"/>
          <p:nvPr/>
        </p:nvSpPr>
        <p:spPr>
          <a:xfrm>
            <a:off x="6464807" y="2816352"/>
            <a:ext cx="2075688" cy="630936"/>
          </a:xfrm>
          <a:prstGeom prst="rect">
            <a:avLst/>
          </a:prstGeom>
          <a:noFill/>
        </p:spPr>
        <p:txBody>
          <a:bodyPr wrap="square" lIns="0" rIns="0" tIns="0" bIns="0">
            <a:spAutoFit/>
          </a:bodyPr>
          <a:lstStyle/>
          <a:p>
            <a:pPr>
              <a:spcAft>
                <a:spcPts val="0"/>
              </a:spcAft>
            </a:pPr>
            <a:r>
              <a:rPr sz="1700" b="1">
                <a:solidFill>
                  <a:srgbClr val="24211D"/>
                </a:solidFill>
                <a:latin typeface="맑은 고딕"/>
              </a:rPr>
              <a:t>datagokr</a:t>
            </a:r>
          </a:p>
        </p:txBody>
      </p:sp>
      <p:sp>
        <p:nvSpPr>
          <p:cNvPr id="20" name="TextBox 19"/>
          <p:cNvSpPr txBox="1"/>
          <p:nvPr/>
        </p:nvSpPr>
        <p:spPr>
          <a:xfrm>
            <a:off x="6464807" y="3483863"/>
            <a:ext cx="2075688"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건축물대장 · 상권</a:t>
            </a:r>
          </a:p>
        </p:txBody>
      </p:sp>
      <p:sp>
        <p:nvSpPr>
          <p:cNvPr id="21" name="TextBox 20"/>
          <p:cNvSpPr txBox="1"/>
          <p:nvPr/>
        </p:nvSpPr>
        <p:spPr>
          <a:xfrm>
            <a:off x="6464807" y="3913631"/>
            <a:ext cx="2075688" cy="1207008"/>
          </a:xfrm>
          <a:prstGeom prst="rect">
            <a:avLst/>
          </a:prstGeom>
          <a:noFill/>
        </p:spPr>
        <p:txBody>
          <a:bodyPr wrap="square" lIns="0" rIns="0" tIns="0" bIns="0">
            <a:spAutoFit/>
          </a:bodyPr>
          <a:lstStyle/>
          <a:p>
            <a:pPr>
              <a:spcAft>
                <a:spcPts val="300"/>
              </a:spcAft>
            </a:pPr>
            <a:r>
              <a:rPr sz="1400" b="0">
                <a:solidFill>
                  <a:srgbClr val="514B43"/>
                </a:solidFill>
                <a:latin typeface="맑은 고딕"/>
              </a:rPr>
              <a:t>대장 · 상권 · 공매</a:t>
            </a:r>
          </a:p>
          <a:p>
            <a:pPr>
              <a:spcAft>
                <a:spcPts val="300"/>
              </a:spcAft>
            </a:pPr>
            <a:r>
              <a:rPr sz="1400" b="0">
                <a:solidFill>
                  <a:srgbClr val="514B43"/>
                </a:solidFill>
                <a:latin typeface="맑은 고딕"/>
              </a:rPr>
              <a:t>실거래가 보조</a:t>
            </a:r>
          </a:p>
          <a:p>
            <a:pPr>
              <a:spcAft>
                <a:spcPts val="300"/>
              </a:spcAft>
            </a:pPr>
            <a:r>
              <a:rPr sz="1400" b="0">
                <a:solidFill>
                  <a:srgbClr val="514B43"/>
                </a:solidFill>
                <a:latin typeface="맑은 고딕"/>
              </a:rPr>
              <a:t/>
            </a:r>
          </a:p>
          <a:p>
            <a:pPr>
              <a:spcAft>
                <a:spcPts val="300"/>
              </a:spcAft>
            </a:pPr>
            <a:r>
              <a:rPr sz="1400" b="0">
                <a:solidFill>
                  <a:srgbClr val="514B43"/>
                </a:solidFill>
                <a:latin typeface="맑은 고딕"/>
              </a:rPr>
              <a:t>설치가 가장 까다롭습니다</a:t>
            </a:r>
          </a:p>
          <a:p>
            <a:pPr>
              <a:spcAft>
                <a:spcPts val="300"/>
              </a:spcAft>
            </a:pPr>
            <a:r>
              <a:rPr sz="1400" b="0">
                <a:solidFill>
                  <a:srgbClr val="514B43"/>
                </a:solidFill>
                <a:latin typeface="맑은 고딕"/>
              </a:rPr>
              <a:t>수업 때 같이 합니다</a:t>
            </a:r>
          </a:p>
        </p:txBody>
      </p:sp>
      <p:sp>
        <p:nvSpPr>
          <p:cNvPr id="22" name="Rectangle 21"/>
          <p:cNvSpPr/>
          <p:nvPr/>
        </p:nvSpPr>
        <p:spPr>
          <a:xfrm>
            <a:off x="8988552" y="1929384"/>
            <a:ext cx="2642616" cy="3401568"/>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72016" y="2212848"/>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72016" y="2295144"/>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4</a:t>
            </a:r>
          </a:p>
        </p:txBody>
      </p:sp>
      <p:sp>
        <p:nvSpPr>
          <p:cNvPr id="25" name="TextBox 24"/>
          <p:cNvSpPr txBox="1"/>
          <p:nvPr/>
        </p:nvSpPr>
        <p:spPr>
          <a:xfrm>
            <a:off x="9272016" y="2816352"/>
            <a:ext cx="2075688" cy="630936"/>
          </a:xfrm>
          <a:prstGeom prst="rect">
            <a:avLst/>
          </a:prstGeom>
          <a:noFill/>
        </p:spPr>
        <p:txBody>
          <a:bodyPr wrap="square" lIns="0" rIns="0" tIns="0" bIns="0">
            <a:spAutoFit/>
          </a:bodyPr>
          <a:lstStyle/>
          <a:p>
            <a:pPr>
              <a:spcAft>
                <a:spcPts val="0"/>
              </a:spcAft>
            </a:pPr>
            <a:r>
              <a:rPr sz="1700" b="1">
                <a:solidFill>
                  <a:srgbClr val="24211D"/>
                </a:solidFill>
                <a:latin typeface="맑은 고딕"/>
              </a:rPr>
              <a:t>vworld-landuse</a:t>
            </a:r>
          </a:p>
        </p:txBody>
      </p:sp>
      <p:sp>
        <p:nvSpPr>
          <p:cNvPr id="26" name="TextBox 25"/>
          <p:cNvSpPr txBox="1"/>
          <p:nvPr/>
        </p:nvSpPr>
        <p:spPr>
          <a:xfrm>
            <a:off x="9272016" y="3483863"/>
            <a:ext cx="2075688"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공시지가 · 용도지역</a:t>
            </a:r>
          </a:p>
        </p:txBody>
      </p:sp>
      <p:sp>
        <p:nvSpPr>
          <p:cNvPr id="27" name="TextBox 26"/>
          <p:cNvSpPr txBox="1"/>
          <p:nvPr/>
        </p:nvSpPr>
        <p:spPr>
          <a:xfrm>
            <a:off x="9272016" y="3913631"/>
            <a:ext cx="2075688" cy="1207008"/>
          </a:xfrm>
          <a:prstGeom prst="rect">
            <a:avLst/>
          </a:prstGeom>
          <a:noFill/>
        </p:spPr>
        <p:txBody>
          <a:bodyPr wrap="square" lIns="0" rIns="0" tIns="0" bIns="0">
            <a:spAutoFit/>
          </a:bodyPr>
          <a:lstStyle/>
          <a:p>
            <a:pPr>
              <a:spcAft>
                <a:spcPts val="300"/>
              </a:spcAft>
            </a:pPr>
            <a:r>
              <a:rPr sz="1400" b="0">
                <a:solidFill>
                  <a:srgbClr val="514B43"/>
                </a:solidFill>
                <a:latin typeface="맑은 고딕"/>
              </a:rPr>
              <a:t>개별공시지가</a:t>
            </a:r>
          </a:p>
          <a:p>
            <a:pPr>
              <a:spcAft>
                <a:spcPts val="300"/>
              </a:spcAft>
            </a:pPr>
            <a:r>
              <a:rPr sz="1400" b="0">
                <a:solidFill>
                  <a:srgbClr val="514B43"/>
                </a:solidFill>
                <a:latin typeface="맑은 고딕"/>
              </a:rPr>
              <a:t>토지이용계획</a:t>
            </a:r>
          </a:p>
          <a:p>
            <a:pPr>
              <a:spcAft>
                <a:spcPts val="300"/>
              </a:spcAft>
            </a:pPr>
            <a:r>
              <a:rPr sz="1400" b="0">
                <a:solidFill>
                  <a:srgbClr val="514B43"/>
                </a:solidFill>
                <a:latin typeface="맑은 고딕"/>
              </a:rPr>
              <a:t/>
            </a:r>
          </a:p>
          <a:p>
            <a:pPr>
              <a:spcAft>
                <a:spcPts val="300"/>
              </a:spcAft>
            </a:pPr>
            <a:r>
              <a:rPr sz="1400" b="0">
                <a:solidFill>
                  <a:srgbClr val="514B43"/>
                </a:solidFill>
                <a:latin typeface="맑은 고딕"/>
              </a:rPr>
              <a:t>이 저장소에 들어</a:t>
            </a:r>
          </a:p>
          <a:p>
            <a:pPr>
              <a:spcAft>
                <a:spcPts val="300"/>
              </a:spcAft>
            </a:pPr>
            <a:r>
              <a:rPr sz="1400" b="0">
                <a:solidFill>
                  <a:srgbClr val="514B43"/>
                </a:solidFill>
                <a:latin typeface="맑은 고딕"/>
              </a:rPr>
              <a:t>있습니다</a:t>
            </a:r>
          </a:p>
        </p:txBody>
      </p:sp>
      <p:sp>
        <p:nvSpPr>
          <p:cNvPr id="28" name="Rectangle 27"/>
          <p:cNvSpPr/>
          <p:nvPr/>
        </p:nvSpPr>
        <p:spPr>
          <a:xfrm>
            <a:off x="566928" y="5586984"/>
            <a:ext cx="11064240" cy="530352"/>
          </a:xfrm>
          <a:prstGeom prst="rect">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 y="5724144"/>
            <a:ext cx="10479024" cy="301752"/>
          </a:xfrm>
          <a:prstGeom prst="rect">
            <a:avLst/>
          </a:prstGeom>
          <a:noFill/>
        </p:spPr>
        <p:txBody>
          <a:bodyPr wrap="square" lIns="0" rIns="0" tIns="0" bIns="0">
            <a:spAutoFit/>
          </a:bodyPr>
          <a:lstStyle/>
          <a:p>
            <a:pPr>
              <a:spcAft>
                <a:spcPts val="0"/>
              </a:spcAft>
            </a:pPr>
            <a:r>
              <a:rPr sz="1500" b="0">
                <a:solidFill>
                  <a:srgbClr val="F6F1EA"/>
                </a:solidFill>
                <a:latin typeface="맑은 고딕"/>
              </a:rPr>
              <a:t>폴더가 필요한 셋은 전부  C:\mcp\  아래에.   인증키는 네 가지입니다 — 다음 장에서 정리합니다.</a:t>
            </a:r>
          </a:p>
        </p:txBody>
      </p:sp>
      <p:sp>
        <p:nvSpPr>
          <p:cNvPr id="30" name="TextBox 29"/>
          <p:cNvSpPr txBox="1"/>
          <p:nvPr/>
        </p:nvSpPr>
        <p:spPr>
          <a:xfrm>
            <a:off x="6345936" y="6455664"/>
            <a:ext cx="5266944" cy="283464"/>
          </a:xfrm>
          <a:prstGeom prst="rect">
            <a:avLst/>
          </a:prstGeom>
          <a:noFill/>
        </p:spPr>
        <p:txBody>
          <a:bodyPr wrap="square" lIns="0" rIns="0" tIns="0" bIns="0">
            <a:spAutoFit/>
          </a:bodyPr>
          <a:lstStyle/>
          <a:p>
            <a:pPr algn="r">
              <a:spcAft>
                <a:spcPts val="0"/>
              </a:spcAft>
            </a:pPr>
            <a:r>
              <a:rPr sz="1200" b="0">
                <a:solidFill>
                  <a:srgbClr val="A69C90"/>
                </a:solidFill>
                <a:latin typeface="맑은 고딕"/>
              </a:rPr>
              <a:t>SECTION 09 · 경매 물건 분석          67 / 81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777240"/>
          </a:xfrm>
          <a:prstGeom prst="rect">
            <a:avLst/>
          </a:prstGeom>
          <a:noFill/>
        </p:spPr>
        <p:txBody>
          <a:bodyPr wrap="square" lIns="0" rIns="0" tIns="0" bIns="0">
            <a:spAutoFit/>
          </a:bodyPr>
          <a:lstStyle/>
          <a:p>
            <a:pPr>
              <a:spcAft>
                <a:spcPts val="0"/>
              </a:spcAft>
            </a:pPr>
            <a:r>
              <a:rPr sz="3600" b="1">
                <a:solidFill>
                  <a:srgbClr val="24211D"/>
                </a:solidFill>
                <a:latin typeface="맑은 고딕"/>
              </a:rPr>
              <a:t>두 개만 붙여도 절반은 됩니다</a:t>
            </a:r>
          </a:p>
        </p:txBody>
      </p:sp>
      <p:sp>
        <p:nvSpPr>
          <p:cNvPr id="3" name="TextBox 2"/>
          <p:cNvSpPr txBox="1"/>
          <p:nvPr/>
        </p:nvSpPr>
        <p:spPr>
          <a:xfrm>
            <a:off x="566928" y="1133856"/>
            <a:ext cx="11064240" cy="384048"/>
          </a:xfrm>
          <a:prstGeom prst="rect">
            <a:avLst/>
          </a:prstGeom>
          <a:noFill/>
        </p:spPr>
        <p:txBody>
          <a:bodyPr wrap="square" lIns="0" rIns="0" tIns="0" bIns="0">
            <a:spAutoFit/>
          </a:bodyPr>
          <a:lstStyle/>
          <a:p>
            <a:pPr>
              <a:spcAft>
                <a:spcPts val="0"/>
              </a:spcAft>
            </a:pPr>
            <a:r>
              <a:rPr sz="1800" b="0">
                <a:solidFill>
                  <a:srgbClr val="514B43"/>
                </a:solidFill>
                <a:latin typeface="맑은 고딕"/>
              </a:rPr>
              <a:t>하나도 안 붙여도 서류만으로 분석은 됩니다</a:t>
            </a:r>
          </a:p>
        </p:txBody>
      </p:sp>
      <p:sp>
        <p:nvSpPr>
          <p:cNvPr id="4" name="Rectangle 3"/>
          <p:cNvSpPr/>
          <p:nvPr/>
        </p:nvSpPr>
        <p:spPr>
          <a:xfrm>
            <a:off x="566928" y="1874519"/>
            <a:ext cx="5394960" cy="1920240"/>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 y="2130552"/>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212848"/>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1</a:t>
            </a:r>
          </a:p>
        </p:txBody>
      </p:sp>
      <p:sp>
        <p:nvSpPr>
          <p:cNvPr id="7" name="TextBox 6"/>
          <p:cNvSpPr txBox="1"/>
          <p:nvPr/>
        </p:nvSpPr>
        <p:spPr>
          <a:xfrm>
            <a:off x="1435607" y="2130552"/>
            <a:ext cx="4206240" cy="365760"/>
          </a:xfrm>
          <a:prstGeom prst="rect">
            <a:avLst/>
          </a:prstGeom>
          <a:noFill/>
        </p:spPr>
        <p:txBody>
          <a:bodyPr wrap="square" lIns="0" rIns="0" tIns="0" bIns="0">
            <a:spAutoFit/>
          </a:bodyPr>
          <a:lstStyle/>
          <a:p>
            <a:pPr>
              <a:spcAft>
                <a:spcPts val="0"/>
              </a:spcAft>
            </a:pPr>
            <a:r>
              <a:rPr sz="1900" b="1">
                <a:solidFill>
                  <a:srgbClr val="24211D"/>
                </a:solidFill>
                <a:latin typeface="맑은 고딕"/>
              </a:rPr>
              <a:t>korean-law 부터</a:t>
            </a:r>
          </a:p>
        </p:txBody>
      </p:sp>
      <p:sp>
        <p:nvSpPr>
          <p:cNvPr id="8" name="TextBox 7"/>
          <p:cNvSpPr txBox="1"/>
          <p:nvPr/>
        </p:nvSpPr>
        <p:spPr>
          <a:xfrm>
            <a:off x="1435607" y="2532887"/>
            <a:ext cx="4206240"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가장 쉽습니다</a:t>
            </a:r>
          </a:p>
        </p:txBody>
      </p:sp>
      <p:sp>
        <p:nvSpPr>
          <p:cNvPr id="9" name="TextBox 8"/>
          <p:cNvSpPr txBox="1"/>
          <p:nvPr/>
        </p:nvSpPr>
        <p:spPr>
          <a:xfrm>
            <a:off x="850392" y="2935224"/>
            <a:ext cx="4828032" cy="731520"/>
          </a:xfrm>
          <a:prstGeom prst="rect">
            <a:avLst/>
          </a:prstGeom>
          <a:noFill/>
        </p:spPr>
        <p:txBody>
          <a:bodyPr wrap="square" lIns="0" rIns="0" tIns="0" bIns="0">
            <a:spAutoFit/>
          </a:bodyPr>
          <a:lstStyle/>
          <a:p>
            <a:pPr>
              <a:spcAft>
                <a:spcPts val="400"/>
              </a:spcAft>
            </a:pPr>
            <a:r>
              <a:rPr sz="1400" b="0">
                <a:solidFill>
                  <a:srgbClr val="514B43"/>
                </a:solidFill>
                <a:latin typeface="맑은 고딕"/>
              </a:rPr>
              <a:t>폴더도 설치도 필요 없습니다. 설정에 한 줄 넣고</a:t>
            </a:r>
          </a:p>
          <a:p>
            <a:pPr>
              <a:spcAft>
                <a:spcPts val="400"/>
              </a:spcAft>
            </a:pPr>
            <a:r>
              <a:rPr sz="1400" b="0">
                <a:solidFill>
                  <a:srgbClr val="514B43"/>
                </a:solidFill>
                <a:latin typeface="맑은 고딕"/>
              </a:rPr>
              <a:t>OC만 받으면 끝입니다.</a:t>
            </a:r>
          </a:p>
        </p:txBody>
      </p:sp>
      <p:sp>
        <p:nvSpPr>
          <p:cNvPr id="10" name="Rectangle 9"/>
          <p:cNvSpPr/>
          <p:nvPr/>
        </p:nvSpPr>
        <p:spPr>
          <a:xfrm>
            <a:off x="6236208" y="1874519"/>
            <a:ext cx="5394960" cy="1920240"/>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19672" y="2130552"/>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2212848"/>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2</a:t>
            </a:r>
          </a:p>
        </p:txBody>
      </p:sp>
      <p:sp>
        <p:nvSpPr>
          <p:cNvPr id="13" name="TextBox 12"/>
          <p:cNvSpPr txBox="1"/>
          <p:nvPr/>
        </p:nvSpPr>
        <p:spPr>
          <a:xfrm>
            <a:off x="7104888" y="2130552"/>
            <a:ext cx="4206240" cy="365760"/>
          </a:xfrm>
          <a:prstGeom prst="rect">
            <a:avLst/>
          </a:prstGeom>
          <a:noFill/>
        </p:spPr>
        <p:txBody>
          <a:bodyPr wrap="square" lIns="0" rIns="0" tIns="0" bIns="0">
            <a:spAutoFit/>
          </a:bodyPr>
          <a:lstStyle/>
          <a:p>
            <a:pPr>
              <a:spcAft>
                <a:spcPts val="0"/>
              </a:spcAft>
            </a:pPr>
            <a:r>
              <a:rPr sz="1900" b="1">
                <a:solidFill>
                  <a:srgbClr val="24211D"/>
                </a:solidFill>
                <a:latin typeface="맑은 고딕"/>
              </a:rPr>
              <a:t>그다음 real-estate</a:t>
            </a:r>
          </a:p>
        </p:txBody>
      </p:sp>
      <p:sp>
        <p:nvSpPr>
          <p:cNvPr id="14" name="TextBox 13"/>
          <p:cNvSpPr txBox="1"/>
          <p:nvPr/>
        </p:nvSpPr>
        <p:spPr>
          <a:xfrm>
            <a:off x="7104888" y="2532887"/>
            <a:ext cx="4206240"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체감이 가장 큽니다</a:t>
            </a:r>
          </a:p>
        </p:txBody>
      </p:sp>
      <p:sp>
        <p:nvSpPr>
          <p:cNvPr id="15" name="TextBox 14"/>
          <p:cNvSpPr txBox="1"/>
          <p:nvPr/>
        </p:nvSpPr>
        <p:spPr>
          <a:xfrm>
            <a:off x="6519672" y="2935224"/>
            <a:ext cx="4828032" cy="731520"/>
          </a:xfrm>
          <a:prstGeom prst="rect">
            <a:avLst/>
          </a:prstGeom>
          <a:noFill/>
        </p:spPr>
        <p:txBody>
          <a:bodyPr wrap="square" lIns="0" rIns="0" tIns="0" bIns="0">
            <a:spAutoFit/>
          </a:bodyPr>
          <a:lstStyle/>
          <a:p>
            <a:pPr>
              <a:spcAft>
                <a:spcPts val="400"/>
              </a:spcAft>
            </a:pPr>
            <a:r>
              <a:rPr sz="1400" b="0">
                <a:solidFill>
                  <a:srgbClr val="514B43"/>
                </a:solidFill>
                <a:latin typeface="맑은 고딕"/>
              </a:rPr>
              <a:t>안 붙이면 시세 대조를 못 합니다. 감정가가 적정한지</a:t>
            </a:r>
          </a:p>
          <a:p>
            <a:pPr>
              <a:spcAft>
                <a:spcPts val="400"/>
              </a:spcAft>
            </a:pPr>
            <a:r>
              <a:rPr sz="1400" b="0">
                <a:solidFill>
                  <a:srgbClr val="514B43"/>
                </a:solidFill>
                <a:latin typeface="맑은 고딕"/>
              </a:rPr>
              <a:t>판단할 근거가 사라집니다.</a:t>
            </a:r>
          </a:p>
        </p:txBody>
      </p:sp>
      <p:sp>
        <p:nvSpPr>
          <p:cNvPr id="16" name="Rectangle 15"/>
          <p:cNvSpPr/>
          <p:nvPr/>
        </p:nvSpPr>
        <p:spPr>
          <a:xfrm>
            <a:off x="566928" y="4069080"/>
            <a:ext cx="11064240" cy="1371600"/>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4261104"/>
            <a:ext cx="10479024" cy="301752"/>
          </a:xfrm>
          <a:prstGeom prst="rect">
            <a:avLst/>
          </a:prstGeom>
          <a:noFill/>
        </p:spPr>
        <p:txBody>
          <a:bodyPr wrap="square" lIns="0" rIns="0" tIns="0" bIns="0">
            <a:spAutoFit/>
          </a:bodyPr>
          <a:lstStyle/>
          <a:p>
            <a:pPr>
              <a:spcAft>
                <a:spcPts val="0"/>
              </a:spcAft>
            </a:pPr>
            <a:r>
              <a:rPr sz="1700" b="1">
                <a:solidFill>
                  <a:srgbClr val="24211D"/>
                </a:solidFill>
                <a:latin typeface="맑은 고딕"/>
              </a:rPr>
              <a:t>인증키는 네 가지입니다</a:t>
            </a:r>
          </a:p>
        </p:txBody>
      </p:sp>
      <p:sp>
        <p:nvSpPr>
          <p:cNvPr id="18" name="TextBox 17"/>
          <p:cNvSpPr txBox="1"/>
          <p:nvPr/>
        </p:nvSpPr>
        <p:spPr>
          <a:xfrm>
            <a:off x="859536" y="4645152"/>
            <a:ext cx="10479024" cy="731520"/>
          </a:xfrm>
          <a:prstGeom prst="rect">
            <a:avLst/>
          </a:prstGeom>
          <a:noFill/>
        </p:spPr>
        <p:txBody>
          <a:bodyPr wrap="square" lIns="0" rIns="0" tIns="0" bIns="0">
            <a:spAutoFit/>
          </a:bodyPr>
          <a:lstStyle/>
          <a:p>
            <a:pPr>
              <a:spcAft>
                <a:spcPts val="300"/>
              </a:spcAft>
            </a:pPr>
            <a:r>
              <a:rPr sz="1400">
                <a:solidFill>
                  <a:srgbClr val="514B43"/>
                </a:solidFill>
                <a:latin typeface="맑은 고딕"/>
              </a:rPr>
              <a:t>공공데이터포털 인증키  →  3곳에 넣지만 전부 같은 값입니다   ·   브이월드 인증키  →  1곳</a:t>
            </a:r>
          </a:p>
          <a:p>
            <a:pPr>
              <a:spcAft>
                <a:spcPts val="300"/>
              </a:spcAft>
            </a:pPr>
            <a:r>
              <a:rPr sz="1400">
                <a:solidFill>
                  <a:srgbClr val="514B43"/>
                </a:solidFill>
                <a:latin typeface="맑은 고딕"/>
              </a:rPr>
              <a:t>법령센터 OC(이메일 아이디)  →  1곳   ·   Firecrawl API 키  →  1곳</a:t>
            </a:r>
          </a:p>
          <a:p>
            <a:pPr>
              <a:spcAft>
                <a:spcPts val="300"/>
              </a:spcAft>
            </a:pPr>
            <a:r>
              <a:rPr sz="1400">
                <a:solidFill>
                  <a:srgbClr val="514B43"/>
                </a:solidFill>
                <a:latin typeface="맑은 고딕"/>
              </a:rPr>
              <a:t>서비스마다 「활용신청」은 따로 눌러야 열립니다. 승인에 1~2일 걸리는 것도 있으니 수업 전날까지 신청을 끝내세요.</a:t>
            </a:r>
          </a:p>
        </p:txBody>
      </p:sp>
      <p:sp>
        <p:nvSpPr>
          <p:cNvPr id="19" name="Rectangle 18"/>
          <p:cNvSpPr/>
          <p:nvPr/>
        </p:nvSpPr>
        <p:spPr>
          <a:xfrm>
            <a:off x="566928" y="5586984"/>
            <a:ext cx="11064240" cy="530352"/>
          </a:xfrm>
          <a:prstGeom prst="rect">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5724144"/>
            <a:ext cx="10479024" cy="301752"/>
          </a:xfrm>
          <a:prstGeom prst="rect">
            <a:avLst/>
          </a:prstGeom>
          <a:noFill/>
        </p:spPr>
        <p:txBody>
          <a:bodyPr wrap="square" lIns="0" rIns="0" tIns="0" bIns="0">
            <a:spAutoFit/>
          </a:bodyPr>
          <a:lstStyle/>
          <a:p>
            <a:pPr>
              <a:spcAft>
                <a:spcPts val="0"/>
              </a:spcAft>
            </a:pPr>
            <a:r>
              <a:rPr sz="1500" b="0">
                <a:solidFill>
                  <a:srgbClr val="F6F1EA"/>
                </a:solidFill>
                <a:latin typeface="맑은 고딕"/>
              </a:rPr>
              <a:t>준비가 안 된 MCP는 붉은 오류로 뜹니다. 고장이 아닙니다. 나머지는 정상 작동합니다.</a:t>
            </a:r>
          </a:p>
        </p:txBody>
      </p:sp>
      <p:sp>
        <p:nvSpPr>
          <p:cNvPr id="21" name="TextBox 20"/>
          <p:cNvSpPr txBox="1"/>
          <p:nvPr/>
        </p:nvSpPr>
        <p:spPr>
          <a:xfrm>
            <a:off x="6345936" y="6455664"/>
            <a:ext cx="5266944" cy="283464"/>
          </a:xfrm>
          <a:prstGeom prst="rect">
            <a:avLst/>
          </a:prstGeom>
          <a:noFill/>
        </p:spPr>
        <p:txBody>
          <a:bodyPr wrap="square" lIns="0" rIns="0" tIns="0" bIns="0">
            <a:spAutoFit/>
          </a:bodyPr>
          <a:lstStyle/>
          <a:p>
            <a:pPr algn="r">
              <a:spcAft>
                <a:spcPts val="0"/>
              </a:spcAft>
            </a:pPr>
            <a:r>
              <a:rPr sz="1200" b="0">
                <a:solidFill>
                  <a:srgbClr val="A69C90"/>
                </a:solidFill>
                <a:latin typeface="맑은 고딕"/>
              </a:rPr>
              <a:t>SECTION 09 · 경매 물건 분석          68 / 81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777240"/>
          </a:xfrm>
          <a:prstGeom prst="rect">
            <a:avLst/>
          </a:prstGeom>
          <a:noFill/>
        </p:spPr>
        <p:txBody>
          <a:bodyPr wrap="square" lIns="0" rIns="0" tIns="0" bIns="0">
            <a:spAutoFit/>
          </a:bodyPr>
          <a:lstStyle/>
          <a:p>
            <a:pPr>
              <a:spcAft>
                <a:spcPts val="0"/>
              </a:spcAft>
            </a:pPr>
            <a:r>
              <a:rPr sz="3600" b="1">
                <a:solidFill>
                  <a:srgbClr val="24211D"/>
                </a:solidFill>
                <a:latin typeface="맑은 고딕"/>
              </a:rPr>
              <a:t>공시가격은 가정값이고, 종부세는 내년 기준입니다</a:t>
            </a:r>
          </a:p>
        </p:txBody>
      </p:sp>
      <p:sp>
        <p:nvSpPr>
          <p:cNvPr id="3" name="TextBox 2"/>
          <p:cNvSpPr txBox="1"/>
          <p:nvPr/>
        </p:nvSpPr>
        <p:spPr>
          <a:xfrm>
            <a:off x="566928" y="1133856"/>
            <a:ext cx="11064240" cy="384048"/>
          </a:xfrm>
          <a:prstGeom prst="rect">
            <a:avLst/>
          </a:prstGeom>
          <a:noFill/>
        </p:spPr>
        <p:txBody>
          <a:bodyPr wrap="square" lIns="0" rIns="0" tIns="0" bIns="0">
            <a:spAutoFit/>
          </a:bodyPr>
          <a:lstStyle/>
          <a:p>
            <a:pPr>
              <a:spcAft>
                <a:spcPts val="0"/>
              </a:spcAft>
            </a:pPr>
            <a:r>
              <a:rPr sz="1800" b="0">
                <a:solidFill>
                  <a:srgbClr val="514B43"/>
                </a:solidFill>
                <a:latin typeface="맑은 고딕"/>
              </a:rPr>
              <a:t>이 둘을 모르면 세금 숫자를 오해합니다</a:t>
            </a:r>
          </a:p>
        </p:txBody>
      </p:sp>
      <p:sp>
        <p:nvSpPr>
          <p:cNvPr id="4" name="Rectangle 3"/>
          <p:cNvSpPr/>
          <p:nvPr/>
        </p:nvSpPr>
        <p:spPr>
          <a:xfrm>
            <a:off x="566928" y="1874519"/>
            <a:ext cx="5394960" cy="2103120"/>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0392" y="2130552"/>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212848"/>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1</a:t>
            </a:r>
          </a:p>
        </p:txBody>
      </p:sp>
      <p:sp>
        <p:nvSpPr>
          <p:cNvPr id="7" name="TextBox 6"/>
          <p:cNvSpPr txBox="1"/>
          <p:nvPr/>
        </p:nvSpPr>
        <p:spPr>
          <a:xfrm>
            <a:off x="1435607" y="2130552"/>
            <a:ext cx="4206240" cy="365760"/>
          </a:xfrm>
          <a:prstGeom prst="rect">
            <a:avLst/>
          </a:prstGeom>
          <a:noFill/>
        </p:spPr>
        <p:txBody>
          <a:bodyPr wrap="square" lIns="0" rIns="0" tIns="0" bIns="0">
            <a:spAutoFit/>
          </a:bodyPr>
          <a:lstStyle/>
          <a:p>
            <a:pPr>
              <a:spcAft>
                <a:spcPts val="0"/>
              </a:spcAft>
            </a:pPr>
            <a:r>
              <a:rPr sz="1900" b="1">
                <a:solidFill>
                  <a:srgbClr val="24211D"/>
                </a:solidFill>
                <a:latin typeface="맑은 고딕"/>
              </a:rPr>
              <a:t>공시가격 = 감정평가액 × 50%</a:t>
            </a:r>
          </a:p>
        </p:txBody>
      </p:sp>
      <p:sp>
        <p:nvSpPr>
          <p:cNvPr id="8" name="TextBox 7"/>
          <p:cNvSpPr txBox="1"/>
          <p:nvPr/>
        </p:nvSpPr>
        <p:spPr>
          <a:xfrm>
            <a:off x="1435607" y="2532887"/>
            <a:ext cx="4206240"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조회할 공개 API가 없습니다</a:t>
            </a:r>
          </a:p>
        </p:txBody>
      </p:sp>
      <p:sp>
        <p:nvSpPr>
          <p:cNvPr id="9" name="TextBox 8"/>
          <p:cNvSpPr txBox="1"/>
          <p:nvPr/>
        </p:nvSpPr>
        <p:spPr>
          <a:xfrm>
            <a:off x="850392" y="2935224"/>
            <a:ext cx="4828032" cy="914399"/>
          </a:xfrm>
          <a:prstGeom prst="rect">
            <a:avLst/>
          </a:prstGeom>
          <a:noFill/>
        </p:spPr>
        <p:txBody>
          <a:bodyPr wrap="square" lIns="0" rIns="0" tIns="0" bIns="0">
            <a:spAutoFit/>
          </a:bodyPr>
          <a:lstStyle/>
          <a:p>
            <a:pPr>
              <a:spcAft>
                <a:spcPts val="400"/>
              </a:spcAft>
            </a:pPr>
            <a:r>
              <a:rPr sz="1400" b="0">
                <a:solidFill>
                  <a:srgbClr val="514B43"/>
                </a:solidFill>
                <a:latin typeface="맑은 고딕"/>
              </a:rPr>
              <a:t>실제 값이 필요하면 부동산공시가격알리미에서</a:t>
            </a:r>
          </a:p>
          <a:p>
            <a:pPr>
              <a:spcAft>
                <a:spcPts val="400"/>
              </a:spcAft>
            </a:pPr>
            <a:r>
              <a:rPr sz="1400" b="0">
                <a:solidFill>
                  <a:srgbClr val="514B43"/>
                </a:solidFill>
                <a:latin typeface="맑은 고딕"/>
              </a:rPr>
              <a:t>확인해 알려주세요. 즉시 다시 계산합니다.</a:t>
            </a:r>
          </a:p>
          <a:p>
            <a:pPr>
              <a:spcAft>
                <a:spcPts val="400"/>
              </a:spcAft>
            </a:pPr>
            <a:r>
              <a:rPr sz="1400" b="0">
                <a:solidFill>
                  <a:srgbClr val="514B43"/>
                </a:solidFill>
                <a:latin typeface="맑은 고딕"/>
              </a:rPr>
              <a:t>슬라이드에는 항상 「가정」이라고 표시됩니다.</a:t>
            </a:r>
          </a:p>
        </p:txBody>
      </p:sp>
      <p:sp>
        <p:nvSpPr>
          <p:cNvPr id="10" name="Rectangle 9"/>
          <p:cNvSpPr/>
          <p:nvPr/>
        </p:nvSpPr>
        <p:spPr>
          <a:xfrm>
            <a:off x="6236208" y="1874519"/>
            <a:ext cx="5394960" cy="2103120"/>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19672" y="2130552"/>
            <a:ext cx="429768" cy="42976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2212848"/>
            <a:ext cx="429768" cy="301752"/>
          </a:xfrm>
          <a:prstGeom prst="rect">
            <a:avLst/>
          </a:prstGeom>
          <a:noFill/>
        </p:spPr>
        <p:txBody>
          <a:bodyPr wrap="square" lIns="0" rIns="0" tIns="0" bIns="0">
            <a:spAutoFit/>
          </a:bodyPr>
          <a:lstStyle/>
          <a:p>
            <a:pPr algn="ctr">
              <a:spcAft>
                <a:spcPts val="0"/>
              </a:spcAft>
            </a:pPr>
            <a:r>
              <a:rPr sz="1600" b="1">
                <a:solidFill>
                  <a:srgbClr val="FFFFFF"/>
                </a:solidFill>
                <a:latin typeface="맑은 고딕"/>
              </a:rPr>
              <a:t>2</a:t>
            </a:r>
          </a:p>
        </p:txBody>
      </p:sp>
      <p:sp>
        <p:nvSpPr>
          <p:cNvPr id="13" name="TextBox 12"/>
          <p:cNvSpPr txBox="1"/>
          <p:nvPr/>
        </p:nvSpPr>
        <p:spPr>
          <a:xfrm>
            <a:off x="7104888" y="2130552"/>
            <a:ext cx="4206240" cy="365760"/>
          </a:xfrm>
          <a:prstGeom prst="rect">
            <a:avLst/>
          </a:prstGeom>
          <a:noFill/>
        </p:spPr>
        <p:txBody>
          <a:bodyPr wrap="square" lIns="0" rIns="0" tIns="0" bIns="0">
            <a:spAutoFit/>
          </a:bodyPr>
          <a:lstStyle/>
          <a:p>
            <a:pPr>
              <a:spcAft>
                <a:spcPts val="0"/>
              </a:spcAft>
            </a:pPr>
            <a:r>
              <a:rPr sz="1900" b="1">
                <a:solidFill>
                  <a:srgbClr val="24211D"/>
                </a:solidFill>
                <a:latin typeface="맑은 고딕"/>
              </a:rPr>
              <a:t>종부세는 낙찰 다음 해부터</a:t>
            </a:r>
          </a:p>
        </p:txBody>
      </p:sp>
      <p:sp>
        <p:nvSpPr>
          <p:cNvPr id="14" name="TextBox 13"/>
          <p:cNvSpPr txBox="1"/>
          <p:nvPr/>
        </p:nvSpPr>
        <p:spPr>
          <a:xfrm>
            <a:off x="7104888" y="2532887"/>
            <a:ext cx="4206240" cy="301752"/>
          </a:xfrm>
          <a:prstGeom prst="rect">
            <a:avLst/>
          </a:prstGeom>
          <a:noFill/>
        </p:spPr>
        <p:txBody>
          <a:bodyPr wrap="square" lIns="0" rIns="0" tIns="0" bIns="0">
            <a:spAutoFit/>
          </a:bodyPr>
          <a:lstStyle/>
          <a:p>
            <a:pPr>
              <a:spcAft>
                <a:spcPts val="0"/>
              </a:spcAft>
            </a:pPr>
            <a:r>
              <a:rPr sz="1350" b="0">
                <a:solidFill>
                  <a:srgbClr val="726859"/>
                </a:solidFill>
                <a:latin typeface="맑은 고딕"/>
              </a:rPr>
              <a:t>과세기준일이 6월 1일입니다</a:t>
            </a:r>
          </a:p>
        </p:txBody>
      </p:sp>
      <p:sp>
        <p:nvSpPr>
          <p:cNvPr id="15" name="TextBox 14"/>
          <p:cNvSpPr txBox="1"/>
          <p:nvPr/>
        </p:nvSpPr>
        <p:spPr>
          <a:xfrm>
            <a:off x="6519672" y="2935224"/>
            <a:ext cx="4828032" cy="914399"/>
          </a:xfrm>
          <a:prstGeom prst="rect">
            <a:avLst/>
          </a:prstGeom>
          <a:noFill/>
        </p:spPr>
        <p:txBody>
          <a:bodyPr wrap="square" lIns="0" rIns="0" tIns="0" bIns="0">
            <a:spAutoFit/>
          </a:bodyPr>
          <a:lstStyle/>
          <a:p>
            <a:pPr>
              <a:spcAft>
                <a:spcPts val="400"/>
              </a:spcAft>
            </a:pPr>
            <a:r>
              <a:rPr sz="1400" b="0">
                <a:solidFill>
                  <a:srgbClr val="514B43"/>
                </a:solidFill>
                <a:latin typeface="맑은 고딕"/>
              </a:rPr>
              <a:t>6월 이후 잔금을 내면 그 해 종부세는 없습니다.</a:t>
            </a:r>
          </a:p>
          <a:p>
            <a:pPr>
              <a:spcAft>
                <a:spcPts val="400"/>
              </a:spcAft>
            </a:pPr>
            <a:r>
              <a:rPr sz="1400" b="0">
                <a:solidFill>
                  <a:srgbClr val="514B43"/>
                </a:solidFill>
                <a:latin typeface="맑은 고딕"/>
              </a:rPr>
              <a:t>그래서 다음 해 세율로 계산합니다.</a:t>
            </a:r>
          </a:p>
          <a:p>
            <a:pPr>
              <a:spcAft>
                <a:spcPts val="400"/>
              </a:spcAft>
            </a:pPr>
            <a:r>
              <a:rPr sz="1400" b="0">
                <a:solidFill>
                  <a:srgbClr val="514B43"/>
                </a:solidFill>
                <a:latin typeface="맑은 고딕"/>
              </a:rPr>
              <a:t>2026 세제개편안 기준 · 국회 통과 전 정부안입니다.</a:t>
            </a:r>
          </a:p>
        </p:txBody>
      </p:sp>
      <p:sp>
        <p:nvSpPr>
          <p:cNvPr id="16" name="Rectangle 15"/>
          <p:cNvSpPr/>
          <p:nvPr/>
        </p:nvSpPr>
        <p:spPr>
          <a:xfrm>
            <a:off x="566928" y="4206240"/>
            <a:ext cx="11064240" cy="1234440"/>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4389120"/>
            <a:ext cx="10479024" cy="301752"/>
          </a:xfrm>
          <a:prstGeom prst="rect">
            <a:avLst/>
          </a:prstGeom>
          <a:noFill/>
        </p:spPr>
        <p:txBody>
          <a:bodyPr wrap="square" lIns="0" rIns="0" tIns="0" bIns="0">
            <a:spAutoFit/>
          </a:bodyPr>
          <a:lstStyle/>
          <a:p>
            <a:pPr>
              <a:spcAft>
                <a:spcPts val="0"/>
              </a:spcAft>
            </a:pPr>
            <a:r>
              <a:rPr sz="1700" b="1">
                <a:solidFill>
                  <a:srgbClr val="24211D"/>
                </a:solidFill>
                <a:latin typeface="맑은 고딕"/>
              </a:rPr>
              <a:t>그 밖에 알아두실 것</a:t>
            </a:r>
          </a:p>
        </p:txBody>
      </p:sp>
      <p:sp>
        <p:nvSpPr>
          <p:cNvPr id="18" name="TextBox 17"/>
          <p:cNvSpPr txBox="1"/>
          <p:nvPr/>
        </p:nvSpPr>
        <p:spPr>
          <a:xfrm>
            <a:off x="859536" y="4773168"/>
            <a:ext cx="10479024" cy="594360"/>
          </a:xfrm>
          <a:prstGeom prst="rect">
            <a:avLst/>
          </a:prstGeom>
          <a:noFill/>
        </p:spPr>
        <p:txBody>
          <a:bodyPr wrap="square" lIns="0" rIns="0" tIns="0" bIns="0">
            <a:spAutoFit/>
          </a:bodyPr>
          <a:lstStyle/>
          <a:p>
            <a:pPr>
              <a:spcAft>
                <a:spcPts val="400"/>
              </a:spcAft>
            </a:pPr>
            <a:r>
              <a:rPr sz="1400" b="0">
                <a:solidFill>
                  <a:srgbClr val="514B43"/>
                </a:solidFill>
                <a:latin typeface="맑은 고딕"/>
              </a:rPr>
              <a:t>민간 추정시세는 쓰지 않습니다 — 국토교통부 실거래가만 씁니다   ·   낙찰 계수는 6개월이 지나면 참고치로만 쓰고 인근 낙찰사례로 교차 검증하세요</a:t>
            </a:r>
          </a:p>
          <a:p>
            <a:pPr>
              <a:spcAft>
                <a:spcPts val="400"/>
              </a:spcAft>
            </a:pPr>
            <a:r>
              <a:rPr sz="1400" b="0">
                <a:solidFill>
                  <a:srgbClr val="514B43"/>
                </a:solidFill>
                <a:latin typeface="맑은 고딕"/>
              </a:rPr>
              <a:t>물건카드를 남에게 보내지 마세요 — 임차인 정보가 들어 있습니다</a:t>
            </a:r>
          </a:p>
        </p:txBody>
      </p:sp>
      <p:sp>
        <p:nvSpPr>
          <p:cNvPr id="19" name="Rectangle 18"/>
          <p:cNvSpPr/>
          <p:nvPr/>
        </p:nvSpPr>
        <p:spPr>
          <a:xfrm>
            <a:off x="566928" y="5586984"/>
            <a:ext cx="11064240" cy="530352"/>
          </a:xfrm>
          <a:prstGeom prst="rect">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5724144"/>
            <a:ext cx="10479024" cy="301752"/>
          </a:xfrm>
          <a:prstGeom prst="rect">
            <a:avLst/>
          </a:prstGeom>
          <a:noFill/>
        </p:spPr>
        <p:txBody>
          <a:bodyPr wrap="square" lIns="0" rIns="0" tIns="0" bIns="0">
            <a:spAutoFit/>
          </a:bodyPr>
          <a:lstStyle/>
          <a:p>
            <a:pPr>
              <a:spcAft>
                <a:spcPts val="0"/>
              </a:spcAft>
            </a:pPr>
            <a:r>
              <a:rPr sz="1500" b="0">
                <a:solidFill>
                  <a:srgbClr val="F6F1EA"/>
                </a:solidFill>
                <a:latin typeface="맑은 고딕"/>
              </a:rPr>
              <a:t>숫자가 어디서 왔는지 항상 물어보세요.  「이 금액 출처가 뭐야?」  근거를 못 대면 쓰지 않는 게 맞습니다.</a:t>
            </a:r>
          </a:p>
        </p:txBody>
      </p:sp>
      <p:sp>
        <p:nvSpPr>
          <p:cNvPr id="21" name="TextBox 20"/>
          <p:cNvSpPr txBox="1"/>
          <p:nvPr/>
        </p:nvSpPr>
        <p:spPr>
          <a:xfrm>
            <a:off x="6345936" y="6455664"/>
            <a:ext cx="5266944" cy="283464"/>
          </a:xfrm>
          <a:prstGeom prst="rect">
            <a:avLst/>
          </a:prstGeom>
          <a:noFill/>
        </p:spPr>
        <p:txBody>
          <a:bodyPr wrap="square" lIns="0" rIns="0" tIns="0" bIns="0">
            <a:spAutoFit/>
          </a:bodyPr>
          <a:lstStyle/>
          <a:p>
            <a:pPr algn="r">
              <a:spcAft>
                <a:spcPts val="0"/>
              </a:spcAft>
            </a:pPr>
            <a:r>
              <a:rPr sz="1200" b="0">
                <a:solidFill>
                  <a:srgbClr val="A69C90"/>
                </a:solidFill>
                <a:latin typeface="맑은 고딕"/>
              </a:rPr>
              <a:t>SECTION 09 · 경매 물건 분석          69 / 81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777240"/>
          </a:xfrm>
          <a:prstGeom prst="rect">
            <a:avLst/>
          </a:prstGeom>
          <a:noFill/>
        </p:spPr>
        <p:txBody>
          <a:bodyPr wrap="square" lIns="0" rIns="0" tIns="0" bIns="0">
            <a:spAutoFit/>
          </a:bodyPr>
          <a:lstStyle/>
          <a:p>
            <a:pPr>
              <a:spcAft>
                <a:spcPts val="0"/>
              </a:spcAft>
            </a:pPr>
            <a:r>
              <a:rPr sz="3600" b="1">
                <a:solidFill>
                  <a:srgbClr val="24211D"/>
                </a:solidFill>
                <a:latin typeface="맑은 고딕"/>
              </a:rPr>
              <a:t>마지막 장이 결론입니다</a:t>
            </a:r>
          </a:p>
        </p:txBody>
      </p:sp>
      <p:sp>
        <p:nvSpPr>
          <p:cNvPr id="3" name="TextBox 2"/>
          <p:cNvSpPr txBox="1"/>
          <p:nvPr/>
        </p:nvSpPr>
        <p:spPr>
          <a:xfrm>
            <a:off x="566928" y="1133856"/>
            <a:ext cx="11064240" cy="384048"/>
          </a:xfrm>
          <a:prstGeom prst="rect">
            <a:avLst/>
          </a:prstGeom>
          <a:noFill/>
        </p:spPr>
        <p:txBody>
          <a:bodyPr wrap="square" lIns="0" rIns="0" tIns="0" bIns="0">
            <a:spAutoFit/>
          </a:bodyPr>
          <a:lstStyle/>
          <a:p>
            <a:pPr>
              <a:spcAft>
                <a:spcPts val="0"/>
              </a:spcAft>
            </a:pPr>
            <a:r>
              <a:rPr sz="1800" b="0">
                <a:solidFill>
                  <a:srgbClr val="514B43"/>
                </a:solidFill>
                <a:latin typeface="맑은 고딕"/>
              </a:rPr>
              <a:t>물건카드의 끝에 「확인해야 할 것」이 나옵니다</a:t>
            </a:r>
          </a:p>
        </p:txBody>
      </p:sp>
      <p:sp>
        <p:nvSpPr>
          <p:cNvPr id="4" name="Rectangle 3"/>
          <p:cNvSpPr/>
          <p:nvPr/>
        </p:nvSpPr>
        <p:spPr>
          <a:xfrm>
            <a:off x="566928" y="1874519"/>
            <a:ext cx="11064240" cy="2103120"/>
          </a:xfrm>
          <a:prstGeom prst="rect">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2103120"/>
            <a:ext cx="10479024" cy="411480"/>
          </a:xfrm>
          <a:prstGeom prst="rect">
            <a:avLst/>
          </a:prstGeom>
          <a:noFill/>
        </p:spPr>
        <p:txBody>
          <a:bodyPr wrap="square" lIns="0" rIns="0" tIns="0" bIns="0">
            <a:spAutoFit/>
          </a:bodyPr>
          <a:lstStyle/>
          <a:p>
            <a:pPr>
              <a:spcAft>
                <a:spcPts val="0"/>
              </a:spcAft>
            </a:pPr>
            <a:r>
              <a:rPr sz="2200" b="1">
                <a:solidFill>
                  <a:srgbClr val="24211D"/>
                </a:solidFill>
                <a:latin typeface="맑은 고딕"/>
              </a:rPr>
              <a:t>AI는 답을 주지 않습니다. 무엇을 더 봐야 하는지를 줍니다.</a:t>
            </a:r>
          </a:p>
        </p:txBody>
      </p:sp>
      <p:sp>
        <p:nvSpPr>
          <p:cNvPr id="6" name="TextBox 5"/>
          <p:cNvSpPr txBox="1"/>
          <p:nvPr/>
        </p:nvSpPr>
        <p:spPr>
          <a:xfrm>
            <a:off x="859536" y="2697480"/>
            <a:ext cx="10479024" cy="1143000"/>
          </a:xfrm>
          <a:prstGeom prst="rect">
            <a:avLst/>
          </a:prstGeom>
          <a:noFill/>
        </p:spPr>
        <p:txBody>
          <a:bodyPr wrap="square" lIns="0" rIns="0" tIns="0" bIns="0">
            <a:spAutoFit/>
          </a:bodyPr>
          <a:lstStyle/>
          <a:p>
            <a:pPr>
              <a:spcAft>
                <a:spcPts val="600"/>
              </a:spcAft>
            </a:pPr>
            <a:r>
              <a:rPr sz="1600" b="0">
                <a:solidFill>
                  <a:srgbClr val="514B43"/>
                </a:solidFill>
                <a:latin typeface="맑은 고딕"/>
              </a:rPr>
              <a:t>물건카드에는 확인하지 못한 항목이 우선순위와 함께 정리됩니다.</a:t>
            </a:r>
          </a:p>
          <a:p>
            <a:pPr>
              <a:spcAft>
                <a:spcPts val="600"/>
              </a:spcAft>
            </a:pPr>
            <a:r>
              <a:rPr sz="1600" b="0">
                <a:solidFill>
                  <a:srgbClr val="514B43"/>
                </a:solidFill>
                <a:latin typeface="맑은 고딕"/>
              </a:rPr>
              <a:t>등기부 원문 · 매각물건명세서 · 현장 확인 · 기일 진행 여부 같은 것들입니다.</a:t>
            </a:r>
          </a:p>
          <a:p>
            <a:pPr>
              <a:spcAft>
                <a:spcPts val="600"/>
              </a:spcAft>
            </a:pPr>
            <a:r>
              <a:rPr sz="1600" b="0">
                <a:solidFill>
                  <a:srgbClr val="514B43"/>
                </a:solidFill>
                <a:latin typeface="맑은 고딕"/>
              </a:rPr>
              <a:t>그 목록을 들고 직접 확인하는 것이 실제 입찰 준비입니다.</a:t>
            </a:r>
          </a:p>
        </p:txBody>
      </p:sp>
      <p:sp>
        <p:nvSpPr>
          <p:cNvPr id="7" name="Rectangle 6"/>
          <p:cNvSpPr/>
          <p:nvPr/>
        </p:nvSpPr>
        <p:spPr>
          <a:xfrm>
            <a:off x="566928" y="4206240"/>
            <a:ext cx="3575304"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4206240"/>
            <a:ext cx="54864" cy="1234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389120"/>
            <a:ext cx="3118104" cy="301752"/>
          </a:xfrm>
          <a:prstGeom prst="rect">
            <a:avLst/>
          </a:prstGeom>
          <a:noFill/>
        </p:spPr>
        <p:txBody>
          <a:bodyPr wrap="square" lIns="0" rIns="0" tIns="0" bIns="0">
            <a:spAutoFit/>
          </a:bodyPr>
          <a:lstStyle/>
          <a:p>
            <a:pPr>
              <a:spcAft>
                <a:spcPts val="0"/>
              </a:spcAft>
            </a:pPr>
            <a:r>
              <a:rPr sz="1600" b="1">
                <a:solidFill>
                  <a:srgbClr val="24211D"/>
                </a:solidFill>
                <a:latin typeface="맑은 고딕"/>
              </a:rPr>
              <a:t>권리분석은 출발점</a:t>
            </a:r>
          </a:p>
        </p:txBody>
      </p:sp>
      <p:sp>
        <p:nvSpPr>
          <p:cNvPr id="10" name="TextBox 9"/>
          <p:cNvSpPr txBox="1"/>
          <p:nvPr/>
        </p:nvSpPr>
        <p:spPr>
          <a:xfrm>
            <a:off x="822960" y="4773168"/>
            <a:ext cx="3118104" cy="594360"/>
          </a:xfrm>
          <a:prstGeom prst="rect">
            <a:avLst/>
          </a:prstGeom>
          <a:noFill/>
        </p:spPr>
        <p:txBody>
          <a:bodyPr wrap="square" lIns="0" rIns="0" tIns="0" bIns="0">
            <a:spAutoFit/>
          </a:bodyPr>
          <a:lstStyle/>
          <a:p>
            <a:pPr>
              <a:spcAft>
                <a:spcPts val="300"/>
              </a:spcAft>
            </a:pPr>
            <a:r>
              <a:rPr sz="1350" b="0">
                <a:solidFill>
                  <a:srgbClr val="726859"/>
                </a:solidFill>
                <a:latin typeface="맑은 고딕"/>
              </a:rPr>
              <a:t>등기부와 매각물건명세서</a:t>
            </a:r>
          </a:p>
          <a:p>
            <a:pPr>
              <a:spcAft>
                <a:spcPts val="300"/>
              </a:spcAft>
            </a:pPr>
            <a:r>
              <a:rPr sz="1350" b="0">
                <a:solidFill>
                  <a:srgbClr val="726859"/>
                </a:solidFill>
                <a:latin typeface="맑은 고딕"/>
              </a:rPr>
              <a:t>원문을 직접 보십시오</a:t>
            </a:r>
          </a:p>
        </p:txBody>
      </p:sp>
      <p:sp>
        <p:nvSpPr>
          <p:cNvPr id="11" name="Rectangle 10"/>
          <p:cNvSpPr/>
          <p:nvPr/>
        </p:nvSpPr>
        <p:spPr>
          <a:xfrm>
            <a:off x="4315968" y="4206240"/>
            <a:ext cx="3575304"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4206240"/>
            <a:ext cx="54864" cy="1234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389120"/>
            <a:ext cx="3118104" cy="301752"/>
          </a:xfrm>
          <a:prstGeom prst="rect">
            <a:avLst/>
          </a:prstGeom>
          <a:noFill/>
        </p:spPr>
        <p:txBody>
          <a:bodyPr wrap="square" lIns="0" rIns="0" tIns="0" bIns="0">
            <a:spAutoFit/>
          </a:bodyPr>
          <a:lstStyle/>
          <a:p>
            <a:pPr>
              <a:spcAft>
                <a:spcPts val="0"/>
              </a:spcAft>
            </a:pPr>
            <a:r>
              <a:rPr sz="1600" b="1">
                <a:solidFill>
                  <a:srgbClr val="24211D"/>
                </a:solidFill>
                <a:latin typeface="맑은 고딕"/>
              </a:rPr>
              <a:t>입찰가는 참고치</a:t>
            </a:r>
          </a:p>
        </p:txBody>
      </p:sp>
      <p:sp>
        <p:nvSpPr>
          <p:cNvPr id="14" name="TextBox 13"/>
          <p:cNvSpPr txBox="1"/>
          <p:nvPr/>
        </p:nvSpPr>
        <p:spPr>
          <a:xfrm>
            <a:off x="4572000" y="4773168"/>
            <a:ext cx="3118104" cy="594360"/>
          </a:xfrm>
          <a:prstGeom prst="rect">
            <a:avLst/>
          </a:prstGeom>
          <a:noFill/>
        </p:spPr>
        <p:txBody>
          <a:bodyPr wrap="square" lIns="0" rIns="0" tIns="0" bIns="0">
            <a:spAutoFit/>
          </a:bodyPr>
          <a:lstStyle/>
          <a:p>
            <a:pPr>
              <a:spcAft>
                <a:spcPts val="300"/>
              </a:spcAft>
            </a:pPr>
            <a:r>
              <a:rPr sz="1350" b="0">
                <a:solidFill>
                  <a:srgbClr val="726859"/>
                </a:solidFill>
                <a:latin typeface="맑은 고딕"/>
              </a:rPr>
              <a:t>인근 낙찰사례로</a:t>
            </a:r>
          </a:p>
          <a:p>
            <a:pPr>
              <a:spcAft>
                <a:spcPts val="300"/>
              </a:spcAft>
            </a:pPr>
            <a:r>
              <a:rPr sz="1350" b="0">
                <a:solidFill>
                  <a:srgbClr val="726859"/>
                </a:solidFill>
                <a:latin typeface="맑은 고딕"/>
              </a:rPr>
              <a:t>반드시 교차 검증하십시오</a:t>
            </a:r>
          </a:p>
        </p:txBody>
      </p:sp>
      <p:sp>
        <p:nvSpPr>
          <p:cNvPr id="15" name="Rectangle 14"/>
          <p:cNvSpPr/>
          <p:nvPr/>
        </p:nvSpPr>
        <p:spPr>
          <a:xfrm>
            <a:off x="8055864" y="4206240"/>
            <a:ext cx="3575304"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5864" y="4206240"/>
            <a:ext cx="54864" cy="1234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4389120"/>
            <a:ext cx="3118104" cy="301752"/>
          </a:xfrm>
          <a:prstGeom prst="rect">
            <a:avLst/>
          </a:prstGeom>
          <a:noFill/>
        </p:spPr>
        <p:txBody>
          <a:bodyPr wrap="square" lIns="0" rIns="0" tIns="0" bIns="0">
            <a:spAutoFit/>
          </a:bodyPr>
          <a:lstStyle/>
          <a:p>
            <a:pPr>
              <a:spcAft>
                <a:spcPts val="0"/>
              </a:spcAft>
            </a:pPr>
            <a:r>
              <a:rPr sz="1600" b="1">
                <a:solidFill>
                  <a:srgbClr val="24211D"/>
                </a:solidFill>
                <a:latin typeface="맑은 고딕"/>
              </a:rPr>
              <a:t>결정은 본인이</a:t>
            </a:r>
          </a:p>
        </p:txBody>
      </p:sp>
      <p:sp>
        <p:nvSpPr>
          <p:cNvPr id="18" name="TextBox 17"/>
          <p:cNvSpPr txBox="1"/>
          <p:nvPr/>
        </p:nvSpPr>
        <p:spPr>
          <a:xfrm>
            <a:off x="8311896" y="4773168"/>
            <a:ext cx="3118104" cy="594360"/>
          </a:xfrm>
          <a:prstGeom prst="rect">
            <a:avLst/>
          </a:prstGeom>
          <a:noFill/>
        </p:spPr>
        <p:txBody>
          <a:bodyPr wrap="square" lIns="0" rIns="0" tIns="0" bIns="0">
            <a:spAutoFit/>
          </a:bodyPr>
          <a:lstStyle/>
          <a:p>
            <a:pPr>
              <a:spcAft>
                <a:spcPts val="300"/>
              </a:spcAft>
            </a:pPr>
            <a:r>
              <a:rPr sz="1350" b="0">
                <a:solidFill>
                  <a:srgbClr val="726859"/>
                </a:solidFill>
                <a:latin typeface="맑은 고딕"/>
              </a:rPr>
              <a:t>투자 판단과 그 결과는</a:t>
            </a:r>
          </a:p>
          <a:p>
            <a:pPr>
              <a:spcAft>
                <a:spcPts val="300"/>
              </a:spcAft>
            </a:pPr>
            <a:r>
              <a:rPr sz="1350" b="0">
                <a:solidFill>
                  <a:srgbClr val="726859"/>
                </a:solidFill>
                <a:latin typeface="맑은 고딕"/>
              </a:rPr>
              <a:t>본인 책임입니다</a:t>
            </a:r>
          </a:p>
        </p:txBody>
      </p:sp>
      <p:sp>
        <p:nvSpPr>
          <p:cNvPr id="19" name="Rectangle 18"/>
          <p:cNvSpPr/>
          <p:nvPr/>
        </p:nvSpPr>
        <p:spPr>
          <a:xfrm>
            <a:off x="566928" y="5586984"/>
            <a:ext cx="11064240" cy="530352"/>
          </a:xfrm>
          <a:prstGeom prst="rect">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5724144"/>
            <a:ext cx="10479024" cy="301752"/>
          </a:xfrm>
          <a:prstGeom prst="rect">
            <a:avLst/>
          </a:prstGeom>
          <a:noFill/>
        </p:spPr>
        <p:txBody>
          <a:bodyPr wrap="square" lIns="0" rIns="0" tIns="0" bIns="0">
            <a:spAutoFit/>
          </a:bodyPr>
          <a:lstStyle/>
          <a:p>
            <a:pPr>
              <a:spcAft>
                <a:spcPts val="0"/>
              </a:spcAft>
            </a:pPr>
            <a:r>
              <a:rPr sz="1500" b="0">
                <a:solidFill>
                  <a:srgbClr val="F6F1EA"/>
                </a:solidFill>
                <a:latin typeface="맑은 고딕"/>
              </a:rPr>
              <a:t>AI 분석은 검토 출발점입니다. 실제 입찰 전 원문과 전문가 확인이 필요합니다.</a:t>
            </a:r>
          </a:p>
        </p:txBody>
      </p:sp>
      <p:sp>
        <p:nvSpPr>
          <p:cNvPr id="21" name="TextBox 20"/>
          <p:cNvSpPr txBox="1"/>
          <p:nvPr/>
        </p:nvSpPr>
        <p:spPr>
          <a:xfrm>
            <a:off x="6345936" y="6455664"/>
            <a:ext cx="5266944" cy="283464"/>
          </a:xfrm>
          <a:prstGeom prst="rect">
            <a:avLst/>
          </a:prstGeom>
          <a:noFill/>
        </p:spPr>
        <p:txBody>
          <a:bodyPr wrap="square" lIns="0" rIns="0" tIns="0" bIns="0">
            <a:spAutoFit/>
          </a:bodyPr>
          <a:lstStyle/>
          <a:p>
            <a:pPr algn="r">
              <a:spcAft>
                <a:spcPts val="0"/>
              </a:spcAft>
            </a:pPr>
            <a:r>
              <a:rPr sz="1200" b="0">
                <a:solidFill>
                  <a:srgbClr val="A69C90"/>
                </a:solidFill>
                <a:latin typeface="맑은 고딕"/>
              </a:rPr>
              <a:t>SECTION 09 · 경매 물건 분석          70 / 81</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24211D"/>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6643929-5B45-1C83-DF63-455C001C908F}"/>
              </a:ext>
            </a:extLst>
          </p:cNvPr>
          <p:cNvSpPr/>
          <p:nvPr/>
        </p:nvSpPr>
        <p:spPr>
          <a:xfrm>
            <a:off x="8128000" y="0"/>
            <a:ext cx="4064000" cy="6858000"/>
          </a:xfrm>
          <a:prstGeom prst="rect">
            <a:avLst/>
          </a:prstGeom>
          <a:solidFill>
            <a:srgbClr val="302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9BFD9DA7-8168-77CD-238D-692C992E2872}"/>
              </a:ext>
            </a:extLst>
          </p:cNvPr>
          <p:cNvSpPr txBox="1"/>
          <p:nvPr/>
        </p:nvSpPr>
        <p:spPr>
          <a:xfrm>
            <a:off x="8128000" y="1905000"/>
            <a:ext cx="4064000" cy="3016210"/>
          </a:xfrm>
          <a:prstGeom prst="rect">
            <a:avLst/>
          </a:prstGeom>
          <a:noFill/>
        </p:spPr>
        <p:txBody>
          <a:bodyPr vert="horz" rtlCol="0" anchor="ctr">
            <a:spAutoFit/>
          </a:bodyPr>
          <a:lstStyle/>
          <a:p>
            <a:pPr algn="ctr"/>
            <a:r>
              <a:rPr sz="19000" b="1">
                <a:solidFill>
                  <a:srgbClr val="4A4239"/>
                </a:solidFill>
                <a:latin typeface="맑은 고딕"/>
                <a:ea typeface="맑은 고딕"/>
                <a:cs typeface="맑은 고딕"/>
              </a:rPr>
              <a:t>A</a:t>
            </a:r>
            <a:endParaRPr lang="ko-KR" altLang="en-US" sz="19000" b="1">
              <a:solidFill>
                <a:srgbClr val="4A4239"/>
              </a:solidFill>
              <a:latin typeface="맑은 고딕" panose="020B0503020000020004" pitchFamily="50" charset="-127"/>
              <a:ea typeface="맑은 고딕" panose="020B0503020000020004" pitchFamily="50" charset="-127"/>
            </a:endParaRPr>
          </a:p>
        </p:txBody>
      </p:sp>
      <p:sp>
        <p:nvSpPr>
          <p:cNvPr id="4" name="TextBox 3">
            <a:extLst>
              <a:ext uri="{FF2B5EF4-FFF2-40B4-BE49-F238E27FC236}">
                <a16:creationId xmlns:a16="http://schemas.microsoft.com/office/drawing/2014/main" id="{378F55B2-574E-8C0B-7AAF-8BD32B5D1652}"/>
              </a:ext>
            </a:extLst>
          </p:cNvPr>
          <p:cNvSpPr txBox="1"/>
          <p:nvPr/>
        </p:nvSpPr>
        <p:spPr>
          <a:xfrm>
            <a:off x="863600" y="2235200"/>
            <a:ext cx="5842000" cy="353943"/>
          </a:xfrm>
          <a:prstGeom prst="rect">
            <a:avLst/>
          </a:prstGeom>
          <a:noFill/>
        </p:spPr>
        <p:txBody>
          <a:bodyPr vert="horz" rtlCol="0" anchor="ctr">
            <a:spAutoFit/>
          </a:bodyPr>
          <a:lstStyle/>
          <a:p>
            <a:r>
              <a:rPr sz="1700" b="1">
                <a:solidFill>
                  <a:srgbClr val="D97757"/>
                </a:solidFill>
                <a:latin typeface="맑은 고딕"/>
                <a:ea typeface="맑은 고딕"/>
                <a:cs typeface="맑은 고딕"/>
              </a:rPr>
              <a:t>APPENDIX</a:t>
            </a:r>
            <a:endParaRPr lang="ko-KR" altLang="en-US" sz="1700" b="1">
              <a:solidFill>
                <a:srgbClr val="D97757"/>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CE60D38-708F-0ACC-AD36-63E86B791A3D}"/>
              </a:ext>
            </a:extLst>
          </p:cNvPr>
          <p:cNvSpPr txBox="1"/>
          <p:nvPr/>
        </p:nvSpPr>
        <p:spPr>
          <a:xfrm>
            <a:off x="863600" y="2616200"/>
            <a:ext cx="6921500" cy="646331"/>
          </a:xfrm>
          <a:prstGeom prst="rect">
            <a:avLst/>
          </a:prstGeom>
          <a:noFill/>
        </p:spPr>
        <p:txBody>
          <a:bodyPr vert="horz" rtlCol="0" anchor="t">
            <a:spAutoFit/>
          </a:bodyPr>
          <a:lstStyle/>
          <a:p>
            <a:r>
              <a:rPr sz="3600" b="1">
                <a:solidFill>
                  <a:srgbClr val="FFFFFF"/>
                </a:solidFill>
                <a:latin typeface="맑은 고딕"/>
                <a:ea typeface="맑은 고딕"/>
                <a:cs typeface="맑은 고딕"/>
              </a:rPr>
              <a:t>내가 붙인 MCP 26개</a:t>
            </a:r>
          </a:p>
        </p:txBody>
      </p:sp>
      <p:sp>
        <p:nvSpPr>
          <p:cNvPr id="6" name="직사각형 5">
            <a:extLst>
              <a:ext uri="{FF2B5EF4-FFF2-40B4-BE49-F238E27FC236}">
                <a16:creationId xmlns:a16="http://schemas.microsoft.com/office/drawing/2014/main" id="{DD183382-56CD-B055-AE31-221491A9C213}"/>
              </a:ext>
            </a:extLst>
          </p:cNvPr>
          <p:cNvSpPr/>
          <p:nvPr/>
        </p:nvSpPr>
        <p:spPr>
          <a:xfrm>
            <a:off x="914400" y="3810000"/>
            <a:ext cx="812800" cy="508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E9FED234-C09F-4AB0-73A7-A1079BC9CE1B}"/>
              </a:ext>
            </a:extLst>
          </p:cNvPr>
          <p:cNvSpPr txBox="1"/>
          <p:nvPr/>
        </p:nvSpPr>
        <p:spPr>
          <a:xfrm>
            <a:off x="863600" y="4114800"/>
            <a:ext cx="6921500" cy="1708160"/>
          </a:xfrm>
          <a:prstGeom prst="rect">
            <a:avLst/>
          </a:prstGeom>
          <a:noFill/>
        </p:spPr>
        <p:txBody>
          <a:bodyPr vert="horz" rtlCol="0" anchor="t">
            <a:spAutoFit/>
          </a:bodyPr>
          <a:lstStyle/>
          <a:p>
            <a:pPr>
              <a:spcAft>
                <a:spcPts val="600"/>
              </a:spcAft>
            </a:pPr>
            <a:r>
              <a:rPr sz="1700">
                <a:solidFill>
                  <a:srgbClr val="C9C0B4"/>
                </a:solidFill>
                <a:latin typeface="맑은 고딕"/>
                <a:ea typeface="맑은 고딕"/>
                <a:cs typeface="맑은 고딕"/>
              </a:rPr>
              <a:t>분야별로 무엇을 붙였나</a:t>
            </a:r>
          </a:p>
          <a:p>
            <a:pPr>
              <a:spcAft>
                <a:spcPts val="600"/>
              </a:spcAft>
            </a:pPr>
            <a:r>
              <a:rPr sz="1700">
                <a:solidFill>
                  <a:srgbClr val="C9C0B4"/>
                </a:solidFill>
                <a:latin typeface="맑은 고딕"/>
                <a:ea typeface="맑은 고딕"/>
                <a:cs typeface="맑은 고딕"/>
              </a:rPr>
              <a:t>키가 필요 없는 것들</a:t>
            </a:r>
          </a:p>
          <a:p>
            <a:pPr>
              <a:spcAft>
                <a:spcPts val="600"/>
              </a:spcAft>
            </a:pPr>
            <a:r>
              <a:rPr sz="1700">
                <a:solidFill>
                  <a:srgbClr val="C9C0B4"/>
                </a:solidFill>
                <a:latin typeface="맑은 고딕"/>
                <a:ea typeface="맑은 고딕"/>
                <a:cs typeface="맑은 고딕"/>
              </a:rPr>
              <a:t>공공데이터포털 하나로 다섯 개</a:t>
            </a:r>
          </a:p>
          <a:p>
            <a:pPr>
              <a:spcAft>
                <a:spcPts val="600"/>
              </a:spcAft>
            </a:pPr>
            <a:r>
              <a:rPr sz="1700">
                <a:solidFill>
                  <a:srgbClr val="C9C0B4"/>
                </a:solidFill>
                <a:latin typeface="맑은 고딕"/>
                <a:ea typeface="맑은 고딕"/>
                <a:cs typeface="맑은 고딕"/>
              </a:rPr>
              <a:t>나머지 키는 어디서 받나</a:t>
            </a:r>
          </a:p>
          <a:p>
            <a:pPr>
              <a:spcAft>
                <a:spcPts val="600"/>
              </a:spcAft>
            </a:pPr>
            <a:r>
              <a:rPr sz="1700">
                <a:solidFill>
                  <a:srgbClr val="C9C0B4"/>
                </a:solidFill>
                <a:latin typeface="맑은 고딕"/>
                <a:ea typeface="맑은 고딕"/>
                <a:cs typeface="맑은 고딕"/>
              </a:rPr>
              <a:t>이만큼 붙일 필요는 없습니다</a:t>
            </a:r>
          </a:p>
        </p:txBody>
      </p:sp>
      <p:sp>
        <p:nvSpPr>
          <p:cNvPr id="8" name="TextBox 7">
            <a:extLst>
              <a:ext uri="{FF2B5EF4-FFF2-40B4-BE49-F238E27FC236}">
                <a16:creationId xmlns:a16="http://schemas.microsoft.com/office/drawing/2014/main" id="{C0002559-B967-2887-69BE-F3A1DD341FD3}"/>
              </a:ext>
            </a:extLst>
          </p:cNvPr>
          <p:cNvSpPr txBox="1"/>
          <p:nvPr/>
        </p:nvSpPr>
        <p:spPr>
          <a:xfrm>
            <a:off x="863600" y="6172200"/>
            <a:ext cx="5842000" cy="292388"/>
          </a:xfrm>
          <a:prstGeom prst="rect">
            <a:avLst/>
          </a:prstGeom>
          <a:noFill/>
        </p:spPr>
        <p:txBody>
          <a:bodyPr vert="horz" rtlCol="0" anchor="ctr">
            <a:spAutoFit/>
          </a:bodyPr>
          <a:lstStyle/>
          <a:p>
            <a:r>
              <a:rPr lang="en-US" altLang="ko-KR" sz="1300">
                <a:solidFill>
                  <a:srgbClr val="726859"/>
                </a:solidFill>
                <a:latin typeface="맑은 고딕" panose="020B0503020000020004" pitchFamily="50" charset="-127"/>
                <a:ea typeface="맑은 고딕" panose="020B0503020000020004" pitchFamily="50" charset="-127"/>
              </a:rPr>
              <a:t>Claude 데스크탑 시작하기</a:t>
            </a:r>
          </a:p>
        </p:txBody>
      </p:sp>
      <p:pic>
        <p:nvPicPr>
          <p:cNvPr id="10" name="그래픽 9">
            <a:extLst>
              <a:ext uri="{FF2B5EF4-FFF2-40B4-BE49-F238E27FC236}">
                <a16:creationId xmlns:a16="http://schemas.microsoft.com/office/drawing/2014/main" id="{C3F91544-AA8B-8F05-DD1A-7749234F5B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600" y="889000"/>
            <a:ext cx="812800" cy="8128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spAutoFit/>
          </a:bodyPr>
          <a:lstStyle/>
          <a:p>
            <a:pPr algn="l"/>
            <a:r>
              <a:rPr sz="3600" b="1">
                <a:solidFill>
                  <a:srgbClr val="24211D"/>
                </a:solidFill>
                <a:latin typeface="맑은 고딕"/>
                <a:ea typeface="맑은 고딕"/>
                <a:cs typeface="맑은 고딕"/>
              </a:rPr>
              <a:t>한눈에 보기 — 26개를 일곱 묶음으로</a:t>
            </a:r>
          </a:p>
        </p:txBody>
      </p:sp>
      <p:sp>
        <p:nvSpPr>
          <p:cNvPr id="3" name="TextBox 2"/>
          <p:cNvSpPr txBox="1"/>
          <p:nvPr/>
        </p:nvSpPr>
        <p:spPr>
          <a:xfrm>
            <a:off x="571500" y="1130300"/>
            <a:ext cx="11061700" cy="381000"/>
          </a:xfrm>
          <a:prstGeom prst="rect">
            <a:avLst/>
          </a:prstGeom>
          <a:noFill/>
        </p:spPr>
        <p:txBody>
          <a:bodyPr wrap="square" lIns="0" tIns="0" rIns="0" bIns="0">
            <a:spAutoFit/>
          </a:bodyPr>
          <a:lstStyle/>
          <a:p>
            <a:pPr algn="l"/>
            <a:r>
              <a:rPr sz="1800" b="0">
                <a:solidFill>
                  <a:srgbClr val="514B43"/>
                </a:solidFill>
                <a:latin typeface="맑은 고딕"/>
                <a:ea typeface="맑은 고딕"/>
                <a:cs typeface="맑은 고딕"/>
              </a:rPr>
              <a:t>3년에 걸쳐 하나씩 늘린 것입니다</a:t>
            </a:r>
          </a:p>
        </p:txBody>
      </p:sp>
      <p:sp>
        <p:nvSpPr>
          <p:cNvPr id="4" name="Rounded Rectangle 3"/>
          <p:cNvSpPr/>
          <p:nvPr/>
        </p:nvSpPr>
        <p:spPr>
          <a:xfrm>
            <a:off x="571500" y="1905000"/>
            <a:ext cx="11061700" cy="457200"/>
          </a:xfrm>
          <a:prstGeom prst="roundRect">
            <a:avLst>
              <a:gd name="adj" fmla="val 1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63600" y="2006600"/>
            <a:ext cx="2540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부동산 · 경매</a:t>
            </a:r>
          </a:p>
        </p:txBody>
      </p:sp>
      <p:sp>
        <p:nvSpPr>
          <p:cNvPr id="6" name="Rounded Rectangle 5"/>
          <p:cNvSpPr/>
          <p:nvPr/>
        </p:nvSpPr>
        <p:spPr>
          <a:xfrm>
            <a:off x="3454400" y="2019300"/>
            <a:ext cx="406400" cy="22860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454400" y="2032000"/>
            <a:ext cx="406400" cy="203200"/>
          </a:xfrm>
          <a:prstGeom prst="rect">
            <a:avLst/>
          </a:prstGeom>
          <a:noFill/>
        </p:spPr>
        <p:txBody>
          <a:bodyPr wrap="square" lIns="0" tIns="0" rIns="0" bIns="0">
            <a:spAutoFit/>
          </a:bodyPr>
          <a:lstStyle/>
          <a:p>
            <a:pPr algn="ctr"/>
            <a:r>
              <a:rPr sz="1100" b="1">
                <a:solidFill>
                  <a:srgbClr val="FFFFFF"/>
                </a:solidFill>
                <a:latin typeface="맑은 고딕"/>
                <a:ea typeface="맑은 고딕"/>
                <a:cs typeface="맑은 고딕"/>
              </a:rPr>
              <a:t>6</a:t>
            </a:r>
          </a:p>
        </p:txBody>
      </p:sp>
      <p:sp>
        <p:nvSpPr>
          <p:cNvPr id="8" name="TextBox 7"/>
          <p:cNvSpPr txBox="1"/>
          <p:nvPr/>
        </p:nvSpPr>
        <p:spPr>
          <a:xfrm>
            <a:off x="4064000" y="2019300"/>
            <a:ext cx="7493000" cy="279400"/>
          </a:xfrm>
          <a:prstGeom prst="rect">
            <a:avLst/>
          </a:prstGeom>
          <a:noFill/>
        </p:spPr>
        <p:txBody>
          <a:bodyPr wrap="square" lIns="0" tIns="0" rIns="0" bIns="0">
            <a:spAutoFit/>
          </a:bodyPr>
          <a:lstStyle/>
          <a:p>
            <a:pPr algn="l"/>
            <a:r>
              <a:rPr sz="1350" b="0">
                <a:solidFill>
                  <a:srgbClr val="514B43"/>
                </a:solidFill>
                <a:latin typeface="맑은 고딕"/>
                <a:ea typeface="맑은 고딕"/>
                <a:cs typeface="맑은 고딕"/>
              </a:rPr>
              <a:t>국토부 실거래가 · 법원경매 · 공공데이터 · 토지이용규제 · 매물 · 업무용 사설</a:t>
            </a:r>
          </a:p>
        </p:txBody>
      </p:sp>
      <p:sp>
        <p:nvSpPr>
          <p:cNvPr id="9" name="Rounded Rectangle 8"/>
          <p:cNvSpPr/>
          <p:nvPr/>
        </p:nvSpPr>
        <p:spPr>
          <a:xfrm>
            <a:off x="571500" y="2425700"/>
            <a:ext cx="11061700" cy="457200"/>
          </a:xfrm>
          <a:prstGeom prst="roundRect">
            <a:avLst>
              <a:gd name="adj" fmla="val 12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63600" y="2527300"/>
            <a:ext cx="2540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법령 · 기업정보</a:t>
            </a:r>
          </a:p>
        </p:txBody>
      </p:sp>
      <p:sp>
        <p:nvSpPr>
          <p:cNvPr id="11" name="Rounded Rectangle 10"/>
          <p:cNvSpPr/>
          <p:nvPr/>
        </p:nvSpPr>
        <p:spPr>
          <a:xfrm>
            <a:off x="3454400" y="2540000"/>
            <a:ext cx="406400" cy="22860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454400" y="2552700"/>
            <a:ext cx="406400" cy="203200"/>
          </a:xfrm>
          <a:prstGeom prst="rect">
            <a:avLst/>
          </a:prstGeom>
          <a:noFill/>
        </p:spPr>
        <p:txBody>
          <a:bodyPr wrap="square" lIns="0" tIns="0" rIns="0" bIns="0">
            <a:spAutoFit/>
          </a:bodyPr>
          <a:lstStyle/>
          <a:p>
            <a:pPr algn="ctr"/>
            <a:r>
              <a:rPr sz="1100" b="1">
                <a:solidFill>
                  <a:srgbClr val="FFFFFF"/>
                </a:solidFill>
                <a:latin typeface="맑은 고딕"/>
                <a:ea typeface="맑은 고딕"/>
                <a:cs typeface="맑은 고딕"/>
              </a:rPr>
              <a:t>5</a:t>
            </a:r>
          </a:p>
        </p:txBody>
      </p:sp>
      <p:sp>
        <p:nvSpPr>
          <p:cNvPr id="13" name="TextBox 12"/>
          <p:cNvSpPr txBox="1"/>
          <p:nvPr/>
        </p:nvSpPr>
        <p:spPr>
          <a:xfrm>
            <a:off x="4064000" y="2540000"/>
            <a:ext cx="7493000" cy="279400"/>
          </a:xfrm>
          <a:prstGeom prst="rect">
            <a:avLst/>
          </a:prstGeom>
          <a:noFill/>
        </p:spPr>
        <p:txBody>
          <a:bodyPr wrap="square" lIns="0" tIns="0" rIns="0" bIns="0">
            <a:spAutoFit/>
          </a:bodyPr>
          <a:lstStyle/>
          <a:p>
            <a:pPr algn="l"/>
            <a:r>
              <a:rPr sz="1350" b="0">
                <a:solidFill>
                  <a:srgbClr val="514B43"/>
                </a:solidFill>
                <a:latin typeface="맑은 고딕"/>
                <a:ea typeface="맑은 고딕"/>
                <a:cs typeface="맑은 고딕"/>
              </a:rPr>
              <a:t>국가법령정보 2종 · 사업자확인 · 재무정보 · 국민연금</a:t>
            </a:r>
          </a:p>
        </p:txBody>
      </p:sp>
      <p:sp>
        <p:nvSpPr>
          <p:cNvPr id="14" name="Rounded Rectangle 13"/>
          <p:cNvSpPr/>
          <p:nvPr/>
        </p:nvSpPr>
        <p:spPr>
          <a:xfrm>
            <a:off x="571500" y="2946400"/>
            <a:ext cx="11061700" cy="457200"/>
          </a:xfrm>
          <a:prstGeom prst="roundRect">
            <a:avLst>
              <a:gd name="adj" fmla="val 1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63600" y="3048000"/>
            <a:ext cx="2540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웹 · 검색 · 코드</a:t>
            </a:r>
          </a:p>
        </p:txBody>
      </p:sp>
      <p:sp>
        <p:nvSpPr>
          <p:cNvPr id="16" name="Rounded Rectangle 15"/>
          <p:cNvSpPr/>
          <p:nvPr/>
        </p:nvSpPr>
        <p:spPr>
          <a:xfrm>
            <a:off x="3454400" y="3060700"/>
            <a:ext cx="406400" cy="22860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454400" y="3073400"/>
            <a:ext cx="406400" cy="203200"/>
          </a:xfrm>
          <a:prstGeom prst="rect">
            <a:avLst/>
          </a:prstGeom>
          <a:noFill/>
        </p:spPr>
        <p:txBody>
          <a:bodyPr wrap="square" lIns="0" tIns="0" rIns="0" bIns="0">
            <a:spAutoFit/>
          </a:bodyPr>
          <a:lstStyle/>
          <a:p>
            <a:pPr algn="ctr"/>
            <a:r>
              <a:rPr sz="1100" b="1">
                <a:solidFill>
                  <a:srgbClr val="FFFFFF"/>
                </a:solidFill>
                <a:latin typeface="맑은 고딕"/>
                <a:ea typeface="맑은 고딕"/>
                <a:cs typeface="맑은 고딕"/>
              </a:rPr>
              <a:t>5</a:t>
            </a:r>
          </a:p>
        </p:txBody>
      </p:sp>
      <p:sp>
        <p:nvSpPr>
          <p:cNvPr id="18" name="TextBox 17"/>
          <p:cNvSpPr txBox="1"/>
          <p:nvPr/>
        </p:nvSpPr>
        <p:spPr>
          <a:xfrm>
            <a:off x="4064000" y="3060700"/>
            <a:ext cx="7493000" cy="279400"/>
          </a:xfrm>
          <a:prstGeom prst="rect">
            <a:avLst/>
          </a:prstGeom>
          <a:noFill/>
        </p:spPr>
        <p:txBody>
          <a:bodyPr wrap="square" lIns="0" tIns="0" rIns="0" bIns="0">
            <a:spAutoFit/>
          </a:bodyPr>
          <a:lstStyle/>
          <a:p>
            <a:pPr algn="l"/>
            <a:r>
              <a:rPr sz="1350" b="0">
                <a:solidFill>
                  <a:srgbClr val="514B43"/>
                </a:solidFill>
                <a:latin typeface="맑은 고딕"/>
                <a:ea typeface="맑은 고딕"/>
                <a:cs typeface="맑은 고딕"/>
              </a:rPr>
              <a:t>네이버검색 · Firecrawl · 브라우저자동화 · 개발문서 · GitHub</a:t>
            </a:r>
          </a:p>
        </p:txBody>
      </p:sp>
      <p:sp>
        <p:nvSpPr>
          <p:cNvPr id="19" name="Rounded Rectangle 18"/>
          <p:cNvSpPr/>
          <p:nvPr/>
        </p:nvSpPr>
        <p:spPr>
          <a:xfrm>
            <a:off x="571500" y="3467100"/>
            <a:ext cx="11061700" cy="457200"/>
          </a:xfrm>
          <a:prstGeom prst="roundRect">
            <a:avLst>
              <a:gd name="adj" fmla="val 12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63600" y="3568700"/>
            <a:ext cx="2540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문서 만들기</a:t>
            </a:r>
          </a:p>
        </p:txBody>
      </p:sp>
      <p:sp>
        <p:nvSpPr>
          <p:cNvPr id="21" name="Rounded Rectangle 20"/>
          <p:cNvSpPr/>
          <p:nvPr/>
        </p:nvSpPr>
        <p:spPr>
          <a:xfrm>
            <a:off x="3454400" y="3581400"/>
            <a:ext cx="406400" cy="22860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54400" y="3594100"/>
            <a:ext cx="406400" cy="203200"/>
          </a:xfrm>
          <a:prstGeom prst="rect">
            <a:avLst/>
          </a:prstGeom>
          <a:noFill/>
        </p:spPr>
        <p:txBody>
          <a:bodyPr wrap="square" lIns="0" tIns="0" rIns="0" bIns="0">
            <a:spAutoFit/>
          </a:bodyPr>
          <a:lstStyle/>
          <a:p>
            <a:pPr algn="ctr"/>
            <a:r>
              <a:rPr sz="1100" b="1">
                <a:solidFill>
                  <a:srgbClr val="FFFFFF"/>
                </a:solidFill>
                <a:latin typeface="맑은 고딕"/>
                <a:ea typeface="맑은 고딕"/>
                <a:cs typeface="맑은 고딕"/>
              </a:rPr>
              <a:t>4</a:t>
            </a:r>
          </a:p>
        </p:txBody>
      </p:sp>
      <p:sp>
        <p:nvSpPr>
          <p:cNvPr id="23" name="TextBox 22"/>
          <p:cNvSpPr txBox="1"/>
          <p:nvPr/>
        </p:nvSpPr>
        <p:spPr>
          <a:xfrm>
            <a:off x="4064000" y="3581400"/>
            <a:ext cx="7493000" cy="279400"/>
          </a:xfrm>
          <a:prstGeom prst="rect">
            <a:avLst/>
          </a:prstGeom>
          <a:noFill/>
        </p:spPr>
        <p:txBody>
          <a:bodyPr wrap="square" lIns="0" tIns="0" rIns="0" bIns="0">
            <a:spAutoFit/>
          </a:bodyPr>
          <a:lstStyle/>
          <a:p>
            <a:pPr algn="l"/>
            <a:r>
              <a:rPr sz="1350" b="0">
                <a:solidFill>
                  <a:srgbClr val="514B43"/>
                </a:solidFill>
                <a:latin typeface="맑은 고딕"/>
                <a:ea typeface="맑은 고딕"/>
                <a:cs typeface="맑은 고딕"/>
              </a:rPr>
              <a:t>PowerPoint · Word · 한글 2종</a:t>
            </a:r>
          </a:p>
        </p:txBody>
      </p:sp>
      <p:sp>
        <p:nvSpPr>
          <p:cNvPr id="24" name="Rounded Rectangle 23"/>
          <p:cNvSpPr/>
          <p:nvPr/>
        </p:nvSpPr>
        <p:spPr>
          <a:xfrm>
            <a:off x="571500" y="3987800"/>
            <a:ext cx="11061700" cy="457200"/>
          </a:xfrm>
          <a:prstGeom prst="roundRect">
            <a:avLst>
              <a:gd name="adj" fmla="val 1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63600" y="4089400"/>
            <a:ext cx="2540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기록 · 데이터</a:t>
            </a:r>
          </a:p>
        </p:txBody>
      </p:sp>
      <p:sp>
        <p:nvSpPr>
          <p:cNvPr id="26" name="Rounded Rectangle 25"/>
          <p:cNvSpPr/>
          <p:nvPr/>
        </p:nvSpPr>
        <p:spPr>
          <a:xfrm>
            <a:off x="3454400" y="4102100"/>
            <a:ext cx="406400" cy="22860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454400" y="4114800"/>
            <a:ext cx="406400" cy="203200"/>
          </a:xfrm>
          <a:prstGeom prst="rect">
            <a:avLst/>
          </a:prstGeom>
          <a:noFill/>
        </p:spPr>
        <p:txBody>
          <a:bodyPr wrap="square" lIns="0" tIns="0" rIns="0" bIns="0">
            <a:spAutoFit/>
          </a:bodyPr>
          <a:lstStyle/>
          <a:p>
            <a:pPr algn="ctr"/>
            <a:r>
              <a:rPr sz="1100" b="1">
                <a:solidFill>
                  <a:srgbClr val="FFFFFF"/>
                </a:solidFill>
                <a:latin typeface="맑은 고딕"/>
                <a:ea typeface="맑은 고딕"/>
                <a:cs typeface="맑은 고딕"/>
              </a:rPr>
              <a:t>3</a:t>
            </a:r>
          </a:p>
        </p:txBody>
      </p:sp>
      <p:sp>
        <p:nvSpPr>
          <p:cNvPr id="28" name="TextBox 27"/>
          <p:cNvSpPr txBox="1"/>
          <p:nvPr/>
        </p:nvSpPr>
        <p:spPr>
          <a:xfrm>
            <a:off x="4064000" y="4102100"/>
            <a:ext cx="7493000" cy="279400"/>
          </a:xfrm>
          <a:prstGeom prst="rect">
            <a:avLst/>
          </a:prstGeom>
          <a:noFill/>
        </p:spPr>
        <p:txBody>
          <a:bodyPr wrap="square" lIns="0" tIns="0" rIns="0" bIns="0">
            <a:spAutoFit/>
          </a:bodyPr>
          <a:lstStyle/>
          <a:p>
            <a:pPr algn="l"/>
            <a:r>
              <a:rPr sz="1350" b="0">
                <a:solidFill>
                  <a:srgbClr val="514B43"/>
                </a:solidFill>
                <a:latin typeface="맑은 고딕"/>
                <a:ea typeface="맑은 고딕"/>
                <a:cs typeface="맑은 고딕"/>
              </a:rPr>
              <a:t>옵시디언 노트 · 로컬 데이터베이스 · 단계별 사고</a:t>
            </a:r>
          </a:p>
        </p:txBody>
      </p:sp>
      <p:sp>
        <p:nvSpPr>
          <p:cNvPr id="29" name="Rounded Rectangle 28"/>
          <p:cNvSpPr/>
          <p:nvPr/>
        </p:nvSpPr>
        <p:spPr>
          <a:xfrm>
            <a:off x="571500" y="4508500"/>
            <a:ext cx="11061700" cy="457200"/>
          </a:xfrm>
          <a:prstGeom prst="roundRect">
            <a:avLst>
              <a:gd name="adj" fmla="val 12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863600" y="4610100"/>
            <a:ext cx="2540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영상</a:t>
            </a:r>
          </a:p>
        </p:txBody>
      </p:sp>
      <p:sp>
        <p:nvSpPr>
          <p:cNvPr id="31" name="Rounded Rectangle 30"/>
          <p:cNvSpPr/>
          <p:nvPr/>
        </p:nvSpPr>
        <p:spPr>
          <a:xfrm>
            <a:off x="3454400" y="4622800"/>
            <a:ext cx="406400" cy="22860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3454400" y="4635500"/>
            <a:ext cx="406400" cy="203200"/>
          </a:xfrm>
          <a:prstGeom prst="rect">
            <a:avLst/>
          </a:prstGeom>
          <a:noFill/>
        </p:spPr>
        <p:txBody>
          <a:bodyPr wrap="square" lIns="0" tIns="0" rIns="0" bIns="0">
            <a:spAutoFit/>
          </a:bodyPr>
          <a:lstStyle/>
          <a:p>
            <a:pPr algn="ctr"/>
            <a:r>
              <a:rPr sz="1100" b="1">
                <a:solidFill>
                  <a:srgbClr val="FFFFFF"/>
                </a:solidFill>
                <a:latin typeface="맑은 고딕"/>
                <a:ea typeface="맑은 고딕"/>
                <a:cs typeface="맑은 고딕"/>
              </a:rPr>
              <a:t>2</a:t>
            </a:r>
          </a:p>
        </p:txBody>
      </p:sp>
      <p:sp>
        <p:nvSpPr>
          <p:cNvPr id="33" name="TextBox 32"/>
          <p:cNvSpPr txBox="1"/>
          <p:nvPr/>
        </p:nvSpPr>
        <p:spPr>
          <a:xfrm>
            <a:off x="4064000" y="4622800"/>
            <a:ext cx="7493000" cy="279400"/>
          </a:xfrm>
          <a:prstGeom prst="rect">
            <a:avLst/>
          </a:prstGeom>
          <a:noFill/>
        </p:spPr>
        <p:txBody>
          <a:bodyPr wrap="square" lIns="0" tIns="0" rIns="0" bIns="0">
            <a:spAutoFit/>
          </a:bodyPr>
          <a:lstStyle/>
          <a:p>
            <a:pPr algn="l"/>
            <a:r>
              <a:rPr sz="1350" b="0">
                <a:solidFill>
                  <a:srgbClr val="514B43"/>
                </a:solidFill>
                <a:latin typeface="맑은 고딕"/>
                <a:ea typeface="맑은 고딕"/>
                <a:cs typeface="맑은 고딕"/>
              </a:rPr>
              <a:t>유튜브 내려받기 · 자막 추출</a:t>
            </a:r>
          </a:p>
        </p:txBody>
      </p:sp>
      <p:sp>
        <p:nvSpPr>
          <p:cNvPr id="34" name="Rounded Rectangle 33"/>
          <p:cNvSpPr/>
          <p:nvPr/>
        </p:nvSpPr>
        <p:spPr>
          <a:xfrm>
            <a:off x="571500" y="5029200"/>
            <a:ext cx="11061700" cy="457200"/>
          </a:xfrm>
          <a:prstGeom prst="roundRect">
            <a:avLst>
              <a:gd name="adj" fmla="val 12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63600" y="5130800"/>
            <a:ext cx="2540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주식</a:t>
            </a:r>
          </a:p>
        </p:txBody>
      </p:sp>
      <p:sp>
        <p:nvSpPr>
          <p:cNvPr id="36" name="Rounded Rectangle 35"/>
          <p:cNvSpPr/>
          <p:nvPr/>
        </p:nvSpPr>
        <p:spPr>
          <a:xfrm>
            <a:off x="3454400" y="5143500"/>
            <a:ext cx="406400" cy="22860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3454400" y="5156200"/>
            <a:ext cx="406400" cy="203200"/>
          </a:xfrm>
          <a:prstGeom prst="rect">
            <a:avLst/>
          </a:prstGeom>
          <a:noFill/>
        </p:spPr>
        <p:txBody>
          <a:bodyPr wrap="square" lIns="0" tIns="0" rIns="0" bIns="0">
            <a:spAutoFit/>
          </a:bodyPr>
          <a:lstStyle/>
          <a:p>
            <a:pPr algn="ctr"/>
            <a:r>
              <a:rPr sz="1100" b="1">
                <a:solidFill>
                  <a:srgbClr val="FFFFFF"/>
                </a:solidFill>
                <a:latin typeface="맑은 고딕"/>
                <a:ea typeface="맑은 고딕"/>
                <a:cs typeface="맑은 고딕"/>
              </a:rPr>
              <a:t>1</a:t>
            </a:r>
          </a:p>
        </p:txBody>
      </p:sp>
      <p:sp>
        <p:nvSpPr>
          <p:cNvPr id="38" name="TextBox 37"/>
          <p:cNvSpPr txBox="1"/>
          <p:nvPr/>
        </p:nvSpPr>
        <p:spPr>
          <a:xfrm>
            <a:off x="4064000" y="5143500"/>
            <a:ext cx="7493000" cy="279400"/>
          </a:xfrm>
          <a:prstGeom prst="rect">
            <a:avLst/>
          </a:prstGeom>
          <a:noFill/>
        </p:spPr>
        <p:txBody>
          <a:bodyPr wrap="square" lIns="0" tIns="0" rIns="0" bIns="0">
            <a:spAutoFit/>
          </a:bodyPr>
          <a:lstStyle/>
          <a:p>
            <a:pPr algn="l"/>
            <a:r>
              <a:rPr sz="1350" b="0">
                <a:solidFill>
                  <a:srgbClr val="514B43"/>
                </a:solidFill>
                <a:latin typeface="맑은 고딕"/>
                <a:ea typeface="맑은 고딕"/>
                <a:cs typeface="맑은 고딕"/>
              </a:rPr>
              <a:t>한국투자증권</a:t>
            </a:r>
          </a:p>
        </p:txBody>
      </p:sp>
      <p:sp>
        <p:nvSpPr>
          <p:cNvPr id="39" name="Rounded Rectangle 38"/>
          <p:cNvSpPr/>
          <p:nvPr/>
        </p:nvSpPr>
        <p:spPr>
          <a:xfrm>
            <a:off x="571500" y="5664200"/>
            <a:ext cx="11061700" cy="457200"/>
          </a:xfrm>
          <a:prstGeom prst="roundRect">
            <a:avLst>
              <a:gd name="adj" fmla="val 20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63600" y="5791200"/>
            <a:ext cx="10477500" cy="279400"/>
          </a:xfrm>
          <a:prstGeom prst="rect">
            <a:avLst/>
          </a:prstGeom>
          <a:noFill/>
        </p:spPr>
        <p:txBody>
          <a:bodyPr wrap="square" lIns="0" tIns="0" rIns="0" bIns="0">
            <a:spAutoFit/>
          </a:bodyPr>
          <a:lstStyle/>
          <a:p>
            <a:pPr algn="l"/>
            <a:r>
              <a:rPr sz="1400" b="1">
                <a:solidFill>
                  <a:srgbClr val="F6F1EA"/>
                </a:solidFill>
                <a:latin typeface="맑은 고딕"/>
                <a:ea typeface="맑은 고딕"/>
                <a:cs typeface="맑은 고딕"/>
              </a:rPr>
              <a:t>분야가 늘어난 게 아니라, 하던 일에서 막힐 때마다 하나씩 붙인 결과입니다.</a:t>
            </a:r>
          </a:p>
        </p:txBody>
      </p:sp>
      <p:sp>
        <p:nvSpPr>
          <p:cNvPr id="41" name="TextBox 40"/>
          <p:cNvSpPr txBox="1"/>
          <p:nvPr/>
        </p:nvSpPr>
        <p:spPr>
          <a:xfrm>
            <a:off x="6350000" y="6451600"/>
            <a:ext cx="5270500" cy="279400"/>
          </a:xfrm>
          <a:prstGeom prst="rect">
            <a:avLst/>
          </a:prstGeom>
          <a:noFill/>
        </p:spPr>
        <p:txBody>
          <a:bodyPr wrap="square" lIns="0" tIns="0" rIns="0" bIns="0">
            <a:spAutoFit/>
          </a:bodyPr>
          <a:lstStyle/>
          <a:p>
            <a:pPr algn="r"/>
            <a:r>
              <a:rPr sz="1200" b="0">
                <a:solidFill>
                  <a:srgbClr val="A69C90"/>
                </a:solidFill>
                <a:latin typeface="맑은 고딕"/>
                <a:ea typeface="맑은 고딕"/>
                <a:cs typeface="맑은 고딕"/>
              </a:rPr>
              <a:t>부록 · 내가 붙인 MCP          72 / 81</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spAutoFit/>
          </a:bodyPr>
          <a:lstStyle/>
          <a:p>
            <a:pPr algn="l">
              <a:lnSpc>
                <a:spcPct val="100000"/>
              </a:lnSpc>
            </a:pPr>
            <a:r>
              <a:rPr sz="3600" b="1">
                <a:solidFill>
                  <a:srgbClr val="24211D"/>
                </a:solidFill>
                <a:latin typeface="맑은 고딕"/>
                <a:ea typeface="맑은 고딕"/>
                <a:cs typeface="맑은 고딕"/>
              </a:rPr>
              <a:t>키가 필요 없는 것이 절반입니다</a:t>
            </a:r>
          </a:p>
        </p:txBody>
      </p:sp>
      <p:sp>
        <p:nvSpPr>
          <p:cNvPr id="3" name="TextBox 2"/>
          <p:cNvSpPr txBox="1"/>
          <p:nvPr/>
        </p:nvSpPr>
        <p:spPr>
          <a:xfrm>
            <a:off x="571500" y="1130300"/>
            <a:ext cx="11061700" cy="381000"/>
          </a:xfrm>
          <a:prstGeom prst="rect">
            <a:avLst/>
          </a:prstGeom>
          <a:noFill/>
        </p:spPr>
        <p:txBody>
          <a:bodyPr wrap="square" lIns="0" tIns="0" rIns="0" bIns="0">
            <a:spAutoFit/>
          </a:bodyPr>
          <a:lstStyle/>
          <a:p>
            <a:pPr algn="l">
              <a:lnSpc>
                <a:spcPct val="100000"/>
              </a:lnSpc>
            </a:pPr>
            <a:r>
              <a:rPr sz="1800" b="0">
                <a:solidFill>
                  <a:srgbClr val="514B43"/>
                </a:solidFill>
                <a:latin typeface="맑은 고딕"/>
                <a:ea typeface="맑은 고딕"/>
                <a:cs typeface="맑은 고딕"/>
              </a:rPr>
              <a:t>26개 중 11개는 붙이기만 하면 바로 됩니다</a:t>
            </a:r>
          </a:p>
        </p:txBody>
      </p:sp>
      <p:sp>
        <p:nvSpPr>
          <p:cNvPr id="4" name="Rounded Rectangle 3"/>
          <p:cNvSpPr/>
          <p:nvPr/>
        </p:nvSpPr>
        <p:spPr>
          <a:xfrm>
            <a:off x="571500" y="2032000"/>
            <a:ext cx="5397500" cy="9906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25500" y="2235200"/>
            <a:ext cx="4889500" cy="330200"/>
          </a:xfrm>
          <a:prstGeom prst="rect">
            <a:avLst/>
          </a:prstGeom>
          <a:noFill/>
        </p:spPr>
        <p:txBody>
          <a:bodyPr wrap="square" lIns="0" tIns="0" rIns="0" bIns="0">
            <a:spAutoFit/>
          </a:bodyPr>
          <a:lstStyle/>
          <a:p>
            <a:pPr algn="l">
              <a:lnSpc>
                <a:spcPct val="100000"/>
              </a:lnSpc>
            </a:pPr>
            <a:r>
              <a:rPr sz="1700" b="1">
                <a:solidFill>
                  <a:srgbClr val="24211D"/>
                </a:solidFill>
                <a:latin typeface="맑은 고딕"/>
                <a:ea typeface="맑은 고딕"/>
                <a:cs typeface="맑은 고딕"/>
              </a:rPr>
              <a:t>PowerPoint · Word · 한글</a:t>
            </a:r>
          </a:p>
        </p:txBody>
      </p:sp>
      <p:sp>
        <p:nvSpPr>
          <p:cNvPr id="6" name="TextBox 5"/>
          <p:cNvSpPr txBox="1"/>
          <p:nvPr/>
        </p:nvSpPr>
        <p:spPr>
          <a:xfrm>
            <a:off x="825500" y="2616200"/>
            <a:ext cx="4889500" cy="304800"/>
          </a:xfrm>
          <a:prstGeom prst="rect">
            <a:avLst/>
          </a:prstGeom>
          <a:noFill/>
        </p:spPr>
        <p:txBody>
          <a:bodyPr wrap="square" lIns="0" tIns="0" rIns="0" bIns="0">
            <a:spAutoFit/>
          </a:bodyPr>
          <a:lstStyle/>
          <a:p>
            <a:pPr algn="l">
              <a:lnSpc>
                <a:spcPct val="100000"/>
              </a:lnSpc>
            </a:pPr>
            <a:r>
              <a:rPr sz="1500" b="0">
                <a:solidFill>
                  <a:srgbClr val="514B43"/>
                </a:solidFill>
                <a:latin typeface="맑은 고딕"/>
                <a:ea typeface="맑은 고딕"/>
                <a:cs typeface="맑은 고딕"/>
              </a:rPr>
              <a:t>내 컴퓨터의 오피스를 직접 조작합니다</a:t>
            </a:r>
          </a:p>
        </p:txBody>
      </p:sp>
      <p:sp>
        <p:nvSpPr>
          <p:cNvPr id="7" name="Rounded Rectangle 6"/>
          <p:cNvSpPr/>
          <p:nvPr/>
        </p:nvSpPr>
        <p:spPr>
          <a:xfrm>
            <a:off x="571500" y="3200400"/>
            <a:ext cx="5397500" cy="9906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5500" y="3403600"/>
            <a:ext cx="4889500" cy="330200"/>
          </a:xfrm>
          <a:prstGeom prst="rect">
            <a:avLst/>
          </a:prstGeom>
          <a:noFill/>
        </p:spPr>
        <p:txBody>
          <a:bodyPr wrap="square" lIns="0" tIns="0" rIns="0" bIns="0">
            <a:spAutoFit/>
          </a:bodyPr>
          <a:lstStyle/>
          <a:p>
            <a:pPr algn="l">
              <a:lnSpc>
                <a:spcPct val="100000"/>
              </a:lnSpc>
            </a:pPr>
            <a:r>
              <a:rPr sz="1700" b="1">
                <a:solidFill>
                  <a:srgbClr val="24211D"/>
                </a:solidFill>
                <a:latin typeface="맑은 고딕"/>
                <a:ea typeface="맑은 고딕"/>
                <a:cs typeface="맑은 고딕"/>
              </a:rPr>
              <a:t>브라우저 자동화 (playwright)</a:t>
            </a:r>
          </a:p>
        </p:txBody>
      </p:sp>
      <p:sp>
        <p:nvSpPr>
          <p:cNvPr id="9" name="TextBox 8"/>
          <p:cNvSpPr txBox="1"/>
          <p:nvPr/>
        </p:nvSpPr>
        <p:spPr>
          <a:xfrm>
            <a:off x="825500" y="3784600"/>
            <a:ext cx="4889500" cy="304800"/>
          </a:xfrm>
          <a:prstGeom prst="rect">
            <a:avLst/>
          </a:prstGeom>
          <a:noFill/>
        </p:spPr>
        <p:txBody>
          <a:bodyPr wrap="square" lIns="0" tIns="0" rIns="0" bIns="0">
            <a:spAutoFit/>
          </a:bodyPr>
          <a:lstStyle/>
          <a:p>
            <a:pPr algn="l">
              <a:lnSpc>
                <a:spcPct val="100000"/>
              </a:lnSpc>
            </a:pPr>
            <a:r>
              <a:rPr sz="1500" b="0">
                <a:solidFill>
                  <a:srgbClr val="514B43"/>
                </a:solidFill>
                <a:latin typeface="맑은 고딕"/>
                <a:ea typeface="맑은 고딕"/>
                <a:cs typeface="맑은 고딕"/>
              </a:rPr>
              <a:t>웹사이트를 눌러가며 자료를 모읍니다</a:t>
            </a:r>
          </a:p>
        </p:txBody>
      </p:sp>
      <p:sp>
        <p:nvSpPr>
          <p:cNvPr id="10" name="Rounded Rectangle 9"/>
          <p:cNvSpPr/>
          <p:nvPr/>
        </p:nvSpPr>
        <p:spPr>
          <a:xfrm>
            <a:off x="571500" y="4368800"/>
            <a:ext cx="5397500" cy="9906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5500" y="4572000"/>
            <a:ext cx="4889500" cy="330200"/>
          </a:xfrm>
          <a:prstGeom prst="rect">
            <a:avLst/>
          </a:prstGeom>
          <a:noFill/>
        </p:spPr>
        <p:txBody>
          <a:bodyPr wrap="square" lIns="0" tIns="0" rIns="0" bIns="0">
            <a:spAutoFit/>
          </a:bodyPr>
          <a:lstStyle/>
          <a:p>
            <a:pPr algn="l">
              <a:lnSpc>
                <a:spcPct val="100000"/>
              </a:lnSpc>
            </a:pPr>
            <a:r>
              <a:rPr sz="1700" b="1">
                <a:solidFill>
                  <a:srgbClr val="24211D"/>
                </a:solidFill>
                <a:latin typeface="맑은 고딕"/>
                <a:ea typeface="맑은 고딕"/>
                <a:cs typeface="맑은 고딕"/>
              </a:rPr>
              <a:t>개발 문서 (context7)</a:t>
            </a:r>
          </a:p>
        </p:txBody>
      </p:sp>
      <p:sp>
        <p:nvSpPr>
          <p:cNvPr id="12" name="TextBox 11"/>
          <p:cNvSpPr txBox="1"/>
          <p:nvPr/>
        </p:nvSpPr>
        <p:spPr>
          <a:xfrm>
            <a:off x="825500" y="4953000"/>
            <a:ext cx="4889500" cy="304800"/>
          </a:xfrm>
          <a:prstGeom prst="rect">
            <a:avLst/>
          </a:prstGeom>
          <a:noFill/>
        </p:spPr>
        <p:txBody>
          <a:bodyPr wrap="square" lIns="0" tIns="0" rIns="0" bIns="0">
            <a:spAutoFit/>
          </a:bodyPr>
          <a:lstStyle/>
          <a:p>
            <a:pPr algn="l">
              <a:lnSpc>
                <a:spcPct val="100000"/>
              </a:lnSpc>
            </a:pPr>
            <a:r>
              <a:rPr sz="1500" b="0">
                <a:solidFill>
                  <a:srgbClr val="514B43"/>
                </a:solidFill>
                <a:latin typeface="맑은 고딕"/>
                <a:ea typeface="맑은 고딕"/>
                <a:cs typeface="맑은 고딕"/>
              </a:rPr>
              <a:t>라이브러리 최신 사용법을 가져옵니다</a:t>
            </a:r>
          </a:p>
        </p:txBody>
      </p:sp>
      <p:sp>
        <p:nvSpPr>
          <p:cNvPr id="13" name="Rounded Rectangle 12"/>
          <p:cNvSpPr/>
          <p:nvPr/>
        </p:nvSpPr>
        <p:spPr>
          <a:xfrm>
            <a:off x="6235700" y="2032000"/>
            <a:ext cx="5397500" cy="9906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89700" y="2235200"/>
            <a:ext cx="4889500" cy="330200"/>
          </a:xfrm>
          <a:prstGeom prst="rect">
            <a:avLst/>
          </a:prstGeom>
          <a:noFill/>
        </p:spPr>
        <p:txBody>
          <a:bodyPr wrap="square" lIns="0" tIns="0" rIns="0" bIns="0">
            <a:spAutoFit/>
          </a:bodyPr>
          <a:lstStyle/>
          <a:p>
            <a:pPr algn="l">
              <a:lnSpc>
                <a:spcPct val="100000"/>
              </a:lnSpc>
            </a:pPr>
            <a:r>
              <a:rPr sz="1700" b="1">
                <a:solidFill>
                  <a:srgbClr val="24211D"/>
                </a:solidFill>
                <a:latin typeface="맑은 고딕"/>
                <a:ea typeface="맑은 고딕"/>
                <a:cs typeface="맑은 고딕"/>
              </a:rPr>
              <a:t>유튜브 · 자막</a:t>
            </a:r>
          </a:p>
        </p:txBody>
      </p:sp>
      <p:sp>
        <p:nvSpPr>
          <p:cNvPr id="15" name="TextBox 14"/>
          <p:cNvSpPr txBox="1"/>
          <p:nvPr/>
        </p:nvSpPr>
        <p:spPr>
          <a:xfrm>
            <a:off x="6489700" y="2616200"/>
            <a:ext cx="4889500" cy="304800"/>
          </a:xfrm>
          <a:prstGeom prst="rect">
            <a:avLst/>
          </a:prstGeom>
          <a:noFill/>
        </p:spPr>
        <p:txBody>
          <a:bodyPr wrap="square" lIns="0" tIns="0" rIns="0" bIns="0">
            <a:spAutoFit/>
          </a:bodyPr>
          <a:lstStyle/>
          <a:p>
            <a:pPr algn="l">
              <a:lnSpc>
                <a:spcPct val="100000"/>
              </a:lnSpc>
            </a:pPr>
            <a:r>
              <a:rPr sz="1500" b="0">
                <a:solidFill>
                  <a:srgbClr val="514B43"/>
                </a:solidFill>
                <a:latin typeface="맑은 고딕"/>
                <a:ea typeface="맑은 고딕"/>
                <a:cs typeface="맑은 고딕"/>
              </a:rPr>
              <a:t>영상과 자막을 내려받습니다</a:t>
            </a:r>
          </a:p>
        </p:txBody>
      </p:sp>
      <p:sp>
        <p:nvSpPr>
          <p:cNvPr id="16" name="Rounded Rectangle 15"/>
          <p:cNvSpPr/>
          <p:nvPr/>
        </p:nvSpPr>
        <p:spPr>
          <a:xfrm>
            <a:off x="6235700" y="3200400"/>
            <a:ext cx="5397500" cy="9906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489700" y="3403600"/>
            <a:ext cx="4889500" cy="330200"/>
          </a:xfrm>
          <a:prstGeom prst="rect">
            <a:avLst/>
          </a:prstGeom>
          <a:noFill/>
        </p:spPr>
        <p:txBody>
          <a:bodyPr wrap="square" lIns="0" tIns="0" rIns="0" bIns="0">
            <a:spAutoFit/>
          </a:bodyPr>
          <a:lstStyle/>
          <a:p>
            <a:pPr algn="l">
              <a:lnSpc>
                <a:spcPct val="100000"/>
              </a:lnSpc>
            </a:pPr>
            <a:r>
              <a:rPr sz="1700" b="1">
                <a:solidFill>
                  <a:srgbClr val="24211D"/>
                </a:solidFill>
                <a:latin typeface="맑은 고딕"/>
                <a:ea typeface="맑은 고딕"/>
                <a:cs typeface="맑은 고딕"/>
              </a:rPr>
              <a:t>로컬 데이터베이스 (duckdb)</a:t>
            </a:r>
          </a:p>
        </p:txBody>
      </p:sp>
      <p:sp>
        <p:nvSpPr>
          <p:cNvPr id="18" name="TextBox 17"/>
          <p:cNvSpPr txBox="1"/>
          <p:nvPr/>
        </p:nvSpPr>
        <p:spPr>
          <a:xfrm>
            <a:off x="6489700" y="3784600"/>
            <a:ext cx="4889500" cy="304800"/>
          </a:xfrm>
          <a:prstGeom prst="rect">
            <a:avLst/>
          </a:prstGeom>
          <a:noFill/>
        </p:spPr>
        <p:txBody>
          <a:bodyPr wrap="square" lIns="0" tIns="0" rIns="0" bIns="0">
            <a:spAutoFit/>
          </a:bodyPr>
          <a:lstStyle/>
          <a:p>
            <a:pPr algn="l">
              <a:lnSpc>
                <a:spcPct val="100000"/>
              </a:lnSpc>
            </a:pPr>
            <a:r>
              <a:rPr sz="1500" b="0">
                <a:solidFill>
                  <a:srgbClr val="514B43"/>
                </a:solidFill>
                <a:latin typeface="맑은 고딕"/>
                <a:ea typeface="맑은 고딕"/>
                <a:cs typeface="맑은 고딕"/>
              </a:rPr>
              <a:t>내 PC의 데이터 파일을 조회합니다</a:t>
            </a:r>
          </a:p>
        </p:txBody>
      </p:sp>
      <p:sp>
        <p:nvSpPr>
          <p:cNvPr id="19" name="Rounded Rectangle 18"/>
          <p:cNvSpPr/>
          <p:nvPr/>
        </p:nvSpPr>
        <p:spPr>
          <a:xfrm>
            <a:off x="6235700" y="4368800"/>
            <a:ext cx="5397500" cy="9906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489700" y="4572000"/>
            <a:ext cx="4889500" cy="330200"/>
          </a:xfrm>
          <a:prstGeom prst="rect">
            <a:avLst/>
          </a:prstGeom>
          <a:noFill/>
        </p:spPr>
        <p:txBody>
          <a:bodyPr wrap="square" lIns="0" tIns="0" rIns="0" bIns="0">
            <a:spAutoFit/>
          </a:bodyPr>
          <a:lstStyle/>
          <a:p>
            <a:pPr algn="l">
              <a:lnSpc>
                <a:spcPct val="100000"/>
              </a:lnSpc>
            </a:pPr>
            <a:r>
              <a:rPr sz="1700" b="1">
                <a:solidFill>
                  <a:srgbClr val="24211D"/>
                </a:solidFill>
                <a:latin typeface="맑은 고딕"/>
                <a:ea typeface="맑은 고딕"/>
                <a:cs typeface="맑은 고딕"/>
              </a:rPr>
              <a:t>단계별 사고 (sequential-thinking)</a:t>
            </a:r>
          </a:p>
        </p:txBody>
      </p:sp>
      <p:sp>
        <p:nvSpPr>
          <p:cNvPr id="21" name="TextBox 20"/>
          <p:cNvSpPr txBox="1"/>
          <p:nvPr/>
        </p:nvSpPr>
        <p:spPr>
          <a:xfrm>
            <a:off x="6489700" y="4953000"/>
            <a:ext cx="4889500" cy="304800"/>
          </a:xfrm>
          <a:prstGeom prst="rect">
            <a:avLst/>
          </a:prstGeom>
          <a:noFill/>
        </p:spPr>
        <p:txBody>
          <a:bodyPr wrap="square" lIns="0" tIns="0" rIns="0" bIns="0">
            <a:spAutoFit/>
          </a:bodyPr>
          <a:lstStyle/>
          <a:p>
            <a:pPr algn="l">
              <a:lnSpc>
                <a:spcPct val="100000"/>
              </a:lnSpc>
            </a:pPr>
            <a:r>
              <a:rPr sz="1500" b="0">
                <a:solidFill>
                  <a:srgbClr val="514B43"/>
                </a:solidFill>
                <a:latin typeface="맑은 고딕"/>
                <a:ea typeface="맑은 고딕"/>
                <a:cs typeface="맑은 고딕"/>
              </a:rPr>
              <a:t>복잡한 문제를 나눠서 풀게 합니다</a:t>
            </a:r>
          </a:p>
        </p:txBody>
      </p:sp>
      <p:sp>
        <p:nvSpPr>
          <p:cNvPr id="22" name="Rounded Rectangle 21"/>
          <p:cNvSpPr/>
          <p:nvPr/>
        </p:nvSpPr>
        <p:spPr>
          <a:xfrm>
            <a:off x="571500" y="5638800"/>
            <a:ext cx="11061700" cy="5080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63600" y="5765800"/>
            <a:ext cx="10477500" cy="304800"/>
          </a:xfrm>
          <a:prstGeom prst="rect">
            <a:avLst/>
          </a:prstGeom>
          <a:noFill/>
        </p:spPr>
        <p:txBody>
          <a:bodyPr wrap="square" lIns="0" tIns="0" rIns="0" bIns="0">
            <a:spAutoFit/>
          </a:bodyPr>
          <a:lstStyle/>
          <a:p>
            <a:pPr algn="l">
              <a:lnSpc>
                <a:spcPct val="100000"/>
              </a:lnSpc>
            </a:pPr>
            <a:r>
              <a:rPr sz="1500" b="1">
                <a:solidFill>
                  <a:srgbClr val="F6F1EA"/>
                </a:solidFill>
                <a:latin typeface="맑은 고딕"/>
                <a:ea typeface="맑은 고딕"/>
                <a:cs typeface="맑은 고딕"/>
              </a:rPr>
              <a:t>키가 필요한 것은 서비스가 "누가 얼마나 쓰는지" 세야 하는 경우뿐입니다.</a:t>
            </a:r>
          </a:p>
        </p:txBody>
      </p:sp>
      <p:sp>
        <p:nvSpPr>
          <p:cNvPr id="24" name="TextBox 23"/>
          <p:cNvSpPr txBox="1"/>
          <p:nvPr/>
        </p:nvSpPr>
        <p:spPr>
          <a:xfrm>
            <a:off x="6350000" y="6451600"/>
            <a:ext cx="5270500" cy="279400"/>
          </a:xfrm>
          <a:prstGeom prst="rect">
            <a:avLst/>
          </a:prstGeom>
          <a:noFill/>
        </p:spPr>
        <p:txBody>
          <a:bodyPr wrap="square" lIns="0" tIns="0" rIns="0" bIns="0">
            <a:spAutoFit/>
          </a:bodyPr>
          <a:lstStyle/>
          <a:p>
            <a:pPr algn="r">
              <a:lnSpc>
                <a:spcPct val="100000"/>
              </a:lnSpc>
            </a:pPr>
            <a:r>
              <a:rPr sz="1200" b="0">
                <a:solidFill>
                  <a:srgbClr val="A69C90"/>
                </a:solidFill>
                <a:latin typeface="맑은 고딕"/>
                <a:ea typeface="맑은 고딕"/>
                <a:cs typeface="맑은 고딕"/>
              </a:rPr>
              <a:t>부록 · 내가 붙인 MCP          73 / 81</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spAutoFit/>
          </a:bodyPr>
          <a:lstStyle/>
          <a:p>
            <a:pPr algn="l">
              <a:lnSpc>
                <a:spcPct val="100000"/>
              </a:lnSpc>
            </a:pPr>
            <a:r>
              <a:rPr sz="3600" b="1">
                <a:solidFill>
                  <a:srgbClr val="24211D"/>
                </a:solidFill>
                <a:latin typeface="맑은 고딕"/>
                <a:ea typeface="맑은 고딕"/>
                <a:cs typeface="맑은 고딕"/>
              </a:rPr>
              <a:t>공공데이터포털 키 하나로 다섯 개가 열립니다</a:t>
            </a:r>
          </a:p>
        </p:txBody>
      </p:sp>
      <p:sp>
        <p:nvSpPr>
          <p:cNvPr id="3" name="TextBox 2"/>
          <p:cNvSpPr txBox="1"/>
          <p:nvPr/>
        </p:nvSpPr>
        <p:spPr>
          <a:xfrm>
            <a:off x="571500" y="1130300"/>
            <a:ext cx="11061700" cy="381000"/>
          </a:xfrm>
          <a:prstGeom prst="rect">
            <a:avLst/>
          </a:prstGeom>
          <a:noFill/>
        </p:spPr>
        <p:txBody>
          <a:bodyPr wrap="square" lIns="0" tIns="0" rIns="0" bIns="0">
            <a:spAutoFit/>
          </a:bodyPr>
          <a:lstStyle/>
          <a:p>
            <a:pPr algn="l">
              <a:lnSpc>
                <a:spcPct val="100000"/>
              </a:lnSpc>
            </a:pPr>
            <a:r>
              <a:rPr sz="1800" b="0">
                <a:solidFill>
                  <a:srgbClr val="514B43"/>
                </a:solidFill>
                <a:latin typeface="맑은 고딕"/>
                <a:ea typeface="맑은 고딕"/>
                <a:cs typeface="맑은 고딕"/>
              </a:rPr>
              <a:t>한 번 발급받아 여러 서버에 같이 씁니다</a:t>
            </a:r>
          </a:p>
        </p:txBody>
      </p:sp>
      <p:sp>
        <p:nvSpPr>
          <p:cNvPr id="4" name="TextBox 3"/>
          <p:cNvSpPr txBox="1"/>
          <p:nvPr/>
        </p:nvSpPr>
        <p:spPr>
          <a:xfrm>
            <a:off x="571500" y="1854200"/>
            <a:ext cx="11061700" cy="482600"/>
          </a:xfrm>
          <a:prstGeom prst="rect">
            <a:avLst/>
          </a:prstGeom>
          <a:noFill/>
        </p:spPr>
        <p:txBody>
          <a:bodyPr wrap="square" lIns="0" tIns="0" rIns="0" bIns="0">
            <a:spAutoFit/>
          </a:bodyPr>
          <a:lstStyle/>
          <a:p>
            <a:pPr algn="l">
              <a:lnSpc>
                <a:spcPct val="100000"/>
              </a:lnSpc>
            </a:pPr>
            <a:r>
              <a:rPr sz="2800" b="1">
                <a:solidFill>
                  <a:srgbClr val="D97757"/>
                </a:solidFill>
                <a:latin typeface="맑은 고딕"/>
                <a:ea typeface="맑은 고딕"/>
                <a:cs typeface="맑은 고딕"/>
              </a:rPr>
              <a:t>data.go.kr</a:t>
            </a:r>
          </a:p>
        </p:txBody>
      </p:sp>
      <p:sp>
        <p:nvSpPr>
          <p:cNvPr id="5" name="TextBox 4"/>
          <p:cNvSpPr txBox="1"/>
          <p:nvPr/>
        </p:nvSpPr>
        <p:spPr>
          <a:xfrm>
            <a:off x="571500" y="2387600"/>
            <a:ext cx="11061700" cy="304800"/>
          </a:xfrm>
          <a:prstGeom prst="rect">
            <a:avLst/>
          </a:prstGeom>
          <a:noFill/>
        </p:spPr>
        <p:txBody>
          <a:bodyPr wrap="square" lIns="0" tIns="0" rIns="0" bIns="0">
            <a:spAutoFit/>
          </a:bodyPr>
          <a:lstStyle/>
          <a:p>
            <a:pPr algn="l">
              <a:lnSpc>
                <a:spcPct val="100000"/>
              </a:lnSpc>
            </a:pPr>
            <a:r>
              <a:rPr sz="1500" b="0">
                <a:solidFill>
                  <a:srgbClr val="726859"/>
                </a:solidFill>
                <a:latin typeface="맑은 고딕"/>
                <a:ea typeface="맑은 고딕"/>
                <a:cs typeface="맑은 고딕"/>
              </a:rPr>
              <a:t>회원가입 후 활용신청 → 대부분 10분 안에 승인됩니다</a:t>
            </a:r>
          </a:p>
        </p:txBody>
      </p:sp>
      <p:sp>
        <p:nvSpPr>
          <p:cNvPr id="6" name="Rounded Rectangle 5"/>
          <p:cNvSpPr/>
          <p:nvPr/>
        </p:nvSpPr>
        <p:spPr>
          <a:xfrm>
            <a:off x="571500" y="2895600"/>
            <a:ext cx="11061700" cy="508000"/>
          </a:xfrm>
          <a:prstGeom prst="roundRect">
            <a:avLst>
              <a:gd name="adj" fmla="val 1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3600" y="3009900"/>
            <a:ext cx="3302000" cy="279400"/>
          </a:xfrm>
          <a:prstGeom prst="rect">
            <a:avLst/>
          </a:prstGeom>
          <a:noFill/>
        </p:spPr>
        <p:txBody>
          <a:bodyPr wrap="square" lIns="0" tIns="0" rIns="0" bIns="0">
            <a:spAutoFit/>
          </a:bodyPr>
          <a:lstStyle/>
          <a:p>
            <a:pPr algn="l">
              <a:lnSpc>
                <a:spcPct val="100000"/>
              </a:lnSpc>
            </a:pPr>
            <a:r>
              <a:rPr sz="1600" b="1">
                <a:solidFill>
                  <a:srgbClr val="24211D"/>
                </a:solidFill>
                <a:latin typeface="맑은 고딕"/>
                <a:ea typeface="맑은 고딕"/>
                <a:cs typeface="맑은 고딕"/>
              </a:rPr>
              <a:t>국토부 실거래가</a:t>
            </a:r>
          </a:p>
        </p:txBody>
      </p:sp>
      <p:sp>
        <p:nvSpPr>
          <p:cNvPr id="8" name="TextBox 7"/>
          <p:cNvSpPr txBox="1"/>
          <p:nvPr/>
        </p:nvSpPr>
        <p:spPr>
          <a:xfrm>
            <a:off x="4318000" y="3022600"/>
            <a:ext cx="7112000" cy="279400"/>
          </a:xfrm>
          <a:prstGeom prst="rect">
            <a:avLst/>
          </a:prstGeom>
          <a:noFill/>
        </p:spPr>
        <p:txBody>
          <a:bodyPr wrap="square" lIns="0" tIns="0" rIns="0" bIns="0">
            <a:spAutoFit/>
          </a:bodyPr>
          <a:lstStyle/>
          <a:p>
            <a:pPr algn="l">
              <a:lnSpc>
                <a:spcPct val="100000"/>
              </a:lnSpc>
            </a:pPr>
            <a:r>
              <a:rPr sz="1450" b="0">
                <a:solidFill>
                  <a:srgbClr val="514B43"/>
                </a:solidFill>
                <a:latin typeface="맑은 고딕"/>
                <a:ea typeface="맑은 고딕"/>
                <a:cs typeface="맑은 고딕"/>
              </a:rPr>
              <a:t>아파트·오피스텔·빌라 매매와 전월세</a:t>
            </a:r>
          </a:p>
        </p:txBody>
      </p:sp>
      <p:sp>
        <p:nvSpPr>
          <p:cNvPr id="9" name="Rounded Rectangle 8"/>
          <p:cNvSpPr/>
          <p:nvPr/>
        </p:nvSpPr>
        <p:spPr>
          <a:xfrm>
            <a:off x="571500" y="3454400"/>
            <a:ext cx="11061700" cy="508000"/>
          </a:xfrm>
          <a:prstGeom prst="roundRect">
            <a:avLst>
              <a:gd name="adj" fmla="val 10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63600" y="3568700"/>
            <a:ext cx="3302000" cy="279400"/>
          </a:xfrm>
          <a:prstGeom prst="rect">
            <a:avLst/>
          </a:prstGeom>
          <a:noFill/>
        </p:spPr>
        <p:txBody>
          <a:bodyPr wrap="square" lIns="0" tIns="0" rIns="0" bIns="0">
            <a:spAutoFit/>
          </a:bodyPr>
          <a:lstStyle/>
          <a:p>
            <a:pPr algn="l">
              <a:lnSpc>
                <a:spcPct val="100000"/>
              </a:lnSpc>
            </a:pPr>
            <a:r>
              <a:rPr sz="1600" b="1">
                <a:solidFill>
                  <a:srgbClr val="24211D"/>
                </a:solidFill>
                <a:latin typeface="맑은 고딕"/>
                <a:ea typeface="맑은 고딕"/>
                <a:cs typeface="맑은 고딕"/>
              </a:rPr>
              <a:t>온비드 공매</a:t>
            </a:r>
          </a:p>
        </p:txBody>
      </p:sp>
      <p:sp>
        <p:nvSpPr>
          <p:cNvPr id="11" name="TextBox 10"/>
          <p:cNvSpPr txBox="1"/>
          <p:nvPr/>
        </p:nvSpPr>
        <p:spPr>
          <a:xfrm>
            <a:off x="4318000" y="3581400"/>
            <a:ext cx="7112000" cy="279400"/>
          </a:xfrm>
          <a:prstGeom prst="rect">
            <a:avLst/>
          </a:prstGeom>
          <a:noFill/>
        </p:spPr>
        <p:txBody>
          <a:bodyPr wrap="square" lIns="0" tIns="0" rIns="0" bIns="0">
            <a:spAutoFit/>
          </a:bodyPr>
          <a:lstStyle/>
          <a:p>
            <a:pPr algn="l">
              <a:lnSpc>
                <a:spcPct val="100000"/>
              </a:lnSpc>
            </a:pPr>
            <a:r>
              <a:rPr sz="1450" b="0">
                <a:solidFill>
                  <a:srgbClr val="514B43"/>
                </a:solidFill>
                <a:latin typeface="맑은 고딕"/>
                <a:ea typeface="맑은 고딕"/>
                <a:cs typeface="맑은 고딕"/>
              </a:rPr>
              <a:t>공매 물건과 낙찰 결과</a:t>
            </a:r>
          </a:p>
        </p:txBody>
      </p:sp>
      <p:sp>
        <p:nvSpPr>
          <p:cNvPr id="12" name="Rounded Rectangle 11"/>
          <p:cNvSpPr/>
          <p:nvPr/>
        </p:nvSpPr>
        <p:spPr>
          <a:xfrm>
            <a:off x="571500" y="4013200"/>
            <a:ext cx="11061700" cy="508000"/>
          </a:xfrm>
          <a:prstGeom prst="roundRect">
            <a:avLst>
              <a:gd name="adj" fmla="val 1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63600" y="4127500"/>
            <a:ext cx="3302000" cy="279400"/>
          </a:xfrm>
          <a:prstGeom prst="rect">
            <a:avLst/>
          </a:prstGeom>
          <a:noFill/>
        </p:spPr>
        <p:txBody>
          <a:bodyPr wrap="square" lIns="0" tIns="0" rIns="0" bIns="0">
            <a:spAutoFit/>
          </a:bodyPr>
          <a:lstStyle/>
          <a:p>
            <a:pPr algn="l">
              <a:lnSpc>
                <a:spcPct val="100000"/>
              </a:lnSpc>
            </a:pPr>
            <a:r>
              <a:rPr sz="1600" b="1">
                <a:solidFill>
                  <a:srgbClr val="24211D"/>
                </a:solidFill>
                <a:latin typeface="맑은 고딕"/>
                <a:ea typeface="맑은 고딕"/>
                <a:cs typeface="맑은 고딕"/>
              </a:rPr>
              <a:t>건축물대장 · 소상공인</a:t>
            </a:r>
          </a:p>
        </p:txBody>
      </p:sp>
      <p:sp>
        <p:nvSpPr>
          <p:cNvPr id="14" name="TextBox 13"/>
          <p:cNvSpPr txBox="1"/>
          <p:nvPr/>
        </p:nvSpPr>
        <p:spPr>
          <a:xfrm>
            <a:off x="4318000" y="4140200"/>
            <a:ext cx="7112000" cy="279400"/>
          </a:xfrm>
          <a:prstGeom prst="rect">
            <a:avLst/>
          </a:prstGeom>
          <a:noFill/>
        </p:spPr>
        <p:txBody>
          <a:bodyPr wrap="square" lIns="0" tIns="0" rIns="0" bIns="0">
            <a:spAutoFit/>
          </a:bodyPr>
          <a:lstStyle/>
          <a:p>
            <a:pPr algn="l">
              <a:lnSpc>
                <a:spcPct val="100000"/>
              </a:lnSpc>
            </a:pPr>
            <a:r>
              <a:rPr sz="1450" b="0">
                <a:solidFill>
                  <a:srgbClr val="514B43"/>
                </a:solidFill>
                <a:latin typeface="맑은 고딕"/>
                <a:ea typeface="맑은 고딕"/>
                <a:cs typeface="맑은 고딕"/>
              </a:rPr>
              <a:t>용도 확인과 상권 조사</a:t>
            </a:r>
          </a:p>
        </p:txBody>
      </p:sp>
      <p:sp>
        <p:nvSpPr>
          <p:cNvPr id="15" name="Rounded Rectangle 14"/>
          <p:cNvSpPr/>
          <p:nvPr/>
        </p:nvSpPr>
        <p:spPr>
          <a:xfrm>
            <a:off x="571500" y="4572000"/>
            <a:ext cx="11061700" cy="508000"/>
          </a:xfrm>
          <a:prstGeom prst="roundRect">
            <a:avLst>
              <a:gd name="adj" fmla="val 10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63600" y="4686300"/>
            <a:ext cx="3302000" cy="279400"/>
          </a:xfrm>
          <a:prstGeom prst="rect">
            <a:avLst/>
          </a:prstGeom>
          <a:noFill/>
        </p:spPr>
        <p:txBody>
          <a:bodyPr wrap="square" lIns="0" tIns="0" rIns="0" bIns="0">
            <a:spAutoFit/>
          </a:bodyPr>
          <a:lstStyle/>
          <a:p>
            <a:pPr algn="l">
              <a:lnSpc>
                <a:spcPct val="100000"/>
              </a:lnSpc>
            </a:pPr>
            <a:r>
              <a:rPr sz="1600" b="1">
                <a:solidFill>
                  <a:srgbClr val="24211D"/>
                </a:solidFill>
                <a:latin typeface="맑은 고딕"/>
                <a:ea typeface="맑은 고딕"/>
                <a:cs typeface="맑은 고딕"/>
              </a:rPr>
              <a:t>사업자 확인 · 재무정보</a:t>
            </a:r>
          </a:p>
        </p:txBody>
      </p:sp>
      <p:sp>
        <p:nvSpPr>
          <p:cNvPr id="17" name="TextBox 16"/>
          <p:cNvSpPr txBox="1"/>
          <p:nvPr/>
        </p:nvSpPr>
        <p:spPr>
          <a:xfrm>
            <a:off x="4318000" y="4699000"/>
            <a:ext cx="7112000" cy="279400"/>
          </a:xfrm>
          <a:prstGeom prst="rect">
            <a:avLst/>
          </a:prstGeom>
          <a:noFill/>
        </p:spPr>
        <p:txBody>
          <a:bodyPr wrap="square" lIns="0" tIns="0" rIns="0" bIns="0">
            <a:spAutoFit/>
          </a:bodyPr>
          <a:lstStyle/>
          <a:p>
            <a:pPr algn="l">
              <a:lnSpc>
                <a:spcPct val="100000"/>
              </a:lnSpc>
            </a:pPr>
            <a:r>
              <a:rPr sz="1450" b="0">
                <a:solidFill>
                  <a:srgbClr val="514B43"/>
                </a:solidFill>
                <a:latin typeface="맑은 고딕"/>
                <a:ea typeface="맑은 고딕"/>
                <a:cs typeface="맑은 고딕"/>
              </a:rPr>
              <a:t>사업자번호 진위와 기업 재무</a:t>
            </a:r>
          </a:p>
        </p:txBody>
      </p:sp>
      <p:sp>
        <p:nvSpPr>
          <p:cNvPr id="18" name="Rounded Rectangle 17"/>
          <p:cNvSpPr/>
          <p:nvPr/>
        </p:nvSpPr>
        <p:spPr>
          <a:xfrm>
            <a:off x="571500" y="5130800"/>
            <a:ext cx="11061700" cy="508000"/>
          </a:xfrm>
          <a:prstGeom prst="roundRect">
            <a:avLst>
              <a:gd name="adj" fmla="val 1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63600" y="5245100"/>
            <a:ext cx="3302000" cy="279400"/>
          </a:xfrm>
          <a:prstGeom prst="rect">
            <a:avLst/>
          </a:prstGeom>
          <a:noFill/>
        </p:spPr>
        <p:txBody>
          <a:bodyPr wrap="square" lIns="0" tIns="0" rIns="0" bIns="0">
            <a:spAutoFit/>
          </a:bodyPr>
          <a:lstStyle/>
          <a:p>
            <a:pPr algn="l">
              <a:lnSpc>
                <a:spcPct val="100000"/>
              </a:lnSpc>
            </a:pPr>
            <a:r>
              <a:rPr sz="1600" b="1">
                <a:solidFill>
                  <a:srgbClr val="24211D"/>
                </a:solidFill>
                <a:latin typeface="맑은 고딕"/>
                <a:ea typeface="맑은 고딕"/>
                <a:cs typeface="맑은 고딕"/>
              </a:rPr>
              <a:t>국민연금 가입</a:t>
            </a:r>
          </a:p>
        </p:txBody>
      </p:sp>
      <p:sp>
        <p:nvSpPr>
          <p:cNvPr id="20" name="TextBox 19"/>
          <p:cNvSpPr txBox="1"/>
          <p:nvPr/>
        </p:nvSpPr>
        <p:spPr>
          <a:xfrm>
            <a:off x="4318000" y="5257800"/>
            <a:ext cx="7112000" cy="279400"/>
          </a:xfrm>
          <a:prstGeom prst="rect">
            <a:avLst/>
          </a:prstGeom>
          <a:noFill/>
        </p:spPr>
        <p:txBody>
          <a:bodyPr wrap="square" lIns="0" tIns="0" rIns="0" bIns="0">
            <a:spAutoFit/>
          </a:bodyPr>
          <a:lstStyle/>
          <a:p>
            <a:pPr algn="l">
              <a:lnSpc>
                <a:spcPct val="100000"/>
              </a:lnSpc>
            </a:pPr>
            <a:r>
              <a:rPr sz="1450" b="0">
                <a:solidFill>
                  <a:srgbClr val="514B43"/>
                </a:solidFill>
                <a:latin typeface="맑은 고딕"/>
                <a:ea typeface="맑은 고딕"/>
                <a:cs typeface="맑은 고딕"/>
              </a:rPr>
              <a:t>법인의 실제 영업 여부 확인</a:t>
            </a:r>
          </a:p>
        </p:txBody>
      </p:sp>
      <p:sp>
        <p:nvSpPr>
          <p:cNvPr id="21" name="Rounded Rectangle 20"/>
          <p:cNvSpPr/>
          <p:nvPr/>
        </p:nvSpPr>
        <p:spPr>
          <a:xfrm>
            <a:off x="571500" y="5765800"/>
            <a:ext cx="11061700" cy="457200"/>
          </a:xfrm>
          <a:prstGeom prst="roundRect">
            <a:avLst>
              <a:gd name="adj" fmla="val 20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63600" y="5865495"/>
            <a:ext cx="10477500" cy="284480"/>
          </a:xfrm>
          <a:prstGeom prst="rect">
            <a:avLst/>
          </a:prstGeom>
          <a:noFill/>
        </p:spPr>
        <p:txBody>
          <a:bodyPr wrap="square" lIns="0" tIns="0" rIns="0" bIns="0">
            <a:spAutoFit/>
          </a:bodyPr>
          <a:lstStyle/>
          <a:p>
            <a:pPr algn="l">
              <a:lnSpc>
                <a:spcPct val="100000"/>
              </a:lnSpc>
            </a:pPr>
            <a:r>
              <a:rPr sz="1400" b="1">
                <a:solidFill>
                  <a:srgbClr val="F6F1EA"/>
                </a:solidFill>
                <a:latin typeface="맑은 고딕"/>
                <a:ea typeface="맑은 고딕"/>
                <a:cs typeface="맑은 고딕"/>
              </a:rPr>
              <a:t>키 하나가 다섯 곳에 들어갑니다. 그래서 이 키가 새면 다섯 개가 한꺼번에 뚫립니다.</a:t>
            </a:r>
          </a:p>
        </p:txBody>
      </p:sp>
      <p:sp>
        <p:nvSpPr>
          <p:cNvPr id="23" name="TextBox 22"/>
          <p:cNvSpPr txBox="1"/>
          <p:nvPr/>
        </p:nvSpPr>
        <p:spPr>
          <a:xfrm>
            <a:off x="6350000" y="6451600"/>
            <a:ext cx="5270500" cy="279400"/>
          </a:xfrm>
          <a:prstGeom prst="rect">
            <a:avLst/>
          </a:prstGeom>
          <a:noFill/>
        </p:spPr>
        <p:txBody>
          <a:bodyPr wrap="square" lIns="0" tIns="0" rIns="0" bIns="0">
            <a:spAutoFit/>
          </a:bodyPr>
          <a:lstStyle/>
          <a:p>
            <a:pPr algn="r">
              <a:lnSpc>
                <a:spcPct val="100000"/>
              </a:lnSpc>
            </a:pPr>
            <a:r>
              <a:rPr sz="1200" b="0">
                <a:solidFill>
                  <a:srgbClr val="A69C90"/>
                </a:solidFill>
                <a:latin typeface="맑은 고딕"/>
                <a:ea typeface="맑은 고딕"/>
                <a:cs typeface="맑은 고딕"/>
              </a:rPr>
              <a:t>부록 · 내가 붙인 MCP          74 / 81</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spAutoFit/>
          </a:bodyPr>
          <a:lstStyle/>
          <a:p>
            <a:pPr algn="l"/>
            <a:r>
              <a:rPr sz="3600" b="1">
                <a:solidFill>
                  <a:srgbClr val="24211D"/>
                </a:solidFill>
                <a:latin typeface="맑은 고딕"/>
                <a:ea typeface="맑은 고딕"/>
                <a:cs typeface="맑은 고딕"/>
              </a:rPr>
              <a:t>나머지 키는 여기서 받습니다</a:t>
            </a:r>
          </a:p>
        </p:txBody>
      </p:sp>
      <p:sp>
        <p:nvSpPr>
          <p:cNvPr id="3" name="TextBox 2"/>
          <p:cNvSpPr txBox="1"/>
          <p:nvPr/>
        </p:nvSpPr>
        <p:spPr>
          <a:xfrm>
            <a:off x="571500" y="1130300"/>
            <a:ext cx="11061700" cy="381000"/>
          </a:xfrm>
          <a:prstGeom prst="rect">
            <a:avLst/>
          </a:prstGeom>
          <a:noFill/>
        </p:spPr>
        <p:txBody>
          <a:bodyPr wrap="square" lIns="0" tIns="0" rIns="0" bIns="0">
            <a:spAutoFit/>
          </a:bodyPr>
          <a:lstStyle/>
          <a:p>
            <a:pPr algn="l"/>
            <a:r>
              <a:rPr sz="1800" b="0">
                <a:solidFill>
                  <a:srgbClr val="514B43"/>
                </a:solidFill>
                <a:latin typeface="맑은 고딕"/>
                <a:ea typeface="맑은 고딕"/>
                <a:cs typeface="맑은 고딕"/>
              </a:rPr>
              <a:t>필요할 때 하나씩 받으면 됩니다</a:t>
            </a:r>
          </a:p>
        </p:txBody>
      </p:sp>
      <p:sp>
        <p:nvSpPr>
          <p:cNvPr id="4" name="TextBox 3"/>
          <p:cNvSpPr txBox="1"/>
          <p:nvPr/>
        </p:nvSpPr>
        <p:spPr>
          <a:xfrm>
            <a:off x="863600" y="1879600"/>
            <a:ext cx="2794000" cy="279400"/>
          </a:xfrm>
          <a:prstGeom prst="rect">
            <a:avLst/>
          </a:prstGeom>
          <a:noFill/>
        </p:spPr>
        <p:txBody>
          <a:bodyPr wrap="square" lIns="0" tIns="0" rIns="0" bIns="0">
            <a:spAutoFit/>
          </a:bodyPr>
          <a:lstStyle/>
          <a:p>
            <a:pPr algn="l"/>
            <a:r>
              <a:rPr sz="1400" b="1">
                <a:solidFill>
                  <a:srgbClr val="726859"/>
                </a:solidFill>
                <a:latin typeface="맑은 고딕"/>
                <a:ea typeface="맑은 고딕"/>
                <a:cs typeface="맑은 고딕"/>
              </a:rPr>
              <a:t>서비스</a:t>
            </a:r>
          </a:p>
        </p:txBody>
      </p:sp>
      <p:sp>
        <p:nvSpPr>
          <p:cNvPr id="5" name="TextBox 4"/>
          <p:cNvSpPr txBox="1"/>
          <p:nvPr/>
        </p:nvSpPr>
        <p:spPr>
          <a:xfrm>
            <a:off x="3810000" y="1879600"/>
            <a:ext cx="3810000" cy="279400"/>
          </a:xfrm>
          <a:prstGeom prst="rect">
            <a:avLst/>
          </a:prstGeom>
          <a:noFill/>
        </p:spPr>
        <p:txBody>
          <a:bodyPr wrap="square" lIns="0" tIns="0" rIns="0" bIns="0">
            <a:spAutoFit/>
          </a:bodyPr>
          <a:lstStyle/>
          <a:p>
            <a:pPr algn="l"/>
            <a:r>
              <a:rPr sz="1400" b="1">
                <a:solidFill>
                  <a:srgbClr val="726859"/>
                </a:solidFill>
                <a:latin typeface="맑은 고딕"/>
                <a:ea typeface="맑은 고딕"/>
                <a:cs typeface="맑은 고딕"/>
              </a:rPr>
              <a:t>어디서 받나</a:t>
            </a:r>
          </a:p>
        </p:txBody>
      </p:sp>
      <p:sp>
        <p:nvSpPr>
          <p:cNvPr id="6" name="Rounded Rectangle 5"/>
          <p:cNvSpPr/>
          <p:nvPr/>
        </p:nvSpPr>
        <p:spPr>
          <a:xfrm>
            <a:off x="571500" y="2184400"/>
            <a:ext cx="11061700" cy="508000"/>
          </a:xfrm>
          <a:prstGeom prst="roundRect">
            <a:avLst>
              <a:gd name="adj" fmla="val 1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3600" y="2298700"/>
            <a:ext cx="2794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한국투자증권</a:t>
            </a:r>
          </a:p>
        </p:txBody>
      </p:sp>
      <p:sp>
        <p:nvSpPr>
          <p:cNvPr id="8" name="TextBox 7"/>
          <p:cNvSpPr txBox="1"/>
          <p:nvPr/>
        </p:nvSpPr>
        <p:spPr>
          <a:xfrm>
            <a:off x="3810000" y="2298700"/>
            <a:ext cx="4064000" cy="279400"/>
          </a:xfrm>
          <a:prstGeom prst="rect">
            <a:avLst/>
          </a:prstGeom>
          <a:noFill/>
        </p:spPr>
        <p:txBody>
          <a:bodyPr wrap="square" lIns="0" tIns="0" rIns="0" bIns="0">
            <a:spAutoFit/>
          </a:bodyPr>
          <a:lstStyle/>
          <a:p>
            <a:pPr algn="l"/>
            <a:r>
              <a:rPr sz="1500" b="0">
                <a:solidFill>
                  <a:srgbClr val="D97757"/>
                </a:solidFill>
                <a:latin typeface="맑은 고딕"/>
                <a:ea typeface="맑은 고딕"/>
                <a:cs typeface="맑은 고딕"/>
              </a:rPr>
              <a:t>apiportal.koreainvestment.com</a:t>
            </a:r>
          </a:p>
        </p:txBody>
      </p:sp>
      <p:sp>
        <p:nvSpPr>
          <p:cNvPr id="9" name="TextBox 8"/>
          <p:cNvSpPr txBox="1"/>
          <p:nvPr/>
        </p:nvSpPr>
        <p:spPr>
          <a:xfrm>
            <a:off x="8128000" y="2311400"/>
            <a:ext cx="3505200" cy="279400"/>
          </a:xfrm>
          <a:prstGeom prst="rect">
            <a:avLst/>
          </a:prstGeom>
          <a:noFill/>
        </p:spPr>
        <p:txBody>
          <a:bodyPr wrap="square" lIns="0" tIns="0" rIns="0" bIns="0">
            <a:spAutoFit/>
          </a:bodyPr>
          <a:lstStyle/>
          <a:p>
            <a:pPr algn="l"/>
            <a:r>
              <a:rPr sz="1400" b="0">
                <a:solidFill>
                  <a:srgbClr val="514B43"/>
                </a:solidFill>
                <a:latin typeface="맑은 고딕"/>
                <a:ea typeface="맑은 고딕"/>
                <a:cs typeface="맑은 고딕"/>
              </a:rPr>
              <a:t>증권 계좌가 있어야 신청</a:t>
            </a:r>
          </a:p>
        </p:txBody>
      </p:sp>
      <p:sp>
        <p:nvSpPr>
          <p:cNvPr id="10" name="TextBox 9"/>
          <p:cNvSpPr txBox="1"/>
          <p:nvPr/>
        </p:nvSpPr>
        <p:spPr>
          <a:xfrm>
            <a:off x="863600" y="2857500"/>
            <a:ext cx="2794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국가법령정보</a:t>
            </a:r>
          </a:p>
        </p:txBody>
      </p:sp>
      <p:sp>
        <p:nvSpPr>
          <p:cNvPr id="11" name="TextBox 10"/>
          <p:cNvSpPr txBox="1"/>
          <p:nvPr/>
        </p:nvSpPr>
        <p:spPr>
          <a:xfrm>
            <a:off x="3810000" y="2857500"/>
            <a:ext cx="4064000" cy="279400"/>
          </a:xfrm>
          <a:prstGeom prst="rect">
            <a:avLst/>
          </a:prstGeom>
          <a:noFill/>
        </p:spPr>
        <p:txBody>
          <a:bodyPr wrap="square" lIns="0" tIns="0" rIns="0" bIns="0">
            <a:spAutoFit/>
          </a:bodyPr>
          <a:lstStyle/>
          <a:p>
            <a:pPr algn="l"/>
            <a:r>
              <a:rPr sz="1500" b="0">
                <a:solidFill>
                  <a:srgbClr val="D97757"/>
                </a:solidFill>
                <a:latin typeface="맑은 고딕"/>
                <a:ea typeface="맑은 고딕"/>
                <a:cs typeface="맑은 고딕"/>
              </a:rPr>
              <a:t>open.law.go.kr</a:t>
            </a:r>
          </a:p>
        </p:txBody>
      </p:sp>
      <p:sp>
        <p:nvSpPr>
          <p:cNvPr id="12" name="TextBox 11"/>
          <p:cNvSpPr txBox="1"/>
          <p:nvPr/>
        </p:nvSpPr>
        <p:spPr>
          <a:xfrm>
            <a:off x="8128000" y="2870200"/>
            <a:ext cx="3505200" cy="279400"/>
          </a:xfrm>
          <a:prstGeom prst="rect">
            <a:avLst/>
          </a:prstGeom>
          <a:noFill/>
        </p:spPr>
        <p:txBody>
          <a:bodyPr wrap="square" lIns="0" tIns="0" rIns="0" bIns="0">
            <a:spAutoFit/>
          </a:bodyPr>
          <a:lstStyle/>
          <a:p>
            <a:pPr algn="l"/>
            <a:r>
              <a:rPr sz="1400" b="0">
                <a:solidFill>
                  <a:srgbClr val="514B43"/>
                </a:solidFill>
                <a:latin typeface="맑은 고딕"/>
                <a:ea typeface="맑은 고딕"/>
                <a:cs typeface="맑은 고딕"/>
              </a:rPr>
              <a:t>법령·판례 원문. 이메일만</a:t>
            </a:r>
          </a:p>
        </p:txBody>
      </p:sp>
      <p:sp>
        <p:nvSpPr>
          <p:cNvPr id="13" name="Rounded Rectangle 12"/>
          <p:cNvSpPr/>
          <p:nvPr/>
        </p:nvSpPr>
        <p:spPr>
          <a:xfrm>
            <a:off x="571500" y="3302000"/>
            <a:ext cx="11061700" cy="508000"/>
          </a:xfrm>
          <a:prstGeom prst="roundRect">
            <a:avLst>
              <a:gd name="adj" fmla="val 1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63600" y="3416300"/>
            <a:ext cx="2794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DART</a:t>
            </a:r>
          </a:p>
        </p:txBody>
      </p:sp>
      <p:sp>
        <p:nvSpPr>
          <p:cNvPr id="15" name="TextBox 14"/>
          <p:cNvSpPr txBox="1"/>
          <p:nvPr/>
        </p:nvSpPr>
        <p:spPr>
          <a:xfrm>
            <a:off x="3810000" y="3416300"/>
            <a:ext cx="4064000" cy="279400"/>
          </a:xfrm>
          <a:prstGeom prst="rect">
            <a:avLst/>
          </a:prstGeom>
          <a:noFill/>
        </p:spPr>
        <p:txBody>
          <a:bodyPr wrap="square" lIns="0" tIns="0" rIns="0" bIns="0">
            <a:spAutoFit/>
          </a:bodyPr>
          <a:lstStyle/>
          <a:p>
            <a:pPr algn="l"/>
            <a:r>
              <a:rPr sz="1500" b="0">
                <a:solidFill>
                  <a:srgbClr val="D97757"/>
                </a:solidFill>
                <a:latin typeface="맑은 고딕"/>
                <a:ea typeface="맑은 고딕"/>
                <a:cs typeface="맑은 고딕"/>
              </a:rPr>
              <a:t>opendart.fss.or.kr</a:t>
            </a:r>
          </a:p>
        </p:txBody>
      </p:sp>
      <p:sp>
        <p:nvSpPr>
          <p:cNvPr id="16" name="TextBox 15"/>
          <p:cNvSpPr txBox="1"/>
          <p:nvPr/>
        </p:nvSpPr>
        <p:spPr>
          <a:xfrm>
            <a:off x="8128000" y="3429000"/>
            <a:ext cx="3505200" cy="279400"/>
          </a:xfrm>
          <a:prstGeom prst="rect">
            <a:avLst/>
          </a:prstGeom>
          <a:noFill/>
        </p:spPr>
        <p:txBody>
          <a:bodyPr wrap="square" lIns="0" tIns="0" rIns="0" bIns="0">
            <a:spAutoFit/>
          </a:bodyPr>
          <a:lstStyle/>
          <a:p>
            <a:pPr algn="l"/>
            <a:r>
              <a:rPr sz="1400" b="0">
                <a:solidFill>
                  <a:srgbClr val="514B43"/>
                </a:solidFill>
                <a:latin typeface="맑은 고딕"/>
                <a:ea typeface="맑은 고딕"/>
                <a:cs typeface="맑은 고딕"/>
              </a:rPr>
              <a:t>기업 공시와 재무제표</a:t>
            </a:r>
          </a:p>
        </p:txBody>
      </p:sp>
      <p:sp>
        <p:nvSpPr>
          <p:cNvPr id="17" name="TextBox 16"/>
          <p:cNvSpPr txBox="1"/>
          <p:nvPr/>
        </p:nvSpPr>
        <p:spPr>
          <a:xfrm>
            <a:off x="863600" y="3975100"/>
            <a:ext cx="2794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V-World</a:t>
            </a:r>
          </a:p>
        </p:txBody>
      </p:sp>
      <p:sp>
        <p:nvSpPr>
          <p:cNvPr id="18" name="TextBox 17"/>
          <p:cNvSpPr txBox="1"/>
          <p:nvPr/>
        </p:nvSpPr>
        <p:spPr>
          <a:xfrm>
            <a:off x="3810000" y="3975100"/>
            <a:ext cx="4064000" cy="279400"/>
          </a:xfrm>
          <a:prstGeom prst="rect">
            <a:avLst/>
          </a:prstGeom>
          <a:noFill/>
        </p:spPr>
        <p:txBody>
          <a:bodyPr wrap="square" lIns="0" tIns="0" rIns="0" bIns="0">
            <a:spAutoFit/>
          </a:bodyPr>
          <a:lstStyle/>
          <a:p>
            <a:pPr algn="l"/>
            <a:r>
              <a:rPr sz="1500" b="0">
                <a:solidFill>
                  <a:srgbClr val="D97757"/>
                </a:solidFill>
                <a:latin typeface="맑은 고딕"/>
                <a:ea typeface="맑은 고딕"/>
                <a:cs typeface="맑은 고딕"/>
              </a:rPr>
              <a:t>vworld.kr</a:t>
            </a:r>
          </a:p>
        </p:txBody>
      </p:sp>
      <p:sp>
        <p:nvSpPr>
          <p:cNvPr id="19" name="TextBox 18"/>
          <p:cNvSpPr txBox="1"/>
          <p:nvPr/>
        </p:nvSpPr>
        <p:spPr>
          <a:xfrm>
            <a:off x="8128000" y="3987800"/>
            <a:ext cx="3505200" cy="279400"/>
          </a:xfrm>
          <a:prstGeom prst="rect">
            <a:avLst/>
          </a:prstGeom>
          <a:noFill/>
        </p:spPr>
        <p:txBody>
          <a:bodyPr wrap="square" lIns="0" tIns="0" rIns="0" bIns="0">
            <a:spAutoFit/>
          </a:bodyPr>
          <a:lstStyle/>
          <a:p>
            <a:pPr algn="l"/>
            <a:r>
              <a:rPr sz="1400" b="0">
                <a:solidFill>
                  <a:srgbClr val="514B43"/>
                </a:solidFill>
                <a:latin typeface="맑은 고딕"/>
                <a:ea typeface="맑은 고딕"/>
                <a:cs typeface="맑은 고딕"/>
              </a:rPr>
              <a:t>토지이용계획·지적도</a:t>
            </a:r>
          </a:p>
        </p:txBody>
      </p:sp>
      <p:sp>
        <p:nvSpPr>
          <p:cNvPr id="20" name="Rounded Rectangle 19"/>
          <p:cNvSpPr/>
          <p:nvPr/>
        </p:nvSpPr>
        <p:spPr>
          <a:xfrm>
            <a:off x="571500" y="4419600"/>
            <a:ext cx="11061700" cy="508000"/>
          </a:xfrm>
          <a:prstGeom prst="roundRect">
            <a:avLst>
              <a:gd name="adj" fmla="val 1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63600" y="4533900"/>
            <a:ext cx="2794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Firecrawl</a:t>
            </a:r>
          </a:p>
        </p:txBody>
      </p:sp>
      <p:sp>
        <p:nvSpPr>
          <p:cNvPr id="22" name="TextBox 21"/>
          <p:cNvSpPr txBox="1"/>
          <p:nvPr/>
        </p:nvSpPr>
        <p:spPr>
          <a:xfrm>
            <a:off x="3810000" y="4533900"/>
            <a:ext cx="4064000" cy="279400"/>
          </a:xfrm>
          <a:prstGeom prst="rect">
            <a:avLst/>
          </a:prstGeom>
          <a:noFill/>
        </p:spPr>
        <p:txBody>
          <a:bodyPr wrap="square" lIns="0" tIns="0" rIns="0" bIns="0">
            <a:spAutoFit/>
          </a:bodyPr>
          <a:lstStyle/>
          <a:p>
            <a:pPr algn="l"/>
            <a:r>
              <a:rPr sz="1500" b="0">
                <a:solidFill>
                  <a:srgbClr val="D97757"/>
                </a:solidFill>
                <a:latin typeface="맑은 고딕"/>
                <a:ea typeface="맑은 고딕"/>
                <a:cs typeface="맑은 고딕"/>
              </a:rPr>
              <a:t>firecrawl.dev</a:t>
            </a:r>
          </a:p>
        </p:txBody>
      </p:sp>
      <p:sp>
        <p:nvSpPr>
          <p:cNvPr id="23" name="TextBox 22"/>
          <p:cNvSpPr txBox="1"/>
          <p:nvPr/>
        </p:nvSpPr>
        <p:spPr>
          <a:xfrm>
            <a:off x="8128000" y="4546600"/>
            <a:ext cx="3505200" cy="279400"/>
          </a:xfrm>
          <a:prstGeom prst="rect">
            <a:avLst/>
          </a:prstGeom>
          <a:noFill/>
        </p:spPr>
        <p:txBody>
          <a:bodyPr wrap="square" lIns="0" tIns="0" rIns="0" bIns="0">
            <a:spAutoFit/>
          </a:bodyPr>
          <a:lstStyle/>
          <a:p>
            <a:pPr algn="l"/>
            <a:r>
              <a:rPr sz="1400" b="0">
                <a:solidFill>
                  <a:srgbClr val="514B43"/>
                </a:solidFill>
                <a:latin typeface="맑은 고딕"/>
                <a:ea typeface="맑은 고딕"/>
                <a:cs typeface="맑은 고딕"/>
              </a:rPr>
              <a:t>봇 차단 사이트 자료 수집</a:t>
            </a:r>
          </a:p>
        </p:txBody>
      </p:sp>
      <p:sp>
        <p:nvSpPr>
          <p:cNvPr id="24" name="TextBox 23"/>
          <p:cNvSpPr txBox="1"/>
          <p:nvPr/>
        </p:nvSpPr>
        <p:spPr>
          <a:xfrm>
            <a:off x="863600" y="5092700"/>
            <a:ext cx="2794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네이버 검색</a:t>
            </a:r>
          </a:p>
        </p:txBody>
      </p:sp>
      <p:sp>
        <p:nvSpPr>
          <p:cNvPr id="25" name="TextBox 24"/>
          <p:cNvSpPr txBox="1"/>
          <p:nvPr/>
        </p:nvSpPr>
        <p:spPr>
          <a:xfrm>
            <a:off x="3810000" y="5092700"/>
            <a:ext cx="4064000" cy="279400"/>
          </a:xfrm>
          <a:prstGeom prst="rect">
            <a:avLst/>
          </a:prstGeom>
          <a:noFill/>
        </p:spPr>
        <p:txBody>
          <a:bodyPr wrap="square" lIns="0" tIns="0" rIns="0" bIns="0">
            <a:spAutoFit/>
          </a:bodyPr>
          <a:lstStyle/>
          <a:p>
            <a:pPr algn="l"/>
            <a:r>
              <a:rPr sz="1500" b="0">
                <a:solidFill>
                  <a:srgbClr val="24211D"/>
                </a:solidFill>
                <a:latin typeface="맑은 고딕"/>
                <a:ea typeface="맑은 고딕"/>
                <a:cs typeface="맑은 고딕"/>
              </a:rPr>
              <a:t>developers.naver.com</a:t>
            </a:r>
          </a:p>
        </p:txBody>
      </p:sp>
      <p:sp>
        <p:nvSpPr>
          <p:cNvPr id="26" name="TextBox 25"/>
          <p:cNvSpPr txBox="1"/>
          <p:nvPr/>
        </p:nvSpPr>
        <p:spPr>
          <a:xfrm>
            <a:off x="8128000" y="5105400"/>
            <a:ext cx="3505200" cy="279400"/>
          </a:xfrm>
          <a:prstGeom prst="rect">
            <a:avLst/>
          </a:prstGeom>
          <a:noFill/>
        </p:spPr>
        <p:txBody>
          <a:bodyPr wrap="square" lIns="0" tIns="0" rIns="0" bIns="0">
            <a:spAutoFit/>
          </a:bodyPr>
          <a:lstStyle/>
          <a:p>
            <a:pPr algn="l"/>
            <a:r>
              <a:rPr sz="1400" b="0">
                <a:solidFill>
                  <a:srgbClr val="514B43"/>
                </a:solidFill>
                <a:latin typeface="맑은 고딕"/>
                <a:ea typeface="맑은 고딕"/>
                <a:cs typeface="맑은 고딕"/>
              </a:rPr>
              <a:t>★ 신규 신청 중단</a:t>
            </a:r>
          </a:p>
        </p:txBody>
      </p:sp>
      <p:sp>
        <p:nvSpPr>
          <p:cNvPr id="27" name="Rounded Rectangle 26"/>
          <p:cNvSpPr/>
          <p:nvPr/>
        </p:nvSpPr>
        <p:spPr>
          <a:xfrm>
            <a:off x="571500" y="5537200"/>
            <a:ext cx="11061700" cy="508000"/>
          </a:xfrm>
          <a:prstGeom prst="roundRect">
            <a:avLst>
              <a:gd name="adj" fmla="val 1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63600" y="5651500"/>
            <a:ext cx="2794000" cy="279400"/>
          </a:xfrm>
          <a:prstGeom prst="rect">
            <a:avLst/>
          </a:prstGeom>
          <a:noFill/>
        </p:spPr>
        <p:txBody>
          <a:bodyPr wrap="square" lIns="0" tIns="0" rIns="0" bIns="0">
            <a:spAutoFit/>
          </a:bodyPr>
          <a:lstStyle/>
          <a:p>
            <a:pPr algn="l"/>
            <a:r>
              <a:rPr sz="1600" b="1">
                <a:solidFill>
                  <a:srgbClr val="24211D"/>
                </a:solidFill>
                <a:latin typeface="맑은 고딕"/>
                <a:ea typeface="맑은 고딕"/>
                <a:cs typeface="맑은 고딕"/>
              </a:rPr>
              <a:t>옵시디언</a:t>
            </a:r>
          </a:p>
        </p:txBody>
      </p:sp>
      <p:sp>
        <p:nvSpPr>
          <p:cNvPr id="29" name="TextBox 28"/>
          <p:cNvSpPr txBox="1"/>
          <p:nvPr/>
        </p:nvSpPr>
        <p:spPr>
          <a:xfrm>
            <a:off x="3810000" y="5651500"/>
            <a:ext cx="4064000" cy="279400"/>
          </a:xfrm>
          <a:prstGeom prst="rect">
            <a:avLst/>
          </a:prstGeom>
          <a:noFill/>
        </p:spPr>
        <p:txBody>
          <a:bodyPr wrap="square" lIns="0" tIns="0" rIns="0" bIns="0">
            <a:spAutoFit/>
          </a:bodyPr>
          <a:lstStyle/>
          <a:p>
            <a:pPr algn="l"/>
            <a:r>
              <a:rPr sz="1500" b="0">
                <a:solidFill>
                  <a:srgbClr val="D97757"/>
                </a:solidFill>
                <a:latin typeface="맑은 고딕"/>
                <a:ea typeface="맑은 고딕"/>
                <a:cs typeface="맑은 고딕"/>
              </a:rPr>
              <a:t>플러그인 안에서 직접 발급</a:t>
            </a:r>
          </a:p>
        </p:txBody>
      </p:sp>
      <p:sp>
        <p:nvSpPr>
          <p:cNvPr id="30" name="TextBox 29"/>
          <p:cNvSpPr txBox="1"/>
          <p:nvPr/>
        </p:nvSpPr>
        <p:spPr>
          <a:xfrm>
            <a:off x="8128000" y="5664200"/>
            <a:ext cx="3505200" cy="279400"/>
          </a:xfrm>
          <a:prstGeom prst="rect">
            <a:avLst/>
          </a:prstGeom>
          <a:noFill/>
        </p:spPr>
        <p:txBody>
          <a:bodyPr wrap="square" lIns="0" tIns="0" rIns="0" bIns="0">
            <a:spAutoFit/>
          </a:bodyPr>
          <a:lstStyle/>
          <a:p>
            <a:pPr algn="l"/>
            <a:r>
              <a:rPr sz="1400" b="0">
                <a:solidFill>
                  <a:srgbClr val="514B43"/>
                </a:solidFill>
                <a:latin typeface="맑은 고딕"/>
                <a:ea typeface="맑은 고딕"/>
                <a:cs typeface="맑은 고딕"/>
              </a:rPr>
              <a:t>내 노트를 읽고 씁니다</a:t>
            </a:r>
          </a:p>
        </p:txBody>
      </p:sp>
      <p:sp>
        <p:nvSpPr>
          <p:cNvPr id="31" name="TextBox 30"/>
          <p:cNvSpPr txBox="1"/>
          <p:nvPr/>
        </p:nvSpPr>
        <p:spPr>
          <a:xfrm>
            <a:off x="571500" y="6273800"/>
            <a:ext cx="11061700" cy="304800"/>
          </a:xfrm>
          <a:prstGeom prst="rect">
            <a:avLst/>
          </a:prstGeom>
          <a:noFill/>
        </p:spPr>
        <p:txBody>
          <a:bodyPr wrap="square" lIns="0" tIns="0" rIns="0" bIns="0">
            <a:spAutoFit/>
          </a:bodyPr>
          <a:lstStyle/>
          <a:p>
            <a:pPr algn="l"/>
            <a:r>
              <a:rPr sz="1350" b="0">
                <a:solidFill>
                  <a:srgbClr val="514B43"/>
                </a:solidFill>
                <a:latin typeface="맑은 고딕"/>
                <a:ea typeface="맑은 고딕"/>
                <a:cs typeface="맑은 고딕"/>
              </a:rPr>
              <a:t>출처: 각 기관 공식 사이트 · 네이버 신규 신청 중단은 developers.naver.com 공지 32530 (2026-08-06 확인)</a:t>
            </a:r>
          </a:p>
        </p:txBody>
      </p:sp>
      <p:sp>
        <p:nvSpPr>
          <p:cNvPr id="32" name="TextBox 31"/>
          <p:cNvSpPr txBox="1"/>
          <p:nvPr/>
        </p:nvSpPr>
        <p:spPr>
          <a:xfrm>
            <a:off x="6350000" y="6451600"/>
            <a:ext cx="5270500" cy="279400"/>
          </a:xfrm>
          <a:prstGeom prst="rect">
            <a:avLst/>
          </a:prstGeom>
          <a:noFill/>
        </p:spPr>
        <p:txBody>
          <a:bodyPr wrap="square" lIns="0" tIns="0" rIns="0" bIns="0">
            <a:spAutoFit/>
          </a:bodyPr>
          <a:lstStyle/>
          <a:p>
            <a:pPr algn="r"/>
            <a:r>
              <a:rPr sz="1200" b="0">
                <a:solidFill>
                  <a:srgbClr val="A69C90"/>
                </a:solidFill>
                <a:latin typeface="맑은 고딕"/>
                <a:ea typeface="맑은 고딕"/>
                <a:cs typeface="맑은 고딕"/>
              </a:rPr>
              <a:t>부록 · 내가 붙인 MCP          75 / 81</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spAutoFit/>
          </a:bodyPr>
          <a:lstStyle/>
          <a:p>
            <a:pPr algn="l">
              <a:lnSpc>
                <a:spcPct val="100000"/>
              </a:lnSpc>
            </a:pPr>
            <a:r>
              <a:rPr sz="3600" b="1">
                <a:solidFill>
                  <a:srgbClr val="24211D"/>
                </a:solidFill>
                <a:latin typeface="맑은 고딕"/>
                <a:ea typeface="맑은 고딕"/>
                <a:cs typeface="맑은 고딕"/>
              </a:rPr>
              <a:t>이만큼 붙일 필요는 없습니다</a:t>
            </a:r>
          </a:p>
        </p:txBody>
      </p:sp>
      <p:sp>
        <p:nvSpPr>
          <p:cNvPr id="3" name="TextBox 2"/>
          <p:cNvSpPr txBox="1"/>
          <p:nvPr/>
        </p:nvSpPr>
        <p:spPr>
          <a:xfrm>
            <a:off x="571500" y="1130300"/>
            <a:ext cx="11061700" cy="381000"/>
          </a:xfrm>
          <a:prstGeom prst="rect">
            <a:avLst/>
          </a:prstGeom>
          <a:noFill/>
        </p:spPr>
        <p:txBody>
          <a:bodyPr wrap="square" lIns="0" tIns="0" rIns="0" bIns="0">
            <a:spAutoFit/>
          </a:bodyPr>
          <a:lstStyle/>
          <a:p>
            <a:pPr algn="l">
              <a:lnSpc>
                <a:spcPct val="100000"/>
              </a:lnSpc>
            </a:pPr>
            <a:r>
              <a:rPr sz="1800" b="0">
                <a:solidFill>
                  <a:srgbClr val="514B43"/>
                </a:solidFill>
                <a:latin typeface="맑은 고딕"/>
                <a:ea typeface="맑은 고딕"/>
                <a:cs typeface="맑은 고딕"/>
              </a:rPr>
              <a:t>26개는 3년치입니다. 오늘은 하나로 시작합니다</a:t>
            </a:r>
          </a:p>
        </p:txBody>
      </p:sp>
      <p:sp>
        <p:nvSpPr>
          <p:cNvPr id="4" name="Rounded Rectangle 3"/>
          <p:cNvSpPr/>
          <p:nvPr/>
        </p:nvSpPr>
        <p:spPr>
          <a:xfrm>
            <a:off x="571500" y="1981200"/>
            <a:ext cx="5334000" cy="3048000"/>
          </a:xfrm>
          <a:prstGeom prst="roundRect">
            <a:avLst>
              <a:gd name="adj" fmla="val 6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14400" y="2286000"/>
            <a:ext cx="4572000" cy="355600"/>
          </a:xfrm>
          <a:prstGeom prst="rect">
            <a:avLst/>
          </a:prstGeom>
          <a:noFill/>
        </p:spPr>
        <p:txBody>
          <a:bodyPr wrap="square" lIns="0" tIns="0" rIns="0" bIns="0">
            <a:spAutoFit/>
          </a:bodyPr>
          <a:lstStyle/>
          <a:p>
            <a:pPr algn="l">
              <a:lnSpc>
                <a:spcPct val="100000"/>
              </a:lnSpc>
            </a:pPr>
            <a:r>
              <a:rPr sz="2000" b="1">
                <a:solidFill>
                  <a:srgbClr val="24211D"/>
                </a:solidFill>
                <a:latin typeface="맑은 고딕"/>
                <a:ea typeface="맑은 고딕"/>
                <a:cs typeface="맑은 고딕"/>
              </a:rPr>
              <a:t>많이 붙이면</a:t>
            </a:r>
          </a:p>
        </p:txBody>
      </p:sp>
      <p:sp>
        <p:nvSpPr>
          <p:cNvPr id="6" name="TextBox 5"/>
          <p:cNvSpPr txBox="1"/>
          <p:nvPr/>
        </p:nvSpPr>
        <p:spPr>
          <a:xfrm>
            <a:off x="914400" y="2768600"/>
            <a:ext cx="4572000" cy="2032000"/>
          </a:xfrm>
          <a:prstGeom prst="rect">
            <a:avLst/>
          </a:prstGeom>
          <a:noFill/>
        </p:spPr>
        <p:txBody>
          <a:bodyPr wrap="square" lIns="0" tIns="0" rIns="0" bIns="0">
            <a:spAutoFit/>
          </a:bodyPr>
          <a:lstStyle/>
          <a:p>
            <a:pPr algn="l">
              <a:lnSpc>
                <a:spcPct val="140000"/>
              </a:lnSpc>
            </a:pPr>
            <a:r>
              <a:rPr sz="1700" b="0">
                <a:solidFill>
                  <a:srgbClr val="514B43"/>
                </a:solidFill>
                <a:latin typeface="맑은 고딕"/>
                <a:ea typeface="맑은 고딕"/>
                <a:cs typeface="맑은 고딕"/>
              </a:rPr>
              <a:t>안 써도 자리를 차지합니다.</a:t>
            </a:r>
          </a:p>
          <a:p>
            <a:pPr algn="l">
              <a:lnSpc>
                <a:spcPct val="140000"/>
              </a:lnSpc>
            </a:pPr>
            <a:r>
              <a:rPr sz="1700" b="0">
                <a:solidFill>
                  <a:srgbClr val="514B43"/>
                </a:solidFill>
                <a:latin typeface="맑은 고딕"/>
                <a:ea typeface="맑은 고딕"/>
                <a:cs typeface="맑은 고딕"/>
              </a:rPr>
              <a:t>대화가 무거워지고</a:t>
            </a:r>
          </a:p>
          <a:p>
            <a:pPr algn="l">
              <a:lnSpc>
                <a:spcPct val="140000"/>
              </a:lnSpc>
            </a:pPr>
            <a:r>
              <a:rPr sz="1700" b="0">
                <a:solidFill>
                  <a:srgbClr val="514B43"/>
                </a:solidFill>
                <a:latin typeface="맑은 고딕"/>
                <a:ea typeface="맑은 고딕"/>
                <a:cs typeface="맑은 고딕"/>
              </a:rPr>
              <a:t>사용 한도가 빨리 찹니다.</a:t>
            </a:r>
          </a:p>
          <a:p>
            <a:pPr algn="l">
              <a:lnSpc>
                <a:spcPct val="140000"/>
              </a:lnSpc>
            </a:pPr>
            <a:endParaRPr sz="1700" b="0">
              <a:solidFill>
                <a:srgbClr val="514B43"/>
              </a:solidFill>
              <a:latin typeface="맑은 고딕"/>
              <a:ea typeface="맑은 고딕"/>
              <a:cs typeface="맑은 고딕"/>
            </a:endParaRPr>
          </a:p>
          <a:p>
            <a:pPr algn="l">
              <a:lnSpc>
                <a:spcPct val="140000"/>
              </a:lnSpc>
            </a:pPr>
            <a:r>
              <a:rPr sz="1700" b="0">
                <a:solidFill>
                  <a:srgbClr val="514B43"/>
                </a:solidFill>
                <a:latin typeface="맑은 고딕"/>
                <a:ea typeface="맑은 고딕"/>
                <a:cs typeface="맑은 고딕"/>
              </a:rPr>
              <a:t>안 될 때 원인을 찾기도</a:t>
            </a:r>
          </a:p>
          <a:p>
            <a:pPr algn="l">
              <a:lnSpc>
                <a:spcPct val="140000"/>
              </a:lnSpc>
            </a:pPr>
            <a:r>
              <a:rPr sz="1700" b="0">
                <a:solidFill>
                  <a:srgbClr val="514B43"/>
                </a:solidFill>
                <a:latin typeface="맑은 고딕"/>
                <a:ea typeface="맑은 고딕"/>
                <a:cs typeface="맑은 고딕"/>
              </a:rPr>
              <a:t>그만큼 어려워집니다.</a:t>
            </a:r>
          </a:p>
        </p:txBody>
      </p:sp>
      <p:sp>
        <p:nvSpPr>
          <p:cNvPr id="7" name="Rounded Rectangle 6"/>
          <p:cNvSpPr/>
          <p:nvPr/>
        </p:nvSpPr>
        <p:spPr>
          <a:xfrm>
            <a:off x="6299200" y="1981200"/>
            <a:ext cx="5334000" cy="3048000"/>
          </a:xfrm>
          <a:prstGeom prst="roundRect">
            <a:avLst>
              <a:gd name="adj" fmla="val 6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642100" y="2286000"/>
            <a:ext cx="4572000" cy="355600"/>
          </a:xfrm>
          <a:prstGeom prst="rect">
            <a:avLst/>
          </a:prstGeom>
          <a:noFill/>
        </p:spPr>
        <p:txBody>
          <a:bodyPr wrap="square" lIns="0" tIns="0" rIns="0" bIns="0">
            <a:spAutoFit/>
          </a:bodyPr>
          <a:lstStyle/>
          <a:p>
            <a:pPr algn="l">
              <a:lnSpc>
                <a:spcPct val="100000"/>
              </a:lnSpc>
            </a:pPr>
            <a:r>
              <a:rPr sz="2000" b="1">
                <a:solidFill>
                  <a:srgbClr val="F6F1EA"/>
                </a:solidFill>
                <a:latin typeface="맑은 고딕"/>
                <a:ea typeface="맑은 고딕"/>
                <a:cs typeface="맑은 고딕"/>
              </a:rPr>
              <a:t>하나로 시작하면</a:t>
            </a:r>
          </a:p>
        </p:txBody>
      </p:sp>
      <p:sp>
        <p:nvSpPr>
          <p:cNvPr id="9" name="TextBox 8"/>
          <p:cNvSpPr txBox="1"/>
          <p:nvPr/>
        </p:nvSpPr>
        <p:spPr>
          <a:xfrm>
            <a:off x="6642100" y="2768600"/>
            <a:ext cx="4572000" cy="2032000"/>
          </a:xfrm>
          <a:prstGeom prst="rect">
            <a:avLst/>
          </a:prstGeom>
          <a:noFill/>
        </p:spPr>
        <p:txBody>
          <a:bodyPr wrap="square" lIns="0" tIns="0" rIns="0" bIns="0">
            <a:spAutoFit/>
          </a:bodyPr>
          <a:lstStyle/>
          <a:p>
            <a:pPr algn="l">
              <a:lnSpc>
                <a:spcPct val="140000"/>
              </a:lnSpc>
            </a:pPr>
            <a:r>
              <a:rPr sz="1700" b="0">
                <a:solidFill>
                  <a:srgbClr val="C9C0B4"/>
                </a:solidFill>
                <a:latin typeface="맑은 고딕"/>
                <a:ea typeface="맑은 고딕"/>
                <a:cs typeface="맑은 고딕"/>
              </a:rPr>
              <a:t>막히는 지점이 하나라</a:t>
            </a:r>
          </a:p>
          <a:p>
            <a:pPr algn="l">
              <a:lnSpc>
                <a:spcPct val="140000"/>
              </a:lnSpc>
            </a:pPr>
            <a:r>
              <a:rPr sz="1700" b="0">
                <a:solidFill>
                  <a:srgbClr val="C9C0B4"/>
                </a:solidFill>
                <a:latin typeface="맑은 고딕"/>
                <a:ea typeface="맑은 고딕"/>
                <a:cs typeface="맑은 고딕"/>
              </a:rPr>
              <a:t>그 자리에서 잡힙니다.</a:t>
            </a:r>
          </a:p>
          <a:p>
            <a:pPr algn="l">
              <a:lnSpc>
                <a:spcPct val="140000"/>
              </a:lnSpc>
            </a:pPr>
            <a:endParaRPr sz="1700" b="0">
              <a:solidFill>
                <a:srgbClr val="C9C0B4"/>
              </a:solidFill>
              <a:latin typeface="맑은 고딕"/>
              <a:ea typeface="맑은 고딕"/>
              <a:cs typeface="맑은 고딕"/>
            </a:endParaRPr>
          </a:p>
          <a:p>
            <a:pPr algn="l">
              <a:lnSpc>
                <a:spcPct val="140000"/>
              </a:lnSpc>
            </a:pPr>
            <a:r>
              <a:rPr sz="1700" b="0">
                <a:solidFill>
                  <a:srgbClr val="C9C0B4"/>
                </a:solidFill>
                <a:latin typeface="맑은 고딕"/>
                <a:ea typeface="맑은 고딕"/>
                <a:cs typeface="맑은 고딕"/>
              </a:rPr>
              <a:t>필요할 때 하나씩 늘리세요.</a:t>
            </a:r>
          </a:p>
          <a:p>
            <a:pPr algn="l">
              <a:lnSpc>
                <a:spcPct val="140000"/>
              </a:lnSpc>
            </a:pPr>
            <a:r>
              <a:rPr sz="1700" b="0">
                <a:solidFill>
                  <a:srgbClr val="C9C0B4"/>
                </a:solidFill>
                <a:latin typeface="맑은 고딕"/>
                <a:ea typeface="맑은 고딕"/>
                <a:cs typeface="맑은 고딕"/>
              </a:rPr>
              <a:t>"이게 안 되네" 싶을 때가</a:t>
            </a:r>
          </a:p>
          <a:p>
            <a:pPr algn="l">
              <a:lnSpc>
                <a:spcPct val="140000"/>
              </a:lnSpc>
            </a:pPr>
            <a:r>
              <a:rPr sz="1700" b="0">
                <a:solidFill>
                  <a:srgbClr val="C9C0B4"/>
                </a:solidFill>
                <a:latin typeface="맑은 고딕"/>
                <a:ea typeface="맑은 고딕"/>
                <a:cs typeface="맑은 고딕"/>
              </a:rPr>
              <a:t>붙일 때입니다.</a:t>
            </a:r>
          </a:p>
        </p:txBody>
      </p:sp>
      <p:sp>
        <p:nvSpPr>
          <p:cNvPr id="10" name="Rounded Rectangle 9"/>
          <p:cNvSpPr/>
          <p:nvPr/>
        </p:nvSpPr>
        <p:spPr>
          <a:xfrm>
            <a:off x="571500" y="5232400"/>
            <a:ext cx="11061700" cy="5334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63600" y="5360987"/>
            <a:ext cx="10477500" cy="304800"/>
          </a:xfrm>
          <a:prstGeom prst="rect">
            <a:avLst/>
          </a:prstGeom>
          <a:noFill/>
        </p:spPr>
        <p:txBody>
          <a:bodyPr wrap="square" lIns="0" tIns="0" rIns="0" bIns="0">
            <a:spAutoFit/>
          </a:bodyPr>
          <a:lstStyle/>
          <a:p>
            <a:pPr algn="l">
              <a:lnSpc>
                <a:spcPct val="100000"/>
              </a:lnSpc>
            </a:pPr>
            <a:r>
              <a:rPr sz="1500" b="1">
                <a:solidFill>
                  <a:srgbClr val="F6F1EA"/>
                </a:solidFill>
                <a:latin typeface="맑은 고딕"/>
                <a:ea typeface="맑은 고딕"/>
                <a:cs typeface="맑은 고딕"/>
              </a:rPr>
              <a:t>오늘 붙일 것은 PlayMCP 커넥터 하나입니다.  나머지는 필요해질 때 오시면 됩니다.</a:t>
            </a:r>
          </a:p>
        </p:txBody>
      </p:sp>
      <p:sp>
        <p:nvSpPr>
          <p:cNvPr id="12" name="TextBox 11"/>
          <p:cNvSpPr txBox="1"/>
          <p:nvPr/>
        </p:nvSpPr>
        <p:spPr>
          <a:xfrm>
            <a:off x="571500" y="6273800"/>
            <a:ext cx="11061700" cy="304800"/>
          </a:xfrm>
          <a:prstGeom prst="rect">
            <a:avLst/>
          </a:prstGeom>
          <a:noFill/>
        </p:spPr>
        <p:txBody>
          <a:bodyPr wrap="square" lIns="0" tIns="0" rIns="0" bIns="0">
            <a:spAutoFit/>
          </a:bodyPr>
          <a:lstStyle/>
          <a:p>
            <a:pPr algn="l">
              <a:lnSpc>
                <a:spcPct val="100000"/>
              </a:lnSpc>
            </a:pPr>
            <a:r>
              <a:rPr sz="1350" b="0">
                <a:solidFill>
                  <a:srgbClr val="514B43"/>
                </a:solidFill>
                <a:latin typeface="맑은 고딕"/>
                <a:ea typeface="맑은 고딕"/>
                <a:cs typeface="맑은 고딕"/>
              </a:rPr>
              <a:t>설정 파일에는 API 키가 들어 있습니다. 화면 공유나 캡처 전에 반드시 가리십시오</a:t>
            </a:r>
          </a:p>
        </p:txBody>
      </p:sp>
      <p:sp>
        <p:nvSpPr>
          <p:cNvPr id="13" name="TextBox 12"/>
          <p:cNvSpPr txBox="1"/>
          <p:nvPr/>
        </p:nvSpPr>
        <p:spPr>
          <a:xfrm>
            <a:off x="6350000" y="6451600"/>
            <a:ext cx="5270500" cy="279400"/>
          </a:xfrm>
          <a:prstGeom prst="rect">
            <a:avLst/>
          </a:prstGeom>
          <a:noFill/>
        </p:spPr>
        <p:txBody>
          <a:bodyPr wrap="square" lIns="0" tIns="0" rIns="0" bIns="0">
            <a:spAutoFit/>
          </a:bodyPr>
          <a:lstStyle/>
          <a:p>
            <a:pPr algn="r">
              <a:lnSpc>
                <a:spcPct val="100000"/>
              </a:lnSpc>
            </a:pPr>
            <a:r>
              <a:rPr sz="1200" b="0">
                <a:solidFill>
                  <a:srgbClr val="A69C90"/>
                </a:solidFill>
                <a:latin typeface="맑은 고딕"/>
                <a:ea typeface="맑은 고딕"/>
                <a:cs typeface="맑은 고딕"/>
              </a:rPr>
              <a:t>부록 · 내가 붙인 MCP          76 / 81</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24211D"/>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6643929-5B45-1C83-DF63-455C001C908F}"/>
              </a:ext>
            </a:extLst>
          </p:cNvPr>
          <p:cNvSpPr/>
          <p:nvPr/>
        </p:nvSpPr>
        <p:spPr>
          <a:xfrm>
            <a:off x="8128000" y="0"/>
            <a:ext cx="4064000" cy="6858000"/>
          </a:xfrm>
          <a:prstGeom prst="rect">
            <a:avLst/>
          </a:prstGeom>
          <a:solidFill>
            <a:srgbClr val="302C2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9BFD9DA7-8168-77CD-238D-692C992E2872}"/>
              </a:ext>
            </a:extLst>
          </p:cNvPr>
          <p:cNvSpPr txBox="1"/>
          <p:nvPr/>
        </p:nvSpPr>
        <p:spPr>
          <a:xfrm>
            <a:off x="8128000" y="1905000"/>
            <a:ext cx="4064000" cy="3016210"/>
          </a:xfrm>
          <a:prstGeom prst="rect">
            <a:avLst/>
          </a:prstGeom>
          <a:noFill/>
        </p:spPr>
        <p:txBody>
          <a:bodyPr vert="horz" rtlCol="0" anchor="ctr">
            <a:spAutoFit/>
          </a:bodyPr>
          <a:lstStyle/>
          <a:p>
            <a:pPr algn="ctr"/>
            <a:r>
              <a:rPr sz="19000" b="1">
                <a:solidFill>
                  <a:srgbClr val="4A4239"/>
                </a:solidFill>
                <a:latin typeface="맑은 고딕"/>
                <a:ea typeface="맑은 고딕"/>
                <a:cs typeface="맑은 고딕"/>
              </a:rPr>
              <a:t>B</a:t>
            </a:r>
            <a:endParaRPr lang="ko-KR" altLang="en-US" sz="19000" b="1">
              <a:solidFill>
                <a:srgbClr val="4A4239"/>
              </a:solidFill>
              <a:latin typeface="맑은 고딕" panose="020B0503020000020004" pitchFamily="50" charset="-127"/>
              <a:ea typeface="맑은 고딕" panose="020B0503020000020004" pitchFamily="50" charset="-127"/>
            </a:endParaRPr>
          </a:p>
        </p:txBody>
      </p:sp>
      <p:sp>
        <p:nvSpPr>
          <p:cNvPr id="4" name="TextBox 3">
            <a:extLst>
              <a:ext uri="{FF2B5EF4-FFF2-40B4-BE49-F238E27FC236}">
                <a16:creationId xmlns:a16="http://schemas.microsoft.com/office/drawing/2014/main" id="{378F55B2-574E-8C0B-7AAF-8BD32B5D1652}"/>
              </a:ext>
            </a:extLst>
          </p:cNvPr>
          <p:cNvSpPr txBox="1"/>
          <p:nvPr/>
        </p:nvSpPr>
        <p:spPr>
          <a:xfrm>
            <a:off x="863600" y="2235200"/>
            <a:ext cx="5842000" cy="353943"/>
          </a:xfrm>
          <a:prstGeom prst="rect">
            <a:avLst/>
          </a:prstGeom>
          <a:noFill/>
        </p:spPr>
        <p:txBody>
          <a:bodyPr vert="horz" rtlCol="0" anchor="ctr">
            <a:spAutoFit/>
          </a:bodyPr>
          <a:lstStyle/>
          <a:p>
            <a:r>
              <a:rPr sz="1700" b="1">
                <a:solidFill>
                  <a:srgbClr val="D97757"/>
                </a:solidFill>
                <a:latin typeface="맑은 고딕"/>
                <a:ea typeface="맑은 고딕"/>
                <a:cs typeface="맑은 고딕"/>
              </a:rPr>
              <a:t>APPENDIX B</a:t>
            </a:r>
            <a:endParaRPr lang="ko-KR" altLang="en-US" sz="1700" b="1">
              <a:solidFill>
                <a:srgbClr val="D97757"/>
              </a:solidFill>
              <a:latin typeface="맑은 고딕" panose="020B0503020000020004" pitchFamily="50" charset="-127"/>
              <a:ea typeface="맑은 고딕" panose="020B0503020000020004" pitchFamily="50" charset="-127"/>
            </a:endParaRPr>
          </a:p>
        </p:txBody>
      </p:sp>
      <p:sp>
        <p:nvSpPr>
          <p:cNvPr id="5" name="TextBox 4">
            <a:extLst>
              <a:ext uri="{FF2B5EF4-FFF2-40B4-BE49-F238E27FC236}">
                <a16:creationId xmlns:a16="http://schemas.microsoft.com/office/drawing/2014/main" id="{BCE60D38-708F-0ACC-AD36-63E86B791A3D}"/>
              </a:ext>
            </a:extLst>
          </p:cNvPr>
          <p:cNvSpPr txBox="1"/>
          <p:nvPr/>
        </p:nvSpPr>
        <p:spPr>
          <a:xfrm>
            <a:off x="863600" y="2616200"/>
            <a:ext cx="6921500" cy="646331"/>
          </a:xfrm>
          <a:prstGeom prst="rect">
            <a:avLst/>
          </a:prstGeom>
          <a:noFill/>
        </p:spPr>
        <p:txBody>
          <a:bodyPr vert="horz" rtlCol="0" anchor="t">
            <a:spAutoFit/>
          </a:bodyPr>
          <a:lstStyle/>
          <a:p>
            <a:r>
              <a:rPr sz="3600" b="1">
                <a:solidFill>
                  <a:srgbClr val="FFFFFF"/>
                </a:solidFill>
                <a:latin typeface="맑은 고딕"/>
                <a:ea typeface="맑은 고딕"/>
                <a:cs typeface="맑은 고딕"/>
              </a:rPr>
              <a:t>Cowork 와 Code</a:t>
            </a:r>
          </a:p>
        </p:txBody>
      </p:sp>
      <p:sp>
        <p:nvSpPr>
          <p:cNvPr id="6" name="직사각형 5">
            <a:extLst>
              <a:ext uri="{FF2B5EF4-FFF2-40B4-BE49-F238E27FC236}">
                <a16:creationId xmlns:a16="http://schemas.microsoft.com/office/drawing/2014/main" id="{DD183382-56CD-B055-AE31-221491A9C213}"/>
              </a:ext>
            </a:extLst>
          </p:cNvPr>
          <p:cNvSpPr/>
          <p:nvPr/>
        </p:nvSpPr>
        <p:spPr>
          <a:xfrm>
            <a:off x="914400" y="3810000"/>
            <a:ext cx="812800" cy="50800"/>
          </a:xfrm>
          <a:prstGeom prst="rect">
            <a:avLst/>
          </a:prstGeom>
          <a:solidFill>
            <a:srgbClr val="D977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E9FED234-C09F-4AB0-73A7-A1079BC9CE1B}"/>
              </a:ext>
            </a:extLst>
          </p:cNvPr>
          <p:cNvSpPr txBox="1"/>
          <p:nvPr/>
        </p:nvSpPr>
        <p:spPr>
          <a:xfrm>
            <a:off x="863600" y="4114800"/>
            <a:ext cx="6921500" cy="1708160"/>
          </a:xfrm>
          <a:prstGeom prst="rect">
            <a:avLst/>
          </a:prstGeom>
          <a:noFill/>
        </p:spPr>
        <p:txBody>
          <a:bodyPr vert="horz" rtlCol="0" anchor="t">
            <a:spAutoFit/>
          </a:bodyPr>
          <a:lstStyle/>
          <a:p>
            <a:pPr>
              <a:spcAft>
                <a:spcPts val="1000"/>
              </a:spcAft>
            </a:pPr>
            <a:r>
              <a:rPr sz="1700">
                <a:solidFill>
                  <a:srgbClr val="C9C0B4"/>
                </a:solidFill>
                <a:latin typeface="맑은 고딕"/>
                <a:ea typeface="맑은 고딕"/>
                <a:cs typeface="맑은 고딕"/>
              </a:rPr>
              <a:t>방 한 칸이냐, 집 열쇠냐</a:t>
            </a:r>
          </a:p>
          <a:p>
            <a:pPr>
              <a:spcAft>
                <a:spcPts val="1000"/>
              </a:spcAft>
            </a:pPr>
            <a:r>
              <a:rPr sz="1700">
                <a:solidFill>
                  <a:srgbClr val="C9C0B4"/>
                </a:solidFill>
                <a:latin typeface="맑은 고딕"/>
                <a:ea typeface="맑은 고딕"/>
                <a:cs typeface="맑은 고딕"/>
              </a:rPr>
              <a:t>Code 에만 있는 것 세 가지</a:t>
            </a:r>
          </a:p>
          <a:p>
            <a:pPr>
              <a:spcAft>
                <a:spcPts val="1000"/>
              </a:spcAft>
            </a:pPr>
            <a:r>
              <a:rPr sz="1700">
                <a:solidFill>
                  <a:srgbClr val="C9C0B4"/>
                </a:solidFill>
                <a:latin typeface="맑은 고딕"/>
                <a:ea typeface="맑은 고딕"/>
                <a:cs typeface="맑은 고딕"/>
              </a:rPr>
              <a:t>이런 일은 여기서 하세요</a:t>
            </a:r>
          </a:p>
          <a:p>
            <a:pPr>
              <a:spcAft>
                <a:spcPts val="1000"/>
              </a:spcAft>
            </a:pPr>
            <a:r>
              <a:rPr sz="1700">
                <a:solidFill>
                  <a:srgbClr val="C9C0B4"/>
                </a:solidFill>
                <a:latin typeface="맑은 고딕"/>
                <a:ea typeface="맑은 고딕"/>
                <a:cs typeface="맑은 고딕"/>
              </a:rPr>
              <a:t>처음엔 Cowork 로 충분합니다</a:t>
            </a:r>
          </a:p>
        </p:txBody>
      </p:sp>
      <p:sp>
        <p:nvSpPr>
          <p:cNvPr id="8" name="TextBox 7">
            <a:extLst>
              <a:ext uri="{FF2B5EF4-FFF2-40B4-BE49-F238E27FC236}">
                <a16:creationId xmlns:a16="http://schemas.microsoft.com/office/drawing/2014/main" id="{C0002559-B967-2887-69BE-F3A1DD341FD3}"/>
              </a:ext>
            </a:extLst>
          </p:cNvPr>
          <p:cNvSpPr txBox="1"/>
          <p:nvPr/>
        </p:nvSpPr>
        <p:spPr>
          <a:xfrm>
            <a:off x="863600" y="6172200"/>
            <a:ext cx="5842000" cy="292388"/>
          </a:xfrm>
          <a:prstGeom prst="rect">
            <a:avLst/>
          </a:prstGeom>
          <a:noFill/>
        </p:spPr>
        <p:txBody>
          <a:bodyPr vert="horz" rtlCol="0" anchor="ctr">
            <a:spAutoFit/>
          </a:bodyPr>
          <a:lstStyle/>
          <a:p>
            <a:r>
              <a:rPr lang="en-US" altLang="ko-KR" sz="1300">
                <a:solidFill>
                  <a:srgbClr val="726859"/>
                </a:solidFill>
                <a:latin typeface="맑은 고딕" panose="020B0503020000020004" pitchFamily="50" charset="-127"/>
                <a:ea typeface="맑은 고딕" panose="020B0503020000020004" pitchFamily="50" charset="-127"/>
              </a:rPr>
              <a:t>Claude 데스크탑 시작하기</a:t>
            </a:r>
          </a:p>
        </p:txBody>
      </p:sp>
      <p:pic>
        <p:nvPicPr>
          <p:cNvPr id="10" name="그래픽 9">
            <a:extLst>
              <a:ext uri="{FF2B5EF4-FFF2-40B4-BE49-F238E27FC236}">
                <a16:creationId xmlns:a16="http://schemas.microsoft.com/office/drawing/2014/main" id="{C3F91544-AA8B-8F05-DD1A-7749234F5B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3600" y="889000"/>
            <a:ext cx="812800" cy="8128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spAutoFit/>
          </a:bodyPr>
          <a:lstStyle/>
          <a:p>
            <a:pPr algn="l">
              <a:lnSpc>
                <a:spcPct val="100000"/>
              </a:lnSpc>
            </a:pPr>
            <a:r>
              <a:rPr sz="3600" b="1">
                <a:solidFill>
                  <a:srgbClr val="24211D"/>
                </a:solidFill>
                <a:latin typeface="맑은 고딕"/>
                <a:ea typeface="맑은 고딕"/>
                <a:cs typeface="맑은 고딕"/>
              </a:rPr>
              <a:t>방 한 칸이냐, 집 열쇠냐</a:t>
            </a:r>
          </a:p>
        </p:txBody>
      </p:sp>
      <p:sp>
        <p:nvSpPr>
          <p:cNvPr id="3" name="TextBox 2"/>
          <p:cNvSpPr txBox="1"/>
          <p:nvPr/>
        </p:nvSpPr>
        <p:spPr>
          <a:xfrm>
            <a:off x="571500" y="1130300"/>
            <a:ext cx="11061700" cy="381000"/>
          </a:xfrm>
          <a:prstGeom prst="rect">
            <a:avLst/>
          </a:prstGeom>
          <a:noFill/>
        </p:spPr>
        <p:txBody>
          <a:bodyPr wrap="square" lIns="0" tIns="0" rIns="0" bIns="0">
            <a:spAutoFit/>
          </a:bodyPr>
          <a:lstStyle/>
          <a:p>
            <a:pPr algn="l">
              <a:lnSpc>
                <a:spcPct val="100000"/>
              </a:lnSpc>
            </a:pPr>
            <a:r>
              <a:rPr sz="1800" b="0">
                <a:solidFill>
                  <a:srgbClr val="514B43"/>
                </a:solidFill>
                <a:latin typeface="맑은 고딕"/>
                <a:ea typeface="맑은 고딕"/>
                <a:cs typeface="맑은 고딕"/>
              </a:rPr>
              <a:t>둘은 같은 사람입니다. 어디까지 들어가느냐가 다릅니다</a:t>
            </a:r>
          </a:p>
        </p:txBody>
      </p:sp>
      <p:sp>
        <p:nvSpPr>
          <p:cNvPr id="4" name="Rounded Rectangle 3"/>
          <p:cNvSpPr/>
          <p:nvPr/>
        </p:nvSpPr>
        <p:spPr>
          <a:xfrm>
            <a:off x="571500" y="1930400"/>
            <a:ext cx="5334000" cy="2921000"/>
          </a:xfrm>
          <a:prstGeom prst="roundRect">
            <a:avLst>
              <a:gd name="adj" fmla="val 6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14400" y="2235200"/>
            <a:ext cx="4572000" cy="406400"/>
          </a:xfrm>
          <a:prstGeom prst="rect">
            <a:avLst/>
          </a:prstGeom>
          <a:noFill/>
        </p:spPr>
        <p:txBody>
          <a:bodyPr wrap="square" lIns="0" tIns="0" rIns="0" bIns="0">
            <a:spAutoFit/>
          </a:bodyPr>
          <a:lstStyle/>
          <a:p>
            <a:pPr algn="l">
              <a:lnSpc>
                <a:spcPct val="100000"/>
              </a:lnSpc>
            </a:pPr>
            <a:r>
              <a:rPr sz="2400" b="1">
                <a:solidFill>
                  <a:srgbClr val="24211D"/>
                </a:solidFill>
                <a:latin typeface="맑은 고딕"/>
                <a:ea typeface="맑은 고딕"/>
                <a:cs typeface="맑은 고딕"/>
              </a:rPr>
              <a:t>Cowork</a:t>
            </a:r>
          </a:p>
        </p:txBody>
      </p:sp>
      <p:sp>
        <p:nvSpPr>
          <p:cNvPr id="6" name="TextBox 5"/>
          <p:cNvSpPr txBox="1"/>
          <p:nvPr/>
        </p:nvSpPr>
        <p:spPr>
          <a:xfrm>
            <a:off x="914400" y="2692400"/>
            <a:ext cx="4572000" cy="330200"/>
          </a:xfrm>
          <a:prstGeom prst="rect">
            <a:avLst/>
          </a:prstGeom>
          <a:noFill/>
        </p:spPr>
        <p:txBody>
          <a:bodyPr wrap="square" lIns="0" tIns="0" rIns="0" bIns="0">
            <a:spAutoFit/>
          </a:bodyPr>
          <a:lstStyle/>
          <a:p>
            <a:pPr algn="l">
              <a:lnSpc>
                <a:spcPct val="100000"/>
              </a:lnSpc>
            </a:pPr>
            <a:r>
              <a:rPr sz="1800" b="1">
                <a:solidFill>
                  <a:srgbClr val="D97757"/>
                </a:solidFill>
                <a:latin typeface="맑은 고딕"/>
                <a:ea typeface="맑은 고딕"/>
                <a:cs typeface="맑은 고딕"/>
              </a:rPr>
              <a:t>방 한 칸을 내주는 것</a:t>
            </a:r>
          </a:p>
        </p:txBody>
      </p:sp>
      <p:sp>
        <p:nvSpPr>
          <p:cNvPr id="7" name="TextBox 6"/>
          <p:cNvSpPr txBox="1"/>
          <p:nvPr/>
        </p:nvSpPr>
        <p:spPr>
          <a:xfrm>
            <a:off x="914400" y="3149600"/>
            <a:ext cx="4572000" cy="1397000"/>
          </a:xfrm>
          <a:prstGeom prst="rect">
            <a:avLst/>
          </a:prstGeom>
          <a:noFill/>
        </p:spPr>
        <p:txBody>
          <a:bodyPr wrap="square" lIns="0" tIns="0" rIns="0" bIns="0">
            <a:spAutoFit/>
          </a:bodyPr>
          <a:lstStyle/>
          <a:p>
            <a:pPr algn="l">
              <a:lnSpc>
                <a:spcPct val="145000"/>
              </a:lnSpc>
            </a:pPr>
            <a:r>
              <a:rPr sz="1700" b="0">
                <a:solidFill>
                  <a:srgbClr val="514B43"/>
                </a:solidFill>
                <a:latin typeface="맑은 고딕"/>
                <a:ea typeface="맑은 고딕"/>
                <a:cs typeface="맑은 고딕"/>
              </a:rPr>
              <a:t>"이 방에서 일해줘."</a:t>
            </a:r>
          </a:p>
          <a:p>
            <a:pPr algn="l">
              <a:lnSpc>
                <a:spcPct val="145000"/>
              </a:lnSpc>
            </a:pPr>
            <a:r>
              <a:rPr sz="1700" b="0">
                <a:solidFill>
                  <a:srgbClr val="514B43"/>
                </a:solidFill>
                <a:latin typeface="맑은 고딕"/>
                <a:ea typeface="맑은 고딕"/>
                <a:cs typeface="맑은 고딕"/>
              </a:rPr>
              <a:t>그 방 안의 물건만 만집니다.</a:t>
            </a:r>
          </a:p>
          <a:p>
            <a:pPr algn="l">
              <a:lnSpc>
                <a:spcPct val="145000"/>
              </a:lnSpc>
            </a:pPr>
            <a:r>
              <a:rPr sz="1700" b="0">
                <a:solidFill>
                  <a:srgbClr val="514B43"/>
                </a:solidFill>
                <a:latin typeface="맑은 고딕"/>
                <a:ea typeface="맑은 고딕"/>
                <a:cs typeface="맑은 고딕"/>
              </a:rPr>
              <a:t>옆방은 못 들어갑니다.</a:t>
            </a:r>
          </a:p>
        </p:txBody>
      </p:sp>
      <p:sp>
        <p:nvSpPr>
          <p:cNvPr id="8" name="Rounded Rectangle 7"/>
          <p:cNvSpPr/>
          <p:nvPr/>
        </p:nvSpPr>
        <p:spPr>
          <a:xfrm>
            <a:off x="6299200" y="1930400"/>
            <a:ext cx="5334000" cy="2921000"/>
          </a:xfrm>
          <a:prstGeom prst="roundRect">
            <a:avLst>
              <a:gd name="adj" fmla="val 6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642100" y="2235200"/>
            <a:ext cx="4572000" cy="406400"/>
          </a:xfrm>
          <a:prstGeom prst="rect">
            <a:avLst/>
          </a:prstGeom>
          <a:noFill/>
        </p:spPr>
        <p:txBody>
          <a:bodyPr wrap="square" lIns="0" tIns="0" rIns="0" bIns="0">
            <a:spAutoFit/>
          </a:bodyPr>
          <a:lstStyle/>
          <a:p>
            <a:pPr algn="l">
              <a:lnSpc>
                <a:spcPct val="100000"/>
              </a:lnSpc>
            </a:pPr>
            <a:r>
              <a:rPr sz="2400" b="1">
                <a:solidFill>
                  <a:srgbClr val="F6F1EA"/>
                </a:solidFill>
                <a:latin typeface="맑은 고딕"/>
                <a:ea typeface="맑은 고딕"/>
                <a:cs typeface="맑은 고딕"/>
              </a:rPr>
              <a:t>Code</a:t>
            </a:r>
          </a:p>
        </p:txBody>
      </p:sp>
      <p:sp>
        <p:nvSpPr>
          <p:cNvPr id="10" name="TextBox 9"/>
          <p:cNvSpPr txBox="1"/>
          <p:nvPr/>
        </p:nvSpPr>
        <p:spPr>
          <a:xfrm>
            <a:off x="6642100" y="2692400"/>
            <a:ext cx="4572000" cy="330200"/>
          </a:xfrm>
          <a:prstGeom prst="rect">
            <a:avLst/>
          </a:prstGeom>
          <a:noFill/>
        </p:spPr>
        <p:txBody>
          <a:bodyPr wrap="square" lIns="0" tIns="0" rIns="0" bIns="0">
            <a:spAutoFit/>
          </a:bodyPr>
          <a:lstStyle/>
          <a:p>
            <a:pPr algn="l">
              <a:lnSpc>
                <a:spcPct val="100000"/>
              </a:lnSpc>
            </a:pPr>
            <a:r>
              <a:rPr sz="1800" b="1">
                <a:solidFill>
                  <a:srgbClr val="D97757"/>
                </a:solidFill>
                <a:latin typeface="맑은 고딕"/>
                <a:ea typeface="맑은 고딕"/>
                <a:cs typeface="맑은 고딕"/>
              </a:rPr>
              <a:t>집 열쇠를 통째로 주는 것</a:t>
            </a:r>
          </a:p>
        </p:txBody>
      </p:sp>
      <p:sp>
        <p:nvSpPr>
          <p:cNvPr id="11" name="TextBox 10"/>
          <p:cNvSpPr txBox="1"/>
          <p:nvPr/>
        </p:nvSpPr>
        <p:spPr>
          <a:xfrm>
            <a:off x="6642100" y="3149600"/>
            <a:ext cx="4572000" cy="1397000"/>
          </a:xfrm>
          <a:prstGeom prst="rect">
            <a:avLst/>
          </a:prstGeom>
          <a:noFill/>
        </p:spPr>
        <p:txBody>
          <a:bodyPr wrap="square" lIns="0" tIns="0" rIns="0" bIns="0">
            <a:spAutoFit/>
          </a:bodyPr>
          <a:lstStyle/>
          <a:p>
            <a:pPr algn="l">
              <a:lnSpc>
                <a:spcPct val="145000"/>
              </a:lnSpc>
            </a:pPr>
            <a:r>
              <a:rPr sz="1700" b="0">
                <a:solidFill>
                  <a:srgbClr val="C9C0B4"/>
                </a:solidFill>
                <a:latin typeface="맑은 고딕"/>
                <a:ea typeface="맑은 고딕"/>
                <a:cs typeface="맑은 고딕"/>
              </a:rPr>
              <a:t>어느 방이든 들어가고</a:t>
            </a:r>
          </a:p>
          <a:p>
            <a:pPr algn="l">
              <a:lnSpc>
                <a:spcPct val="145000"/>
              </a:lnSpc>
            </a:pPr>
            <a:r>
              <a:rPr sz="1700" b="0">
                <a:solidFill>
                  <a:srgbClr val="C9C0B4"/>
                </a:solidFill>
                <a:latin typeface="맑은 고딕"/>
                <a:ea typeface="맑은 고딕"/>
                <a:cs typeface="맑은 고딕"/>
              </a:rPr>
              <a:t>창고의 공구도 꺼내 씁니다.</a:t>
            </a:r>
          </a:p>
        </p:txBody>
      </p:sp>
      <p:sp>
        <p:nvSpPr>
          <p:cNvPr id="12" name="Rounded Rectangle 11"/>
          <p:cNvSpPr/>
          <p:nvPr/>
        </p:nvSpPr>
        <p:spPr>
          <a:xfrm>
            <a:off x="571500" y="5054600"/>
            <a:ext cx="11061700" cy="5334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63600" y="5183187"/>
            <a:ext cx="10477500" cy="304800"/>
          </a:xfrm>
          <a:prstGeom prst="rect">
            <a:avLst/>
          </a:prstGeom>
          <a:noFill/>
        </p:spPr>
        <p:txBody>
          <a:bodyPr wrap="square" lIns="0" tIns="0" rIns="0" bIns="0">
            <a:spAutoFit/>
          </a:bodyPr>
          <a:lstStyle/>
          <a:p>
            <a:pPr algn="l">
              <a:lnSpc>
                <a:spcPct val="100000"/>
              </a:lnSpc>
            </a:pPr>
            <a:r>
              <a:rPr sz="1500" b="1">
                <a:solidFill>
                  <a:srgbClr val="F6F1EA"/>
                </a:solidFill>
                <a:latin typeface="맑은 고딕"/>
                <a:ea typeface="맑은 고딕"/>
                <a:cs typeface="맑은 고딕"/>
              </a:rPr>
              <a:t>실력이 다른 게 아닙니다.  둘 다 바탕은 같은 Claude Code 입니다.</a:t>
            </a:r>
          </a:p>
        </p:txBody>
      </p:sp>
      <p:sp>
        <p:nvSpPr>
          <p:cNvPr id="14" name="TextBox 13"/>
          <p:cNvSpPr txBox="1"/>
          <p:nvPr/>
        </p:nvSpPr>
        <p:spPr>
          <a:xfrm>
            <a:off x="571500" y="6273800"/>
            <a:ext cx="11061700" cy="304800"/>
          </a:xfrm>
          <a:prstGeom prst="rect">
            <a:avLst/>
          </a:prstGeom>
          <a:noFill/>
        </p:spPr>
        <p:txBody>
          <a:bodyPr wrap="square" lIns="0" tIns="0" rIns="0" bIns="0">
            <a:spAutoFit/>
          </a:bodyPr>
          <a:lstStyle/>
          <a:p>
            <a:pPr algn="l">
              <a:lnSpc>
                <a:spcPct val="100000"/>
              </a:lnSpc>
            </a:pPr>
            <a:r>
              <a:rPr sz="1350" b="0">
                <a:solidFill>
                  <a:srgbClr val="514B43"/>
                </a:solidFill>
                <a:latin typeface="맑은 고딕"/>
                <a:ea typeface="맑은 고딕"/>
                <a:cs typeface="맑은 고딕"/>
              </a:rPr>
              <a:t>출처: claude.com/resources/tutorials/navigating-the-claude-desktop-app (2026-08-09 직접 조회)</a:t>
            </a:r>
          </a:p>
        </p:txBody>
      </p:sp>
      <p:sp>
        <p:nvSpPr>
          <p:cNvPr id="15" name="TextBox 14"/>
          <p:cNvSpPr txBox="1"/>
          <p:nvPr/>
        </p:nvSpPr>
        <p:spPr>
          <a:xfrm>
            <a:off x="6350000" y="6451600"/>
            <a:ext cx="5270500" cy="279400"/>
          </a:xfrm>
          <a:prstGeom prst="rect">
            <a:avLst/>
          </a:prstGeom>
          <a:noFill/>
        </p:spPr>
        <p:txBody>
          <a:bodyPr wrap="square" lIns="0" tIns="0" rIns="0" bIns="0">
            <a:spAutoFit/>
          </a:bodyPr>
          <a:lstStyle/>
          <a:p>
            <a:pPr algn="r">
              <a:lnSpc>
                <a:spcPct val="100000"/>
              </a:lnSpc>
            </a:pPr>
            <a:r>
              <a:rPr sz="1200" b="0">
                <a:solidFill>
                  <a:srgbClr val="A69C90"/>
                </a:solidFill>
                <a:latin typeface="맑은 고딕"/>
                <a:ea typeface="맑은 고딕"/>
                <a:cs typeface="맑은 고딕"/>
              </a:rPr>
              <a:t>부록 · Cowork 와 Code          78 / 81</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spAutoFit/>
          </a:bodyPr>
          <a:lstStyle/>
          <a:p>
            <a:pPr algn="l">
              <a:lnSpc>
                <a:spcPct val="100000"/>
              </a:lnSpc>
            </a:pPr>
            <a:r>
              <a:rPr sz="3600" b="1">
                <a:solidFill>
                  <a:srgbClr val="24211D"/>
                </a:solidFill>
                <a:latin typeface="맑은 고딕"/>
                <a:ea typeface="맑은 고딕"/>
                <a:cs typeface="맑은 고딕"/>
              </a:rPr>
              <a:t>Code 에만 있는 것 세 가지</a:t>
            </a:r>
          </a:p>
        </p:txBody>
      </p:sp>
      <p:sp>
        <p:nvSpPr>
          <p:cNvPr id="3" name="TextBox 2"/>
          <p:cNvSpPr txBox="1"/>
          <p:nvPr/>
        </p:nvSpPr>
        <p:spPr>
          <a:xfrm>
            <a:off x="571500" y="1130300"/>
            <a:ext cx="11061700" cy="381000"/>
          </a:xfrm>
          <a:prstGeom prst="rect">
            <a:avLst/>
          </a:prstGeom>
          <a:noFill/>
        </p:spPr>
        <p:txBody>
          <a:bodyPr wrap="square" lIns="0" tIns="0" rIns="0" bIns="0">
            <a:spAutoFit/>
          </a:bodyPr>
          <a:lstStyle/>
          <a:p>
            <a:pPr algn="l">
              <a:lnSpc>
                <a:spcPct val="100000"/>
              </a:lnSpc>
            </a:pPr>
            <a:r>
              <a:rPr sz="1800" b="0">
                <a:solidFill>
                  <a:srgbClr val="514B43"/>
                </a:solidFill>
                <a:latin typeface="맑은 고딕"/>
                <a:ea typeface="맑은 고딕"/>
                <a:cs typeface="맑은 고딕"/>
              </a:rPr>
              <a:t>이 셋이 필요해지면 그때 옮기면 됩니다</a:t>
            </a:r>
          </a:p>
        </p:txBody>
      </p:sp>
      <p:sp>
        <p:nvSpPr>
          <p:cNvPr id="4" name="Rounded Rectangle 3"/>
          <p:cNvSpPr/>
          <p:nvPr/>
        </p:nvSpPr>
        <p:spPr>
          <a:xfrm>
            <a:off x="571500" y="1905000"/>
            <a:ext cx="11061700" cy="11938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unded Rectangle 4"/>
          <p:cNvSpPr/>
          <p:nvPr/>
        </p:nvSpPr>
        <p:spPr>
          <a:xfrm>
            <a:off x="914400" y="2133600"/>
            <a:ext cx="508000" cy="508000"/>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14400" y="2247900"/>
            <a:ext cx="508000" cy="330200"/>
          </a:xfrm>
          <a:prstGeom prst="rect">
            <a:avLst/>
          </a:prstGeom>
          <a:noFill/>
        </p:spPr>
        <p:txBody>
          <a:bodyPr wrap="square" lIns="0" tIns="0" rIns="0" bIns="0">
            <a:spAutoFit/>
          </a:bodyPr>
          <a:lstStyle/>
          <a:p>
            <a:pPr algn="ctr">
              <a:lnSpc>
                <a:spcPct val="100000"/>
              </a:lnSpc>
            </a:pPr>
            <a:r>
              <a:rPr sz="1800" b="1">
                <a:solidFill>
                  <a:srgbClr val="FFFFFF"/>
                </a:solidFill>
                <a:latin typeface="맑은 고딕"/>
                <a:ea typeface="맑은 고딕"/>
                <a:cs typeface="맑은 고딕"/>
              </a:rPr>
              <a:t>1</a:t>
            </a:r>
          </a:p>
        </p:txBody>
      </p:sp>
      <p:sp>
        <p:nvSpPr>
          <p:cNvPr id="7" name="TextBox 6"/>
          <p:cNvSpPr txBox="1"/>
          <p:nvPr/>
        </p:nvSpPr>
        <p:spPr>
          <a:xfrm>
            <a:off x="1701800" y="2133600"/>
            <a:ext cx="8890000" cy="355600"/>
          </a:xfrm>
          <a:prstGeom prst="rect">
            <a:avLst/>
          </a:prstGeom>
          <a:noFill/>
        </p:spPr>
        <p:txBody>
          <a:bodyPr wrap="square" lIns="0" tIns="0" rIns="0" bIns="0">
            <a:spAutoFit/>
          </a:bodyPr>
          <a:lstStyle/>
          <a:p>
            <a:pPr algn="l">
              <a:lnSpc>
                <a:spcPct val="100000"/>
              </a:lnSpc>
            </a:pPr>
            <a:r>
              <a:rPr sz="2000" b="1">
                <a:solidFill>
                  <a:srgbClr val="24211D"/>
                </a:solidFill>
                <a:latin typeface="맑은 고딕"/>
                <a:ea typeface="맑은 고딕"/>
                <a:cs typeface="맑은 고딕"/>
              </a:rPr>
              <a:t>되돌리기가 됩니다</a:t>
            </a:r>
          </a:p>
        </p:txBody>
      </p:sp>
      <p:sp>
        <p:nvSpPr>
          <p:cNvPr id="8" name="TextBox 7"/>
          <p:cNvSpPr txBox="1"/>
          <p:nvPr/>
        </p:nvSpPr>
        <p:spPr>
          <a:xfrm>
            <a:off x="1701800" y="2540000"/>
            <a:ext cx="9652000" cy="406400"/>
          </a:xfrm>
          <a:prstGeom prst="rect">
            <a:avLst/>
          </a:prstGeom>
          <a:noFill/>
        </p:spPr>
        <p:txBody>
          <a:bodyPr wrap="square" lIns="0" tIns="0" rIns="0" bIns="0">
            <a:spAutoFit/>
          </a:bodyPr>
          <a:lstStyle/>
          <a:p>
            <a:pPr algn="l">
              <a:lnSpc>
                <a:spcPct val="130000"/>
              </a:lnSpc>
            </a:pPr>
            <a:r>
              <a:rPr sz="1600" b="0">
                <a:solidFill>
                  <a:srgbClr val="514B43"/>
                </a:solidFill>
                <a:latin typeface="맑은 고딕"/>
                <a:ea typeface="맑은 고딕"/>
                <a:cs typeface="맑은 고딕"/>
              </a:rPr>
              <a:t>Ctrl + Z 가 며칠 전까지 먹힌다고 보시면 됩니다. 어제 상태로 통째로 돌아갈 수 있습니다.</a:t>
            </a:r>
          </a:p>
        </p:txBody>
      </p:sp>
      <p:sp>
        <p:nvSpPr>
          <p:cNvPr id="9" name="Rounded Rectangle 8"/>
          <p:cNvSpPr/>
          <p:nvPr/>
        </p:nvSpPr>
        <p:spPr>
          <a:xfrm>
            <a:off x="571500" y="3276600"/>
            <a:ext cx="11061700" cy="11938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914400" y="3505200"/>
            <a:ext cx="508000" cy="508000"/>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14400" y="3619500"/>
            <a:ext cx="508000" cy="330200"/>
          </a:xfrm>
          <a:prstGeom prst="rect">
            <a:avLst/>
          </a:prstGeom>
          <a:noFill/>
        </p:spPr>
        <p:txBody>
          <a:bodyPr wrap="square" lIns="0" tIns="0" rIns="0" bIns="0">
            <a:spAutoFit/>
          </a:bodyPr>
          <a:lstStyle/>
          <a:p>
            <a:pPr algn="ctr">
              <a:lnSpc>
                <a:spcPct val="100000"/>
              </a:lnSpc>
            </a:pPr>
            <a:r>
              <a:rPr sz="1800" b="1">
                <a:solidFill>
                  <a:srgbClr val="FFFFFF"/>
                </a:solidFill>
                <a:latin typeface="맑은 고딕"/>
                <a:ea typeface="맑은 고딕"/>
                <a:cs typeface="맑은 고딕"/>
              </a:rPr>
              <a:t>2</a:t>
            </a:r>
          </a:p>
        </p:txBody>
      </p:sp>
      <p:sp>
        <p:nvSpPr>
          <p:cNvPr id="12" name="TextBox 11"/>
          <p:cNvSpPr txBox="1"/>
          <p:nvPr/>
        </p:nvSpPr>
        <p:spPr>
          <a:xfrm>
            <a:off x="1701800" y="3505200"/>
            <a:ext cx="8890000" cy="355600"/>
          </a:xfrm>
          <a:prstGeom prst="rect">
            <a:avLst/>
          </a:prstGeom>
          <a:noFill/>
        </p:spPr>
        <p:txBody>
          <a:bodyPr wrap="square" lIns="0" tIns="0" rIns="0" bIns="0">
            <a:spAutoFit/>
          </a:bodyPr>
          <a:lstStyle/>
          <a:p>
            <a:pPr algn="l">
              <a:lnSpc>
                <a:spcPct val="100000"/>
              </a:lnSpc>
            </a:pPr>
            <a:r>
              <a:rPr sz="2000" b="1">
                <a:solidFill>
                  <a:srgbClr val="24211D"/>
                </a:solidFill>
                <a:latin typeface="맑은 고딕"/>
                <a:ea typeface="맑은 고딕"/>
                <a:cs typeface="맑은 고딕"/>
              </a:rPr>
              <a:t>어디를 고쳤는지 보여줍니다</a:t>
            </a:r>
          </a:p>
        </p:txBody>
      </p:sp>
      <p:sp>
        <p:nvSpPr>
          <p:cNvPr id="13" name="TextBox 12"/>
          <p:cNvSpPr txBox="1"/>
          <p:nvPr/>
        </p:nvSpPr>
        <p:spPr>
          <a:xfrm>
            <a:off x="1701800" y="3911600"/>
            <a:ext cx="9652000" cy="406400"/>
          </a:xfrm>
          <a:prstGeom prst="rect">
            <a:avLst/>
          </a:prstGeom>
          <a:noFill/>
        </p:spPr>
        <p:txBody>
          <a:bodyPr wrap="square" lIns="0" tIns="0" rIns="0" bIns="0">
            <a:spAutoFit/>
          </a:bodyPr>
          <a:lstStyle/>
          <a:p>
            <a:pPr algn="l">
              <a:lnSpc>
                <a:spcPct val="130000"/>
              </a:lnSpc>
            </a:pPr>
            <a:r>
              <a:rPr sz="1600" b="0">
                <a:solidFill>
                  <a:srgbClr val="514B43"/>
                </a:solidFill>
                <a:latin typeface="맑은 고딕"/>
                <a:ea typeface="맑은 고딕"/>
                <a:cs typeface="맑은 고딕"/>
              </a:rPr>
              <a:t>바뀐 줄에 색이 칠해집니다. Cowork 는 "고쳤습니다" 하고 끝입니다.</a:t>
            </a:r>
          </a:p>
        </p:txBody>
      </p:sp>
      <p:sp>
        <p:nvSpPr>
          <p:cNvPr id="14" name="Rounded Rectangle 13"/>
          <p:cNvSpPr/>
          <p:nvPr/>
        </p:nvSpPr>
        <p:spPr>
          <a:xfrm>
            <a:off x="571500" y="4648200"/>
            <a:ext cx="11061700" cy="1193800"/>
          </a:xfrm>
          <a:prstGeom prst="roundRect">
            <a:avLst>
              <a:gd name="adj" fmla="val 8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914400" y="4876800"/>
            <a:ext cx="508000" cy="508000"/>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14400" y="4991100"/>
            <a:ext cx="508000" cy="330200"/>
          </a:xfrm>
          <a:prstGeom prst="rect">
            <a:avLst/>
          </a:prstGeom>
          <a:noFill/>
        </p:spPr>
        <p:txBody>
          <a:bodyPr wrap="square" lIns="0" tIns="0" rIns="0" bIns="0">
            <a:spAutoFit/>
          </a:bodyPr>
          <a:lstStyle/>
          <a:p>
            <a:pPr algn="ctr">
              <a:lnSpc>
                <a:spcPct val="100000"/>
              </a:lnSpc>
            </a:pPr>
            <a:r>
              <a:rPr sz="1800" b="1">
                <a:solidFill>
                  <a:srgbClr val="FFFFFF"/>
                </a:solidFill>
                <a:latin typeface="맑은 고딕"/>
                <a:ea typeface="맑은 고딕"/>
                <a:cs typeface="맑은 고딕"/>
              </a:rPr>
              <a:t>3</a:t>
            </a:r>
          </a:p>
        </p:txBody>
      </p:sp>
      <p:sp>
        <p:nvSpPr>
          <p:cNvPr id="17" name="TextBox 16"/>
          <p:cNvSpPr txBox="1"/>
          <p:nvPr/>
        </p:nvSpPr>
        <p:spPr>
          <a:xfrm>
            <a:off x="1701800" y="4876800"/>
            <a:ext cx="8890000" cy="355600"/>
          </a:xfrm>
          <a:prstGeom prst="rect">
            <a:avLst/>
          </a:prstGeom>
          <a:noFill/>
        </p:spPr>
        <p:txBody>
          <a:bodyPr wrap="square" lIns="0" tIns="0" rIns="0" bIns="0">
            <a:spAutoFit/>
          </a:bodyPr>
          <a:lstStyle/>
          <a:p>
            <a:pPr algn="l">
              <a:lnSpc>
                <a:spcPct val="100000"/>
              </a:lnSpc>
            </a:pPr>
            <a:r>
              <a:rPr sz="2000" b="1">
                <a:solidFill>
                  <a:srgbClr val="24211D"/>
                </a:solidFill>
                <a:latin typeface="맑은 고딕"/>
                <a:ea typeface="맑은 고딕"/>
                <a:cs typeface="맑은 고딕"/>
              </a:rPr>
              <a:t>만들고 바로 돌려봅니다</a:t>
            </a:r>
          </a:p>
        </p:txBody>
      </p:sp>
      <p:sp>
        <p:nvSpPr>
          <p:cNvPr id="18" name="TextBox 17"/>
          <p:cNvSpPr txBox="1"/>
          <p:nvPr/>
        </p:nvSpPr>
        <p:spPr>
          <a:xfrm>
            <a:off x="1701800" y="5283200"/>
            <a:ext cx="9652000" cy="406400"/>
          </a:xfrm>
          <a:prstGeom prst="rect">
            <a:avLst/>
          </a:prstGeom>
          <a:noFill/>
        </p:spPr>
        <p:txBody>
          <a:bodyPr wrap="square" lIns="0" tIns="0" rIns="0" bIns="0">
            <a:spAutoFit/>
          </a:bodyPr>
          <a:lstStyle/>
          <a:p>
            <a:pPr algn="l">
              <a:lnSpc>
                <a:spcPct val="130000"/>
              </a:lnSpc>
            </a:pPr>
            <a:r>
              <a:rPr sz="1600" b="0">
                <a:solidFill>
                  <a:srgbClr val="514B43"/>
                </a:solidFill>
                <a:latin typeface="맑은 고딕"/>
                <a:ea typeface="맑은 고딕"/>
                <a:cs typeface="맑은 고딕"/>
              </a:rPr>
              <a:t>같은 화면에서 실행하고, 안 되면 고치고, 또 돌려봅니다.</a:t>
            </a:r>
          </a:p>
        </p:txBody>
      </p:sp>
      <p:sp>
        <p:nvSpPr>
          <p:cNvPr id="19" name="Rounded Rectangle 18"/>
          <p:cNvSpPr/>
          <p:nvPr/>
        </p:nvSpPr>
        <p:spPr>
          <a:xfrm>
            <a:off x="571500" y="5969000"/>
            <a:ext cx="11061700" cy="406400"/>
          </a:xfrm>
          <a:prstGeom prst="roundRect">
            <a:avLst>
              <a:gd name="adj" fmla="val 22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63600" y="6070600"/>
            <a:ext cx="10477500" cy="279400"/>
          </a:xfrm>
          <a:prstGeom prst="rect">
            <a:avLst/>
          </a:prstGeom>
          <a:noFill/>
        </p:spPr>
        <p:txBody>
          <a:bodyPr wrap="square" lIns="0" tIns="0" rIns="0" bIns="0">
            <a:spAutoFit/>
          </a:bodyPr>
          <a:lstStyle/>
          <a:p>
            <a:pPr algn="l">
              <a:lnSpc>
                <a:spcPct val="100000"/>
              </a:lnSpc>
            </a:pPr>
            <a:r>
              <a:rPr sz="1300" b="1">
                <a:solidFill>
                  <a:srgbClr val="F6F1EA"/>
                </a:solidFill>
                <a:latin typeface="맑은 고딕"/>
                <a:ea typeface="맑은 고딕"/>
                <a:cs typeface="맑은 고딕"/>
              </a:rPr>
              <a:t>Cowork 에는 되돌리기가 없습니다.  그래서 고치기 전에 백업을 직접 떠야 합니다.</a:t>
            </a:r>
          </a:p>
        </p:txBody>
      </p:sp>
      <p:sp>
        <p:nvSpPr>
          <p:cNvPr id="21" name="TextBox 20"/>
          <p:cNvSpPr txBox="1"/>
          <p:nvPr/>
        </p:nvSpPr>
        <p:spPr>
          <a:xfrm>
            <a:off x="6350000" y="6451600"/>
            <a:ext cx="5270500" cy="279400"/>
          </a:xfrm>
          <a:prstGeom prst="rect">
            <a:avLst/>
          </a:prstGeom>
          <a:noFill/>
        </p:spPr>
        <p:txBody>
          <a:bodyPr wrap="square" lIns="0" tIns="0" rIns="0" bIns="0">
            <a:spAutoFit/>
          </a:bodyPr>
          <a:lstStyle/>
          <a:p>
            <a:pPr algn="r">
              <a:lnSpc>
                <a:spcPct val="100000"/>
              </a:lnSpc>
            </a:pPr>
            <a:r>
              <a:rPr sz="1200" b="0">
                <a:solidFill>
                  <a:srgbClr val="A69C90"/>
                </a:solidFill>
                <a:latin typeface="맑은 고딕"/>
                <a:ea typeface="맑은 고딕"/>
                <a:cs typeface="맑은 고딕"/>
              </a:rPr>
              <a:t>부록 · Cowork 와 Code          79 / 81</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spAutoFit/>
          </a:bodyPr>
          <a:lstStyle/>
          <a:p>
            <a:pPr algn="l">
              <a:lnSpc>
                <a:spcPct val="100000"/>
              </a:lnSpc>
            </a:pPr>
            <a:r>
              <a:rPr sz="3600" b="1">
                <a:solidFill>
                  <a:srgbClr val="24211D"/>
                </a:solidFill>
                <a:latin typeface="맑은 고딕"/>
                <a:ea typeface="맑은 고딕"/>
                <a:cs typeface="맑은 고딕"/>
              </a:rPr>
              <a:t>이런 일은 여기서 하세요</a:t>
            </a:r>
          </a:p>
        </p:txBody>
      </p:sp>
      <p:sp>
        <p:nvSpPr>
          <p:cNvPr id="3" name="TextBox 2"/>
          <p:cNvSpPr txBox="1"/>
          <p:nvPr/>
        </p:nvSpPr>
        <p:spPr>
          <a:xfrm>
            <a:off x="571500" y="1130300"/>
            <a:ext cx="11061700" cy="381000"/>
          </a:xfrm>
          <a:prstGeom prst="rect">
            <a:avLst/>
          </a:prstGeom>
          <a:noFill/>
        </p:spPr>
        <p:txBody>
          <a:bodyPr wrap="square" lIns="0" tIns="0" rIns="0" bIns="0">
            <a:spAutoFit/>
          </a:bodyPr>
          <a:lstStyle/>
          <a:p>
            <a:pPr algn="l">
              <a:lnSpc>
                <a:spcPct val="100000"/>
              </a:lnSpc>
            </a:pPr>
            <a:r>
              <a:rPr sz="1800" b="0">
                <a:solidFill>
                  <a:srgbClr val="514B43"/>
                </a:solidFill>
                <a:latin typeface="맑은 고딕"/>
                <a:ea typeface="맑은 고딕"/>
                <a:cs typeface="맑은 고딕"/>
              </a:rPr>
              <a:t>일의 성격으로 고르면 됩니다</a:t>
            </a:r>
          </a:p>
        </p:txBody>
      </p:sp>
      <p:sp>
        <p:nvSpPr>
          <p:cNvPr id="4" name="Rounded Rectangle 3"/>
          <p:cNvSpPr/>
          <p:nvPr/>
        </p:nvSpPr>
        <p:spPr>
          <a:xfrm>
            <a:off x="571500" y="1930400"/>
            <a:ext cx="11061700" cy="584200"/>
          </a:xfrm>
          <a:prstGeom prst="roundRect">
            <a:avLst>
              <a:gd name="adj" fmla="val 1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63600" y="2082800"/>
            <a:ext cx="7112000" cy="304800"/>
          </a:xfrm>
          <a:prstGeom prst="rect">
            <a:avLst/>
          </a:prstGeom>
          <a:noFill/>
        </p:spPr>
        <p:txBody>
          <a:bodyPr wrap="square" lIns="0" tIns="0" rIns="0" bIns="0">
            <a:spAutoFit/>
          </a:bodyPr>
          <a:lstStyle/>
          <a:p>
            <a:pPr algn="l">
              <a:lnSpc>
                <a:spcPct val="100000"/>
              </a:lnSpc>
            </a:pPr>
            <a:r>
              <a:rPr sz="1700" b="0">
                <a:solidFill>
                  <a:srgbClr val="24211D"/>
                </a:solidFill>
                <a:latin typeface="맑은 고딕"/>
                <a:ea typeface="맑은 고딕"/>
                <a:cs typeface="맑은 고딕"/>
              </a:rPr>
              <a:t>파일 정리 · 엑셀과 문서 만들기</a:t>
            </a:r>
          </a:p>
        </p:txBody>
      </p:sp>
      <p:sp>
        <p:nvSpPr>
          <p:cNvPr id="6" name="Rounded Rectangle 5"/>
          <p:cNvSpPr/>
          <p:nvPr/>
        </p:nvSpPr>
        <p:spPr>
          <a:xfrm>
            <a:off x="8890000" y="2044700"/>
            <a:ext cx="1524000" cy="35560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890000" y="2095500"/>
            <a:ext cx="1524000" cy="279400"/>
          </a:xfrm>
          <a:prstGeom prst="rect">
            <a:avLst/>
          </a:prstGeom>
          <a:noFill/>
        </p:spPr>
        <p:txBody>
          <a:bodyPr wrap="square" lIns="0" tIns="0" rIns="0" bIns="0">
            <a:spAutoFit/>
          </a:bodyPr>
          <a:lstStyle/>
          <a:p>
            <a:pPr algn="ctr">
              <a:lnSpc>
                <a:spcPct val="100000"/>
              </a:lnSpc>
            </a:pPr>
            <a:r>
              <a:rPr sz="1500" b="1">
                <a:solidFill>
                  <a:srgbClr val="FFFFFF"/>
                </a:solidFill>
                <a:latin typeface="맑은 고딕"/>
                <a:ea typeface="맑은 고딕"/>
                <a:cs typeface="맑은 고딕"/>
              </a:rPr>
              <a:t>Cowork</a:t>
            </a:r>
          </a:p>
        </p:txBody>
      </p:sp>
      <p:sp>
        <p:nvSpPr>
          <p:cNvPr id="8" name="Rounded Rectangle 7"/>
          <p:cNvSpPr/>
          <p:nvPr/>
        </p:nvSpPr>
        <p:spPr>
          <a:xfrm>
            <a:off x="571500" y="2590800"/>
            <a:ext cx="11061700" cy="584200"/>
          </a:xfrm>
          <a:prstGeom prst="roundRect">
            <a:avLst>
              <a:gd name="adj" fmla="val 1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3600" y="2743200"/>
            <a:ext cx="7112000" cy="304800"/>
          </a:xfrm>
          <a:prstGeom prst="rect">
            <a:avLst/>
          </a:prstGeom>
          <a:noFill/>
        </p:spPr>
        <p:txBody>
          <a:bodyPr wrap="square" lIns="0" tIns="0" rIns="0" bIns="0">
            <a:spAutoFit/>
          </a:bodyPr>
          <a:lstStyle/>
          <a:p>
            <a:pPr algn="l">
              <a:lnSpc>
                <a:spcPct val="100000"/>
              </a:lnSpc>
            </a:pPr>
            <a:r>
              <a:rPr sz="1700" b="0">
                <a:solidFill>
                  <a:srgbClr val="24211D"/>
                </a:solidFill>
                <a:latin typeface="맑은 고딕"/>
                <a:ea typeface="맑은 고딕"/>
                <a:cs typeface="맑은 고딕"/>
              </a:rPr>
              <a:t>화면 하나 만들기 (오늘 한 것)</a:t>
            </a:r>
          </a:p>
        </p:txBody>
      </p:sp>
      <p:sp>
        <p:nvSpPr>
          <p:cNvPr id="10" name="Rounded Rectangle 9"/>
          <p:cNvSpPr/>
          <p:nvPr/>
        </p:nvSpPr>
        <p:spPr>
          <a:xfrm>
            <a:off x="8890000" y="2705100"/>
            <a:ext cx="1524000" cy="35560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890000" y="2755900"/>
            <a:ext cx="1524000" cy="279400"/>
          </a:xfrm>
          <a:prstGeom prst="rect">
            <a:avLst/>
          </a:prstGeom>
          <a:noFill/>
        </p:spPr>
        <p:txBody>
          <a:bodyPr wrap="square" lIns="0" tIns="0" rIns="0" bIns="0">
            <a:spAutoFit/>
          </a:bodyPr>
          <a:lstStyle/>
          <a:p>
            <a:pPr algn="ctr">
              <a:lnSpc>
                <a:spcPct val="100000"/>
              </a:lnSpc>
            </a:pPr>
            <a:r>
              <a:rPr sz="1500" b="1">
                <a:solidFill>
                  <a:srgbClr val="FFFFFF"/>
                </a:solidFill>
                <a:latin typeface="맑은 고딕"/>
                <a:ea typeface="맑은 고딕"/>
                <a:cs typeface="맑은 고딕"/>
              </a:rPr>
              <a:t>Cowork</a:t>
            </a:r>
          </a:p>
        </p:txBody>
      </p:sp>
      <p:sp>
        <p:nvSpPr>
          <p:cNvPr id="12" name="Rounded Rectangle 11"/>
          <p:cNvSpPr/>
          <p:nvPr/>
        </p:nvSpPr>
        <p:spPr>
          <a:xfrm>
            <a:off x="571500" y="3251200"/>
            <a:ext cx="11061700" cy="584200"/>
          </a:xfrm>
          <a:prstGeom prst="roundRect">
            <a:avLst>
              <a:gd name="adj" fmla="val 10000"/>
            </a:avLst>
          </a:prstGeom>
          <a:solidFill>
            <a:srgbClr val="F5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63600" y="3403600"/>
            <a:ext cx="7112000" cy="304800"/>
          </a:xfrm>
          <a:prstGeom prst="rect">
            <a:avLst/>
          </a:prstGeom>
          <a:noFill/>
        </p:spPr>
        <p:txBody>
          <a:bodyPr wrap="square" lIns="0" tIns="0" rIns="0" bIns="0">
            <a:spAutoFit/>
          </a:bodyPr>
          <a:lstStyle/>
          <a:p>
            <a:pPr algn="l">
              <a:lnSpc>
                <a:spcPct val="100000"/>
              </a:lnSpc>
            </a:pPr>
            <a:r>
              <a:rPr sz="1700" b="0">
                <a:solidFill>
                  <a:srgbClr val="24211D"/>
                </a:solidFill>
                <a:latin typeface="맑은 고딕"/>
                <a:ea typeface="맑은 고딕"/>
                <a:cs typeface="맑은 고딕"/>
              </a:rPr>
              <a:t>매일 아침 자동으로 돌리기</a:t>
            </a:r>
          </a:p>
        </p:txBody>
      </p:sp>
      <p:sp>
        <p:nvSpPr>
          <p:cNvPr id="14" name="Rounded Rectangle 13"/>
          <p:cNvSpPr/>
          <p:nvPr/>
        </p:nvSpPr>
        <p:spPr>
          <a:xfrm>
            <a:off x="8890000" y="3365500"/>
            <a:ext cx="1524000" cy="355600"/>
          </a:xfrm>
          <a:prstGeom prst="roundRect">
            <a:avLst>
              <a:gd name="adj" fmla="val 3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890000" y="3416300"/>
            <a:ext cx="1524000" cy="279400"/>
          </a:xfrm>
          <a:prstGeom prst="rect">
            <a:avLst/>
          </a:prstGeom>
          <a:noFill/>
        </p:spPr>
        <p:txBody>
          <a:bodyPr wrap="square" lIns="0" tIns="0" rIns="0" bIns="0">
            <a:spAutoFit/>
          </a:bodyPr>
          <a:lstStyle/>
          <a:p>
            <a:pPr algn="ctr">
              <a:lnSpc>
                <a:spcPct val="100000"/>
              </a:lnSpc>
            </a:pPr>
            <a:r>
              <a:rPr sz="1500" b="1">
                <a:solidFill>
                  <a:srgbClr val="FFFFFF"/>
                </a:solidFill>
                <a:latin typeface="맑은 고딕"/>
                <a:ea typeface="맑은 고딕"/>
                <a:cs typeface="맑은 고딕"/>
              </a:rPr>
              <a:t>Cowork</a:t>
            </a:r>
          </a:p>
        </p:txBody>
      </p:sp>
      <p:sp>
        <p:nvSpPr>
          <p:cNvPr id="16" name="Rounded Rectangle 15"/>
          <p:cNvSpPr/>
          <p:nvPr/>
        </p:nvSpPr>
        <p:spPr>
          <a:xfrm>
            <a:off x="571500" y="3911600"/>
            <a:ext cx="11061700" cy="584200"/>
          </a:xfrm>
          <a:prstGeom prst="roundRect">
            <a:avLst>
              <a:gd name="adj" fmla="val 10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63600" y="4064000"/>
            <a:ext cx="7112000" cy="304800"/>
          </a:xfrm>
          <a:prstGeom prst="rect">
            <a:avLst/>
          </a:prstGeom>
          <a:noFill/>
        </p:spPr>
        <p:txBody>
          <a:bodyPr wrap="square" lIns="0" tIns="0" rIns="0" bIns="0">
            <a:spAutoFit/>
          </a:bodyPr>
          <a:lstStyle/>
          <a:p>
            <a:pPr algn="l">
              <a:lnSpc>
                <a:spcPct val="100000"/>
              </a:lnSpc>
            </a:pPr>
            <a:r>
              <a:rPr sz="1700" b="0">
                <a:solidFill>
                  <a:srgbClr val="24211D"/>
                </a:solidFill>
                <a:latin typeface="맑은 고딕"/>
                <a:ea typeface="맑은 고딕"/>
                <a:cs typeface="맑은 고딕"/>
              </a:rPr>
              <a:t>만든 걸 몇 주에 걸쳐 계속 고칠 때</a:t>
            </a:r>
          </a:p>
        </p:txBody>
      </p:sp>
      <p:sp>
        <p:nvSpPr>
          <p:cNvPr id="18" name="Rounded Rectangle 17"/>
          <p:cNvSpPr/>
          <p:nvPr/>
        </p:nvSpPr>
        <p:spPr>
          <a:xfrm>
            <a:off x="8890000" y="4025900"/>
            <a:ext cx="1524000" cy="355600"/>
          </a:xfrm>
          <a:prstGeom prst="roundRect">
            <a:avLst>
              <a:gd name="adj" fmla="val 30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890000" y="4076700"/>
            <a:ext cx="1524000" cy="279400"/>
          </a:xfrm>
          <a:prstGeom prst="rect">
            <a:avLst/>
          </a:prstGeom>
          <a:noFill/>
        </p:spPr>
        <p:txBody>
          <a:bodyPr wrap="square" lIns="0" tIns="0" rIns="0" bIns="0">
            <a:spAutoFit/>
          </a:bodyPr>
          <a:lstStyle/>
          <a:p>
            <a:pPr algn="ctr">
              <a:lnSpc>
                <a:spcPct val="100000"/>
              </a:lnSpc>
            </a:pPr>
            <a:r>
              <a:rPr sz="1500" b="1">
                <a:solidFill>
                  <a:srgbClr val="FFFFFF"/>
                </a:solidFill>
                <a:latin typeface="맑은 고딕"/>
                <a:ea typeface="맑은 고딕"/>
                <a:cs typeface="맑은 고딕"/>
              </a:rPr>
              <a:t>Code</a:t>
            </a:r>
          </a:p>
        </p:txBody>
      </p:sp>
      <p:sp>
        <p:nvSpPr>
          <p:cNvPr id="20" name="Rounded Rectangle 19"/>
          <p:cNvSpPr/>
          <p:nvPr/>
        </p:nvSpPr>
        <p:spPr>
          <a:xfrm>
            <a:off x="571500" y="4572000"/>
            <a:ext cx="11061700" cy="584200"/>
          </a:xfrm>
          <a:prstGeom prst="roundRect">
            <a:avLst>
              <a:gd name="adj" fmla="val 10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63600" y="4724400"/>
            <a:ext cx="7112000" cy="304800"/>
          </a:xfrm>
          <a:prstGeom prst="rect">
            <a:avLst/>
          </a:prstGeom>
          <a:noFill/>
        </p:spPr>
        <p:txBody>
          <a:bodyPr wrap="square" lIns="0" tIns="0" rIns="0" bIns="0">
            <a:spAutoFit/>
          </a:bodyPr>
          <a:lstStyle/>
          <a:p>
            <a:pPr algn="l">
              <a:lnSpc>
                <a:spcPct val="100000"/>
              </a:lnSpc>
            </a:pPr>
            <a:r>
              <a:rPr sz="1700" b="0">
                <a:solidFill>
                  <a:srgbClr val="24211D"/>
                </a:solidFill>
                <a:latin typeface="맑은 고딕"/>
                <a:ea typeface="맑은 고딕"/>
                <a:cs typeface="맑은 고딕"/>
              </a:rPr>
              <a:t>잘못 고쳤을 때 되돌려야 할 때</a:t>
            </a:r>
          </a:p>
        </p:txBody>
      </p:sp>
      <p:sp>
        <p:nvSpPr>
          <p:cNvPr id="22" name="Rounded Rectangle 21"/>
          <p:cNvSpPr/>
          <p:nvPr/>
        </p:nvSpPr>
        <p:spPr>
          <a:xfrm>
            <a:off x="8890000" y="4686300"/>
            <a:ext cx="1524000" cy="355600"/>
          </a:xfrm>
          <a:prstGeom prst="roundRect">
            <a:avLst>
              <a:gd name="adj" fmla="val 30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890000" y="4737100"/>
            <a:ext cx="1524000" cy="279400"/>
          </a:xfrm>
          <a:prstGeom prst="rect">
            <a:avLst/>
          </a:prstGeom>
          <a:noFill/>
        </p:spPr>
        <p:txBody>
          <a:bodyPr wrap="square" lIns="0" tIns="0" rIns="0" bIns="0">
            <a:spAutoFit/>
          </a:bodyPr>
          <a:lstStyle/>
          <a:p>
            <a:pPr algn="ctr">
              <a:lnSpc>
                <a:spcPct val="100000"/>
              </a:lnSpc>
            </a:pPr>
            <a:r>
              <a:rPr sz="1500" b="1">
                <a:solidFill>
                  <a:srgbClr val="FFFFFF"/>
                </a:solidFill>
                <a:latin typeface="맑은 고딕"/>
                <a:ea typeface="맑은 고딕"/>
                <a:cs typeface="맑은 고딕"/>
              </a:rPr>
              <a:t>Code</a:t>
            </a:r>
          </a:p>
        </p:txBody>
      </p:sp>
      <p:sp>
        <p:nvSpPr>
          <p:cNvPr id="24" name="Rounded Rectangle 23"/>
          <p:cNvSpPr/>
          <p:nvPr/>
        </p:nvSpPr>
        <p:spPr>
          <a:xfrm>
            <a:off x="571500" y="5232400"/>
            <a:ext cx="11061700" cy="584200"/>
          </a:xfrm>
          <a:prstGeom prst="roundRect">
            <a:avLst>
              <a:gd name="adj" fmla="val 10000"/>
            </a:avLst>
          </a:prstGeom>
          <a:solidFill>
            <a:srgbClr val="FFFFFF"/>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63600" y="5384800"/>
            <a:ext cx="7112000" cy="304800"/>
          </a:xfrm>
          <a:prstGeom prst="rect">
            <a:avLst/>
          </a:prstGeom>
          <a:noFill/>
        </p:spPr>
        <p:txBody>
          <a:bodyPr wrap="square" lIns="0" tIns="0" rIns="0" bIns="0">
            <a:spAutoFit/>
          </a:bodyPr>
          <a:lstStyle/>
          <a:p>
            <a:pPr algn="l">
              <a:lnSpc>
                <a:spcPct val="100000"/>
              </a:lnSpc>
            </a:pPr>
            <a:r>
              <a:rPr sz="1700" b="0">
                <a:solidFill>
                  <a:srgbClr val="24211D"/>
                </a:solidFill>
                <a:latin typeface="맑은 고딕"/>
                <a:ea typeface="맑은 고딕"/>
                <a:cs typeface="맑은 고딕"/>
              </a:rPr>
              <a:t>폴더 여러 개에 흩어져 있을 때</a:t>
            </a:r>
          </a:p>
        </p:txBody>
      </p:sp>
      <p:sp>
        <p:nvSpPr>
          <p:cNvPr id="26" name="Rounded Rectangle 25"/>
          <p:cNvSpPr/>
          <p:nvPr/>
        </p:nvSpPr>
        <p:spPr>
          <a:xfrm>
            <a:off x="8890000" y="5346700"/>
            <a:ext cx="1524000" cy="355600"/>
          </a:xfrm>
          <a:prstGeom prst="roundRect">
            <a:avLst>
              <a:gd name="adj" fmla="val 30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890000" y="5397500"/>
            <a:ext cx="1524000" cy="279400"/>
          </a:xfrm>
          <a:prstGeom prst="rect">
            <a:avLst/>
          </a:prstGeom>
          <a:noFill/>
        </p:spPr>
        <p:txBody>
          <a:bodyPr wrap="square" lIns="0" tIns="0" rIns="0" bIns="0">
            <a:spAutoFit/>
          </a:bodyPr>
          <a:lstStyle/>
          <a:p>
            <a:pPr algn="ctr">
              <a:lnSpc>
                <a:spcPct val="100000"/>
              </a:lnSpc>
            </a:pPr>
            <a:r>
              <a:rPr sz="1500" b="1">
                <a:solidFill>
                  <a:srgbClr val="FFFFFF"/>
                </a:solidFill>
                <a:latin typeface="맑은 고딕"/>
                <a:ea typeface="맑은 고딕"/>
                <a:cs typeface="맑은 고딕"/>
              </a:rPr>
              <a:t>Code</a:t>
            </a:r>
          </a:p>
        </p:txBody>
      </p:sp>
      <p:sp>
        <p:nvSpPr>
          <p:cNvPr id="28" name="TextBox 27"/>
          <p:cNvSpPr txBox="1"/>
          <p:nvPr/>
        </p:nvSpPr>
        <p:spPr>
          <a:xfrm>
            <a:off x="571500" y="5994400"/>
            <a:ext cx="11061700" cy="304800"/>
          </a:xfrm>
          <a:prstGeom prst="rect">
            <a:avLst/>
          </a:prstGeom>
          <a:noFill/>
        </p:spPr>
        <p:txBody>
          <a:bodyPr wrap="square" lIns="0" tIns="0" rIns="0" bIns="0">
            <a:spAutoFit/>
          </a:bodyPr>
          <a:lstStyle/>
          <a:p>
            <a:pPr algn="l">
              <a:lnSpc>
                <a:spcPct val="100000"/>
              </a:lnSpc>
            </a:pPr>
            <a:r>
              <a:rPr sz="1500" b="1">
                <a:solidFill>
                  <a:srgbClr val="D97757"/>
                </a:solidFill>
                <a:latin typeface="맑은 고딕"/>
                <a:ea typeface="맑은 고딕"/>
                <a:cs typeface="맑은 고딕"/>
              </a:rPr>
              <a:t>매일 아침 자동 실행(예약 작업)은 Cowork 에만 있습니다</a:t>
            </a:r>
          </a:p>
        </p:txBody>
      </p:sp>
      <p:sp>
        <p:nvSpPr>
          <p:cNvPr id="29" name="TextBox 28"/>
          <p:cNvSpPr txBox="1"/>
          <p:nvPr/>
        </p:nvSpPr>
        <p:spPr>
          <a:xfrm>
            <a:off x="6350000" y="6451600"/>
            <a:ext cx="5270500" cy="279400"/>
          </a:xfrm>
          <a:prstGeom prst="rect">
            <a:avLst/>
          </a:prstGeom>
          <a:noFill/>
        </p:spPr>
        <p:txBody>
          <a:bodyPr wrap="square" lIns="0" tIns="0" rIns="0" bIns="0">
            <a:spAutoFit/>
          </a:bodyPr>
          <a:lstStyle/>
          <a:p>
            <a:pPr algn="r">
              <a:lnSpc>
                <a:spcPct val="100000"/>
              </a:lnSpc>
            </a:pPr>
            <a:r>
              <a:rPr sz="1200" b="0">
                <a:solidFill>
                  <a:srgbClr val="A69C90"/>
                </a:solidFill>
                <a:latin typeface="맑은 고딕"/>
                <a:ea typeface="맑은 고딕"/>
                <a:cs typeface="맑은 고딕"/>
              </a:rPr>
              <a:t>부록 · Cowork 와 Code          80 / 81</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500" y="381000"/>
            <a:ext cx="11061700" cy="774700"/>
          </a:xfrm>
          <a:prstGeom prst="rect">
            <a:avLst/>
          </a:prstGeom>
          <a:noFill/>
        </p:spPr>
        <p:txBody>
          <a:bodyPr wrap="square" lIns="0" tIns="0" rIns="0" bIns="0">
            <a:spAutoFit/>
          </a:bodyPr>
          <a:lstStyle/>
          <a:p>
            <a:pPr algn="l">
              <a:lnSpc>
                <a:spcPct val="100000"/>
              </a:lnSpc>
            </a:pPr>
            <a:r>
              <a:rPr sz="3600" b="1">
                <a:solidFill>
                  <a:srgbClr val="24211D"/>
                </a:solidFill>
                <a:latin typeface="맑은 고딕"/>
                <a:ea typeface="맑은 고딕"/>
                <a:cs typeface="맑은 고딕"/>
              </a:rPr>
              <a:t>처음엔 Cowork 로 충분합니다</a:t>
            </a:r>
          </a:p>
        </p:txBody>
      </p:sp>
      <p:sp>
        <p:nvSpPr>
          <p:cNvPr id="3" name="TextBox 2"/>
          <p:cNvSpPr txBox="1"/>
          <p:nvPr/>
        </p:nvSpPr>
        <p:spPr>
          <a:xfrm>
            <a:off x="571500" y="1130300"/>
            <a:ext cx="11061700" cy="381000"/>
          </a:xfrm>
          <a:prstGeom prst="rect">
            <a:avLst/>
          </a:prstGeom>
          <a:noFill/>
        </p:spPr>
        <p:txBody>
          <a:bodyPr wrap="square" lIns="0" tIns="0" rIns="0" bIns="0">
            <a:spAutoFit/>
          </a:bodyPr>
          <a:lstStyle/>
          <a:p>
            <a:pPr algn="l">
              <a:lnSpc>
                <a:spcPct val="100000"/>
              </a:lnSpc>
            </a:pPr>
            <a:r>
              <a:rPr sz="1800" b="0">
                <a:solidFill>
                  <a:srgbClr val="514B43"/>
                </a:solidFill>
                <a:latin typeface="맑은 고딕"/>
                <a:ea typeface="맑은 고딕"/>
                <a:cs typeface="맑은 고딕"/>
              </a:rPr>
              <a:t>Code 는 필요해질 때 옮기면 됩니다</a:t>
            </a:r>
          </a:p>
        </p:txBody>
      </p:sp>
      <p:sp>
        <p:nvSpPr>
          <p:cNvPr id="4" name="Rounded Rectangle 3"/>
          <p:cNvSpPr/>
          <p:nvPr/>
        </p:nvSpPr>
        <p:spPr>
          <a:xfrm>
            <a:off x="571500" y="1981200"/>
            <a:ext cx="11061700" cy="1524000"/>
          </a:xfrm>
          <a:prstGeom prst="roundRect">
            <a:avLst>
              <a:gd name="adj" fmla="val 6000"/>
            </a:avLst>
          </a:prstGeom>
          <a:solidFill>
            <a:srgbClr val="F5F1EB"/>
          </a:solidFill>
          <a:ln w="12700">
            <a:solidFill>
              <a:srgbClr val="DCD4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14400" y="2311400"/>
            <a:ext cx="10414000" cy="431800"/>
          </a:xfrm>
          <a:prstGeom prst="rect">
            <a:avLst/>
          </a:prstGeom>
          <a:noFill/>
        </p:spPr>
        <p:txBody>
          <a:bodyPr wrap="square" lIns="0" tIns="0" rIns="0" bIns="0">
            <a:spAutoFit/>
          </a:bodyPr>
          <a:lstStyle/>
          <a:p>
            <a:pPr algn="l">
              <a:lnSpc>
                <a:spcPct val="100000"/>
              </a:lnSpc>
            </a:pPr>
            <a:r>
              <a:rPr sz="2600" b="1">
                <a:solidFill>
                  <a:srgbClr val="24211D"/>
                </a:solidFill>
                <a:latin typeface="맑은 고딕"/>
                <a:ea typeface="맑은 고딕"/>
                <a:cs typeface="맑은 고딕"/>
              </a:rPr>
              <a:t>결과물을 받고 끝이면  Cowork</a:t>
            </a:r>
          </a:p>
        </p:txBody>
      </p:sp>
      <p:sp>
        <p:nvSpPr>
          <p:cNvPr id="6" name="TextBox 5"/>
          <p:cNvSpPr txBox="1"/>
          <p:nvPr/>
        </p:nvSpPr>
        <p:spPr>
          <a:xfrm>
            <a:off x="914400" y="2819400"/>
            <a:ext cx="10414000" cy="431800"/>
          </a:xfrm>
          <a:prstGeom prst="rect">
            <a:avLst/>
          </a:prstGeom>
          <a:noFill/>
        </p:spPr>
        <p:txBody>
          <a:bodyPr wrap="square" lIns="0" tIns="0" rIns="0" bIns="0">
            <a:spAutoFit/>
          </a:bodyPr>
          <a:lstStyle/>
          <a:p>
            <a:pPr algn="l">
              <a:lnSpc>
                <a:spcPct val="100000"/>
              </a:lnSpc>
            </a:pPr>
            <a:r>
              <a:rPr sz="2600" b="1">
                <a:solidFill>
                  <a:srgbClr val="D97757"/>
                </a:solidFill>
                <a:latin typeface="맑은 고딕"/>
                <a:ea typeface="맑은 고딕"/>
                <a:cs typeface="맑은 고딕"/>
              </a:rPr>
              <a:t>그 코드를 앞으로도 계속 만질 거면  Code</a:t>
            </a:r>
          </a:p>
        </p:txBody>
      </p:sp>
      <p:sp>
        <p:nvSpPr>
          <p:cNvPr id="7" name="TextBox 6"/>
          <p:cNvSpPr txBox="1"/>
          <p:nvPr/>
        </p:nvSpPr>
        <p:spPr>
          <a:xfrm>
            <a:off x="571500" y="3810000"/>
            <a:ext cx="11061700" cy="381000"/>
          </a:xfrm>
          <a:prstGeom prst="rect">
            <a:avLst/>
          </a:prstGeom>
          <a:noFill/>
        </p:spPr>
        <p:txBody>
          <a:bodyPr wrap="square" lIns="0" tIns="0" rIns="0" bIns="0">
            <a:spAutoFit/>
          </a:bodyPr>
          <a:lstStyle/>
          <a:p>
            <a:pPr algn="l">
              <a:lnSpc>
                <a:spcPct val="100000"/>
              </a:lnSpc>
            </a:pPr>
            <a:r>
              <a:rPr sz="1900" b="1">
                <a:solidFill>
                  <a:srgbClr val="24211D"/>
                </a:solidFill>
                <a:latin typeface="맑은 고딕"/>
                <a:ea typeface="맑은 고딕"/>
                <a:cs typeface="맑은 고딕"/>
              </a:rPr>
              <a:t>오늘 만든 화면은 Cowork 가 맞습니다.</a:t>
            </a:r>
          </a:p>
        </p:txBody>
      </p:sp>
      <p:sp>
        <p:nvSpPr>
          <p:cNvPr id="8" name="TextBox 7"/>
          <p:cNvSpPr txBox="1"/>
          <p:nvPr/>
        </p:nvSpPr>
        <p:spPr>
          <a:xfrm>
            <a:off x="571500" y="4241800"/>
            <a:ext cx="11061700" cy="812800"/>
          </a:xfrm>
          <a:prstGeom prst="rect">
            <a:avLst/>
          </a:prstGeom>
          <a:noFill/>
        </p:spPr>
        <p:txBody>
          <a:bodyPr wrap="square" lIns="0" tIns="0" rIns="0" bIns="0">
            <a:spAutoFit/>
          </a:bodyPr>
          <a:lstStyle/>
          <a:p>
            <a:pPr algn="l">
              <a:lnSpc>
                <a:spcPct val="140000"/>
              </a:lnSpc>
            </a:pPr>
            <a:r>
              <a:rPr sz="1800" b="0">
                <a:solidFill>
                  <a:srgbClr val="514B43"/>
                </a:solidFill>
                <a:latin typeface="맑은 고딕"/>
                <a:ea typeface="맑은 고딕"/>
                <a:cs typeface="맑은 고딕"/>
              </a:rPr>
              <a:t>이걸 반년 동안 기능을 붙여가며 키울 생각이라면, 그때 Code 로 옮기시면 됩니다.</a:t>
            </a:r>
          </a:p>
          <a:p>
            <a:pPr algn="l">
              <a:lnSpc>
                <a:spcPct val="140000"/>
              </a:lnSpc>
            </a:pPr>
            <a:r>
              <a:rPr sz="1800" b="0">
                <a:solidFill>
                  <a:srgbClr val="514B43"/>
                </a:solidFill>
                <a:latin typeface="맑은 고딕"/>
                <a:ea typeface="맑은 고딕"/>
                <a:cs typeface="맑은 고딕"/>
              </a:rPr>
              <a:t>지금 Code 를 배우실 필요는 없습니다.</a:t>
            </a:r>
          </a:p>
        </p:txBody>
      </p:sp>
      <p:sp>
        <p:nvSpPr>
          <p:cNvPr id="9" name="Rounded Rectangle 8"/>
          <p:cNvSpPr/>
          <p:nvPr/>
        </p:nvSpPr>
        <p:spPr>
          <a:xfrm>
            <a:off x="571500" y="5334000"/>
            <a:ext cx="11061700" cy="508000"/>
          </a:xfrm>
          <a:prstGeom prst="roundRect">
            <a:avLst>
              <a:gd name="adj" fmla="val 18000"/>
            </a:avLst>
          </a:prstGeom>
          <a:solidFill>
            <a:srgbClr val="242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63600" y="5449887"/>
            <a:ext cx="10477500" cy="304800"/>
          </a:xfrm>
          <a:prstGeom prst="rect">
            <a:avLst/>
          </a:prstGeom>
          <a:noFill/>
        </p:spPr>
        <p:txBody>
          <a:bodyPr wrap="square" lIns="0" tIns="0" rIns="0" bIns="0">
            <a:spAutoFit/>
          </a:bodyPr>
          <a:lstStyle/>
          <a:p>
            <a:pPr algn="l">
              <a:lnSpc>
                <a:spcPct val="100000"/>
              </a:lnSpc>
            </a:pPr>
            <a:r>
              <a:rPr sz="1500" b="1">
                <a:solidFill>
                  <a:srgbClr val="F6F1EA"/>
                </a:solidFill>
                <a:latin typeface="맑은 고딕"/>
                <a:ea typeface="맑은 고딕"/>
                <a:cs typeface="맑은 고딕"/>
              </a:rPr>
              <a:t>Code 탭은 Pro · Max · Team · Enterprise 에 순차 제공 중입니다.</a:t>
            </a:r>
          </a:p>
        </p:txBody>
      </p:sp>
      <p:sp>
        <p:nvSpPr>
          <p:cNvPr id="11" name="TextBox 10"/>
          <p:cNvSpPr txBox="1"/>
          <p:nvPr/>
        </p:nvSpPr>
        <p:spPr>
          <a:xfrm>
            <a:off x="571500" y="6273800"/>
            <a:ext cx="11061700" cy="304800"/>
          </a:xfrm>
          <a:prstGeom prst="rect">
            <a:avLst/>
          </a:prstGeom>
          <a:noFill/>
        </p:spPr>
        <p:txBody>
          <a:bodyPr wrap="square" lIns="0" tIns="0" rIns="0" bIns="0">
            <a:spAutoFit/>
          </a:bodyPr>
          <a:lstStyle/>
          <a:p>
            <a:pPr algn="l">
              <a:lnSpc>
                <a:spcPct val="100000"/>
              </a:lnSpc>
            </a:pPr>
            <a:r>
              <a:rPr sz="1350" b="0">
                <a:solidFill>
                  <a:srgbClr val="514B43"/>
                </a:solidFill>
                <a:latin typeface="맑은 고딕"/>
                <a:ea typeface="맑은 고딕"/>
                <a:cs typeface="맑은 고딕"/>
              </a:rPr>
              <a:t>출처: claude.com/resources/tutorials/navigating-the-claude-desktop-app (2026-08-09 직접 조회)</a:t>
            </a:r>
          </a:p>
        </p:txBody>
      </p:sp>
      <p:sp>
        <p:nvSpPr>
          <p:cNvPr id="12" name="TextBox 11"/>
          <p:cNvSpPr txBox="1"/>
          <p:nvPr/>
        </p:nvSpPr>
        <p:spPr>
          <a:xfrm>
            <a:off x="6350000" y="6451600"/>
            <a:ext cx="5270500" cy="279400"/>
          </a:xfrm>
          <a:prstGeom prst="rect">
            <a:avLst/>
          </a:prstGeom>
          <a:noFill/>
        </p:spPr>
        <p:txBody>
          <a:bodyPr wrap="square" lIns="0" tIns="0" rIns="0" bIns="0">
            <a:spAutoFit/>
          </a:bodyPr>
          <a:lstStyle/>
          <a:p>
            <a:pPr algn="r">
              <a:lnSpc>
                <a:spcPct val="100000"/>
              </a:lnSpc>
            </a:pPr>
            <a:r>
              <a:rPr sz="1200" b="0">
                <a:solidFill>
                  <a:srgbClr val="A69C90"/>
                </a:solidFill>
                <a:latin typeface="맑은 고딕"/>
                <a:ea typeface="맑은 고딕"/>
                <a:cs typeface="맑은 고딕"/>
              </a:rPr>
              <a:t>부록 · Cowork 와 Code          81 / 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20731</Words>
  <Application>Microsoft Office PowerPoint</Application>
  <PresentationFormat>와이드스크린</PresentationFormat>
  <Paragraphs>1503</Paragraphs>
  <Slides>77</Slides>
  <Notes>73</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77</vt:i4>
      </vt:variant>
    </vt:vector>
  </HeadingPairs>
  <TitlesOfParts>
    <vt:vector size="81" baseType="lpstr">
      <vt:lpstr>맑은 고딕</vt:lpstr>
      <vt:lpstr>Arial</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데스크탑 시작하기 - 1회차</dc:title>
  <dc:subject>PptxGenJS Presentation</dc:subject>
  <dc:creator>클로드 교육</dc:creator>
  <cp:lastModifiedBy>DG KIM</cp:lastModifiedBy>
  <cp:revision>4</cp:revision>
  <dcterms:created xsi:type="dcterms:W3CDTF">2026-08-06T09:52:34Z</dcterms:created>
  <dcterms:modified xsi:type="dcterms:W3CDTF">2026-08-10T06:06:24Z</dcterms:modified>
</cp:coreProperties>
</file>