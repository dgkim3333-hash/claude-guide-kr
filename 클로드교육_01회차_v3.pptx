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2.svg" ContentType="image/svg"/>
  <Override PartName="/ppt/media/image2.svg" ContentType="image/svg"/>
  <Override PartName="/ppt/media/image14.svg" ContentType="image/svg"/>
  <Override PartName="/ppt/media/image6.svg" ContentType="image/svg"/>
  <Override PartName="/ppt/media/image4.svg" ContentType="image/svg"/>
  <Override PartName="/ppt/media/image8.svg" ContentType="image/svg"/>
  <Override PartName="/ppt/media/image10.svg" ContentType="image/svg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65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29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35.xml" ContentType="application/vnd.openxmlformats-officedocument.presentationml.slide+xml"/>
  <Override PartName="/ppt/slides/slide80.xml" ContentType="application/vnd.openxmlformats-officedocument.presentationml.slide+xml"/>
  <Override PartName="/ppt/slides/slide64.xml" ContentType="application/vnd.openxmlformats-officedocument.presentationml.slide+xml"/>
  <Override PartName="/ppt/slides/slide61.xml" ContentType="application/vnd.openxmlformats-officedocument.presentationml.slide+xml"/>
  <Override PartName="/ppt/slides/slide79.xml" ContentType="application/vnd.openxmlformats-officedocument.presentationml.slide+xml"/>
  <Override PartName="/ppt/slides/slide78.xml" ContentType="application/vnd.openxmlformats-officedocument.presentationml.slide+xml"/>
  <Override PartName="/ppt/slides/slide7.xml" ContentType="application/vnd.openxmlformats-officedocument.presentationml.slide+xml"/>
  <Override PartName="/ppt/slides/slide77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72.xml" ContentType="application/vnd.openxmlformats-officedocument.presentationml.slide+xml"/>
  <Override PartName="/ppt/slides/slide75.xml" ContentType="application/vnd.openxmlformats-officedocument.presentationml.slide+xml"/>
  <Override PartName="/ppt/slides/slide49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6.xml" ContentType="application/vnd.openxmlformats-officedocument.presentationml.slide+xml"/>
  <Override PartName="/ppt/slides/slide71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0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14.xml" ContentType="application/vnd.openxmlformats-officedocument.presentationml.slide+xml"/>
  <Override PartName="/ppt/slides/slide73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8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74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9B17EA6-DB1C-4498-A83A-2A09D16237B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인사 후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오늘은 아무것도 모르는 상태에서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컴퓨터를 잘 다루지 못해도 괜찮습니다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끝나면 여러분 컴퓨터에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설치되어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대화를 나눠보신 상태가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말씀드릴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 과정에 함정이 두 군데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그 두 군데를 같이 넘어갑니다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혼자 하면 열에 아홉은 여기서 막힙니다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날짜와 발표자 이름을 채워넣고 발표하세요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FA6849-03DE-471C-8910-AC6DFCE6352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목표를 소리 내어 읽어주세요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강조할 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오늘은 진도를 많이 나가는 날이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 하나만 제대로 끝내도 성공입니다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설치가 오늘의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말은 과장이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설치에서 막히면 다음 주에 아무것도 못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오늘은 천천히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이거 어려운가요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단계는 다섯 개인데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그중 두 개만 조심하면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두 개를 오늘 같이 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88FA71-78F9-4E56-94AC-F32C7E56AD8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58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길게 설명하지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일곱 묶음을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그런데 시간의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설치까지입니다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게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알고 가시면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여기서 안심을 주는 게 목적입니다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목차가 일곱 개나 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이걸 다 배워야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겁먹습니다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5·6·7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번은 맛보기라고 미리 못 박아 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페이지 번호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(p.4·11·18·26·34·39·44)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짚어주면 유인물로 받았을 때 되찾기 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다 못 끝내면요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설치까지만 되면 오늘은 성공입니다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나머지는 자료를 보고 혼자 따라오실 수 있게 만들어 두었습니다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58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 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10~15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초만 쓰고 넘어가세요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내용을 미리 설명하면 뒤에서 같은 말을 두 번 하게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무엇인지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웹이랑 앱이 어떻게 다른지부터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요금제 이야기도 여기서 끝냅니다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섹션의 목적은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설치할 마음이 들게 하는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기능 설명이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나오는 사용 한도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(p.10)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이야기는 미리 꺼내지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자리에서 놀라야 기억에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메시지 한 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웹은 대화만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앱은 내 컴퓨터까지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수강생 중에 이미 웹으로 써본 분이 있을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그분들께는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웹에서 되던 건 앱에서도 다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앱은 거기에 더 얹는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안심시켜 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 네 번째 항목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프로그램과 연결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뒤쪽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(p.34~)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지금은 자세히 설명하지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 다 써도 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계정이면 대화 기록도 같이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1DD4BD3-F30D-4D3C-A7E9-24960F84A5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목적은 동기 부여입니다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설치가 귀찮다고 느끼기 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만한 이유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가능하면 여기서 실물을 잠깐 보여주세요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만들어둔 엑셀 결과물 하나를 띄우고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만들었습니다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하면 분위기가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번을 말할 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복사해서 붙여넣는 게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진짜 파일이 폴더에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강조하세요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이게 웹과 가장 큰 차이입니다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(MCP)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자세히 설명하려 들면 시간이 다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예고만 하고 넘어가세요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493019-EEF9-4F34-811D-3A53F1DA9D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가격은 달러입니다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원화로 얼마인지 물어보실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환율을 계산해 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가격은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당일 아침에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anthropic.com/pricing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한 번 확인하고 들어가세요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슬라이드와 실제가 다르면 신뢰를 잃습니다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굵게 표시한 이유는 다음 장에서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표만 읽고 넘어가세요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무료로는 안 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설치하고 대화하는 데까지는 무료로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 작업을 본격적으로 할 때부터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장에서 정리해 드리겠습니다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C08BD95-2512-467C-850A-A1AC9848A9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장의 목적은 부담을 덜어주는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당장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달러를 내야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걱정하는 분이 반드시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걱정을 여기서 없애야 뒤에 집중합니다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오늘은 무료로도 끝까지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결제는 파일 작업을 시작하기 전에만 하시면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파일 다루기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 교육의 갈림길입니다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손가락으로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결제하고 마음에 안 들면요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환불 정책은 제가 확답드리기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고객센터 안내를 확인해서 답하세요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확인해서 알려드리겠습니다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3EECEC-CBAC-407E-A42F-76C49FB047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결론을 명확히 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초보자는 선택지가 많으면 아무것도 못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"Pro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하나만 기억하세요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나머지는 잊으셔도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처음부터 크게 지르지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진심으로 말해주세요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결제하고 안 쓰는 분이 실제로 많습니다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강사가 이 말을 해주면 신뢰가 올라갑니다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 결제는 할인이 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처음 쓰는 분께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약정을 권하지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달 써보고 정하는 게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강사님은 뭘 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솔직하게 답하되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저는 매일 업무로 쓰니까 그렇고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처음에는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면 충분합니다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덧붙이세요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750F0A-4398-48A9-908E-78DF1EED08A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슬라이드를 안 하면 수강생이 반드시 놀랍니다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돈 냈는데 왜 안 되냐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항의가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안심시키세요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고장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잠시 쉬었다 하시면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 원문 근거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"Your session-based usage limit will reset every five hours."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번이 실무적으로 가장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사용량은 메시지 길이뿐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 대화의 전체 길이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비례합니다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"...including the length of files you attach, the length of your current conversation, and the model or feature you use."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쉽게 설명하는 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대화를 이어갈 때마다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앞에서 나눈 이야기를 처음부터 다시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대화가 길어질수록 매번 읽는 양이 늘어납니다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결론은 하나입니다 — 주제가 바뀌면 새 대화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이건 앞으로 대화를 관리하는 요령과도 이어집니다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첨부 파일도 사용량을 먹습니다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여러 개 올리면 금방 닳습니다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이건 파일 작업을 다룰 때 다시 짚으세요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한도가 정확히 몇 개인가요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공개된 숫자가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메시지 길이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모델에 따라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정해진 개수가 아니라 분량 기준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답하세요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556A510-5B3C-4049-BE09-57150543382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0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 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10~15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이제 실제로 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여기부터는 화면을 같이 보면서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저를 따라오지 마시고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저보다 먼저 누르지도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실습 시작 지점입니다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 전에 두 가지를 미리 공지하세요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막히면 손을 드시라고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혼자 되돌리려다 더 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화면이 어두워지는 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(p.15)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재시작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(p.16)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반드시 멈춰 세울 거라고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섹션에 오늘 시간의 절반 이상이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앞을 빨리 끝내야 여기서 여유가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가입은 대부분 문제없이 넘어갑니다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두 가지를 미리 말해주세요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구글 계정으로 가입하는 게 제일 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비밀번호를 새로 만들 필요가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카드 정보를 넣지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벌써 결제하는 건가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걱정하는 분이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인증 메일이 스팸함으로 가는 경우가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온다는 분이 나오면 스팸함부터 보게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회사 메일보다 개인 메일을 권하세요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회사 메일은 보안 정책으로 외부 메일이 막히는 경우가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2DB9FE5-7180-453E-8A99-29E0653038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주소창이지 검색창이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반드시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초보자가 가장 많이 헷갈리는 부분입니다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검색창에 치면 검색 결과가 나오고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거기서 엉뚱한 사이트로 들어가는 사고가 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가짜 다운로드 사이트도 있으니 주의가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 주소창을 손으로 짚어가며 보여주세요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이 주소를 채팅방이나 문자로 뿌려두면 오타 사고를 줄일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D6A0575-C084-4FA2-BE41-CA705485AF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시간이 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기다리는 동안 할 이야기를 준비해 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시간에 수강생들이 각자 어떤 업무에 쓰고 싶은지 이야기하게 하면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받은 파일을 못 찾는 분이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브라우저 오른쪽 위 화살표 아이콘을 누르면 최근 받은 파일이 보인다고 알려주세요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파일 탐색기의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다운로드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폴더입니다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인터넷이 느린 분이 있으면 전체를 기다리지 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끝난 분들에게 다음 단계를 미리 보여주면서 진행하세요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382ADFB-18B8-4BE0-AE4A-9A7010AC5E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오늘 가장 중요한 슬라이드입니다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천천히 두 번 말하세요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화면이 갑자기 어두워지면 놀라서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아니요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누르는 분이 실제로 많습니다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무슨 바이러스인 줄 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화면이 어두워지는 건 정상입니다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윈도우가 확인차 물어보는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누르세요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창을 미리 화면에 띄워놓고 설명하면 가장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스크린샷을 꼭 준비하세요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아니요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눌러버린 분이 나오면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 파일을 다시 실행하면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당황하지 마시라고 안심시키세요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중요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누르면 파일 작업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(Cowork)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필요한 윈도우 기능까지 설치기가 알아서 준비합니다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이 한 번의 클릭이 뒤의 파일 작업 전체를 좌우합니다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EF141CD-DABC-4E1C-87F2-427907240E1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차이를 아는 사람이 거의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놀라는 분이 많습니다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껐다 켜는 거랑 다시 시작이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거 아니에요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반응이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반응이 나와야 기억에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이유를 간단히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윈도우가 빨리 켜지라고 이전 상태를 저장해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껐다 켜면 이전 상태 그대로 돌아옵니다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다시 시작은 완전히 새로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 원문 근거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"Restart the machine using Restart, not shut down and power on. With Windows Fast Startup enabled, a shutdown cycle can leave the virtualization services uninitialized."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여기까지가 설치의 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다시 시작한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열어 로그인하면 완료입니다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 시간에 실제로 재시작하면 시간이 많이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쉬는 시간에 맞춰 넣으시는 걸 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A77F0B-C870-4706-B3AD-EA2C49BDCC5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슬라이드는 설치 절차가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넘어가면서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게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알려주고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시키지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 확인 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개인이 설치 프로그램으로 깔면서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UAC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누르면 이 기능이 자동으로 준비됩니다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"For individual installations with full feature support including Claude Cowork, administrator privileges are required."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잘 눌렀으면 여기 올 일이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검은 창을 여는 건 예외 상황입니다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막힌 수강생이 나오면 그때 이 화면으로 돌아오세요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세우지 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이름을 적어뒀다가 쉬는 시간에 따로 봐주세요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 작업을 시작하기 전까지만 해결하면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"Missing HCS services"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오류 메시지는 그대로 읽어주지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 기능이 안 켜지면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정도로 충분합니다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오래된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BIOS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가상화가 꺼져 있을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경우는 이 명령으로도 안 되니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따로 시간을 잡으세요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57139C1-9885-44B5-8F0B-7AA8C54B5C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2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 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10~15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앱은 깔았습니다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그런데 앱만 깔면 반쪽입니다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바깥 프로그램을 부리려면 미리 깔아둬야 하는 게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섹션에서 수강생이 가장 많이 이탈합니다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이유는 두 가지입니다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검은 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(PowerShell)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겁먹습니다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나는 개발자가 아닌데 왜 이런 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생각이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시작할 때 이렇게 못 박으세요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검은 창은 딱 한 줄만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한 줄도 복사해서 붙여넣기만 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외울 것도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이해할 것도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나중에 깔아도 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붙이려는 날 반드시 다시 이 자리로 돌아옵니다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해두는 게 낫습니다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슬라이드의 메시지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미룰수록 손해입니다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강사 본인의 경험을 꼭 이야기해 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저는 이걸 몰라서 프로그램이 안 깔려 동작을 안 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회원가입을 안 해서 데이터를 못 읽고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한참을 헤맸습니다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한마디가 슬라이드 열 장보다 설득력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해두세요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오늘의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 자체는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분이면 끝나고 전부 무료입니다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붙이는 날 몰아서 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명이 동시에 막힙니다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번은 왜 미루는지 이유를 설명해 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데이터를 쓸지 정해야 어떤 키를 신청할지 정해집니다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아무거나 신청하면 나중에 뭐가 뭔지 몰라 더 헤맵니다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"2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안 하면 못 따라가나요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붙이는 날 같이 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그날 시간이 빠듯해집니다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1DD2FB6-78B6-43F2-8BD4-32E1925B2DF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흔한 오해를 먼저 깨주세요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"Claude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쓰려고 오피스를 새로 사야 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있으면 그걸 쓰면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대부분의 직장인은 회사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오피스가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손을 들게 해서 확인하고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없는 분에게만 나머지를 설명하세요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리브레오피스는 무료지만 화면이 낯설고 서식이 조금씩 깨집니다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비용을 안 쓰고 싶다면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정도로 소개하되 강하게 권하지는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구글 문서는 설치가 필요 없어서 가장 부담이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구글 계정만 있으면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(HWP)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경매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공매 서류가 한글 파일로 오는 경우에만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주식만 하실 분은 완전히 무시하셔도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오피스 사용법을 설명하지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파일을 여는 프로그램이 있느냐만 확인하면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BEE700B-58C6-419C-B8FD-00FB741A85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슬라이드가 대표님이 겪은 고생을 수강생에게 물려주지 않는 장치입니다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Node.js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표시한 이유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나중에 붙일 연결 도구 대부분이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Node.js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돌아갑니다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이게 없으면 설정을 아무리 맞춰도 안 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그런데 오류 메시지가 불친절해서 원인을 찾기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주의해서 말할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Claude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앱 안에도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Node.js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들어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그건 확장 프로그램 전용이고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 파일 방식에는 시스템에 깔린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Node.js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수강생에게는 여기까지 설명하지 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그냥 깔아두세요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넘기세요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LTS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버튼을 강조하세요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Current(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버튼을 누르면 불안정한 버전을 받게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초록색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LTS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보라고 두 번 말해주세요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 중 체크박스가 여럿 나오는데 전부 기본값 그대로 두면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뭘 건드리다 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VS Code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설정 파일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(JSON)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편집용입니다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메모장으로도 되지만 쉼표 하나 빠뜨린 걸 못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VS Code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빨간 줄로 알려줍니다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Git·Chrome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선택입니다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없으면 건너뛰세요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AC4D13-CE8C-496C-9126-3DDB9A91C8C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33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이걸 깔아야 하는지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납득시키는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납득이 안 되면 다음 장에서 손이 안 움직입니다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비유 먼저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남이 만들어 준 도구입니다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도구를 만든 재료가 두 가지예요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자바스크립트로 만든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파이썬으로 만든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Node.js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앞의 것을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뒤의 것을 실행해 주는 엔진입니다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엔진이 없으면 도구가 아예 시동이 안 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왼쪽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npx 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uvx·uv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손가락으로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나중에 설정 파일을 열었을 때 이 단어가 눈에 들어와야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 파일에서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적힌 줄이 보이면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Node.js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필요하다는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 파일을 아무리 정확하게 붙여넣어도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둘이 없으면 하나도 안 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순서가 반대면 헛수고예요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깔고 → 붙여넣기입니다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 중 하나만 깔면 안 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쓰려는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어느 쪽인지에 따라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교육의 실습 설정 파일은 양쪽이 섞여 있어서 둘 다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컴퓨터가 느려지지 않나요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평소에는 아무 일도 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부를 때만 잠깐 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깔려 있는지 어떻게 아나요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장 확인 명령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(node -v / uv --version)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넘어가면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참고 — 확장 프로그램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원클릭 설치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방식만 쓸 경우에는 사정이 다를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이 교육은 설정 파일 직접 편집 방식으로 진행하므로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우리 실습 기준에서는 둘 다 필수입니다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질문이 나오면 이 선까지만 답하세요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35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오늘 검은 창이 처음 나오는 장면입니다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분위기가 갈립니다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안심시키세요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지금부터 검은 창이 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해커 영화에 나오는 그 창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그런데 오늘 여기서 할 일은 딱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붙여넣고 엔터입니다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진행 순서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수강생 화면을 확인하며 한 단계씩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 메뉴에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powershell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→ 실행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"PS C:\\Users\\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내이름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보이면 제대로 연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확인을 건너뛰지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엉뚱한 창을 연 사람이 꼭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GitHub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자료의 복사 버튼으로 명령 한 줄 복사 → 창에 붙여넣기 → 엔터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설치가 끝나면 창을 닫고 새 창을 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★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단계를 빠뜨리면 다음 장의 첫 번째 오류가 그대로 재현됩니다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-v / uv --version.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버전 번호가 나오면 성공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절대 하지 말라고 할 것 — 손으로 받아 적기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따옴표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대소문자 하나에서 막힙니다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반드시 복사 버튼을 쓰게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붙여넣기가 안 되는 사람이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PowerShell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마우스 오른쪽 클릭으로도 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이것도 미리 알려주세요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"Node.js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어디서 깔아요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uv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달리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Node.js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설치 파일을 받아서 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GitHub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자료의 사전준비 문서에 순서가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이거 지워도 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안 쓰실 거면 지워도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프로그램에 해를 주지는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 뜬 버전 번호는 시점에 따라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슬라이드의 번호와 달라도 정상이라고 미리 말해주세요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37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목적입니다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오류가 난 뒤에 보여주면 늦습니다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장 실습 직후 바로 넘어오세요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마디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지금부터 세 가지 중 하나가 뜬 분이 계실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 다 고장이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답이 정해져 있는 것들입니다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① uv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찾을 수 없습니다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설치는 됐는데 열려 있던 창이 옛날 경로를 기억하고 있는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비유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이사 갔는데 옛 주소로 편지를 보내는 상황입니다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창을 닫고 새로 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그래도 안 되면 컴퓨터를 다시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② 다른 프로세스에서 사용 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놀라는 분이 많은데 오히려 좋은 신호입니다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깔려 있다는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그대로 두시면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③ &gt;&gt;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계속 나옵니다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명령어를 중간까지만 붙여넣은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PowerShell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마저 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기다리는 상태입니다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Ctrl + 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빠져나온 뒤 처음부터 끝까지 다시 붙여넣습니다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Ctrl + 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화면에서 직접 눌러 보여주세요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말로만 하면 못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맨 아래 줄이 오늘 가장 자주 쓰게 될 처방입니다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Node.js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새로 깔았으면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데스크탑을 완전히 종료했다 켜야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창의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눌러서는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작업표시줄 오른쪽 아래 트레이 아이콘까지 종료해야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화면에서 트레이 아이콘 위치를 직접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못 찾는 분이 반드시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 문구가 슬라이드랑 조금 달라요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윈도우 버전에 따라 문장이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단어만 같으면 같은 증상입니다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39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못 따라와도 집에 가서 할 수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안전망을 주는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마음이 놓여야 뒤쪽 진도를 편하게 나갈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마디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방금 한 것 외우지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필요할 때 여기 열어서 복사하면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화면에서 실제로 주소를 열어 보여주세요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말로만 하면 아무도 안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열어서 파일 세 개가 실제로 있는 것을 보여주는 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파일을 이렇게 소개하세요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사전준비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_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.md —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한 것을 그대로 다시 밟을 수 있는 문서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될 때 대처법까지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claude_desktop_config_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실습용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.jsonc — MCP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 파일 원본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어디에 넣는지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키를 어디서 받는지까지 적혀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개인설정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_A · B · C —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관심 분야별 완성본입니다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조립하실 필요 없이 통째로 붙여넣으면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주식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경매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둘 다입니다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복사 버튼 위치를 직접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회색 상자 오른쪽 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알면 오타로 막히는 일이 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주소는 받아 적게 하지 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메신저로 링크를 한 번 뿌리세요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파일 자체를 뿌리지는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자료는 계속 갱신되므로 버전이 갈립니다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"GitHub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가입해야 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하셔도 보고 복사할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내용이 바뀌나요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파일로 나눠 드리지 않고 주소로 드립니다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항상 최신을 보시게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41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 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10~15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설치가 끝났습니다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손과 발을 붙여줄 차례입니다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전에 가입할 곳이 몇 군데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여기서 분위기를 한 번 환기하세요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섹션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검은 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지친 분들이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검은 창은 끝났습니다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여기서부터는 다시 클릭입니다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섹션에서 가장 중요한 장은 두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p.32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보안 — 대화창에 넣으면 안 되는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수업에서 실제로 피해가 날 수 있는 항목입니다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p.33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적용 범위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지침을 썼는데 왜 안 먹히죠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막는 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모자라면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p.28(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가입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줄이고 이 둘은 반드시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가입은 각자 속도가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인증 메일을 기다리는 시간이 생기니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사이에 할 이야기를 준비해 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대표님이 겪은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회원가입을 안 해서 못 읽었던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문제를 여기서 막습니다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카카오가 왜 목록에 있는지 반드시 설명하세요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실습에서 쓸 주식 시세는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PlayMCP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카카오 서비스를 거쳐서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PlayMCP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카카오 계정으로 로그인해야 도구함을 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카카오 계정은 대부분 이미 갖고 계시니 새로 만들 일은 거의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공공데이터포털 함정 두 가지를 반드시 알려주세요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인증키가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인증키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(Encoding)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(Decoding)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가지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발급됩니다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쪽을 써야 할지 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오류가 나는 게 가장 흔한 사고입니다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 다 복사해두라고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**API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하나당 활용신청을 따로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실거래가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온비드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건축물대장을 쓰려면 세 번 신청해야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신청했는데 왜 안 되냐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절반이 이겁니다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셋째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활용신청 승인은 대부분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 안에 납니다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강사 직접 확인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2026-08-09).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자료에 따라 더 걸리는 것도 있으니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수업 당일 아침에 몰아서 신청하지 말고 하루 전에는 해두라고 안내하세요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공공데이터포털은 본인인증이 필요하고 내국인만 가입됩니다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Firecrawl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주의 — 무료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1,000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크레딧은 매달 초기화되고 이월되지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요청이 실패해도 크레딧이 깎입니다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수업에서는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페이지씩만 가져오기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제한하고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사이트 전체를 훑는 기능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(crawl)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쓰지 말라고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반대로 가입이 전혀 필요 없는 것도 많습니다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유튜브 자막 가져오기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웹 브라우저 자동화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문서 형식 변환 같은 것들은 계정 없이 바로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"MCP 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무조건 회원가입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오해하지 않게 한마디 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공개된 파일을 내려받는 것만이면 계정 없이도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토큰이 필요한 순간이 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그때 가서 만들면 흐름이 끊깁니다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만들어두라고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한국투자증권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증권 계좌가 있어야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신청이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계좌 없는 분은 여기서 막히니 미리 말해두세요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검은 박스를 반드시 읽어주세요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오늘은 가입까지만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표에 ★ 가 붙은 다섯 곳이 필수입니다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(Claude·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이미 갖고 계실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B71A606-E472-416A-8946-07EB5A5049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강사가 반드시 짚어야 할 것 세 가지입니다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국가법령정보의 인증키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(OC)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 문자열이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가입한 이메일의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@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앞부분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hong@gmail.com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hong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학생들이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키가 어디 있냐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 반드시 헤맵니다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줄을 칠판에 적어두세요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V-World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인증키 신청서에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사용할 웹사이트 도메인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적게 되어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학습자는 넣을 도메인이 없어 막힙니다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**localhost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적으라고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알려주세요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다르게 적으면 나중에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INCORRECT_KEY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오류가 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V-World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본인인증이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OpenDART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신청 폼에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"API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사용환경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사용용도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URL"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PC, URL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공란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넣으라고 안내하세요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아래 검은 박스가 오늘 가장 중요한 정보입니다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네이버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2026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일부로 개발자센터에서 검색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신규 신청이 막혔습니다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옛 블로그를 보고 따라 하면 교실 전체가 멈춥니다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대체 경로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네이버 클라우드 플랫폼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클라우드 콘솔이라 초보자에게 너무 복잡하고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유료 전환도 예고된 상태입니다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이번 기수는 빼는 게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증권사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증권계좌가 있어야 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 하나로 실거래 주문이 나갑니다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계좌개설부터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단계라 수업 시간 안에 끝나지도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심화 과정으로 분리하고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하더라도 모의투자 계좌로만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OpenDART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개인회원 즉시 발급이라 가장 마찰이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없으면 이것 하나만 시켜도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0136A07-80F6-48E6-BBE9-B830E19414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커넥터를 어렵게 설명하지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문장이면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내가 이미 쓰는 서비스를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붙이는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 세 개는 수강생 업무에 맞게 바꾸셔도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본인 이야기가 나오면 반응이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오른쪽 검은 박스가 이 슬라이드의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메일을 다 보는 거냐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걱정이 반드시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 원문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"Claude inherits each person's permissions from the connected service."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계정 권한 그대로입니다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못 보던 건 여전히 못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 플랜에서도 된다는 점을 꼭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앞에서 결제 이야기를 했기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 돈 드는 건가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쓰면 어떻게 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언제든 연결 해제됩니다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장에서 보여드리겠습니다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0ED7DDE-499D-4E76-B40C-54E8414B0D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구분을 한 번 잡아두면 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섹션이 훨씬 수월합니다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잡아두면 계속 헷갈립니다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맨 아래 한 줄만 기억시키세요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인터넷 너머면 커넥터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컴퓨터 안이면 확장 프로그램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왼쪽을 검게 강조한 이유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해볼 것이 커넥터이기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 근거 — 원격 커넥터는 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모바일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·Cowork·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데스크탑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·Claude Code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곳에서 쓰이고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데스크탑 확장은 데스크탑과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 Code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에서만 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실전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지메일은 인터넷 너머에 있으니 커넥터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컴퓨터의 엑셀 파일을 다루는 도구는 확장 프로그램입니다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뭔가요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가지를 묶어 부르는 기술 이름입니다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지금은 몰라도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97ECA2F-B705-42B5-8C4A-7654BA6AB1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실습으로 진행하세요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구글 드라이브나 지메일 하나만 붙여보면 충분합니다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단계가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권한 화면을 읽지 않고 넘기는 습관이 위험합니다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문서도 경고합니다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"you're granting Claude permission to access and potentially modify data within that service."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읽기만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쓰기도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 보라고 알려주세요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메일을 보낼 수 있는 권한까지 주는 커넥터도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대화에서 켜고 끄는 법을 꼭 보여주세요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연결해둔 것이 전부 항상 켜져 있는 게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대화마다 골라 쓰는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모르면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연결했는데 왜 안 써요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질문이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실무 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관심 있는 분에게만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넘게 붙이면 대화가 무거워집니다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그때는 필요할 때만 불러오는 설정으로 바꾸면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마무리 한마디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쓰는 건 해제하세요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계정을 남에게 열어둔 채로 두는 것과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6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3F84935-FCBB-4E4D-A3BE-35AE56E26F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강사 본인의 실수담을 이야기해 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그게 가장 강력합니다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예시로 쓸 만한 이야기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저는 설정 파일을 통째로 붙여넣었다가 증권사 앱키와 계좌번호가 대화창에 그대로 올라간 적이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결국 키를 전부 재발급했습니다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초보자가 가장 많이 하는 실수 세 가지입니다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오류가 나면 설정 파일이나 로그를 통째로 복사해 붙여넣습니다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거기 키가 다 들어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계약서나 등기부를 그대로 올립니다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채무자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임차인 실명이 들어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이거 어떻게 하는지 알려줘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하면서 회사 내부 문서를 통째로 첨부합니다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대응법도 같이 알려주세요 — 이름은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·B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사로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키는 지우고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숫자만 남기면 대부분 그대로 물어볼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 품질은 거의 안 떨어집니다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회색 박스의 판단 기준 한 줄이 이 슬라이드의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외우기 쉽게 두 번 말해주세요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겁을 주는 게 목적이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조심하면 얼마든지 쓸 수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쪽으로 마무리하세요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 칸을 짚으면서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건 마음껏 하셔도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끝내면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9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BFB459A-D7BE-4E31-ADD8-E7172A1BE4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한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지침을 분명히 썼는데 왜 안 먹히죠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막는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엉뚱한 곳에 써서 그렇습니다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처음 듣는 수강생에게는 이 표를 다 설명하지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위쪽 다섯 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지식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짚고 넘어가면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나머지는 커넥터 섹션과 프로젝트 섹션에서 다시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슬라이드에 쓰면 안 되는 것 — 흔히 도는 말인데 전부 근거가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"Cowork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CLAUDE.md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 어디에도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Cowork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instructions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Folder instructions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따로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표에 물음표로 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블로그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유튜브에서 반복되는 주장이지만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Anthropic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문서로 뒷받침되지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"CLAUDE.md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줄까지만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권장치일 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"CLAUDE.md files are loaded in full regardless of length."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하드 제한은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 memory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MEMORY.md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적용됩니다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설정이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 Code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적용된다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문서상 근거가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Claude Code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대응물은 디스크의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~/.claude/CLAUDE.md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4) "Cowork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메모리가 쌓인다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안에서만입니다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"Memory ... is not currently available for Cowork" / "Within Cowork, memory is supported in projects only."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CLAUDE.md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(Claude Code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이야기를 할 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디스크에 두는 지침 파일입니다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Claude Code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시작할 때 자동으로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Windows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 읽는 순서는 넓은 범위부터입니다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C:\Program Files\ClaudeCode\CLAUDE.md 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조직 정책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C:\Users\&lt;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&gt;\.claude\CLAUDE.md 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전체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.\CLAUDE.md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.\.claude\CLAUDE.md 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프로젝트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.\CLAUDE.local.md 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공유 안 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덮어쓰기가 아니라 누적입니다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"All discovered files are concatenated into context rather than overriding each other."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 Code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/init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치면 프로젝트를 훑어 루트에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CLAUDE.md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만들어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있으면 덮어쓰지 않고 개선안을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@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.md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형식으로 다른 파일을 끌어올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단계까지 연쇄됩니다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시작할 때 전부 로드되므로 대화 분량을 아끼지는 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조건부 칸 설명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질문 나오면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원격 커넥터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Claude Code: claude.ai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구독 계정으로 로그인했을 때만 자동으로 딸려옵니다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키로 쓰면 안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채팅은 데스크탑 앱에서만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Cowork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로컬 세션에서만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Claude Code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명령어 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(CLI)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안 되고 데스크탑 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탭에서만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Cowork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~/.claude/skills/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계정에 저장된 것만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모르면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분명 만들었는데 왜 없냐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발표 전 확인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설정 필드의 실제 이름을 화면에서 확인하세요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Instructions for Claude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인데 한글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다를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라벨은 자주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2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8095232-94C7-481E-895E-86DA848B5D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6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 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10~15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방금 커넥터를 붙여봤습니다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바닥에 깔린 규격이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그걸 쓰려면 열쇠가 하나 필요한데 그게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여기부터는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맛보기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구간이라고 미리 선을 그으세요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여기서부터는 오늘 다 하실 필요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게 있구나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남기시면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p.37(API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만은 예외입니다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수업에서 돈이 나갈 수 있는 유일한 항목이라 시간을 넉넉히 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나머지는 빠르게 넘겨도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용어를 두려워하는 분이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마디로 눌러주세요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"MCP, 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 영어 약자라 무섭게 들리는데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뜻은 콘센트랑 열쇠입니다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그게 전부입니다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구멍 규격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이해시키는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USB-C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비유는 제가 지어낸 게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문서가 쓰는 비유입니다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"Think of MCP like a USB-C port for AI applications."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그대로 써도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비유를 먼저 던지고 정의는 나중에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바꾸면 첫 문장에서 절반이 놓칩니다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이렇게 말해 보세요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지금까지 여러분이 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말은 잘하는데 손이 없었습니다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파일을 못 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검색도 못 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엑셀도 직접 못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거기에 손발을 달아주는 규격입니다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가지를 연결합니다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 기준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 — 내 파일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데이터베이스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 — 검색 엔진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흐름 — 정해진 절차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랑 뭐가 다른가요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것을 가리키는 다른 이름으로 보시면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화면에서는 커넥터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기술 문서에서는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지금은 구분하지 않아도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Q. 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쓰는 건가요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표준이라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ChatGPT, VS Code, Cursor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다른 도구도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 만들면 여러 곳에서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프로그램을 깔아야 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대부분은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장에서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주의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설치 방법으로 넘어가지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잡고 끝냅니다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방법은 다음 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7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1B0B6FF-884A-48C6-9EDE-95C73730A4A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개발자만 쓰는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오해를 깨는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이제는 대부분 버튼 하나입니다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[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2026-08-06] Node.js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따로 깔지 않아도 됩니다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 Desktop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Node.js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환경이 들어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support.claude.com/en/articles/10949351 (Developer FAQ).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예전 자료에는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"Node.js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설치하라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 나오는데 지금은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붙이기 난이도가 크게 낮아졌습니다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순서를 지키세요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Browse extensions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목록부터 봅니다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거기 없을 때만 설정 파일을 엽니다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하면 고생만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설정 파일 경로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수강생마다 다름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설치본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%APPDATA%\Claude\claude_desktop_config.json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Microsoft Store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C:\Users\&lt;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&gt;\AppData\Local\Packages\Claude_pzs8sxrjxfjjc\LocalCache\Roaming\Claude\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쪽인지 먼저 확인하게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엉뚱한 파일을 고치면 아무 일도 안 일어납니다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확장 프로그램은 저장 위치가 다릅니다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원클릭으로 설치한 확장은 설정 파일에 기록되지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Store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버전이어도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%APPDATA%\Claude\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별도 폴더에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설정 파일만 백업하면 확장은 하나도 안 담깁니다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백업 이야기할 때 꼭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비용 이야기를 빼지 마세요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수강생은 눈에 보이는 게 없으니 무조건 많이 붙이려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써도 자리를 차지한다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걸 지금 말해두지 않으면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나중에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이렇게 금방 한도가 차죠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질문이 돌아옵니다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 붙이면 계속 켜져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안 쓰는 건 끄라고 하는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붙였는데 도구가 안 보여요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대화를 여셨나요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대화에는 안 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그다음은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완전 종료 후 재실행입니다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0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48ED760-7EB6-4E74-A0D4-90F278BCCE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수업에서 금전 피해로 이어질 수 있는 유일한 항목입니다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시간을 넉넉히 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API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먼저 쉽게 설명하기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식당 주문서라고 생각하면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손님이 주방에 직접 들어가지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정해진 양식으로 주문을 넣으면 음식이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주문 창구이고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API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손님은 결제된 회원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보여주는 카드입니다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왜 위험한가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키는 비밀번호와 같은데 비밀번호처럼 안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그냥 긴 글자 뭉치라 수강생은 대수롭지 않게 여깁니다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그런데 그 한 줄이면 남이 내 계정으로 요금을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라면 계좌 정보까지 닿습니다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실제 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익명화해서 전달하세요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사용자가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도움을 받으려고 설정 파일 전체를 대화창에 붙여넣었습니다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안에 증권사 실계좌 키까지 들어 있었습니다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수정본을 드리겠다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며 그 내용을 세 번이나 화면에 다시 출력했습니다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사람 이름이나 회사는 절대 말하지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교훈은 두 가지입니다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붙여넣는 순간 이미 노출입니다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 기록에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AI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도우려다 그것을 다시 뱉을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새면 어떻게 하나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지우는 것으로는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해당 서비스에서 키를 폐기하고 새로 발급받아야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재발급이라고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이렇게 시키면 안전합니다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 파일에서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kis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 부분만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 값은 ○○○로 가리고 보여줘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키가 필요한가요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대부분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무료라도 얼마나 쓰는지 세야 하니까요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스크린샷은 괜찮나요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글자가 보이면 똑같습니다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캡처 전에 가리세요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3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78EF8D-69CD-4AD4-8EEA-A01BE8BF59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것으로 여기는 오해를 끊는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둘을 헷갈리면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실습에서 반드시 막힙니다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한 문장으로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길을 놓는 것이고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API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키는 그 길 끝의 문을 여는 열쇠입니다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길을 놨다고 문이 열리지는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왜 이 질문이 나오나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원클릭으로 확장을 설치하면 화면에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키를 넣으라는 칸이 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수강생은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방금 설치했는데 또 뭘 넣으라는 거지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멈춥니다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절반이 포기합니다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말해두면 안 막힙니다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키가 필요 없는 경우도 있습니다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컴퓨터의 파일을 읽는 것처럼 바깥 서비스를 안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키가 필요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바깥 회사의 자료를 가져오는가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기준입니다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세 규칙을 읽고 넘어가지 말고 하나씩 짚으세요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붙이지 않기 — 붙여넣는 순간 대화 기록에 남습니다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가리고 보여주기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"kis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키는 ○○○로 가려서 보여줘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시키면 됩니다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재발급 — 대화를 지워도 이미 나간 것은 돌아오지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해당 서비스에서 폐기하고 새로 받으세요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실습 전 당부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나중에 각자 키를 발급받게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그때 화면 공유나 캡처를 조심하라고 지금 미리 말해두세요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강의실에서 화면을 띄운 채 키를 붙여넣는 사고가 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키를 어디에 적어두나요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대화창 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비밀번호 관리 프로그램이나 본인만 보는 파일에 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회사 공유 폴더는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 서비스도 위험한가요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요금이 안 나가도 내 이름으로 남이 쓰는 것은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한도가 차면 정작 내가 못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6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A727894-6A47-4C28-9A8A-5F02381BB6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7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 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10~15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손과 발이라면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스킬은 그 손발을 어떻게 움직일지 적어둔 매뉴얼입니다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앞 섹션에서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많이 붙이면 대화가 무거워진다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 배웠습니다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스킬은 정반대라는 점이 이 섹션의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한 문장으로 예고해 두세요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이건 많이 넣어도 괜찮습니다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이유는 곧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섹션의 도착점은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p.43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 하나를 끌어다 놓으면 여덟 개가 한꺼번에 깔립니다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거기까지 간다고 미리 말해두면 앞의 개념 설명을 참고 들어줍니다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없으면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p.41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p.40 → p.42 → p.43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순으로 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개념보다 실물을 보여주는 게 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8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프로그램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서랍 속 매뉴얼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이해시키는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비유 먼저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정의는 나중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신입 직원이 왔습니다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일이 생길 때마다 처음부터 설명하기는 번거롭죠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업무 매뉴얼을 만들어 서랍에 넣어둡니다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일이 생기면 꺼내서 적힌 대로 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스킬이 딱 그겁니다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 구조를 손으로 짚으며 읽어주세요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순서가 이 장의 전부입니다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평소 — 제목과 설명 한 줄만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여러 개 넣어도 대화가 무거워지지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일이 생기면 — 본문을 펴서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 써줘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하지 않아도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알아서 판단합니다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필요하면 — 첨부된 자료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양식까지 꺼냅니다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쓰지 않은 자료는 한 글자도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대비를 한 번 걸어주세요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붙여두기만 해도 자리를 차지합니다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스킬은 안 쓰면 거의 자리를 안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골라서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스킬은 넉넉히입니다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맨 아래 한 줄이 결론입니다 — 스킬은 폴더 하나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SKILL.md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맨 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무슨 일을 하는 스킬인지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언제 쓰는지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적으면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프로그래밍이 아니라 글쓰기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못 박아 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제가 직접 만들 수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오늘은 만들지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만들어진 것을 쓰는 데까지만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몇 개까지 넣을 수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개수보다 설명이 겹치지 않는 게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비슷한 스킬이 둘이면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헷갈립니다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랑 뭐가 다른가요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장 아래쪽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 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MCP)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넘기세요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8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굳이 스킬까지 만들어야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눌러주는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장이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이 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가지를 각각 한 문장으로만 짚으세요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길어지면 지루해집니다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매번 설명하지 않아도 됩니다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지난번처럼 해줘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실제로 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매번 같아집니다 — 오늘 한 것과 다음 달에 한 것의 품질이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★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혼자 쓸 때보다 여럿이 쓸 때 이게 크게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대화가 가벼워집니다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정반대입니다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많이 넣어도 괜찮습니다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이 장의 진짜 핵심은 아래쪽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 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여기에 시간을 더 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내가 누구인가 → 항상 읽습니다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일을 어떻게 하는가 → 그 일이 생길 때만 읽습니다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MCP 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만질 수 있는가 → 손과 발이 됩니다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외우게 하는 법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단어로 줄여서 두 번 말하게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구분이 잡히면 뒤의 프로젝트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(p.46)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네 번째 칸을 붙이기만 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실제 사례를 하나 드세요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강사 본인이 쓰는 스킬 중 반복 업무 하나면 충분합니다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추상적으로 두면 안 와닿습니다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설정에 다 쓰면 안 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쓸 수는 있는데 모든 대화에 매번 얹힙니다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길수록 손해예요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늘 필요한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개인 설정에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스킬이 안 켜지면요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 줄에 그 상황의 말투가 안 적혀 있어서 그렇습니다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이럴 때 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구체적으로 적을수록 잘 켜집니다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하단 각주 한 줄은 반드시 읽어주세요 — 스킬은 신뢰할 수 있는 출처의 것만 설치합니다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8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두 장이 말로 한 설명이었다면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여기는 실물을 보여주는 자리입니다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저건 나도 쓰겠다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나와야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왜 하필 이 스킬을 예시로 골랐는지 말해주세요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수업이 끝나고 여러분이 가장 많이 겪을 문제가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안 붙는다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그때 쓰라고 만든 스킬입니다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남의 일이 아니라 본인 일이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왼쪽 세 마디를 그대로 읽어주세요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전문 용어가 아니라 평소 말투라는 게 요점입니다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안 붙어요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/ "Server disconnected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떠요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/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확장 프로그램 설치가 안 돼요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이렇게만 말하면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 실행해줘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말은 필요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알아서 꺼냅니다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오른쪽 폴더 구조를 보여주며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 안에 든 게 이게 전부입니다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설명서 한 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자주 겪는 오류 목록 한 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프로그램이 아니라 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단계는 빠르게 — 죽은 서버 훑기 → 겪어본 오류 문구와 대조 → 무엇을 고칠지까지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 파일을 통째로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필요한 줄만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줄은 그냥 넘기지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 파일에는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키가 들어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보안 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(p.32)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이어서 짚어주면 신뢰가 올라갑니다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 방법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.skill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파일을 채팅창에 끌어다 놓고 저장 한 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대화부터 적용됩니다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★ 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대화부터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열려 있던 대화에서는 안 켜집니다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되는데요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이거 어디서 받나요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(p.43)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여덟 개를 한꺼번에 받는다고 넘기세요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8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장은 실습입니다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 말고 같이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2~3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분이면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GitHub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주소를 엽니다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이미 열어본 곳과 같은 곳입니다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claude-guide-kr.plugin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 하나를 내려받습니다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채팅창에 끌어다 놓고 저장을 누릅니다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대화를 하나 열어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★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열려 있던 대화에서는 안 켜집니다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여덟 개를 하나씩 넣지 않아도 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장의 전부입니다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개별 스킬 설명에 시간을 쓰지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이름만 훑고 넘어갑니다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분야별로 이렇게만 짚으세요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어디에나 셋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진단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금액 표기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대시보드 갱신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관심 분야와 무관하게 전원에게 쓸모가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부동산 셋 — 물건 분석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상권 조사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온비드 조회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주식 둘 — 종목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 점검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세금 산정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관심 분야가 갈리는 자리입니다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분야가 아닌 스킬은 어차피 안 켜집니다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지우실 필요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미리 말해주면 질문이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아래 두 줄을 반드시 소리 내어 읽으세요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넘기지 마십시오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낙찰가 계수와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매입 분석은 들어 있지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데이터와 법령만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스킬은 자료를 정리하고 위험을 드러낼 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투자를 권유하지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이거 쓰면 돈 벌 수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질문이 반드시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선을 그어두면 뒤가 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판단과 그 결과는 본인 책임이라고 분명히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스킬이 켜졌는지 어떻게 알아요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대화에서 해당 상황의 말을 한마디 던져 보게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켜지는 걸 보는 게 가장 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나중에 지울 수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설치한 것은 지울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8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 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10~15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앞에서 배운 것들을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어디에 담아 두고 어떻게 반복시킬 것인가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마지막 섹션이라 집중력이 떨어지는 구간입니다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도착점을 먼저 말해주세요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개만 보고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전용 책상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남는 결과물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알아서 반복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세 가지 중 오늘 당장 쓸 수 있는 건 프로젝트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(p.45~46)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아티팩트와 예정됨은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게 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남기면 충분합니다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모자라면 뒤쪽부터 줄이세요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요금제 관련 안내를 미리 한 번 하세요 — 이 섹션에는 유료 플랜에서만 되는 기능이 섞여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슬라이드에서 그때그때 짚습니다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9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폴더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전용 책상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이해시키는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비유 먼저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책상이 하나뿐이면 경매 서류 위에 주식 자료가 겹쳐 쌓입니다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일마다 책상을 따로 두면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앉는 순간 그 일에 필요한 게 이미 펼쳐져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프로젝트가 그겁니다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담기는 세 가지를 손으로 짚으며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지침 — 이 안에서 지킬 규칙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예시가 슬라이드에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금액은 원 단위 콤마로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결론을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리스크를 빠뜨리지 말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★ 여기서 개인 설정과의 차이를 한 번 못 박으세요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설정은 어디서나 항상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지침은 그 책상에 앉았을 때만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지식 — 매번 올리지 않아도 되는 자료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체크리스트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★ 이게 프로젝트를 만드는 가장 큰 이유입니다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파일을 매번 첨부하고 계시다면 그건 프로젝트에 넣어야 할 자료입니다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 이력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지난주에 본 그 물건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되찾기 쉬워집니다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만드는 곳을 화면에서 직접 보여주세요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좌측 사이드바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프로젝트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말로만 하면 못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나누는 기준을 물어보실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이렇게 답하세요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업무 단위로 나누세요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경매용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', 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주식용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너무 잘게 쪼개면 어디에 넣었는지 못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몇 개까지 만들 수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요금제에 따라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수치는 공식 안내를 확인하겠다고 하고 넘어가세요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어림짐작으로 답하지 마십시오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지침이랑 개인 설정을 둘 다 쓰면 어느 게 이기나요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p.33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적용 범위 슬라이드로 되돌아가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하단 각주 — 프로젝트 지침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지식은 채팅과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버전에 따라 메뉴 위치가 다를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9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스킬이랑 프로젝트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결국 같은 거 아닌가요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끊는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질문은 반드시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문장으로 먼저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자료와 맥락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가지를 각각 짧게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시간을 더 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자료를 담을 수 있다 — 스킬은 절차를 담지만 내 자료는 담지 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★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실용적인 차이입니다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대화가 한곳에 쌓인다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지난번 그 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프로젝트에서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 없이 늘 켜져 있다 — 스킬은 발동 조건에 맞아야 켜지지만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지침은 그 안에서 항상 적용됩니다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일과 일이 섞이지 않는다 — ★ 여기서 예를 드세요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설정에 경매 규칙을 잔뜩 써두면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주식 이야기를 할 때도 그 규칙이 따라옵니다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프로젝트로 나누면 서로 간섭하지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 표가 이 교육 전체의 정리표입니다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(p.41)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셋을 배웠고 여기서 넷이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천천히 읽어주세요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나는 누구인가 → 어디서나 항상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일의 배경과 자료 → 그 프로젝트 안에서 항상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일을 어떻게 하는가 → 그 일이 생길 때만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MCP 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만질 수 있는가 → 손과 발이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맨 아래 한 줄이 결론입니다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넷은 경쟁 관계가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안에서 스킬이 돌고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겹겹이 쌓이는 구조라는 걸 손동작으로 보여주면 잘 들어옵니다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그럼 저는 뭐부터 만들어야 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 하나부터 만드세요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지침 세 줄이면 충분합니다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스킬은 그 다음입니다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9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아티팩트를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옆에 뜨는 결과물 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보여주는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설명보다 한 번 만들어 보여주는 게 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시작하기 전에 반드시 이것부터 —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Capabilities &gt;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코드 실행 및 파일 생성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꺼져 있으면 아티팩트가 아예 나오지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화면에서 켜는 것을 같이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건너뛰면 뒤에서 전원이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저는 안 나오는데요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마디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대화는 위로 흘러갑니다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어제 받은 표를 다시 찾으려면 스크롤을 한참 올려야 하죠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아티팩트는 그걸 옆 창으로 빼줍니다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즉석 시연을 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간단한 표 하나 만들어줘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정도면 옆에 창이 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줄이 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따로 떼어 써도 말이 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나중에 다시 볼 만하면 자동으로 만들어집니다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내가 요청하지 않아도 판단해서 만든다는 점을 짚으세요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쓰는 법 세 가지는 빠르게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버전을 넘나든다 — 이전 버전으로 되돌릴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자리에서 고친다 — 고칠 부분을 드래그하면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with 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★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모르는 분이 대부분입니다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직접 드래그해 보여주세요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그대로 꺼낸다 — 코드 보기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내려받기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자주 놓치는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상자가 이 장의 핵심입니다 — 대화에서 만든 아티팩트는 목록에 자동으로 올라가지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눌러야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어제 만든 게 사라졌어요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원인이 대부분 이겁니다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오류가 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Try fixing with Claude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버튼을 누르면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고장 났다고 놀라지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버튼이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유료여야 되나요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 플랜에서도 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9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아티팩트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같은 이름으로 불리는 두 가지를 갈라주는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갈라두면 뒤에서 계속 헷갈립니다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문장 비유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채팅 아티팩트는 사진입니다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찍은 그때로 고정됩니다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라이브 아티팩트는 창문입니다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 때마다 바깥이 달라져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왼쪽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채팅 아티팩트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 중에 만들어져 옆 창에 뜹니다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내용이 그 시점으로 고정됩니다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 플랜에서도 됩니다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데스크탑 어디서나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Cowork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라이브 아티팩트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열면 연결된 앱에서 최신 자료를 가져옵니다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사이드바 목록에 계속 남습니다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고칠 때마다 이전 버전이 저장됩니다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Pro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데스크탑 전용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조건 두 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(Pro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데스크탑 전용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분명히 말하세요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 플랜 수강생이 따라 하다 막힙니다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쓰임새 셋은 빠르게 — 아침 브리핑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현황 추적판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관심 대상 감시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수강생 관심 분야로 바꿔 말해주면 확 와닿습니다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경매 쪽이면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검토 중인 물건 현황판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주식 쪽이면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관심 종목 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식으로요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아래 두 줄을 넘기지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라이브 아티팩트는 커넥터를 쓸 때 따로 묻지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열어두면 연결된 자료를 알아서 가져온다는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붙여뒀는지 본인이 알고 있어야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보안 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(p.32)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이어서 짚으세요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컴퓨터에만 저장됩니다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기기를 바꾸면 따라오지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만든 게 집 노트북에 없어요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 중 뭐부터 써보나요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채팅 아티팩트는 오늘 이미 쓰셨습니다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라이브는 커넥터를 몇 개 붙인 다음에 해보시는 게 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69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매번 같은 부탁을 다시 하고 있다면 그건 예약할 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걸 알아채게 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마디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매일 아침에 똑같은 걸 물어보고 계신 게 있으면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그건 한 번만 설명해 두면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다섯 가지 용도는 이름만 훑고 넘어가세요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하나를 골라 구체적으로 그려주는 게 낫습니다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매일 아침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시에 지난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메일과 일정을 한 장으로 정리해 두라고 시켜두면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출근해서 그것만 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주기 다섯 개 — 매시간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평일만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수동으로만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수동으로만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자동으로 도는 게 부담스러우면 이걸로 만들어 두고 필요할 때 버튼만 누르면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처음 쓰는 분에게 권할 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평소 쓰는 커넥터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플러그인을 그대로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—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앞에서 붙인 것들이 여기서 이어진다는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따로 다시 설정할 게 없다는 점을 짚으세요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아래 강조 줄 — 컴퓨터를 꺼둬도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앱을 닫아둬도 정해진 시각에 돌아갑니다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원격에서 실행되기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여기서 놀라는 분이 많습니다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다음 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(p.50)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예외가 있으니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예외가 하나 있는데 다음 장에서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예고만 하고 넘기세요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다 말하면 다음 장이 비어버립니다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유료 플랜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(Pro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 수강생에게 미리 알려주세요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모르고 찾다가 시간을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어디로 오나요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앱 안에서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장에서 관리 화면을 보여줍니다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돈이 더 나가나요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요금제 안에서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자주 돌릴수록 사용량을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매시간은 신중하게 고르라고 말해주세요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0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교재 마지막 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만드는 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함정 하나로 닫습니다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화면에서 직접 열어 보여주세요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좌측 사이드바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예정됨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작업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말로만 하면 못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가지 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함께 만들기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권장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—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언제 하고 싶은지 말만 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부족한 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되물어서 채웁니다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일을 보여주고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예약 버튼을 누르면 등록됩니다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★ 초보자에게는 무조건 이쪽을 권하세요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빈칸 여섯 개를 보면 손이 멈춥니다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직접 설정하기 — 여섯 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이름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할지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승인 방식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폴더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). ★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이름만 훑고 넘어가세요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채우는 실습은 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관리 다섯 가지는 빠르게 — 지금 바로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잠시 멈춤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다시 시작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주기 수정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삭제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 바로 실행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만들어 놓고 내일까지 기다릴 필요 없이 제대로 도는지 그 자리에서 확인할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처음 만들면 반드시 이걸로 한 번 돌려보라고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예정된 실행과 지난 실행 결과도 같은 화면에서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함정 — 앞 장에서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컴퓨터를 꺼둬도 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 했는데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 예외가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컴퓨터의 폴더나 프로그램이 필요한 작업은 로컬에서만 돌아갑니다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 작업은 컴퓨터가 켜져 있어야 실행됩니다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 정리처럼 내 폴더를 만지는 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대표적인 예라고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장과 모순처럼 들리므로 반드시 연결해서 설명해야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마무리 멘트를 준비해 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설치까지 되신 분은 목표를 다 이루신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뒤쪽 스킬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프로젝트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예정됨은 오늘 안 하셔도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자료가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있으니 필요할 때 열어보세요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되는 게 생기면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안 붙어요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한마디만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에게 하시면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실습 과제와 다음 안내가 있으면 여기서 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0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섹션 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10~15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이제 마지막입니다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지금까지 배운 걸 전부 써서 화면을 하나 만들어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코드는 한 줄도 안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여기서부터 분위기가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앞은 설명이었고 여기는 각자 손이 움직입니다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 전에 화장실 다녀오시라고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 동안 끊기지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관심 분야가 경매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공매인 분에게는 미리 한마디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주식 화면을 만들지만 배우는 건 만드는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방식으로 경매 물건 화면도 만들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시간이 모자라면 여기를 통째로 다음으로 미루세요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급하게 하면 절반이 못 따라오고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0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저걸 내가 만든다고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놀람을 만드는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슬라이드로 설명하지 말고 실제 화면을 띄우세요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강사 아티팩트를 열어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초만 보여주면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스크롤을 내리며 지도 → 순위표 → 테마 카드를 훑습니다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만드는 데 코드는 한 줄도 안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문장씩 말로 시키면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겁먹는 분이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바로 눌러주세요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따라오다 막히면 손 드세요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옆에서 같이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못 끝내도 자료가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저도 저렇게 예쁘게 나오나요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비슷하게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사람마다 조금씩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이야기는 뒤에서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이거 실제로 투자에 쓰나요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판단 재료를 모아 보는 화면입니다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보고 사고팔라는 게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스크린샷 삽입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자리표시가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아티팩트를 열어 전체 화면을 캡처해 교체하세요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0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장을 건너뛰면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분을 통째로 날립니다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반드시 넷 다 손으로 확인시키세요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진행 방법 — 말로 하지 말고 한 항목씩 다 같이 화면을 열어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요금제 —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 아니면 아티팩트가 아예 만들어지지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무료 계정인 분이 있으면 지금 파악해 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옆 사람 화면을 같이 보게 자리를 옮기는 편이 낫습니다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도구함에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담기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playmcp.kakao.com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카카오 계정으로 로그인해서 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「한국 주식 정보」가 시세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차트를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「네이버 검색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」가 뉴스를 맡습니다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하나만 담으면 시세는 나오는데 뉴스만 안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증상은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p.61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 두 번째 줄에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둘 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키를 넣는 칸이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담기만 하면 바로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PlayMCP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 —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 에서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2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번의 순서가 바뀌면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도구함이 빈 채로 연결하면 커넥터는 붙는데 쓸 도구가 하나도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화면상 아무 문제가 없어 보여서 가장 헷갈리는 상태입니다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자세한 순서는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p.54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대화 — 왼쪽 사이드바에서 새 대화를 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오늘 가장 많이 나올 질문이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커넥터를 못 찾는대요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원인의 대부분이 이겁니다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커넥터를 방금 켜면 열려 있던 대화에는 반영되지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넷 다 됐는지 손을 들어 확인받고 넘어가세요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명이라도 빠지면 그 사람만 뒤에서 헤맵니다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0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커넥터를 몇 개나 붙여야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불안을 없애고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붙이는 순서를 정확히 알려주는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마디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붙일 건 커넥터 하나뿐입니다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시세도 순위도 차트도 뉴스도 전부 그 하나에서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커넥터는 하나인데 그 안에 담는 도구는 두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구분을 흐리면 학생들이 헷갈립니다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가운데 흐름도를 손으로 짚으며 읽어주세요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화면이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PlayMCP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도구함에게 물어보고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도구함이 다시 한국투자증권과 네이버에 물어봅니다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시세는 증권사 공식 값이고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뉴스는 네이버 뉴스 검색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순서가 이 장의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거꾸로 하면 반드시 막힙니다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① 웹에서 도구함에 도구 두 개를 담는다 — 「한국 주식 정보」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「네이버 검색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② 앱에서 커넥터를 연결한다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도구함이 비어 있는데 연결부터 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연결은 되는데 쓸 도구가 하나도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붙였는데 아무것도 없어요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② 경로를 화면에서 직접 눌러 보여주세요 —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 둘러보기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PlayMCP &gt;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PlayMCP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이미 커넥터 목록에 등록돼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주소를 복사해 붙일 일도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 파일을 열 일도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카카오 계정으로 로그인합니다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PlayMCP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가입 때 쓴 계정과 같아야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두 도구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키를 넣는 칸이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도구함에 담기만 하면 바로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(2026-08-10 PlayMCP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 상세화면 직접 확인 — 키 입력란 없음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한국투자증권 계좌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앱키는 따로 발급받을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실습에는 필요하지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커넥터는 유료 플랜에서만 제공됩니다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(Claude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오늘은 전원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기준이라 문제없습니다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"PlayMCP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뭔가요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카카오가 운영하는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모음터입니다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도구를 담아두면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하나로 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도구함에 몇 개까지 담나요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오늘은 두 개만 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뉴스도 증권사 값인가요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뉴스는 네이버 검색 결과라 원문을 눌러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kko.kakao.com/connectclaude · playmcp.kakao.com/llms.txt (2026-08-10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직접 조회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1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도구도 내가 만들어야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오해를 끊는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마디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도구는 만드는 게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커넥터를 붙이면 그 안에 이미 들어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비유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커넥터는 공구함입니다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책상 옆에 갖다 놓는 게 내 일이고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든 공구는 이미 들어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표의 가운데 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 장의 전부입니다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세 줄은 앞에서 배운 것을 다시 세워주는 용도라 빠르게 읽고 넘기세요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맨 아래 줄을 반드시 읽어주세요 — 도구 이름을 외울 필요가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등락률 상위 알려줘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말하면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알아서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초보자는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market_get_movers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이름을 외워야 하는 줄 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부담을 여기서 없애야 다음 장부터 편하게 따라옵니다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도구를 직접 만들 수도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만들 수 있는데 코드를 짜야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범위 밖입니다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도구가 몇 개나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커넥터마다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 쓰는 건 넷입니다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1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여기부터 실습입니다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슬라이드를 읽어주지 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문장씩 같이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진행 방법 — 한 문장 넣고 → 결과 확인 → 다음 문장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절대 몰아서 주지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한꺼번에 넣으면 결과가 나와도 무엇이 무엇을 만들었는지 모릅니다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첫 문장이 명령이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만들고 싶어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말인 게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되물어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테마를 원하세요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질문이 오면 초보자는 당황합니다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알려주세요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네가 정해줘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답하시면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두 번째 문장은 커넥터 점검입니다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도구 목록이 나오면 커넥터가 살아 있다는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네 번째 문장까지 넣었는데 숫자가 안 나오면 거기서 멈추세요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뒤로 가면 갈수록 원인을 못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p.53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돌아가 세 가지를 다시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아직 아티팩트를 만들지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재료가 있는지부터 확인하는 단계라고 말해주세요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1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첫 아티팩트가 만들어지는 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탄성이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첫 문장을 넣은 뒤 잠시 기다리게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 정도 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 오른쪽에 창이 새로 뜨면 성공입니다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만들어지면 요금제입니다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 계정은 여기서 멈춥니다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두 번째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번째 문장이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고쳐 시키기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첫 경험입니다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짚어주세요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번에 완벽하게 시킬 필요가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만들어 놓고 마음에 안 드는 부분만 다시 말하면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세 번째 문장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단위 콤마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그냥 넘기지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금액 표기는 실무에서 계속 문제가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"142.2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나오면 다시 시키라고 알려주세요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지시를 무시하는 일이 실제로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다섯 번째 문장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이해 못 해도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다시 열었을 때 처음부터 다시 불러오지 않게 하는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이라고만 말하고 넘어가세요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장이 끝나면 각자 화면에 순위표가 하나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여기까지 온 분 손 들어보게 하고 인원을 확인하세요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1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화면이 확 풍성해지는 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시간이 가장 오래 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분은 잡으세요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첫 문장에서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테마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골라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사람마다 다르게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그게 정상입니다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여기서 한 번 멈추고 말해주세요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테마와 종목은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고른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정답이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본인이 관심 있는 걸로 바꾸셔도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바꾸는 문장도 같이 보여주세요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테마에서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넣어줘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이게 오늘 실습에서 가장 중요한 순간입니다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준 것을 그대로 받지 않는 습관입니다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네 번째 문장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선 그래프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이 화면의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두 개를 겹쳐 그리는지 설명해 주세요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종목 하나만 오르고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안 올랐다면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테마가 움직인 게 아니라 그 종목만 움직인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차트를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그리느라 시간이 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기다리는 동안 할 이야기를 준비해 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마지막 문장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뉴스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—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종목코드가 아니라 테마 이름으로 검색합니다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그 테마 전체 뉴스가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제목을 누르면 언론사 원문이 열립니다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한마디 덧붙이세요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뉴스는 증권사 값이 아니라 검색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제목만 보고 판단하지 말고 원문을 눌러 확인하세요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여기서 뉴스가 안 오면 도구함에 「네이버 검색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」를 안 담은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p.53 2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번으로 돌아갑니다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1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마무리 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지도까지 올라가면 화면이 완성됩니다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첫 문장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한 번에 잘 안 나올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이상하게 나오면 그대로 두지 말고 다시 말하게 하세요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동그라미가 겹쳐서 안 보여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/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축 이름이 안 보여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고쳐 시키는 연습을 여기서 한 번 더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네 번째 문장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버튼 누를 때만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이유를 설명해 주세요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 때마다 자동으로 불러오면 사용량을 계속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필요할 때만 부르게 하는 게 낫습니다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사용 한도 이야기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(p.10)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이어집니다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마지막 문장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투자 추천이 아니라는 문구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건너뛰지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화면을 누군가에게 보여주게 되는 날이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그때 이 한 줄이 있어야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여기까지 끝난 분은 각자 화면을 옆 사람과 비교해 보게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장으로 자연스럽게 넘어갑니다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2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것만 이상한가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불안을 없애는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반드시 옆 사람과 화면을 비교하게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테마도 색도 배치도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그걸 보고 나서 이 장을 여세요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말로만 하면 안 와닿습니다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문장을 넣어도 사람마다 다르게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고장이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그렇습니다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왼쪽과 오른쪽의 차이를 분명히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말로 시키면 → 다르게 나오지만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내가 무엇을 시켰는지 기억에 남습니다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파일을 주면 → 거의 똑같이 나오지만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그렇게 됐는지는 안 남습니다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그래서 오늘은 말로 만들었다고 못 박으세요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배우는 게 목적이니까요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똑같은 화면이 필요하면 그때 파일을 받으시면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자료실에 올려두었습니다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구분은 실무로 이어집니다 — 처음 만들 때는 말로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남에게 나눠줄 때는 파일로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2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실습 중에 이 장을 미리 띄워두세요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막힌 분이 스스로 찾아볼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일곱 줄을 다 읽지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그날 실제로 나온 증상만 짚습니다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많이 나오는 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커넥터를 못 찾는다 → 새 대화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절반 이상이 이것입니다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시세는 되는데 뉴스만 안 나온다 → 도구함에 「네이버 검색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」를 안 담았습니다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★ 올해 새로 생긴 증상입니다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도구가 두 개라 한쪽만 담는 일이 자주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담고 나서 반드시 새 대화를 열어야 합니다 — 안 그러면 담아도 안 잡힙니다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아티팩트가 안 만들어진다 → 요금제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숫자가 빈다 → 도구 호출 실패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데이터가 안 들어오는지 확인해줘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물어보게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여섯 번째 줄이 오래 남는 교훈입니다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고쳐달라고 했더니 화면이 통째로 바뀌었다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—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범위를 안 정해줘서 그렇습니다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건 그대로 두고 ○○만 고쳐줘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습관으로 만들면 사고가 크게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이건 아티팩트뿐 아니라 문서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엑셀을 고칠 때도 똑같이 적용됩니다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일곱 번째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어제 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 —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 시작 전이나 주말이면 직전 거래일 값이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고장이 아니라고 미리 말해두세요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그래도 안 되는 분은 이름을 적어두고 쉬는 시간에 따로 보세요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세우지 마십시오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2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오늘의 마지막 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기능이 아니라 태도를 남기는 자리입니다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프롬프트를 실제로 넣어보게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30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화면에 나오는 숫자들이 각각 어디서 온 건지 알려줘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출처를 줄줄 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그걸 보는 게 이 장의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화면의 출처는 두 갈래입니다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답이 나오면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차트 → 한국투자증권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(KIS)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실측값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뉴스 → 네이버 뉴스 검색 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언론사 원문을 눌러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화면 안에서도 숫자마다 근거의 무게가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구분하는 게 오늘의 마지막 수확입니다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출처를 못 대는 숫자는 쓰지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화면이 예뻐도 근거가 없으면 못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세 줄을 하나씩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출처를 못 대면 → 그 숫자는 쓰지 않습니다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테마를 묶은 기준은 → 사람이 정한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계산해 준 객관적 수치가 아닙니다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 위에 있다고 → 좋은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지나온 흐름을 보여줄 뿐 앞으로를 말해주지 않습니다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맨 아래 검은 박스를 반드시 소리 내어 읽으세요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넘기지 마십시오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투자 판단과 그 결과는 본인 책임입니다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얼버무리면 나중에 곤란해집니다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마무리 멘트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만든 화면은 계속 쓰셔도 되고 안 쓰셔도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남는 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것도 만들 수 있구나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있으니 필요할 때 열어보세요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되는 게 생기면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'MCP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안 붙어요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'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한마디만 하시면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5" name="PlaceHolder 1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여기서부터 경매입니다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주식 실습과 달리 서류를 다루기 때문에 준비물이 조금 더 많습니다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한 번 세팅해 두면 물건마다 반복해서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오늘은 세팅까지만 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물건 분석은 각자 해보시면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6" name="PlaceHolder 1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입력은 서류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PPTX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물건카드입니다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중간에 사람이 할 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물건 분석해줘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마디뿐입니다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서류가 부실하면 결과도 부실합니다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매각물건명세서가 없으면 임차인 판정을 아예 못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PlaceHolder 1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서류마다 답해주는 질문이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매각물건명세서는 법원이 인수 사항을 확인해 준 문서라 가장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토지 등기부는 건물만 떼고 토지를 빠뜨리는 실수가 잦으니 꼭 챙기라고 강조하세요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8" name="PlaceHolder 1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단계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폴더 이름을 소재지로 짓는 이유는 재경매로 사건번호가 바뀌어도 물건은 그대로이기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스킬은 여섯 개를 다 넣을 필요 없고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auction-property-card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하나로 시작하면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9" name="PlaceHolder 1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개 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korean-law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폴더가 필요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 셋은 소스를 받아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드라이브 바로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폴더에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경로를 통일해야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복사해 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곳에 두면 경로를 일일이 고쳐야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" name="PlaceHolder 1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우선순위를 분명히 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korean-law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폴더가 없어 제일 쉽고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real-estate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효과가 제일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Firecrawl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포함해 인증키는 네 가지입니다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공공데이터포털 키를 세 개 받아야 하는 줄 아는 분이 많은데 같은 값 하나입니다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서비스별 활용신청은 따로 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1" name="PlaceHolder 1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수강생이 가장 오해하기 쉬운 두 가지입니다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공시가격은 가정값이라 세금이 실제와 다를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종부세는 올해가 아니라 내년부터라는 점을 짚어주세요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세제개편안은 국회 통과 전이라는 것도 반드시 말해야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2" name="PlaceHolder 1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장이 가장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AI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답을 준다고 믿고 입찰하면 큰돈을 잃습니다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물건카드는 무엇을 더 확인해야 하는지 알려주는 도구이고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확인은 사람이 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말로 섹션을 닫으세요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3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부록 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부록은 본 과정이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남을 때만 펴세요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없으면 통째로 건너뛰고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자료에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넘기면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년에 걸쳐 붙인 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보여드리는 이유는 자랑이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이만큼 붙일 필요가 없다는 걸 말씀드리려는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화면 공유 전에 반드시 확인하십시오 — 설정 파일을 열어 보여주지 마십시오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안에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키가 들어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부록의 슬라이드만으로 설명이 끝나게 만들어 두었습니다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3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개수에 압도되지 않게 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하나씩 읊지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일곱 묶음으로 보시면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제가 하는 일이 부동산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경매와 주식이라 그쪽이 많습니다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여러분은 여러분 일에 맞는 것만 붙이면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부동산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중 하나는 업무용 사설 서버입니다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이름과 내용은 말하지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회사에서 쓰는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으로만 넘기십시오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문서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짚어주면 반응이 좋습니다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PowerPoint·Word·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한글을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직접 조작합니다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비개발자에게 가장 와닿는 대목입니다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맨 아래 줄이 이 장의 결론입니다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처음부터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계획한 게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일하다 막힐 때마다 하나씩 붙였더니 이렇게 됐습니다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몇 개까지 붙일 수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제한은 없지만 많을수록 대화가 무거워집니다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이야기는 마지막 장에서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3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"MCP =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무조건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 발급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오해를 깨는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마디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개는 키가 아예 필요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붙이기만 하면 바로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왜 키가 필요 없는지 한 줄로 정리해 주세요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컴퓨터 안에서만 도는 것들이라 바깥 회사에 물어볼 일이 없기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가장 반응이 좋은 것 두 개만 짚으세요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PowerPoint·Word·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한글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쓴 이 교재도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직접 만들었습니다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파일 찾기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어디에 뒀는지 모르는 파일을 이름으로 즉시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나머지는 읽지 말고 넘기세요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이름만 스치면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맨 아래 줄이 기준입니다 — 키가 필요한 것은 서비스가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누가 얼마나 쓰는지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세야 하는 경우뿐입니다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기준을 알면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MCP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볼 때 키가 필요한지 스스로 짐작할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4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공공데이터포털 하나가 얼마나 많은 걸 여는지 보여주는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공매 관심자에게는 사실상 필수입니다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키를 다섯 번 받는 게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 받아서 다섯 곳에 같이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승인 시간은 대표님 실측입니다 — 대부분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 안에 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자료마다 활용신청을 따로 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신청은 여러 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키는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정리해 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다섯 줄 중 앞의 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실거래가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온비드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건축물대장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공매의 핵심입니다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관심 분야에 맞춰 짚으세요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맨 아래 줄이 이 장의 진짜 메시지입니다 — 키 하나가 다섯 곳에 들어가므로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키가 새면 다섯 개가 한꺼번에 뚫립니다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편의와 위험이 같이 온다는 걸 여기서 말해두면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뒤의 키 관리 이야기가 설득력을 갖습니다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무료인가요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자료마다 하루 호출 한도가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4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장은 참고표입니다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읽어주지 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필요할 때 여기 보세요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넘기세요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세 줄만 짚으면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한국투자증권 — 증권 계좌가 있어야 신청됩니다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계좌 없는 분은 여기서 막힙니다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말해두세요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네이버 검색 — ★ 신규 신청이 중단됐습니다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 화면에서는 되는데 여러분은 새로 받을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화면과 다른 이유를 여기서 설명해 두면 나중에 질문이 안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옵시디언 — 사이트에서 받는 게 아니라 프로그램 안의 플러그인에서 직접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키를 받는 곳이 늘 웹사이트는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예로 쓰면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국가법령정보는 이메일만으로 즉시 발급됩니다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공매 관심자에게 권할 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키를 받은 뒤가 더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한마디 덧붙이세요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받은 키는 설정 파일에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파일을 통째로 대화창에 붙여넣지 마십시오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저도 실수한 적이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출처와 조회일은 슬라이드 하단에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당일 아침에 한 번 더 확인하시면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4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부록 전체가 이 한 장을 위해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개는 이 말을 하려고 보여준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보여드린 건 이렇게 하시라는 게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이렇게 안 하셔도 된다는 걸 말씀드리려는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왼쪽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많이 붙이면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가지를 짚으세요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써도 자리를 차지합니다 → 앞의 사용 한도 이야기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(p.10)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이어집니다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대화가 무거워집니다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될 때 원인 찾기가 어려워집니다 → 오늘 실습에서 커넥터를 하나만 붙인 이유입니다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오른쪽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하나로 시작하면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오늘의 결론입니다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이게 안 되네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싶을 때가 붙일 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붙여두는 게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마무리 멘트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붙인 건 하나입니다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그거 하나로 화면을 만들었습니다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필요해지면 그때 하나씩 늘리시면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저도 그렇게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개가 됐습니다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맨 아래 각주를 반드시 읽어주세요 — 설정 파일에는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키가 들어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 공유나 캡처 전에 가리십시오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강사 본인의 실수담을 여기서 하시면 가장 잘 박힙니다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46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이것도 본 과정이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남을 때만 펴세요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언제 꺼내면 좋은가 — 실습이 끝난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이거 개발자들이 쓰는 그건가요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?", "Claude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뭐예요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질문이 나올 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미리 꺼내지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궁금하지 않은데 설명하면 어렵게만 느껴집니다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말할 것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쓴 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옆에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게 하나 더 있는데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어떻게 다른지만 짚고 가겠습니다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결론부터 말해주고 시작하세요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결론은 여러분은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안 쓰셔도 된다는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그래야 편하게 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7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48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좋은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오해를 막는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센 게 아니라 범위가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비유를 그대로 읽어주세요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"Cowork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방 한 칸을 내주는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방 안의 물건만 만집니다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집 열쇠를 통째로 주는 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방이든 들어가고 창고 공구도 꺼내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아래 검은 줄이 핵심입니다 — 둘 다 바탕은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Claude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문서 원문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"Cowork and Code run on the same engine. Both are Claude Code underneath."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실력이 다른 게 아니라 들어갈 수 있는 범위가 다르다는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가지만 남기면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오늘 겪은 일을 예로 들면 좋습니다 — 아티팩트 원본 파일이 공유한 폴더 밖에 있어서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못 건드렸고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파일을 옮겨와야 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딱 이 차이입니다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좋은 거 아닌가요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범위가 넓은 만큼 사고도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 없는 방까지 열어둘 이유가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50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장의 목적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옮길 시점을 알아채는 기준 세 개를 주는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되돌리기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Ctrl+Z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며칠 전까지 먹힙니다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개발에서는 이걸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부르는데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말은 하지 마세요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되돌리기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충분합니다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어디를 고쳤는지 보여줌 — 바뀐 줄에 색이 칠해집니다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고쳤습니다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끝나서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무엇이 바뀌었는지 직접 열어봐야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만들고 바로 돌려봄 — 같은 화면에서 실행됩니다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수십 번 반복할 때 차이가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아래 검은 줄이 실무에서 가장 아픈 대목입니다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되돌리기가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강사 경험을 붙이면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저는 오늘 이 교재를 고치면서 백업을 다섯 번 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였으면 안 떠도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수강생이 지금 당장 필요한 이야기는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게 아쉬워지는 날이 오면 그때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넘기세요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52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이 장은 표 하나로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읽어주기만 하세요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위 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(Cowork)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오늘 배운 것들입니다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손으로 짚으며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이건 오늘 다 해보셨습니다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확인시켜 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성취감이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아래 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(Code)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언젠가 이런 날이 오면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 이해 못 해도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맨 아래 주황 줄이 중요합니다 — 매일 아침 자동 실행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예약 작업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상위 호환이 아니라는 증거입니다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잘하는 게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줄이 앞 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센 게 아니다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뒷받침합니다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예상 질문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둘을 같이 쓸 수 있나요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?" →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앱 안에서 탭만 바꾸면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세션과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대화는 따로 관리됩니다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3" name="PlaceHolder 1"/>
          <p:cNvSpPr>
            <a:spLocks noGrp="1"/>
          </p:cNvSpPr>
          <p:nvPr>
            <p:ph type="sldImg"/>
          </p:nvPr>
        </p:nvSpPr>
        <p:spPr>
          <a:xfrm>
            <a:off x="-228600" y="1523880"/>
            <a:ext cx="7314840" cy="4114440"/>
          </a:xfrm>
          <a:prstGeom prst="rect">
            <a:avLst/>
          </a:prstGeom>
          <a:ln w="0">
            <a:noFill/>
          </a:ln>
        </p:spPr>
      </p:sp>
      <p:sp>
        <p:nvSpPr>
          <p:cNvPr id="1754" name="PlaceHolder 2"/>
          <p:cNvSpPr>
            <a:spLocks noGrp="1"/>
          </p:cNvSpPr>
          <p:nvPr>
            <p:ph type="body"/>
          </p:nvPr>
        </p:nvSpPr>
        <p:spPr>
          <a:xfrm>
            <a:off x="685800" y="5867280"/>
            <a:ext cx="5486040" cy="4800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부록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두 줄만 남기면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결과물을 받고 끝이면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Cowork."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코드를 앞으로도 계속 만질 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★★ 오늘 만든 아티팩트를 예로 드세요 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 만든 화면은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 만들어 쓰는 거니까요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이걸 반년 동안 기능을 붙여가며 키울 생각이면 그때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옮기시면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배우실 필요는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분명히 말해주세요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비개발자에게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권하면 부담만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필요해지는 순간이 오면 스스로 알게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★ 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탭은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Pro·Max·Team·Enterprise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순차 제공 중입니다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면 언젠가 보이게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 보인다고 문제가 아니라고 알려주세요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출처와 조회일은 슬라이드 하단에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제품 구성은 자주 바뀌니 발표 전에 한 번 더 확인하시면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빈 화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9784080" y="-1188720"/>
            <a:ext cx="4023000" cy="4023000"/>
          </a:xfrm>
          <a:prstGeom prst="ellipse">
            <a:avLst/>
          </a:prstGeom>
          <a:solidFill>
            <a:srgbClr val="302C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10881360" y="4572000"/>
            <a:ext cx="2377080" cy="237708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2"/>
          <p:cNvSpPr/>
          <p:nvPr/>
        </p:nvSpPr>
        <p:spPr>
          <a:xfrm>
            <a:off x="822960" y="16002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000" b="1" u="none" spc="201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입문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822960" y="2148840"/>
            <a:ext cx="859500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6199"/>
              </a:lnSpc>
              <a:tabLst>
                <a:tab pos="0" algn="l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52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데스크탑</a:t>
            </a:r>
            <a:endParaRPr lang="en-US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6199"/>
              </a:lnSpc>
              <a:tabLst>
                <a:tab pos="0" algn="l"/>
              </a:tabLst>
            </a:pPr>
            <a:r>
              <a:rPr lang="zh-CN" sz="52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시작하기</a:t>
            </a:r>
            <a:endParaRPr lang="en-US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822960" y="420624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25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설치부터 첫 대화까지</a:t>
            </a:r>
            <a:endParaRPr lang="en-U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822960" y="57150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2026</a:t>
            </a: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년   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  </a:t>
            </a: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발표자 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____________</a:t>
            </a:r>
            <a:endParaRPr lang="en-US" sz="1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오늘 끝나면 이렇게 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세 가지만 하면 오늘은 성공입니다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67000" y="1874520"/>
            <a:ext cx="3492720" cy="3200040"/>
          </a:xfrm>
          <a:prstGeom prst="roundRect">
            <a:avLst>
              <a:gd name="adj" fmla="val 1429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Shape 3"/>
          <p:cNvSpPr/>
          <p:nvPr/>
        </p:nvSpPr>
        <p:spPr>
          <a:xfrm>
            <a:off x="914400" y="2212920"/>
            <a:ext cx="566640" cy="56664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Text 4"/>
          <p:cNvSpPr/>
          <p:nvPr/>
        </p:nvSpPr>
        <p:spPr>
          <a:xfrm>
            <a:off x="914400" y="221292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"/>
          <p:cNvSpPr/>
          <p:nvPr/>
        </p:nvSpPr>
        <p:spPr>
          <a:xfrm>
            <a:off x="914400" y="2962800"/>
            <a:ext cx="2834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5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 컴퓨터에 </a:t>
            </a:r>
            <a:r>
              <a:rPr lang="en-US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설치되어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914400" y="3950280"/>
            <a:ext cx="2834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설치 함정 두 곳을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무사히 넘긴 상태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7"/>
          <p:cNvSpPr/>
          <p:nvPr/>
        </p:nvSpPr>
        <p:spPr>
          <a:xfrm>
            <a:off x="4334400" y="1874520"/>
            <a:ext cx="3492720" cy="3200040"/>
          </a:xfrm>
          <a:prstGeom prst="roundRect">
            <a:avLst>
              <a:gd name="adj" fmla="val 1429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Shape 8"/>
          <p:cNvSpPr/>
          <p:nvPr/>
        </p:nvSpPr>
        <p:spPr>
          <a:xfrm>
            <a:off x="4681800" y="2212920"/>
            <a:ext cx="566640" cy="56664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Text 9"/>
          <p:cNvSpPr/>
          <p:nvPr/>
        </p:nvSpPr>
        <p:spPr>
          <a:xfrm>
            <a:off x="4681800" y="221292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0"/>
          <p:cNvSpPr/>
          <p:nvPr/>
        </p:nvSpPr>
        <p:spPr>
          <a:xfrm>
            <a:off x="4681800" y="2962800"/>
            <a:ext cx="2834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5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와 첫 대화를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나눠봤다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1"/>
          <p:cNvSpPr/>
          <p:nvPr/>
        </p:nvSpPr>
        <p:spPr>
          <a:xfrm>
            <a:off x="4681800" y="3950280"/>
            <a:ext cx="2834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말을 걸고 답을 받는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감각을 익힌다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2"/>
          <p:cNvSpPr/>
          <p:nvPr/>
        </p:nvSpPr>
        <p:spPr>
          <a:xfrm>
            <a:off x="8101440" y="1874520"/>
            <a:ext cx="3492720" cy="3200040"/>
          </a:xfrm>
          <a:prstGeom prst="roundRect">
            <a:avLst>
              <a:gd name="adj" fmla="val 1429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13"/>
          <p:cNvSpPr/>
          <p:nvPr/>
        </p:nvSpPr>
        <p:spPr>
          <a:xfrm>
            <a:off x="8449200" y="2212920"/>
            <a:ext cx="566640" cy="56664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Text 14"/>
          <p:cNvSpPr/>
          <p:nvPr/>
        </p:nvSpPr>
        <p:spPr>
          <a:xfrm>
            <a:off x="8449200" y="221292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5"/>
          <p:cNvSpPr/>
          <p:nvPr/>
        </p:nvSpPr>
        <p:spPr>
          <a:xfrm>
            <a:off x="8449200" y="2962800"/>
            <a:ext cx="2834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5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화면에서 뭐가 어디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있는지 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6"/>
          <p:cNvSpPr/>
          <p:nvPr/>
        </p:nvSpPr>
        <p:spPr>
          <a:xfrm>
            <a:off x="8449200" y="3950280"/>
            <a:ext cx="2834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앞으로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헤매지 않는다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7"/>
          <p:cNvSpPr/>
          <p:nvPr/>
        </p:nvSpPr>
        <p:spPr>
          <a:xfrm>
            <a:off x="567000" y="544068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설치가 오늘의 </a:t>
            </a:r>
            <a:r>
              <a:rPr lang="en-US" sz="19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8</a:t>
            </a:r>
            <a:r>
              <a:rPr lang="zh-CN" sz="19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할입니다</a:t>
            </a:r>
            <a:r>
              <a:rPr lang="en-US" sz="19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9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서두르지 마세요</a:t>
            </a:r>
            <a:r>
              <a:rPr lang="en-US" sz="19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Box 19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오늘의 목표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1"/>
          <p:cNvSpPr/>
          <p:nvPr/>
        </p:nvSpPr>
        <p:spPr>
          <a:xfrm>
            <a:off x="558720" y="380880"/>
            <a:ext cx="110613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목차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Box 2"/>
          <p:cNvSpPr/>
          <p:nvPr/>
        </p:nvSpPr>
        <p:spPr>
          <a:xfrm>
            <a:off x="55872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아홉 개 묶음으로 나눠 진행합니다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설치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(2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번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까지가 오늘의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8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할입니다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직사각형 3"/>
          <p:cNvSpPr/>
          <p:nvPr/>
        </p:nvSpPr>
        <p:spPr>
          <a:xfrm>
            <a:off x="584280" y="1600200"/>
            <a:ext cx="609120" cy="378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6840" rIns="90000" bIns="-6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" name="사각형: 둥근 모서리 4"/>
          <p:cNvSpPr/>
          <p:nvPr/>
        </p:nvSpPr>
        <p:spPr>
          <a:xfrm>
            <a:off x="558720" y="1656000"/>
            <a:ext cx="5333760" cy="8884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" name="직사각형 5"/>
          <p:cNvSpPr/>
          <p:nvPr/>
        </p:nvSpPr>
        <p:spPr>
          <a:xfrm>
            <a:off x="762120" y="1859400"/>
            <a:ext cx="482400" cy="482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Box 6"/>
          <p:cNvSpPr/>
          <p:nvPr/>
        </p:nvSpPr>
        <p:spPr>
          <a:xfrm>
            <a:off x="1371600" y="1783080"/>
            <a:ext cx="4317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ko-KR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시작하기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Box 7"/>
          <p:cNvSpPr/>
          <p:nvPr/>
        </p:nvSpPr>
        <p:spPr>
          <a:xfrm>
            <a:off x="1371600" y="2088000"/>
            <a:ext cx="4317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웹과 앱의 차이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요금제 선택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사용 한도      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p.4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사각형: 둥근 모서리 8"/>
          <p:cNvSpPr/>
          <p:nvPr/>
        </p:nvSpPr>
        <p:spPr>
          <a:xfrm>
            <a:off x="558720" y="2697480"/>
            <a:ext cx="5333760" cy="8884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" name="직사각형 9"/>
          <p:cNvSpPr/>
          <p:nvPr/>
        </p:nvSpPr>
        <p:spPr>
          <a:xfrm>
            <a:off x="762120" y="2900520"/>
            <a:ext cx="482400" cy="482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Box 10"/>
          <p:cNvSpPr/>
          <p:nvPr/>
        </p:nvSpPr>
        <p:spPr>
          <a:xfrm>
            <a:off x="1371600" y="2824560"/>
            <a:ext cx="4317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설치하기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Box 11"/>
          <p:cNvSpPr/>
          <p:nvPr/>
        </p:nvSpPr>
        <p:spPr>
          <a:xfrm>
            <a:off x="1371600" y="3129120"/>
            <a:ext cx="4317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계정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다운로드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설치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재시작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응급처치      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p.11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사각형: 둥근 모서리 12"/>
          <p:cNvSpPr/>
          <p:nvPr/>
        </p:nvSpPr>
        <p:spPr>
          <a:xfrm>
            <a:off x="558720" y="3738960"/>
            <a:ext cx="5333760" cy="8884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" name="직사각형 13"/>
          <p:cNvSpPr/>
          <p:nvPr/>
        </p:nvSpPr>
        <p:spPr>
          <a:xfrm>
            <a:off x="762120" y="3942000"/>
            <a:ext cx="482400" cy="482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Box 14"/>
          <p:cNvSpPr/>
          <p:nvPr/>
        </p:nvSpPr>
        <p:spPr>
          <a:xfrm>
            <a:off x="1371600" y="3866040"/>
            <a:ext cx="4317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사전 준비 프로그램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15"/>
          <p:cNvSpPr/>
          <p:nvPr/>
        </p:nvSpPr>
        <p:spPr>
          <a:xfrm>
            <a:off x="1371600" y="4170600"/>
            <a:ext cx="4317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오피스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Node.js · uv · GitHub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자료실      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p.18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사각형: 둥근 모서리 16"/>
          <p:cNvSpPr/>
          <p:nvPr/>
        </p:nvSpPr>
        <p:spPr>
          <a:xfrm>
            <a:off x="558720" y="4780440"/>
            <a:ext cx="5333760" cy="8884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" name="직사각형 17"/>
          <p:cNvSpPr/>
          <p:nvPr/>
        </p:nvSpPr>
        <p:spPr>
          <a:xfrm>
            <a:off x="762120" y="4983480"/>
            <a:ext cx="482400" cy="482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Box 18"/>
          <p:cNvSpPr/>
          <p:nvPr/>
        </p:nvSpPr>
        <p:spPr>
          <a:xfrm>
            <a:off x="1371600" y="4907160"/>
            <a:ext cx="4317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회원가입과 커넥터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Box 19"/>
          <p:cNvSpPr/>
          <p:nvPr/>
        </p:nvSpPr>
        <p:spPr>
          <a:xfrm>
            <a:off x="1371600" y="5212080"/>
            <a:ext cx="4317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가입할 곳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커넥터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보안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지침 적용 범위      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p.26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사각형: 둥근 모서리 20"/>
          <p:cNvSpPr/>
          <p:nvPr/>
        </p:nvSpPr>
        <p:spPr>
          <a:xfrm>
            <a:off x="6299280" y="1656000"/>
            <a:ext cx="5333760" cy="8884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" name="직사각형 21"/>
          <p:cNvSpPr/>
          <p:nvPr/>
        </p:nvSpPr>
        <p:spPr>
          <a:xfrm>
            <a:off x="6502320" y="1859400"/>
            <a:ext cx="482400" cy="482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Box 22"/>
          <p:cNvSpPr/>
          <p:nvPr/>
        </p:nvSpPr>
        <p:spPr>
          <a:xfrm>
            <a:off x="7112160" y="1783080"/>
            <a:ext cx="4317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ko-KR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API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23"/>
          <p:cNvSpPr/>
          <p:nvPr/>
        </p:nvSpPr>
        <p:spPr>
          <a:xfrm>
            <a:off x="7112160" y="2088000"/>
            <a:ext cx="4317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USB-C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비유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붙이는 두 길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API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키      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p.34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사각형: 둥근 모서리 24"/>
          <p:cNvSpPr/>
          <p:nvPr/>
        </p:nvSpPr>
        <p:spPr>
          <a:xfrm>
            <a:off x="6299280" y="2697480"/>
            <a:ext cx="5333760" cy="8884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" name="직사각형 25"/>
          <p:cNvSpPr/>
          <p:nvPr/>
        </p:nvSpPr>
        <p:spPr>
          <a:xfrm>
            <a:off x="6502320" y="2900520"/>
            <a:ext cx="482400" cy="482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6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6"/>
          <p:cNvSpPr/>
          <p:nvPr/>
        </p:nvSpPr>
        <p:spPr>
          <a:xfrm>
            <a:off x="7112160" y="2824560"/>
            <a:ext cx="4317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스킬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7"/>
          <p:cNvSpPr/>
          <p:nvPr/>
        </p:nvSpPr>
        <p:spPr>
          <a:xfrm>
            <a:off x="7112160" y="3237120"/>
            <a:ext cx="4317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업무 매뉴얼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실물 예시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일괄 설치      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p.39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사각형: 둥근 모서리 28"/>
          <p:cNvSpPr/>
          <p:nvPr/>
        </p:nvSpPr>
        <p:spPr>
          <a:xfrm>
            <a:off x="6299280" y="3738960"/>
            <a:ext cx="5333760" cy="8884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직사각형 29"/>
          <p:cNvSpPr/>
          <p:nvPr/>
        </p:nvSpPr>
        <p:spPr>
          <a:xfrm>
            <a:off x="6502320" y="3942000"/>
            <a:ext cx="482400" cy="482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7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0"/>
          <p:cNvSpPr/>
          <p:nvPr/>
        </p:nvSpPr>
        <p:spPr>
          <a:xfrm>
            <a:off x="7112160" y="3866040"/>
            <a:ext cx="4317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프로젝트 </a:t>
            </a: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아티팩트 </a:t>
            </a: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예정됨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1"/>
          <p:cNvSpPr/>
          <p:nvPr/>
        </p:nvSpPr>
        <p:spPr>
          <a:xfrm>
            <a:off x="7112160" y="4170600"/>
            <a:ext cx="43174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전용 책상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남는 결과물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알아서 반복      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p.44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사각형: 둥근 모서리 32"/>
          <p:cNvSpPr/>
          <p:nvPr/>
        </p:nvSpPr>
        <p:spPr>
          <a:xfrm>
            <a:off x="6299280" y="4780440"/>
            <a:ext cx="5333760" cy="888480"/>
          </a:xfrm>
          <a:prstGeom prst="roundRect">
            <a:avLst>
              <a:gd name="adj" fmla="val 6000"/>
            </a:avLst>
          </a:prstGeom>
          <a:solidFill>
            <a:srgbClr val="2421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33"/>
          <p:cNvSpPr/>
          <p:nvPr/>
        </p:nvSpPr>
        <p:spPr>
          <a:xfrm>
            <a:off x="7112160" y="4907160"/>
            <a:ext cx="431748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실전 — 테마 레이더 만들기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4"/>
          <p:cNvSpPr/>
          <p:nvPr/>
        </p:nvSpPr>
        <p:spPr>
          <a:xfrm>
            <a:off x="7112160" y="5212080"/>
            <a:ext cx="4317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커넥터 하나 </a:t>
            </a:r>
            <a:r>
              <a:rPr lang="en-US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한 문장씩 </a:t>
            </a:r>
            <a:r>
              <a:rPr lang="en-US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내 화면 만들기       </a:t>
            </a:r>
            <a:r>
              <a:rPr lang="en-US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p.51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5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목차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3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36"/>
          <p:cNvSpPr/>
          <p:nvPr/>
        </p:nvSpPr>
        <p:spPr>
          <a:xfrm>
            <a:off x="6502320" y="4983480"/>
            <a:ext cx="482400" cy="482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8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7"/>
          <p:cNvSpPr/>
          <p:nvPr/>
        </p:nvSpPr>
        <p:spPr>
          <a:xfrm>
            <a:off x="557640" y="6455520"/>
            <a:ext cx="5486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설치가 오늘의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8</a:t>
            </a:r>
            <a:r>
              <a:rPr lang="zh-CN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할입니다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서두르지 마세요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38"/>
          <p:cNvSpPr/>
          <p:nvPr/>
        </p:nvSpPr>
        <p:spPr>
          <a:xfrm>
            <a:off x="557640" y="5742360"/>
            <a:ext cx="11063880" cy="6580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39"/>
          <p:cNvSpPr/>
          <p:nvPr/>
        </p:nvSpPr>
        <p:spPr>
          <a:xfrm>
            <a:off x="758880" y="5833800"/>
            <a:ext cx="484200" cy="4842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9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0"/>
          <p:cNvSpPr/>
          <p:nvPr/>
        </p:nvSpPr>
        <p:spPr>
          <a:xfrm>
            <a:off x="1371600" y="58338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경매 물건 분석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41"/>
          <p:cNvSpPr/>
          <p:nvPr/>
        </p:nvSpPr>
        <p:spPr>
          <a:xfrm>
            <a:off x="6035040" y="587052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서류 → 물건카드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설치 세 단계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MCP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네 개      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p.63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01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SECTION 01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863640" y="2616120"/>
            <a:ext cx="692100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ko-KR" sz="44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시작하기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863640" y="4114800"/>
            <a:ext cx="6921000" cy="15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웹 브라우저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와 데스크탑 앱은 무엇이 다른가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굳이 설치까지 해야 하는 세 가지 이유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요금제 네 가지와 권장 선택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갑자기 안 될 때 — 사용 한도 이야기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웹으로 쓰는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Claude,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앱으로 쓰는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같은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지만 할 수 있는 일이 다릅니다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567000" y="1874520"/>
            <a:ext cx="5394600" cy="3748680"/>
          </a:xfrm>
          <a:prstGeom prst="roundRect">
            <a:avLst>
              <a:gd name="adj" fmla="val 1220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 3"/>
          <p:cNvSpPr/>
          <p:nvPr/>
        </p:nvSpPr>
        <p:spPr>
          <a:xfrm>
            <a:off x="914400" y="214884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350" b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웹 브라우저</a:t>
            </a:r>
            <a:endParaRPr lang="en-US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4"/>
          <p:cNvSpPr/>
          <p:nvPr/>
        </p:nvSpPr>
        <p:spPr>
          <a:xfrm>
            <a:off x="914400" y="260604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claude.ai </a:t>
            </a: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에 접속해서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5"/>
          <p:cNvSpPr/>
          <p:nvPr/>
        </p:nvSpPr>
        <p:spPr>
          <a:xfrm>
            <a:off x="914400" y="3154680"/>
            <a:ext cx="46630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설치 없이 바로 쓸 수 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대화는 문제없이 된다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파일은 하나씩 올려야 한다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 컴퓨터 폴더는 못 본다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6"/>
          <p:cNvSpPr/>
          <p:nvPr/>
        </p:nvSpPr>
        <p:spPr>
          <a:xfrm>
            <a:off x="6236280" y="1874520"/>
            <a:ext cx="5394600" cy="3748680"/>
          </a:xfrm>
          <a:prstGeom prst="roundRect">
            <a:avLst>
              <a:gd name="adj" fmla="val 1220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7"/>
          <p:cNvSpPr/>
          <p:nvPr/>
        </p:nvSpPr>
        <p:spPr>
          <a:xfrm>
            <a:off x="6583680" y="214884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3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데스크탑 앱</a:t>
            </a:r>
            <a:endParaRPr lang="en-US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8"/>
          <p:cNvSpPr/>
          <p:nvPr/>
        </p:nvSpPr>
        <p:spPr>
          <a:xfrm>
            <a:off x="6583680" y="260604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내 컴퓨터에 설치해서 사용  ←  오늘 이걸 합니다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9"/>
          <p:cNvSpPr/>
          <p:nvPr/>
        </p:nvSpPr>
        <p:spPr>
          <a:xfrm>
            <a:off x="6583680" y="3154680"/>
            <a:ext cx="46630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웹에서 되는 건 전부 된다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내 컴퓨터 폴더를 직접 본다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엑셀</a:t>
            </a:r>
            <a:r>
              <a:rPr lang="en-US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워드를 만들어 저장한다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다른 프로그램과 연결된다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1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01 · Claude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시작하기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왜 굳이 설치까지 하나요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이 세 가지 때문입니다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"/>
          <p:cNvSpPr/>
          <p:nvPr/>
        </p:nvSpPr>
        <p:spPr>
          <a:xfrm>
            <a:off x="658440" y="2039040"/>
            <a:ext cx="566640" cy="56664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658440" y="203904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1481400" y="192024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파일을 하나하나 올릴 필요가 없습니다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1481400" y="242316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폴더를 한 번 열어주면 그 안의 파일을 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 알아서 찾아 읽습니다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6"/>
          <p:cNvSpPr/>
          <p:nvPr/>
        </p:nvSpPr>
        <p:spPr>
          <a:xfrm>
            <a:off x="658080" y="3008160"/>
            <a:ext cx="10789920" cy="360"/>
          </a:xfrm>
          <a:prstGeom prst="line">
            <a:avLst/>
          </a:prstGeom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Shape 7"/>
          <p:cNvSpPr/>
          <p:nvPr/>
        </p:nvSpPr>
        <p:spPr>
          <a:xfrm>
            <a:off x="658440" y="3364920"/>
            <a:ext cx="566640" cy="56664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658440" y="336492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1481400" y="324612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결과물을 파일로 만들어 줍니다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1481400" y="374904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엑셀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워드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·PPT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를 실제 파일로 만들어 내 폴더에 저장해 둡니다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1"/>
          <p:cNvSpPr/>
          <p:nvPr/>
        </p:nvSpPr>
        <p:spPr>
          <a:xfrm>
            <a:off x="658080" y="4334040"/>
            <a:ext cx="10789920" cy="360"/>
          </a:xfrm>
          <a:prstGeom prst="line">
            <a:avLst/>
          </a:prstGeom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Shape 12"/>
          <p:cNvSpPr/>
          <p:nvPr/>
        </p:nvSpPr>
        <p:spPr>
          <a:xfrm>
            <a:off x="658440" y="4690800"/>
            <a:ext cx="566640" cy="56664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658440" y="46908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1481400" y="457200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다른 프로그램과 연결됩니다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5"/>
          <p:cNvSpPr/>
          <p:nvPr/>
        </p:nvSpPr>
        <p:spPr>
          <a:xfrm>
            <a:off x="1481400" y="507492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실거래가 조회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공시 검색 같은 일을 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 직접 할 수 있게 됩니다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6"/>
          <p:cNvSpPr/>
          <p:nvPr/>
        </p:nvSpPr>
        <p:spPr>
          <a:xfrm>
            <a:off x="567000" y="580644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r>
              <a:rPr lang="zh-CN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번은 </a:t>
            </a:r>
            <a:r>
              <a:rPr lang="en-US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zh-CN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섹션에서</a:t>
            </a:r>
            <a:r>
              <a:rPr lang="en-US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, 1·2</a:t>
            </a:r>
            <a:r>
              <a:rPr lang="zh-CN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번은 파일 작업에서 직접 해봅니다</a:t>
            </a:r>
            <a:r>
              <a:rPr lang="en-US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8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01 · Claude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시작하기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6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요금제는 네 가지입니다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개인이 쓰는 요금제 기준입니다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7" name="Table 0"/>
          <p:cNvGraphicFramePr/>
          <p:nvPr/>
        </p:nvGraphicFramePr>
        <p:xfrm>
          <a:off x="567000" y="1874520"/>
          <a:ext cx="11063880" cy="283428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5577840"/>
              </a:tblGrid>
              <a:tr h="566640"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요금제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가격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이런 분께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</a:tr>
              <a:tr h="566640"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Free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가끔 써보는 정도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Pro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월 </a:t>
                      </a:r>
                      <a:r>
                        <a:rPr lang="en-US" sz="16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$20 (</a:t>
                      </a:r>
                      <a:r>
                        <a:rPr lang="zh-CN" sz="16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연 </a:t>
                      </a:r>
                      <a:r>
                        <a:rPr lang="en-US" sz="16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$200)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이 교육에 필요한 최소 사양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Max 5x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월 </a:t>
                      </a:r>
                      <a:r>
                        <a:rPr lang="en-US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$100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매일 여러 일을 맡기는 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Max 20x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월 </a:t>
                      </a:r>
                      <a:r>
                        <a:rPr lang="en-US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$200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하루 종일 붙잡고 쓰는 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8" name="Shape 2"/>
          <p:cNvSpPr/>
          <p:nvPr/>
        </p:nvSpPr>
        <p:spPr>
          <a:xfrm>
            <a:off x="567000" y="5029200"/>
            <a:ext cx="11063880" cy="868320"/>
          </a:xfrm>
          <a:prstGeom prst="roundRect">
            <a:avLst>
              <a:gd name="adj" fmla="val 5263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 3"/>
          <p:cNvSpPr/>
          <p:nvPr/>
        </p:nvSpPr>
        <p:spPr>
          <a:xfrm>
            <a:off x="914400" y="502920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회사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단체용으로는 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Team, Enterprise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요금제가 따로 있습니다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4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35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35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support.claude.com/en/articles/11049762 (2026-08-06 </a:t>
            </a:r>
            <a:r>
              <a:rPr lang="zh-CN" sz="135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35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 · </a:t>
            </a:r>
            <a:r>
              <a:rPr lang="zh-CN" sz="135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가격은 변경될 수 있으니 결제 전 공식 사이트에서 확인하세요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7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01 · Claude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시작하기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7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무료로 어디까지 되나요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설치와 대화까지는 무료로도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4" name="Table 0"/>
          <p:cNvGraphicFramePr/>
          <p:nvPr/>
        </p:nvGraphicFramePr>
        <p:xfrm>
          <a:off x="567000" y="1874520"/>
          <a:ext cx="11063880" cy="2834280"/>
        </p:xfrm>
        <a:graphic>
          <a:graphicData uri="http://schemas.openxmlformats.org/drawingml/2006/table">
            <a:tbl>
              <a:tblPr/>
              <a:tblGrid>
                <a:gridCol w="3657600"/>
                <a:gridCol w="2194560"/>
                <a:gridCol w="2194560"/>
                <a:gridCol w="3017520"/>
              </a:tblGrid>
              <a:tr h="566640">
                <a:tc>
                  <a:txBody>
                    <a:bodyPr lIns="152280" rIns="152280" anchor="ctr">
                      <a:noAutofit/>
                    </a:bodyPr>
                    <a:p>
                      <a:endParaRPr lang="en-US" sz="15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Free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Pro </a:t>
                      </a:r>
                      <a:r>
                        <a:rPr lang="zh-CN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이상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언제 배우나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</a:tr>
              <a:tr h="566640"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앱 설치하기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오늘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대화하기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오늘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내 파일 다루기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불가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파일 작업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다른 서비스 연결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52280" rIns="1522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오늘 </a:t>
                      </a:r>
                      <a:r>
                        <a:rPr lang="en-US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· MCP </a:t>
                      </a:r>
                      <a:r>
                        <a:rPr lang="zh-CN" sz="160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붙일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52280" marR="15228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Shape 2"/>
          <p:cNvSpPr/>
          <p:nvPr/>
        </p:nvSpPr>
        <p:spPr>
          <a:xfrm>
            <a:off x="567000" y="5029200"/>
            <a:ext cx="11063880" cy="868320"/>
          </a:xfrm>
          <a:prstGeom prst="roundRect">
            <a:avLst>
              <a:gd name="adj" fmla="val 5263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914400" y="502920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오늘은 무료 계정으로도 끝까지 따라올 수 있습니다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결제는 파일 작업 전까지 하시면 됩니다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support.claude.com/en/articles/10065433 · 11176164 (2026-08-06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7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01 · Claude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시작하기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8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그래서 뭘 결제하면 되나요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"/>
          <p:cNvSpPr/>
          <p:nvPr/>
        </p:nvSpPr>
        <p:spPr>
          <a:xfrm>
            <a:off x="567000" y="1554480"/>
            <a:ext cx="5028840" cy="3931560"/>
          </a:xfrm>
          <a:prstGeom prst="roundRect">
            <a:avLst>
              <a:gd name="adj" fmla="val 1395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 2"/>
          <p:cNvSpPr/>
          <p:nvPr/>
        </p:nvSpPr>
        <p:spPr>
          <a:xfrm>
            <a:off x="914400" y="182880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1" u="none" spc="201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권장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914400" y="2240280"/>
            <a:ext cx="4297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Pro</a:t>
            </a:r>
            <a:endParaRPr lang="en-US" sz="5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914400" y="3291840"/>
            <a:ext cx="4297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월 </a:t>
            </a:r>
            <a:r>
              <a:rPr lang="en-US" sz="19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$20 · </a:t>
            </a:r>
            <a:r>
              <a:rPr lang="zh-CN" sz="19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연 </a:t>
            </a:r>
            <a:r>
              <a:rPr lang="en-US" sz="19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$200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914400" y="3840480"/>
            <a:ext cx="42973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이 교육 전 과정을 따라오려면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최소 이것이 필요합니다</a:t>
            </a:r>
            <a:r>
              <a:rPr lang="en-US" sz="15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먼저 월 단위로 써보고</a:t>
            </a:r>
            <a:r>
              <a:rPr lang="en-US" sz="15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,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계속 쓸 것 같으면 그때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연 단위로 바꾸세요</a:t>
            </a:r>
            <a:r>
              <a:rPr lang="en-US" sz="15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5943600" y="1600200"/>
            <a:ext cx="5668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이렇게 하세요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7"/>
          <p:cNvSpPr/>
          <p:nvPr/>
        </p:nvSpPr>
        <p:spPr>
          <a:xfrm>
            <a:off x="5943600" y="2194560"/>
            <a:ext cx="5687280" cy="895680"/>
          </a:xfrm>
          <a:prstGeom prst="roundRect">
            <a:avLst>
              <a:gd name="adj" fmla="val 5102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 8"/>
          <p:cNvSpPr/>
          <p:nvPr/>
        </p:nvSpPr>
        <p:spPr>
          <a:xfrm>
            <a:off x="6236280" y="2194560"/>
            <a:ext cx="228564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오늘 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~ </a:t>
            </a: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당분간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8522280" y="2194560"/>
            <a:ext cx="283428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무료로 충분합니다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0"/>
          <p:cNvSpPr/>
          <p:nvPr/>
        </p:nvSpPr>
        <p:spPr>
          <a:xfrm>
            <a:off x="5943600" y="3273480"/>
            <a:ext cx="5687280" cy="895680"/>
          </a:xfrm>
          <a:prstGeom prst="roundRect">
            <a:avLst>
              <a:gd name="adj" fmla="val 5102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 11"/>
          <p:cNvSpPr/>
          <p:nvPr/>
        </p:nvSpPr>
        <p:spPr>
          <a:xfrm>
            <a:off x="6236280" y="3273480"/>
            <a:ext cx="228564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파일 작업 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2"/>
          <p:cNvSpPr/>
          <p:nvPr/>
        </p:nvSpPr>
        <p:spPr>
          <a:xfrm>
            <a:off x="8522280" y="3273480"/>
            <a:ext cx="283428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Pro</a:t>
            </a: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로 올리세요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3"/>
          <p:cNvSpPr/>
          <p:nvPr/>
        </p:nvSpPr>
        <p:spPr>
          <a:xfrm>
            <a:off x="5943600" y="4352400"/>
            <a:ext cx="5687280" cy="895680"/>
          </a:xfrm>
          <a:prstGeom prst="roundRect">
            <a:avLst>
              <a:gd name="adj" fmla="val 5102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 14"/>
          <p:cNvSpPr/>
          <p:nvPr/>
        </p:nvSpPr>
        <p:spPr>
          <a:xfrm>
            <a:off x="6236280" y="4352400"/>
            <a:ext cx="228564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많이 부족하다 싶으면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5"/>
          <p:cNvSpPr/>
          <p:nvPr/>
        </p:nvSpPr>
        <p:spPr>
          <a:xfrm>
            <a:off x="8522280" y="4352400"/>
            <a:ext cx="283428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그때 </a:t>
            </a:r>
            <a:r>
              <a:rPr lang="en-US" sz="1800" b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Max</a:t>
            </a:r>
            <a:r>
              <a:rPr lang="zh-CN" sz="1800" b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를 보세요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6"/>
          <p:cNvSpPr/>
          <p:nvPr/>
        </p:nvSpPr>
        <p:spPr>
          <a:xfrm>
            <a:off x="5943600" y="5440680"/>
            <a:ext cx="5687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Max</a:t>
            </a:r>
            <a:r>
              <a:rPr lang="zh-CN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는 지금 필요 없습니다</a:t>
            </a:r>
            <a:r>
              <a:rPr lang="en-US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처음부터 크게 지르지 마세요</a:t>
            </a:r>
            <a:r>
              <a:rPr lang="en-US" sz="16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7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가격은 변경될 수 있습니다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결제 전 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anthropic.com/pricing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에서 확인하세요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19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01 · Claude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시작하기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9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갑자기 안 될 때가 있습니다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고장이 아니라 한도입니다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미리 알고 계시면 당황하지 않습니다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2"/>
          <p:cNvSpPr/>
          <p:nvPr/>
        </p:nvSpPr>
        <p:spPr>
          <a:xfrm>
            <a:off x="658440" y="1984320"/>
            <a:ext cx="511560" cy="511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 3"/>
          <p:cNvSpPr/>
          <p:nvPr/>
        </p:nvSpPr>
        <p:spPr>
          <a:xfrm>
            <a:off x="658440" y="198432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"/>
          <p:cNvSpPr/>
          <p:nvPr/>
        </p:nvSpPr>
        <p:spPr>
          <a:xfrm>
            <a:off x="1426320" y="187452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r>
              <a:rPr lang="zh-CN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시간마다 초기화됩니다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5"/>
          <p:cNvSpPr/>
          <p:nvPr/>
        </p:nvSpPr>
        <p:spPr>
          <a:xfrm>
            <a:off x="1426320" y="231336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한도에 걸려도 기다리면 다시 풀립니다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결제한 게 날아간 게 아닙니다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6"/>
          <p:cNvSpPr/>
          <p:nvPr/>
        </p:nvSpPr>
        <p:spPr>
          <a:xfrm>
            <a:off x="658080" y="2788920"/>
            <a:ext cx="10789920" cy="360"/>
          </a:xfrm>
          <a:prstGeom prst="line">
            <a:avLst/>
          </a:prstGeom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" name="Shape 7"/>
          <p:cNvSpPr/>
          <p:nvPr/>
        </p:nvSpPr>
        <p:spPr>
          <a:xfrm>
            <a:off x="658440" y="3035880"/>
            <a:ext cx="511560" cy="511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 8"/>
          <p:cNvSpPr/>
          <p:nvPr/>
        </p:nvSpPr>
        <p:spPr>
          <a:xfrm>
            <a:off x="658440" y="303588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9"/>
          <p:cNvSpPr/>
          <p:nvPr/>
        </p:nvSpPr>
        <p:spPr>
          <a:xfrm>
            <a:off x="1426320" y="292608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유료 요금제는 주간 한도도 있습니다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0"/>
          <p:cNvSpPr/>
          <p:nvPr/>
        </p:nvSpPr>
        <p:spPr>
          <a:xfrm>
            <a:off x="1426320" y="336492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매주 정해진 시각에 초기화됩니다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내 초기화 시각은 설정에서 볼 수 있습니다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1"/>
          <p:cNvSpPr/>
          <p:nvPr/>
        </p:nvSpPr>
        <p:spPr>
          <a:xfrm>
            <a:off x="658080" y="3840480"/>
            <a:ext cx="10789920" cy="360"/>
          </a:xfrm>
          <a:prstGeom prst="line">
            <a:avLst/>
          </a:prstGeom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Shape 12"/>
          <p:cNvSpPr/>
          <p:nvPr/>
        </p:nvSpPr>
        <p:spPr>
          <a:xfrm>
            <a:off x="658440" y="4087440"/>
            <a:ext cx="511560" cy="5115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 13"/>
          <p:cNvSpPr/>
          <p:nvPr/>
        </p:nvSpPr>
        <p:spPr>
          <a:xfrm>
            <a:off x="658440" y="408744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4"/>
          <p:cNvSpPr/>
          <p:nvPr/>
        </p:nvSpPr>
        <p:spPr>
          <a:xfrm>
            <a:off x="1426320" y="397764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대화가 길수록 빨리 닳습니다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5"/>
          <p:cNvSpPr/>
          <p:nvPr/>
        </p:nvSpPr>
        <p:spPr>
          <a:xfrm>
            <a:off x="1426320" y="4416480"/>
            <a:ext cx="99666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한 대화에 계속 이어 쓰면 이전 내용을 매번 다시 읽습니다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6"/>
          <p:cNvSpPr/>
          <p:nvPr/>
        </p:nvSpPr>
        <p:spPr>
          <a:xfrm>
            <a:off x="567000" y="5074920"/>
            <a:ext cx="11063880" cy="1051200"/>
          </a:xfrm>
          <a:prstGeom prst="roundRect">
            <a:avLst>
              <a:gd name="adj" fmla="val 5217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 17"/>
          <p:cNvSpPr/>
          <p:nvPr/>
        </p:nvSpPr>
        <p:spPr>
          <a:xfrm>
            <a:off x="914400" y="5230440"/>
            <a:ext cx="10423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주제가 바뀌면 새 대화를 시작하세요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그것만으로 사용량이 크게 절약됩니다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8"/>
          <p:cNvSpPr/>
          <p:nvPr/>
        </p:nvSpPr>
        <p:spPr>
          <a:xfrm>
            <a:off x="914400" y="5623560"/>
            <a:ext cx="10423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남은 사용량은  설정 </a:t>
            </a:r>
            <a:r>
              <a:rPr lang="en-US" sz="17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&gt; </a:t>
            </a:r>
            <a:r>
              <a:rPr lang="zh-CN" sz="17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사용량  에서 볼 수 있습니다</a:t>
            </a:r>
            <a:r>
              <a:rPr lang="en-US" sz="17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9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support.claude.com/en/articles/8325606 (2026-08-06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 ·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버전에 따라 메뉴 위치가 다를 수 있습니다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21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01 · Claude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시작하기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10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02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SECTION 02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4"/>
          <p:cNvSpPr/>
          <p:nvPr/>
        </p:nvSpPr>
        <p:spPr>
          <a:xfrm>
            <a:off x="863640" y="2616120"/>
            <a:ext cx="692100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ko-KR" sz="44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설치하기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Box 6"/>
          <p:cNvSpPr/>
          <p:nvPr/>
        </p:nvSpPr>
        <p:spPr>
          <a:xfrm>
            <a:off x="863640" y="4114800"/>
            <a:ext cx="6921000" cy="15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계정 만들기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— 앱을 깔기 전에 먼저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다운로드부터 설치 실행까지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첫 번째 함정과 두 번째 함정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파일 작업 기능이 안 켜질 때 응급처치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6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0"/>
          <p:cNvSpPr/>
          <p:nvPr/>
        </p:nvSpPr>
        <p:spPr>
          <a:xfrm>
            <a:off x="567000" y="384120"/>
            <a:ext cx="621360" cy="6213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567000" y="384120"/>
            <a:ext cx="621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1371600" y="384120"/>
            <a:ext cx="102409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계정 만들기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1371600" y="1042560"/>
            <a:ext cx="10240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앱을 깔기 전에 계정부터 만듭니다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4"/>
          <p:cNvSpPr/>
          <p:nvPr/>
        </p:nvSpPr>
        <p:spPr>
          <a:xfrm>
            <a:off x="658440" y="16459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658440" y="1645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6"/>
          <p:cNvSpPr/>
          <p:nvPr/>
        </p:nvSpPr>
        <p:spPr>
          <a:xfrm>
            <a:off x="1152000" y="16002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브라우저에서  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claude.ai 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로 들어갑니다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7"/>
          <p:cNvSpPr/>
          <p:nvPr/>
        </p:nvSpPr>
        <p:spPr>
          <a:xfrm>
            <a:off x="658440" y="22129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 8"/>
          <p:cNvSpPr/>
          <p:nvPr/>
        </p:nvSpPr>
        <p:spPr>
          <a:xfrm>
            <a:off x="658440" y="2212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9"/>
          <p:cNvSpPr/>
          <p:nvPr/>
        </p:nvSpPr>
        <p:spPr>
          <a:xfrm>
            <a:off x="1152000" y="21672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“Sign up”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을 누릅니다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0"/>
          <p:cNvSpPr/>
          <p:nvPr/>
        </p:nvSpPr>
        <p:spPr>
          <a:xfrm>
            <a:off x="658440" y="27799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 11"/>
          <p:cNvSpPr/>
          <p:nvPr/>
        </p:nvSpPr>
        <p:spPr>
          <a:xfrm>
            <a:off x="658440" y="2779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2"/>
          <p:cNvSpPr/>
          <p:nvPr/>
        </p:nvSpPr>
        <p:spPr>
          <a:xfrm>
            <a:off x="1152000" y="27342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5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이메일 주소를 넣거나 구글 계정으로 가입합니다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3"/>
          <p:cNvSpPr/>
          <p:nvPr/>
        </p:nvSpPr>
        <p:spPr>
          <a:xfrm>
            <a:off x="658440" y="334656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 14"/>
          <p:cNvSpPr/>
          <p:nvPr/>
        </p:nvSpPr>
        <p:spPr>
          <a:xfrm>
            <a:off x="658440" y="33465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5"/>
          <p:cNvSpPr/>
          <p:nvPr/>
        </p:nvSpPr>
        <p:spPr>
          <a:xfrm>
            <a:off x="1152000" y="330084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메일로 온 인증 번호를 넣습니다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6"/>
          <p:cNvSpPr/>
          <p:nvPr/>
        </p:nvSpPr>
        <p:spPr>
          <a:xfrm>
            <a:off x="658440" y="391356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 17"/>
          <p:cNvSpPr/>
          <p:nvPr/>
        </p:nvSpPr>
        <p:spPr>
          <a:xfrm>
            <a:off x="658440" y="39135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8"/>
          <p:cNvSpPr/>
          <p:nvPr/>
        </p:nvSpPr>
        <p:spPr>
          <a:xfrm>
            <a:off x="1152000" y="386784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이름과 사용 목적을 물으면 대충 답해도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9"/>
          <p:cNvSpPr/>
          <p:nvPr/>
        </p:nvSpPr>
        <p:spPr>
          <a:xfrm>
            <a:off x="6675120" y="1600200"/>
            <a:ext cx="4955760" cy="3565800"/>
          </a:xfrm>
          <a:prstGeom prst="roundRect">
            <a:avLst>
              <a:gd name="adj" fmla="val 1538"/>
            </a:avLst>
          </a:prstGeom>
          <a:solidFill>
            <a:srgbClr val="F5F1EB"/>
          </a:solidFill>
          <a:ln w="15875">
            <a:solidFill>
              <a:srgbClr val="DCD4C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 20"/>
          <p:cNvSpPr/>
          <p:nvPr/>
        </p:nvSpPr>
        <p:spPr>
          <a:xfrm>
            <a:off x="6675120" y="1600200"/>
            <a:ext cx="495576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[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스크린샷 삽입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]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claude.ai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첫 화면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(Sign up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버튼이 보이게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1"/>
          <p:cNvSpPr/>
          <p:nvPr/>
        </p:nvSpPr>
        <p:spPr>
          <a:xfrm>
            <a:off x="567000" y="5120640"/>
            <a:ext cx="5851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이 단계에서는 결제 정보를 넣지 않습니다</a:t>
            </a:r>
            <a:r>
              <a:rPr lang="en-US" sz="17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2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버전에 따라 화면이 다를 수 있습니다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24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02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설치하기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12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567000" y="384120"/>
            <a:ext cx="621360" cy="6213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567000" y="384120"/>
            <a:ext cx="621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1371600" y="384120"/>
            <a:ext cx="102409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다운로드 페이지 열기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3"/>
          <p:cNvSpPr/>
          <p:nvPr/>
        </p:nvSpPr>
        <p:spPr>
          <a:xfrm>
            <a:off x="658440" y="14173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5" name="Text 4"/>
          <p:cNvSpPr/>
          <p:nvPr/>
        </p:nvSpPr>
        <p:spPr>
          <a:xfrm>
            <a:off x="658440" y="14173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1152000" y="13716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로그인한 상태에서 주소창에 아래를 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6"/>
          <p:cNvSpPr/>
          <p:nvPr/>
        </p:nvSpPr>
        <p:spPr>
          <a:xfrm>
            <a:off x="658440" y="19843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658440" y="19843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8"/>
          <p:cNvSpPr/>
          <p:nvPr/>
        </p:nvSpPr>
        <p:spPr>
          <a:xfrm>
            <a:off x="1152000" y="19386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여러 운영체제 목록이 나옵니다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9"/>
          <p:cNvSpPr/>
          <p:nvPr/>
        </p:nvSpPr>
        <p:spPr>
          <a:xfrm>
            <a:off x="658440" y="25513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 10"/>
          <p:cNvSpPr/>
          <p:nvPr/>
        </p:nvSpPr>
        <p:spPr>
          <a:xfrm>
            <a:off x="658440" y="25513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1"/>
          <p:cNvSpPr/>
          <p:nvPr/>
        </p:nvSpPr>
        <p:spPr>
          <a:xfrm>
            <a:off x="1152000" y="25056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그중  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Windows 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를 찾습니다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2"/>
          <p:cNvSpPr/>
          <p:nvPr/>
        </p:nvSpPr>
        <p:spPr>
          <a:xfrm>
            <a:off x="6675120" y="1371600"/>
            <a:ext cx="4955760" cy="3565800"/>
          </a:xfrm>
          <a:prstGeom prst="roundRect">
            <a:avLst>
              <a:gd name="adj" fmla="val 1538"/>
            </a:avLst>
          </a:prstGeom>
          <a:solidFill>
            <a:srgbClr val="F5F1EB"/>
          </a:solidFill>
          <a:ln w="15875">
            <a:solidFill>
              <a:srgbClr val="DCD4C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 13"/>
          <p:cNvSpPr/>
          <p:nvPr/>
        </p:nvSpPr>
        <p:spPr>
          <a:xfrm>
            <a:off x="6675120" y="1371600"/>
            <a:ext cx="495576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[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스크린샷 삽입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]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claude.ai/download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화면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(Windows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항목이 보이게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4"/>
          <p:cNvSpPr/>
          <p:nvPr/>
        </p:nvSpPr>
        <p:spPr>
          <a:xfrm>
            <a:off x="1152000" y="3246120"/>
            <a:ext cx="4023000" cy="548280"/>
          </a:xfrm>
          <a:prstGeom prst="roundRect">
            <a:avLst>
              <a:gd name="adj" fmla="val 6667"/>
            </a:avLst>
          </a:prstGeom>
          <a:solidFill>
            <a:srgbClr val="24211D"/>
          </a:solidFill>
          <a:ln w="635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15"/>
          <p:cNvSpPr/>
          <p:nvPr/>
        </p:nvSpPr>
        <p:spPr>
          <a:xfrm>
            <a:off x="1316880" y="3246120"/>
            <a:ext cx="3693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2E9E1"/>
                </a:solidFill>
                <a:effectLst/>
                <a:uFillTx/>
                <a:latin typeface="Consolas"/>
                <a:ea typeface="Consolas"/>
              </a:rPr>
              <a:t>claude.ai/download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6"/>
          <p:cNvSpPr/>
          <p:nvPr/>
        </p:nvSpPr>
        <p:spPr>
          <a:xfrm>
            <a:off x="1152000" y="393192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주소창에 그대로 치세요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검색창이 아니라 주소창입니다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7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support.claude.com/en/articles/10065433 (2026-08-06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19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02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설치하기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13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Shape 0"/>
          <p:cNvSpPr/>
          <p:nvPr/>
        </p:nvSpPr>
        <p:spPr>
          <a:xfrm>
            <a:off x="567000" y="384120"/>
            <a:ext cx="621360" cy="6213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567000" y="384120"/>
            <a:ext cx="621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"/>
          <p:cNvSpPr/>
          <p:nvPr/>
        </p:nvSpPr>
        <p:spPr>
          <a:xfrm>
            <a:off x="1371600" y="384120"/>
            <a:ext cx="102409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Windows</a:t>
            </a:r>
            <a:r>
              <a:rPr lang="zh-CN" sz="32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용 내려받기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658440" y="14173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" name="Text 4"/>
          <p:cNvSpPr/>
          <p:nvPr/>
        </p:nvSpPr>
        <p:spPr>
          <a:xfrm>
            <a:off x="658440" y="14173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1152000" y="13716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Windows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옆의  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Download 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를 누릅니다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6"/>
          <p:cNvSpPr/>
          <p:nvPr/>
        </p:nvSpPr>
        <p:spPr>
          <a:xfrm>
            <a:off x="658440" y="19843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658440" y="19843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8"/>
          <p:cNvSpPr/>
          <p:nvPr/>
        </p:nvSpPr>
        <p:spPr>
          <a:xfrm>
            <a:off x="1152000" y="19386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브라우저 아래쪽에 내려받기 표시가 뜹니다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9"/>
          <p:cNvSpPr/>
          <p:nvPr/>
        </p:nvSpPr>
        <p:spPr>
          <a:xfrm>
            <a:off x="658440" y="25513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" name="Text 10"/>
          <p:cNvSpPr/>
          <p:nvPr/>
        </p:nvSpPr>
        <p:spPr>
          <a:xfrm>
            <a:off x="658440" y="25513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1"/>
          <p:cNvSpPr/>
          <p:nvPr/>
        </p:nvSpPr>
        <p:spPr>
          <a:xfrm>
            <a:off x="1152000" y="25056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다 받아질 때까지 기다립니다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2"/>
          <p:cNvSpPr/>
          <p:nvPr/>
        </p:nvSpPr>
        <p:spPr>
          <a:xfrm>
            <a:off x="658440" y="311796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 13"/>
          <p:cNvSpPr/>
          <p:nvPr/>
        </p:nvSpPr>
        <p:spPr>
          <a:xfrm>
            <a:off x="658440" y="31179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4"/>
          <p:cNvSpPr/>
          <p:nvPr/>
        </p:nvSpPr>
        <p:spPr>
          <a:xfrm>
            <a:off x="1152000" y="307224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받은 파일을 두 번 눌러 엽니다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5"/>
          <p:cNvSpPr/>
          <p:nvPr/>
        </p:nvSpPr>
        <p:spPr>
          <a:xfrm>
            <a:off x="6675120" y="1371600"/>
            <a:ext cx="4955760" cy="3565800"/>
          </a:xfrm>
          <a:prstGeom prst="roundRect">
            <a:avLst>
              <a:gd name="adj" fmla="val 1538"/>
            </a:avLst>
          </a:prstGeom>
          <a:solidFill>
            <a:srgbClr val="F5F1EB"/>
          </a:solidFill>
          <a:ln w="15875">
            <a:solidFill>
              <a:srgbClr val="DCD4C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 16"/>
          <p:cNvSpPr/>
          <p:nvPr/>
        </p:nvSpPr>
        <p:spPr>
          <a:xfrm>
            <a:off x="6675120" y="1371600"/>
            <a:ext cx="495576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[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스크린샷 삽입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]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다운로드 진행 화면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받은 파일이 보이게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7"/>
          <p:cNvSpPr/>
          <p:nvPr/>
        </p:nvSpPr>
        <p:spPr>
          <a:xfrm>
            <a:off x="1152000" y="374904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파일 크기가 있어서 인터넷이 느리면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몇 분 걸릴 수 있습니다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8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버전에 따라 화면이 다를 수 있습니다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20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02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설치하기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14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0"/>
          <p:cNvSpPr/>
          <p:nvPr/>
        </p:nvSpPr>
        <p:spPr>
          <a:xfrm>
            <a:off x="567000" y="384120"/>
            <a:ext cx="621360" cy="6213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567000" y="384120"/>
            <a:ext cx="621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2"/>
          <p:cNvSpPr/>
          <p:nvPr/>
        </p:nvSpPr>
        <p:spPr>
          <a:xfrm>
            <a:off x="1371600" y="384120"/>
            <a:ext cx="102409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설치 실행하기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1371600" y="1042560"/>
            <a:ext cx="10240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여기가 첫 번째 함정입니다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4"/>
          <p:cNvSpPr/>
          <p:nvPr/>
        </p:nvSpPr>
        <p:spPr>
          <a:xfrm>
            <a:off x="658440" y="16459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 5"/>
          <p:cNvSpPr/>
          <p:nvPr/>
        </p:nvSpPr>
        <p:spPr>
          <a:xfrm>
            <a:off x="658440" y="1645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6"/>
          <p:cNvSpPr/>
          <p:nvPr/>
        </p:nvSpPr>
        <p:spPr>
          <a:xfrm>
            <a:off x="1152000" y="16002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받은 파일을 두 번 누릅니다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7"/>
          <p:cNvSpPr/>
          <p:nvPr/>
        </p:nvSpPr>
        <p:spPr>
          <a:xfrm>
            <a:off x="658440" y="22129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 8"/>
          <p:cNvSpPr/>
          <p:nvPr/>
        </p:nvSpPr>
        <p:spPr>
          <a:xfrm>
            <a:off x="658440" y="2212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9"/>
          <p:cNvSpPr/>
          <p:nvPr/>
        </p:nvSpPr>
        <p:spPr>
          <a:xfrm>
            <a:off x="1152000" y="21672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설치가 시작됩니다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0"/>
          <p:cNvSpPr/>
          <p:nvPr/>
        </p:nvSpPr>
        <p:spPr>
          <a:xfrm>
            <a:off x="658440" y="27799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 11"/>
          <p:cNvSpPr/>
          <p:nvPr/>
        </p:nvSpPr>
        <p:spPr>
          <a:xfrm>
            <a:off x="658440" y="2779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2"/>
          <p:cNvSpPr/>
          <p:nvPr/>
        </p:nvSpPr>
        <p:spPr>
          <a:xfrm>
            <a:off x="1152000" y="27342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화면이 어두워지면서 창이 하나 뜹니다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3"/>
          <p:cNvSpPr/>
          <p:nvPr/>
        </p:nvSpPr>
        <p:spPr>
          <a:xfrm>
            <a:off x="658440" y="334656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 14"/>
          <p:cNvSpPr/>
          <p:nvPr/>
        </p:nvSpPr>
        <p:spPr>
          <a:xfrm>
            <a:off x="658440" y="33465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5"/>
          <p:cNvSpPr/>
          <p:nvPr/>
        </p:nvSpPr>
        <p:spPr>
          <a:xfrm>
            <a:off x="1152000" y="330084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“이 앱이 디바이스를 변경하도록 허용하시겠어요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?”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6"/>
          <p:cNvSpPr/>
          <p:nvPr/>
        </p:nvSpPr>
        <p:spPr>
          <a:xfrm>
            <a:off x="658440" y="391356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 17"/>
          <p:cNvSpPr/>
          <p:nvPr/>
        </p:nvSpPr>
        <p:spPr>
          <a:xfrm>
            <a:off x="658440" y="39135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8"/>
          <p:cNvSpPr/>
          <p:nvPr/>
        </p:nvSpPr>
        <p:spPr>
          <a:xfrm>
            <a:off x="1152000" y="386784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반드시  예  를 누릅니다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9"/>
          <p:cNvSpPr/>
          <p:nvPr/>
        </p:nvSpPr>
        <p:spPr>
          <a:xfrm>
            <a:off x="6675120" y="1600200"/>
            <a:ext cx="4955760" cy="3200040"/>
          </a:xfrm>
          <a:prstGeom prst="roundRect">
            <a:avLst>
              <a:gd name="adj" fmla="val 1714"/>
            </a:avLst>
          </a:prstGeom>
          <a:solidFill>
            <a:srgbClr val="F5F1EB"/>
          </a:solidFill>
          <a:ln w="15875">
            <a:solidFill>
              <a:srgbClr val="DCD4C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20"/>
          <p:cNvSpPr/>
          <p:nvPr/>
        </p:nvSpPr>
        <p:spPr>
          <a:xfrm>
            <a:off x="6675120" y="1600200"/>
            <a:ext cx="495576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[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스크린샷 삽입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]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UAC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허용 창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(“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예 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/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아니요” 버튼이 보이게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21"/>
          <p:cNvSpPr/>
          <p:nvPr/>
        </p:nvSpPr>
        <p:spPr>
          <a:xfrm>
            <a:off x="567000" y="5029200"/>
            <a:ext cx="11063880" cy="868320"/>
          </a:xfrm>
          <a:prstGeom prst="roundRect">
            <a:avLst>
              <a:gd name="adj" fmla="val 5263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 22"/>
          <p:cNvSpPr/>
          <p:nvPr/>
        </p:nvSpPr>
        <p:spPr>
          <a:xfrm>
            <a:off x="914400" y="502920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“아니요”를 누르면 설치는 되지만 파일 작업 기능이 빠집니다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반드시  예  입니다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3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support.claude.com/en/articles/12622703 (2026-08-06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25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02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설치하기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15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0"/>
          <p:cNvSpPr/>
          <p:nvPr/>
        </p:nvSpPr>
        <p:spPr>
          <a:xfrm>
            <a:off x="567000" y="384120"/>
            <a:ext cx="621360" cy="62136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567000" y="384120"/>
            <a:ext cx="621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"/>
          <p:cNvSpPr/>
          <p:nvPr/>
        </p:nvSpPr>
        <p:spPr>
          <a:xfrm>
            <a:off x="1371600" y="384120"/>
            <a:ext cx="102409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컴퓨터를 다시 시작합니다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"/>
          <p:cNvSpPr/>
          <p:nvPr/>
        </p:nvSpPr>
        <p:spPr>
          <a:xfrm>
            <a:off x="1371600" y="1042560"/>
            <a:ext cx="10240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여기가 두 번째 함정입니다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설치의 마지막 단계입니다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4"/>
          <p:cNvSpPr/>
          <p:nvPr/>
        </p:nvSpPr>
        <p:spPr>
          <a:xfrm>
            <a:off x="567000" y="1737360"/>
            <a:ext cx="5394600" cy="2651400"/>
          </a:xfrm>
          <a:prstGeom prst="roundRect">
            <a:avLst>
              <a:gd name="adj" fmla="val 2069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 5"/>
          <p:cNvSpPr/>
          <p:nvPr/>
        </p:nvSpPr>
        <p:spPr>
          <a:xfrm>
            <a:off x="914400" y="2011680"/>
            <a:ext cx="4663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이렇게 하세요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6"/>
          <p:cNvSpPr/>
          <p:nvPr/>
        </p:nvSpPr>
        <p:spPr>
          <a:xfrm>
            <a:off x="914400" y="2468880"/>
            <a:ext cx="46630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4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다시 시작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7"/>
          <p:cNvSpPr/>
          <p:nvPr/>
        </p:nvSpPr>
        <p:spPr>
          <a:xfrm>
            <a:off x="914400" y="333756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시작 메뉴 </a:t>
            </a:r>
            <a:r>
              <a:rPr lang="en-US" sz="17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&gt; </a:t>
            </a:r>
            <a:r>
              <a:rPr lang="zh-CN" sz="17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전원 </a:t>
            </a:r>
            <a:r>
              <a:rPr lang="en-US" sz="17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&gt; </a:t>
            </a:r>
            <a:r>
              <a:rPr lang="zh-CN" sz="170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다시 시작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8"/>
          <p:cNvSpPr/>
          <p:nvPr/>
        </p:nvSpPr>
        <p:spPr>
          <a:xfrm>
            <a:off x="914400" y="374904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이렇게 해야 설정이 실제로 적용됩니다</a:t>
            </a:r>
            <a:r>
              <a:rPr lang="en-US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9"/>
          <p:cNvSpPr/>
          <p:nvPr/>
        </p:nvSpPr>
        <p:spPr>
          <a:xfrm>
            <a:off x="6236280" y="1737360"/>
            <a:ext cx="5394600" cy="2651400"/>
          </a:xfrm>
          <a:prstGeom prst="roundRect">
            <a:avLst>
              <a:gd name="adj" fmla="val 1724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 10"/>
          <p:cNvSpPr/>
          <p:nvPr/>
        </p:nvSpPr>
        <p:spPr>
          <a:xfrm>
            <a:off x="6583680" y="2011680"/>
            <a:ext cx="4663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이러면 안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1"/>
          <p:cNvSpPr/>
          <p:nvPr/>
        </p:nvSpPr>
        <p:spPr>
          <a:xfrm>
            <a:off x="6583680" y="2468880"/>
            <a:ext cx="46630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850" b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시스템 종료 후 켜기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2"/>
          <p:cNvSpPr/>
          <p:nvPr/>
        </p:nvSpPr>
        <p:spPr>
          <a:xfrm>
            <a:off x="6583680" y="333756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전원을 껐다 켜는 것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3"/>
          <p:cNvSpPr/>
          <p:nvPr/>
        </p:nvSpPr>
        <p:spPr>
          <a:xfrm>
            <a:off x="6583680" y="3749040"/>
            <a:ext cx="4663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45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윈도우의 “빠른 시작” 때문에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45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설정이 적용되지 않습니다</a:t>
            </a:r>
            <a:r>
              <a:rPr lang="en-US" sz="145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4"/>
          <p:cNvSpPr/>
          <p:nvPr/>
        </p:nvSpPr>
        <p:spPr>
          <a:xfrm>
            <a:off x="567000" y="4709160"/>
            <a:ext cx="11063880" cy="1142640"/>
          </a:xfrm>
          <a:prstGeom prst="roundRect">
            <a:avLst>
              <a:gd name="adj" fmla="val 4000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 15"/>
          <p:cNvSpPr/>
          <p:nvPr/>
        </p:nvSpPr>
        <p:spPr>
          <a:xfrm>
            <a:off x="914400" y="4709160"/>
            <a:ext cx="1042380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껐다 켜는 것과 다시 시작하는 것은 윈도우에서 서로 다른 동작입니다</a:t>
            </a: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반드시  다시 시작  을 고르세요</a:t>
            </a: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6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support.claude.com/en/articles/12622703 (2026-08-06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18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02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설치하기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16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파일 작업 기능이 안 켜질 때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설치는 됐는데 파일 작업 기능이 작동하지 않는 경우의 응급처치입니다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2"/>
          <p:cNvSpPr/>
          <p:nvPr/>
        </p:nvSpPr>
        <p:spPr>
          <a:xfrm>
            <a:off x="567000" y="1874520"/>
            <a:ext cx="4937400" cy="3702960"/>
          </a:xfrm>
          <a:prstGeom prst="roundRect">
            <a:avLst>
              <a:gd name="adj" fmla="val 1235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6" name="Text 3"/>
          <p:cNvSpPr/>
          <p:nvPr/>
        </p:nvSpPr>
        <p:spPr>
          <a:xfrm>
            <a:off x="914400" y="2148840"/>
            <a:ext cx="4297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이런 증상이면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"/>
          <p:cNvSpPr/>
          <p:nvPr/>
        </p:nvSpPr>
        <p:spPr>
          <a:xfrm>
            <a:off x="914400" y="2697480"/>
            <a:ext cx="42973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ts val="2200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파일 작업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(Cowork)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 시작되지 않는다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200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“Missing HCS services”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오류가 뜬다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200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폴더를 연결해도 아무 반응이 없다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5"/>
          <p:cNvSpPr/>
          <p:nvPr/>
        </p:nvSpPr>
        <p:spPr>
          <a:xfrm>
            <a:off x="914400" y="397764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원인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6"/>
          <p:cNvSpPr/>
          <p:nvPr/>
        </p:nvSpPr>
        <p:spPr>
          <a:xfrm>
            <a:off x="914400" y="4370760"/>
            <a:ext cx="42973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001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윈도우의 가상 머신 플랫폼이 꺼져 있어서입니다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Claude</a:t>
            </a: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 파일을 다룰 때 격리된 공간이 필요한데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그 기능입니다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7"/>
          <p:cNvSpPr/>
          <p:nvPr/>
        </p:nvSpPr>
        <p:spPr>
          <a:xfrm>
            <a:off x="5852160" y="1965960"/>
            <a:ext cx="57787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이렇게 하세요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8"/>
          <p:cNvSpPr/>
          <p:nvPr/>
        </p:nvSpPr>
        <p:spPr>
          <a:xfrm>
            <a:off x="5943600" y="2514600"/>
            <a:ext cx="310680" cy="310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 9"/>
          <p:cNvSpPr/>
          <p:nvPr/>
        </p:nvSpPr>
        <p:spPr>
          <a:xfrm>
            <a:off x="5943600" y="25146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0"/>
          <p:cNvSpPr/>
          <p:nvPr/>
        </p:nvSpPr>
        <p:spPr>
          <a:xfrm>
            <a:off x="6400800" y="248724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시작 메뉴에서  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Windows PowerShell 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을 찾습니다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1"/>
          <p:cNvSpPr/>
          <p:nvPr/>
        </p:nvSpPr>
        <p:spPr>
          <a:xfrm>
            <a:off x="5943600" y="3017520"/>
            <a:ext cx="310680" cy="310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 12"/>
          <p:cNvSpPr/>
          <p:nvPr/>
        </p:nvSpPr>
        <p:spPr>
          <a:xfrm>
            <a:off x="5943600" y="301752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3"/>
          <p:cNvSpPr/>
          <p:nvPr/>
        </p:nvSpPr>
        <p:spPr>
          <a:xfrm>
            <a:off x="6400800" y="299016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오른쪽 눌러  관리자 권한으로 실행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4"/>
          <p:cNvSpPr/>
          <p:nvPr/>
        </p:nvSpPr>
        <p:spPr>
          <a:xfrm>
            <a:off x="5943600" y="3520440"/>
            <a:ext cx="310680" cy="310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 15"/>
          <p:cNvSpPr/>
          <p:nvPr/>
        </p:nvSpPr>
        <p:spPr>
          <a:xfrm>
            <a:off x="5943600" y="35204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6"/>
          <p:cNvSpPr/>
          <p:nvPr/>
        </p:nvSpPr>
        <p:spPr>
          <a:xfrm>
            <a:off x="6400800" y="349308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아래 문장을 복사해 붙여넣고 엔터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7"/>
          <p:cNvSpPr/>
          <p:nvPr/>
        </p:nvSpPr>
        <p:spPr>
          <a:xfrm>
            <a:off x="5943600" y="4023360"/>
            <a:ext cx="310680" cy="310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 18"/>
          <p:cNvSpPr/>
          <p:nvPr/>
        </p:nvSpPr>
        <p:spPr>
          <a:xfrm>
            <a:off x="5943600" y="40233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9"/>
          <p:cNvSpPr/>
          <p:nvPr/>
        </p:nvSpPr>
        <p:spPr>
          <a:xfrm>
            <a:off x="6400800" y="3996000"/>
            <a:ext cx="5211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끝나면  다시 시작  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전원 끄기 아님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20"/>
          <p:cNvSpPr/>
          <p:nvPr/>
        </p:nvSpPr>
        <p:spPr>
          <a:xfrm>
            <a:off x="5943600" y="4617720"/>
            <a:ext cx="5687280" cy="822600"/>
          </a:xfrm>
          <a:prstGeom prst="roundRect">
            <a:avLst>
              <a:gd name="adj" fmla="val 4444"/>
            </a:avLst>
          </a:prstGeom>
          <a:solidFill>
            <a:srgbClr val="24211D"/>
          </a:solidFill>
          <a:ln w="635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 21"/>
          <p:cNvSpPr/>
          <p:nvPr/>
        </p:nvSpPr>
        <p:spPr>
          <a:xfrm>
            <a:off x="6108120" y="4617720"/>
            <a:ext cx="5357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2E9E1"/>
                </a:solidFill>
                <a:effectLst/>
                <a:uFillTx/>
                <a:latin typeface="Consolas"/>
                <a:ea typeface="Consolas"/>
              </a:rPr>
              <a:t>Enable-WindowsOptionalFeature -Online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2E9E1"/>
                </a:solidFill>
                <a:effectLst/>
                <a:uFillTx/>
                <a:latin typeface="Consolas"/>
                <a:ea typeface="Consolas"/>
              </a:rPr>
              <a:t>  -FeatureName VirtualMachinePlatform -All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2"/>
          <p:cNvSpPr/>
          <p:nvPr/>
        </p:nvSpPr>
        <p:spPr>
          <a:xfrm>
            <a:off x="5943600" y="5504760"/>
            <a:ext cx="5687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5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외울 필요 없습니다</a:t>
            </a:r>
            <a:r>
              <a:rPr lang="en-US" sz="15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5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강사가 채팅방에 올려드립니다</a:t>
            </a:r>
            <a:r>
              <a:rPr lang="en-US" sz="155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3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support.claude.com/en/articles/12622703 (2026-08-06 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 · 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대부분은 설치할 때 자동으로 처리되므로 이 장은 안 될 때만 보세요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25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02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설치하기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17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03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SECTION 03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4"/>
          <p:cNvSpPr/>
          <p:nvPr/>
        </p:nvSpPr>
        <p:spPr>
          <a:xfrm>
            <a:off x="863640" y="2616120"/>
            <a:ext cx="692100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ko-KR" sz="44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사전 준비 프로그램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Box 6"/>
          <p:cNvSpPr/>
          <p:nvPr/>
        </p:nvSpPr>
        <p:spPr>
          <a:xfrm>
            <a:off x="863640" y="4114800"/>
            <a:ext cx="6921000" cy="170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오피스 프로그램은 하나 있어야 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미리 깔아두면 좋은 무료 프로그램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Node.js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uv —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없으면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MCP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가 하나도 안 붙습니다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uv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설치 한 줄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그리고 오류 세 가지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설치 자료는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GitHub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에 있습니다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5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미리 해두면 나중이 훨씬 편합니다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나중에 하나씩 하다 막히는 것보다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오늘 한꺼번에 끝내는 편이 낫습니다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2"/>
          <p:cNvSpPr/>
          <p:nvPr/>
        </p:nvSpPr>
        <p:spPr>
          <a:xfrm>
            <a:off x="567000" y="1874520"/>
            <a:ext cx="3492720" cy="3565800"/>
          </a:xfrm>
          <a:prstGeom prst="roundRect">
            <a:avLst>
              <a:gd name="adj" fmla="val 1571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914400" y="214884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pc="99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1  </a:t>
            </a:r>
            <a:r>
              <a:rPr lang="zh-CN" sz="1700" b="1" u="none" spc="99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꼭 필요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4"/>
          <p:cNvSpPr/>
          <p:nvPr/>
        </p:nvSpPr>
        <p:spPr>
          <a:xfrm>
            <a:off x="914400" y="2487240"/>
            <a:ext cx="2834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6E675D"/>
                </a:solidFill>
                <a:effectLst/>
                <a:uFillTx/>
                <a:latin typeface="맑은 고딕"/>
                <a:ea typeface="맑은 고딕"/>
              </a:rPr>
              <a:t>오늘 </a:t>
            </a:r>
            <a:r>
              <a:rPr lang="en-US" sz="1550" b="0" u="none" strike="noStrike">
                <a:solidFill>
                  <a:srgbClr val="6E675D"/>
                </a:solidFill>
                <a:effectLst/>
                <a:uFillTx/>
                <a:latin typeface="맑은 고딕"/>
                <a:ea typeface="맑은 고딕"/>
              </a:rPr>
              <a:t>~ </a:t>
            </a:r>
            <a:r>
              <a:rPr lang="zh-CN" sz="1550" b="0" u="none" strike="noStrike">
                <a:solidFill>
                  <a:srgbClr val="6E675D"/>
                </a:solidFill>
                <a:effectLst/>
                <a:uFillTx/>
                <a:latin typeface="맑은 고딕"/>
                <a:ea typeface="맑은 고딕"/>
              </a:rPr>
              <a:t>당분간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914400" y="2926080"/>
            <a:ext cx="2834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zh-CN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오피스 프로그램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계정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914400" y="3749040"/>
            <a:ext cx="2834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가 만든 엑셀</a:t>
            </a:r>
            <a:r>
              <a:rPr lang="en-US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워드를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열려면 있어야 합니다</a:t>
            </a:r>
            <a:r>
              <a:rPr lang="en-US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이미 있으면 넘어가세요</a:t>
            </a:r>
            <a:r>
              <a:rPr lang="en-US" sz="165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7"/>
          <p:cNvSpPr/>
          <p:nvPr/>
        </p:nvSpPr>
        <p:spPr>
          <a:xfrm>
            <a:off x="4334400" y="1874520"/>
            <a:ext cx="3492720" cy="3565800"/>
          </a:xfrm>
          <a:prstGeom prst="roundRect">
            <a:avLst>
              <a:gd name="adj" fmla="val 1309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 8"/>
          <p:cNvSpPr/>
          <p:nvPr/>
        </p:nvSpPr>
        <p:spPr>
          <a:xfrm>
            <a:off x="4681800" y="214884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pc="99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2  </a:t>
            </a:r>
            <a:r>
              <a:rPr lang="zh-CN" sz="1700" b="1" u="none" spc="99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미리 해두세요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9"/>
          <p:cNvSpPr/>
          <p:nvPr/>
        </p:nvSpPr>
        <p:spPr>
          <a:xfrm>
            <a:off x="4681800" y="2487240"/>
            <a:ext cx="2834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붙일 때가 편해집니다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0"/>
          <p:cNvSpPr/>
          <p:nvPr/>
        </p:nvSpPr>
        <p:spPr>
          <a:xfrm>
            <a:off x="4681800" y="2926080"/>
            <a:ext cx="2834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Node.js · VS Code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GitHub · </a:t>
            </a:r>
            <a:r>
              <a:rPr lang="zh-CN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구글 계정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1"/>
          <p:cNvSpPr/>
          <p:nvPr/>
        </p:nvSpPr>
        <p:spPr>
          <a:xfrm>
            <a:off x="4681800" y="3749040"/>
            <a:ext cx="2834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지금 깔아두면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나중에 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30</a:t>
            </a: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분은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아낍니다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2"/>
          <p:cNvSpPr/>
          <p:nvPr/>
        </p:nvSpPr>
        <p:spPr>
          <a:xfrm>
            <a:off x="8101440" y="1874520"/>
            <a:ext cx="3492720" cy="3565800"/>
          </a:xfrm>
          <a:prstGeom prst="roundRect">
            <a:avLst>
              <a:gd name="adj" fmla="val 1309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 13"/>
          <p:cNvSpPr/>
          <p:nvPr/>
        </p:nvSpPr>
        <p:spPr>
          <a:xfrm>
            <a:off x="8449200" y="214884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pc="99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3  </a:t>
            </a:r>
            <a:r>
              <a:rPr lang="zh-CN" sz="1700" b="1" u="none" spc="99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나중에 함께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4"/>
          <p:cNvSpPr/>
          <p:nvPr/>
        </p:nvSpPr>
        <p:spPr>
          <a:xfrm>
            <a:off x="8449200" y="2487240"/>
            <a:ext cx="2834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혼자 하지 마세요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5"/>
          <p:cNvSpPr/>
          <p:nvPr/>
        </p:nvSpPr>
        <p:spPr>
          <a:xfrm>
            <a:off x="8449200" y="2926080"/>
            <a:ext cx="28342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API </a:t>
            </a:r>
            <a:r>
              <a:rPr lang="zh-CN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키 신청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zh-CN" sz="22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연결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6"/>
          <p:cNvSpPr/>
          <p:nvPr/>
        </p:nvSpPr>
        <p:spPr>
          <a:xfrm>
            <a:off x="8449200" y="3749040"/>
            <a:ext cx="2834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어떤 걸 쓸지 정한 뒤에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필요한 것만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같이 발급받습니다</a:t>
            </a:r>
            <a:r>
              <a:rPr lang="en-US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7"/>
          <p:cNvSpPr/>
          <p:nvPr/>
        </p:nvSpPr>
        <p:spPr>
          <a:xfrm>
            <a:off x="567000" y="562356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zh-CN" sz="18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번을 오늘 해두시면</a:t>
            </a:r>
            <a:r>
              <a:rPr lang="en-US" sz="18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, MCP </a:t>
            </a:r>
            <a:r>
              <a:rPr lang="zh-CN" sz="18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붙일 때 막히는 일이 크게 줄어듭니다</a:t>
            </a:r>
            <a:r>
              <a:rPr lang="en-US" sz="18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19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03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사전 준비 프로그램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19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오피스 프로그램은 하나 있어야 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 엑셀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워드를 만들어 줘도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열 프로그램이 없으면 못 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7" name="Table 0"/>
          <p:cNvGraphicFramePr/>
          <p:nvPr/>
        </p:nvGraphicFramePr>
        <p:xfrm>
          <a:off x="567000" y="1874520"/>
          <a:ext cx="11063880" cy="283428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3749040"/>
                <a:gridCol w="3108960"/>
              </a:tblGrid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무엇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비용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이런 분께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받는 곳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</a:tr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Microsoft 365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유료 구독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회사</a:t>
                      </a:r>
                      <a:r>
                        <a:rPr lang="en-US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zh-CN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실무의 표준</a:t>
                      </a:r>
                      <a:r>
                        <a:rPr lang="en-US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lang="zh-CN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이미 쓰시면 끝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microsoft.com/ko-kr/microsoft-365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리브레오피스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돈 안 쓰고 시작하고 싶다면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ko.libreoffice.org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구글 문서</a:t>
                      </a: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스프레드시트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설치 없이 웹에서 열고 싶다면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docs.google.com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한글</a:t>
                      </a: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(HWP)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유료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경매 서류가 한글 파일일 때만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hancom.com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8" name="Shape 2"/>
          <p:cNvSpPr/>
          <p:nvPr/>
        </p:nvSpPr>
        <p:spPr>
          <a:xfrm>
            <a:off x="567000" y="4892040"/>
            <a:ext cx="11063880" cy="1005480"/>
          </a:xfrm>
          <a:prstGeom prst="roundRect">
            <a:avLst>
              <a:gd name="adj" fmla="val 4545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 3"/>
          <p:cNvSpPr/>
          <p:nvPr/>
        </p:nvSpPr>
        <p:spPr>
          <a:xfrm>
            <a:off x="914400" y="4892040"/>
            <a:ext cx="10423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이미 회사 컴퓨터에 오피스가 깔려 있다면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이 장은 그냥 넘어가세요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새로 살 필요 없습니다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4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가격은 변동되므로 각 공식 사이트에서 확인하세요 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리브레오피스 무료 배포 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ko.libreoffice.org (2026-08-06)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3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03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사전 준비 프로그램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20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미리 깔아두면 좋은 프로그램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전부 무료입니다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각각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분이면 끝납니다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0"/>
          <p:cNvGraphicFramePr/>
          <p:nvPr/>
        </p:nvGraphicFramePr>
        <p:xfrm>
          <a:off x="567000" y="1874520"/>
          <a:ext cx="11063880" cy="340128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3291840"/>
                <a:gridCol w="1280160"/>
              </a:tblGrid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프로그램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왜 필요한가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받는 곳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endParaRPr lang="en-US" sz="13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맑은 고딕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</a:tr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Node.js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프로그램 연결</a:t>
                      </a: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(MCP) </a:t>
                      </a: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대부분이 이걸로 돕니다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nodejs.org/ko/download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꼭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Python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일부 연결 도구가 파이썬으로 만들어져 있습니다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python.org/downloads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권장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VS Code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설정 파일을 안전하게 열고 고칠 때 씁니다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code.visualstudio.com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권장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Git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도구 소스를 통째로 내려받을 때 씁니다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git-scm.com/download/win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선택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640"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Chrome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브라우저 자동화</a:t>
                      </a: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확장 기능을 쓸 때 필요합니다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google.com/chrome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rIns="12672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선택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45720" marB="4572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5" name="Shape 2"/>
          <p:cNvSpPr/>
          <p:nvPr/>
        </p:nvSpPr>
        <p:spPr>
          <a:xfrm>
            <a:off x="567000" y="4983480"/>
            <a:ext cx="11063880" cy="959760"/>
          </a:xfrm>
          <a:prstGeom prst="roundRect">
            <a:avLst>
              <a:gd name="adj" fmla="val 4762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6" name="Text 3"/>
          <p:cNvSpPr/>
          <p:nvPr/>
        </p:nvSpPr>
        <p:spPr>
          <a:xfrm>
            <a:off x="914400" y="4983480"/>
            <a:ext cx="104238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Node.js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는 초록색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LTS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버튼으로 받으세요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설치 중 선택지는 전부 기본값 그대로 두시면 됩니다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4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Node.js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최신 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LTS v24.19.0 (2026-08-06 nodejs.org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 ·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버전 번호는 계속 올라가니 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LTS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표시만 보고 받으세요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3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03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사전 준비 프로그램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21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Node.js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와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uv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는 반드시 깔려 있어야 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둘 중 하나라도 없으면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MCP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는 하나도 연결되지 않습니다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Rounded Rectangle 3"/>
          <p:cNvSpPr/>
          <p:nvPr/>
        </p:nvSpPr>
        <p:spPr>
          <a:xfrm>
            <a:off x="567000" y="1874520"/>
            <a:ext cx="5321520" cy="28342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2" name="Rounded Rectangle 4"/>
          <p:cNvSpPr/>
          <p:nvPr/>
        </p:nvSpPr>
        <p:spPr>
          <a:xfrm>
            <a:off x="4608720" y="2084760"/>
            <a:ext cx="932400" cy="3654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Box 5"/>
          <p:cNvSpPr/>
          <p:nvPr/>
        </p:nvSpPr>
        <p:spPr>
          <a:xfrm>
            <a:off x="4608720" y="2084760"/>
            <a:ext cx="932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필 수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ounded Rectangle 6"/>
          <p:cNvSpPr/>
          <p:nvPr/>
        </p:nvSpPr>
        <p:spPr>
          <a:xfrm>
            <a:off x="914400" y="2084760"/>
            <a:ext cx="3565800" cy="36540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7"/>
          <p:cNvSpPr/>
          <p:nvPr/>
        </p:nvSpPr>
        <p:spPr>
          <a:xfrm>
            <a:off x="1134000" y="2084760"/>
            <a:ext cx="312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"npx"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8"/>
          <p:cNvSpPr/>
          <p:nvPr/>
        </p:nvSpPr>
        <p:spPr>
          <a:xfrm>
            <a:off x="914400" y="2670120"/>
            <a:ext cx="4626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자바스크립트로 만든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9"/>
          <p:cNvSpPr/>
          <p:nvPr/>
        </p:nvSpPr>
        <p:spPr>
          <a:xfrm>
            <a:off x="914400" y="3072240"/>
            <a:ext cx="46263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2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Node.js </a:t>
            </a:r>
            <a:r>
              <a:rPr lang="zh-CN" sz="2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가 반드시 필요합니다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10"/>
          <p:cNvSpPr/>
          <p:nvPr/>
        </p:nvSpPr>
        <p:spPr>
          <a:xfrm>
            <a:off x="914400" y="3712320"/>
            <a:ext cx="462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유튜브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검색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브라우저 자동화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MCP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가 대부분 여기에 해당합니다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Rounded Rectangle 11"/>
          <p:cNvSpPr/>
          <p:nvPr/>
        </p:nvSpPr>
        <p:spPr>
          <a:xfrm>
            <a:off x="6309360" y="1874520"/>
            <a:ext cx="5321520" cy="28342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0" name="Rounded Rectangle 12"/>
          <p:cNvSpPr/>
          <p:nvPr/>
        </p:nvSpPr>
        <p:spPr>
          <a:xfrm>
            <a:off x="10351080" y="2084760"/>
            <a:ext cx="932400" cy="3654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TextBox 13"/>
          <p:cNvSpPr/>
          <p:nvPr/>
        </p:nvSpPr>
        <p:spPr>
          <a:xfrm>
            <a:off x="10351080" y="2084760"/>
            <a:ext cx="932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필 수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Rounded Rectangle 14"/>
          <p:cNvSpPr/>
          <p:nvPr/>
        </p:nvSpPr>
        <p:spPr>
          <a:xfrm>
            <a:off x="6656760" y="2084760"/>
            <a:ext cx="3565800" cy="36540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3" name="TextBox 15"/>
          <p:cNvSpPr/>
          <p:nvPr/>
        </p:nvSpPr>
        <p:spPr>
          <a:xfrm>
            <a:off x="6876360" y="2084760"/>
            <a:ext cx="3126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"uvx"  </a:t>
            </a:r>
            <a:r>
              <a:rPr lang="zh-CN" sz="15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또는  </a:t>
            </a:r>
            <a:r>
              <a:rPr lang="en-US" sz="15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"uv"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16"/>
          <p:cNvSpPr/>
          <p:nvPr/>
        </p:nvSpPr>
        <p:spPr>
          <a:xfrm>
            <a:off x="6656760" y="2670120"/>
            <a:ext cx="4626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파이썬으로 만든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17"/>
          <p:cNvSpPr/>
          <p:nvPr/>
        </p:nvSpPr>
        <p:spPr>
          <a:xfrm>
            <a:off x="6656760" y="3072240"/>
            <a:ext cx="46263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2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uv </a:t>
            </a:r>
            <a:r>
              <a:rPr lang="zh-CN" sz="2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가 반드시 필요합니다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18"/>
          <p:cNvSpPr/>
          <p:nvPr/>
        </p:nvSpPr>
        <p:spPr>
          <a:xfrm>
            <a:off x="6656760" y="3712320"/>
            <a:ext cx="462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한글 문서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워드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공공데이터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MCP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가 여기에 해당합니다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19"/>
          <p:cNvSpPr/>
          <p:nvPr/>
        </p:nvSpPr>
        <p:spPr>
          <a:xfrm>
            <a:off x="567000" y="484632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uv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는 파이썬 프로그램을 대신 받아서 실행해 주는 도구입니다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 npx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가 자바스크립트에서 하는 일을 파이썬에서 합니다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Rounded Rectangle 20"/>
          <p:cNvSpPr/>
          <p:nvPr/>
        </p:nvSpPr>
        <p:spPr>
          <a:xfrm>
            <a:off x="567000" y="5230440"/>
            <a:ext cx="11063880" cy="9140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TextBox 21"/>
          <p:cNvSpPr/>
          <p:nvPr/>
        </p:nvSpPr>
        <p:spPr>
          <a:xfrm>
            <a:off x="914400" y="5230440"/>
            <a:ext cx="10423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설정 파일을 아무리 잘 붙여넣어도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,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이 둘이 없으면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Claude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는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MCP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를 하나도 띄우지 못합니다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설정 파일을 넣기 전에 먼저 깔아야 합니다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22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출처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docs.astral.sh/uv · nodejs.org (2026-08-07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확인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23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03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사전 준비 프로그램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22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uv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설치는 한 줄이면 끝납니다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PowerShell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에서 실행합니다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5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분이면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Oval 3"/>
          <p:cNvSpPr/>
          <p:nvPr/>
        </p:nvSpPr>
        <p:spPr>
          <a:xfrm>
            <a:off x="658440" y="1874520"/>
            <a:ext cx="328680" cy="328680"/>
          </a:xfrm>
          <a:prstGeom prst="ellipse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TextBox 4"/>
          <p:cNvSpPr/>
          <p:nvPr/>
        </p:nvSpPr>
        <p:spPr>
          <a:xfrm>
            <a:off x="658440" y="1874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5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1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5"/>
          <p:cNvSpPr/>
          <p:nvPr/>
        </p:nvSpPr>
        <p:spPr>
          <a:xfrm>
            <a:off x="1152000" y="18288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시작 메뉴에  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powershell 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을 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Oval 6"/>
          <p:cNvSpPr/>
          <p:nvPr/>
        </p:nvSpPr>
        <p:spPr>
          <a:xfrm>
            <a:off x="658440" y="2441520"/>
            <a:ext cx="328680" cy="328680"/>
          </a:xfrm>
          <a:prstGeom prst="ellipse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TextBox 7"/>
          <p:cNvSpPr/>
          <p:nvPr/>
        </p:nvSpPr>
        <p:spPr>
          <a:xfrm>
            <a:off x="658440" y="2441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5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2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8"/>
          <p:cNvSpPr/>
          <p:nvPr/>
        </p:nvSpPr>
        <p:spPr>
          <a:xfrm>
            <a:off x="1152000" y="23958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Windows PowerShell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을 엽니다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Oval 9"/>
          <p:cNvSpPr/>
          <p:nvPr/>
        </p:nvSpPr>
        <p:spPr>
          <a:xfrm>
            <a:off x="658440" y="3008520"/>
            <a:ext cx="328680" cy="328680"/>
          </a:xfrm>
          <a:prstGeom prst="ellipse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658440" y="3008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5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3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11"/>
          <p:cNvSpPr/>
          <p:nvPr/>
        </p:nvSpPr>
        <p:spPr>
          <a:xfrm>
            <a:off x="1152000" y="296280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아래 한 줄을 복사해 붙여넣고 엔터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Oval 12"/>
          <p:cNvSpPr/>
          <p:nvPr/>
        </p:nvSpPr>
        <p:spPr>
          <a:xfrm>
            <a:off x="658440" y="3575160"/>
            <a:ext cx="328680" cy="328680"/>
          </a:xfrm>
          <a:prstGeom prst="ellipse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658440" y="3575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5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4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14"/>
          <p:cNvSpPr/>
          <p:nvPr/>
        </p:nvSpPr>
        <p:spPr>
          <a:xfrm>
            <a:off x="1152000" y="3529440"/>
            <a:ext cx="50288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설치가 끝나면 창을 닫고 새로 엽니다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658440" y="4224600"/>
            <a:ext cx="5357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창에 이렇게 떠 있으면 제대로 연 것입니다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Rounded Rectangle 16"/>
          <p:cNvSpPr/>
          <p:nvPr/>
        </p:nvSpPr>
        <p:spPr>
          <a:xfrm>
            <a:off x="658440" y="4590360"/>
            <a:ext cx="5357880" cy="4568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TextBox 17"/>
          <p:cNvSpPr/>
          <p:nvPr/>
        </p:nvSpPr>
        <p:spPr>
          <a:xfrm>
            <a:off x="877680" y="4590360"/>
            <a:ext cx="4919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PS C:\Users\</a:t>
            </a:r>
            <a:r>
              <a:rPr lang="zh-CN" sz="15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내이름</a:t>
            </a:r>
            <a:r>
              <a:rPr lang="en-US" sz="15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&gt;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Box 18"/>
          <p:cNvSpPr/>
          <p:nvPr/>
        </p:nvSpPr>
        <p:spPr>
          <a:xfrm>
            <a:off x="6492240" y="1874520"/>
            <a:ext cx="513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붙여넣을 한 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Rounded Rectangle 19"/>
          <p:cNvSpPr/>
          <p:nvPr/>
        </p:nvSpPr>
        <p:spPr>
          <a:xfrm>
            <a:off x="6492240" y="2240280"/>
            <a:ext cx="5138640" cy="5666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1" name="TextBox 20"/>
          <p:cNvSpPr/>
          <p:nvPr/>
        </p:nvSpPr>
        <p:spPr>
          <a:xfrm>
            <a:off x="6711840" y="2240280"/>
            <a:ext cx="4699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irm https://astral.sh/uv/install.ps1 | iex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Box 21"/>
          <p:cNvSpPr/>
          <p:nvPr/>
        </p:nvSpPr>
        <p:spPr>
          <a:xfrm>
            <a:off x="6492240" y="3063240"/>
            <a:ext cx="51386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새 창에서 설치 확인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Rounded Rectangle 22"/>
          <p:cNvSpPr/>
          <p:nvPr/>
        </p:nvSpPr>
        <p:spPr>
          <a:xfrm>
            <a:off x="6492240" y="3429000"/>
            <a:ext cx="5138640" cy="4568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Box 23"/>
          <p:cNvSpPr/>
          <p:nvPr/>
        </p:nvSpPr>
        <p:spPr>
          <a:xfrm>
            <a:off x="6711840" y="3429000"/>
            <a:ext cx="469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node -v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Rounded Rectangle 24"/>
          <p:cNvSpPr/>
          <p:nvPr/>
        </p:nvSpPr>
        <p:spPr>
          <a:xfrm>
            <a:off x="6492240" y="3996000"/>
            <a:ext cx="5138640" cy="4568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6" name="TextBox 25"/>
          <p:cNvSpPr/>
          <p:nvPr/>
        </p:nvSpPr>
        <p:spPr>
          <a:xfrm>
            <a:off x="6711840" y="3996000"/>
            <a:ext cx="469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uv --version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Box 26"/>
          <p:cNvSpPr/>
          <p:nvPr/>
        </p:nvSpPr>
        <p:spPr>
          <a:xfrm>
            <a:off x="6492240" y="4590360"/>
            <a:ext cx="5138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v22.20.0 · uv 0.12.2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처럼 버전 번호가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나오면 성공입니다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Rounded Rectangle 27"/>
          <p:cNvSpPr/>
          <p:nvPr/>
        </p:nvSpPr>
        <p:spPr>
          <a:xfrm>
            <a:off x="567000" y="5230440"/>
            <a:ext cx="11063880" cy="6854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Box 28"/>
          <p:cNvSpPr/>
          <p:nvPr/>
        </p:nvSpPr>
        <p:spPr>
          <a:xfrm>
            <a:off x="914400" y="5230440"/>
            <a:ext cx="10423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명령어는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GitHub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자료의 복사 버튼을 쓰세요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손으로 옮겨 적으면 따옴표 하나에서 막힙니다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29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출처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docs.astral.sh/uv/getting-started/installation (2026-08-07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직접 조회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Box 30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03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사전 준비 프로그램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23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설치가 안 될 때 나오는 세 가지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셋 다 고장이 아닙니다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대처법이 정해져 있습니다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ounded Rectangle 3"/>
          <p:cNvSpPr/>
          <p:nvPr/>
        </p:nvSpPr>
        <p:spPr>
          <a:xfrm>
            <a:off x="567000" y="1874520"/>
            <a:ext cx="3529080" cy="324576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TextBox 4"/>
          <p:cNvSpPr/>
          <p:nvPr/>
        </p:nvSpPr>
        <p:spPr>
          <a:xfrm>
            <a:off x="859680" y="2148840"/>
            <a:ext cx="294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uv </a:t>
            </a: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를 찾을 수 없습니다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5"/>
          <p:cNvSpPr/>
          <p:nvPr/>
        </p:nvSpPr>
        <p:spPr>
          <a:xfrm>
            <a:off x="859680" y="2816280"/>
            <a:ext cx="2944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왜 그런가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6"/>
          <p:cNvSpPr/>
          <p:nvPr/>
        </p:nvSpPr>
        <p:spPr>
          <a:xfrm>
            <a:off x="859680" y="3163680"/>
            <a:ext cx="294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설치는 됐는데 열려 있던 창이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예전 경로를 기억하고 있는 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Box 7"/>
          <p:cNvSpPr/>
          <p:nvPr/>
        </p:nvSpPr>
        <p:spPr>
          <a:xfrm>
            <a:off x="859680" y="3913560"/>
            <a:ext cx="2944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이렇게 하세요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8"/>
          <p:cNvSpPr/>
          <p:nvPr/>
        </p:nvSpPr>
        <p:spPr>
          <a:xfrm>
            <a:off x="859680" y="4260960"/>
            <a:ext cx="29440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창을 닫고 새로 엽니다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그래도 안 되면 컴퓨터를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다시 시작합니다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Rounded Rectangle 9"/>
          <p:cNvSpPr/>
          <p:nvPr/>
        </p:nvSpPr>
        <p:spPr>
          <a:xfrm>
            <a:off x="4334400" y="1874520"/>
            <a:ext cx="3529080" cy="324576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Box 10"/>
          <p:cNvSpPr/>
          <p:nvPr/>
        </p:nvSpPr>
        <p:spPr>
          <a:xfrm>
            <a:off x="4626720" y="2148840"/>
            <a:ext cx="294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다른 프로세스에서 사용 중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1"/>
          <p:cNvSpPr/>
          <p:nvPr/>
        </p:nvSpPr>
        <p:spPr>
          <a:xfrm>
            <a:off x="4626720" y="2816280"/>
            <a:ext cx="2944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왜 그런가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2"/>
          <p:cNvSpPr/>
          <p:nvPr/>
        </p:nvSpPr>
        <p:spPr>
          <a:xfrm>
            <a:off x="4626720" y="3163680"/>
            <a:ext cx="294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이미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uv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가 깔려 있고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Claude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가 그 파일을 쓰는 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3"/>
          <p:cNvSpPr/>
          <p:nvPr/>
        </p:nvSpPr>
        <p:spPr>
          <a:xfrm>
            <a:off x="4626720" y="3913560"/>
            <a:ext cx="2944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이렇게 하세요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4"/>
          <p:cNvSpPr/>
          <p:nvPr/>
        </p:nvSpPr>
        <p:spPr>
          <a:xfrm>
            <a:off x="4626720" y="4260960"/>
            <a:ext cx="29440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그대로 두셔도 됩니다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이미 깔린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uv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정상 작동합니다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Rounded Rectangle 15"/>
          <p:cNvSpPr/>
          <p:nvPr/>
        </p:nvSpPr>
        <p:spPr>
          <a:xfrm>
            <a:off x="8101440" y="1874520"/>
            <a:ext cx="3529080" cy="324576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Box 16"/>
          <p:cNvSpPr/>
          <p:nvPr/>
        </p:nvSpPr>
        <p:spPr>
          <a:xfrm>
            <a:off x="8394120" y="2148840"/>
            <a:ext cx="294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&gt;&gt; </a:t>
            </a: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만 계속 나옵니다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7"/>
          <p:cNvSpPr/>
          <p:nvPr/>
        </p:nvSpPr>
        <p:spPr>
          <a:xfrm>
            <a:off x="8394120" y="2816280"/>
            <a:ext cx="2944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왜 그런가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18"/>
          <p:cNvSpPr/>
          <p:nvPr/>
        </p:nvSpPr>
        <p:spPr>
          <a:xfrm>
            <a:off x="8394120" y="3163680"/>
            <a:ext cx="294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명령어를 중간까지만 붙여넣어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PowerShell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이 나머지를 기다림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Box 19"/>
          <p:cNvSpPr/>
          <p:nvPr/>
        </p:nvSpPr>
        <p:spPr>
          <a:xfrm>
            <a:off x="8394120" y="3913560"/>
            <a:ext cx="29440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이렇게 하세요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20"/>
          <p:cNvSpPr/>
          <p:nvPr/>
        </p:nvSpPr>
        <p:spPr>
          <a:xfrm>
            <a:off x="8394120" y="4260960"/>
            <a:ext cx="29440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Ctrl + C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로 빠져나온 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처음부터 끝까지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다시 붙여넣습니다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Rounded Rectangle 21"/>
          <p:cNvSpPr/>
          <p:nvPr/>
        </p:nvSpPr>
        <p:spPr>
          <a:xfrm>
            <a:off x="567000" y="5376600"/>
            <a:ext cx="11063880" cy="77688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3" name="TextBox 22"/>
          <p:cNvSpPr/>
          <p:nvPr/>
        </p:nvSpPr>
        <p:spPr>
          <a:xfrm>
            <a:off x="914400" y="5376600"/>
            <a:ext cx="10423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Node.js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나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uv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를 새로 깔았다면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Claude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데스크탑을 완전 종료했다 켜야 합니다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트레이 아이콘까지 종료하세요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23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출처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docs.astral.sh/uv (2026-08-07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확인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 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증상은 윈도우 버전에 따라 문구가 다를 수 있습니다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24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03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사전 준비 프로그램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24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설치 자료는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GitHub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에 올려두었습니다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외우지 마세요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필요할 때 열어서 복사하면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Box 3"/>
          <p:cNvSpPr/>
          <p:nvPr/>
        </p:nvSpPr>
        <p:spPr>
          <a:xfrm>
            <a:off x="567000" y="1874520"/>
            <a:ext cx="11063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주소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Rounded Rectangle 4"/>
          <p:cNvSpPr/>
          <p:nvPr/>
        </p:nvSpPr>
        <p:spPr>
          <a:xfrm>
            <a:off x="567000" y="2240280"/>
            <a:ext cx="11063880" cy="5666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0" name="TextBox 5"/>
          <p:cNvSpPr/>
          <p:nvPr/>
        </p:nvSpPr>
        <p:spPr>
          <a:xfrm>
            <a:off x="786240" y="2240280"/>
            <a:ext cx="10625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github.com/dgkim3333-hash/claude-guide-kr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Rounded Rectangle 6"/>
          <p:cNvSpPr/>
          <p:nvPr/>
        </p:nvSpPr>
        <p:spPr>
          <a:xfrm>
            <a:off x="567000" y="3063240"/>
            <a:ext cx="11063880" cy="603000"/>
          </a:xfrm>
          <a:prstGeom prst="roundRect">
            <a:avLst>
              <a:gd name="adj" fmla="val 1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2" name="TextBox 7"/>
          <p:cNvSpPr/>
          <p:nvPr/>
        </p:nvSpPr>
        <p:spPr>
          <a:xfrm>
            <a:off x="877680" y="3063240"/>
            <a:ext cx="4663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사전준비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_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설치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.md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8"/>
          <p:cNvSpPr/>
          <p:nvPr/>
        </p:nvSpPr>
        <p:spPr>
          <a:xfrm>
            <a:off x="5760720" y="3063240"/>
            <a:ext cx="55774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Node.js · uv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설치와 안 될 때 대처법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Rounded Rectangle 9"/>
          <p:cNvSpPr/>
          <p:nvPr/>
        </p:nvSpPr>
        <p:spPr>
          <a:xfrm>
            <a:off x="567000" y="3776400"/>
            <a:ext cx="11063880" cy="603000"/>
          </a:xfrm>
          <a:prstGeom prst="roundRect">
            <a:avLst>
              <a:gd name="adj" fmla="val 1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5" name="TextBox 10"/>
          <p:cNvSpPr/>
          <p:nvPr/>
        </p:nvSpPr>
        <p:spPr>
          <a:xfrm>
            <a:off x="877680" y="3776400"/>
            <a:ext cx="4663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claude_desktop_config_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실습용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.jsonc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11"/>
          <p:cNvSpPr/>
          <p:nvPr/>
        </p:nvSpPr>
        <p:spPr>
          <a:xfrm>
            <a:off x="5760720" y="3776400"/>
            <a:ext cx="55774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MCP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설정 파일 템플릿 — 넣는 위치와 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API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키 발급처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ounded Rectangle 12"/>
          <p:cNvSpPr/>
          <p:nvPr/>
        </p:nvSpPr>
        <p:spPr>
          <a:xfrm>
            <a:off x="567000" y="4489560"/>
            <a:ext cx="11063880" cy="603000"/>
          </a:xfrm>
          <a:prstGeom prst="roundRect">
            <a:avLst>
              <a:gd name="adj" fmla="val 1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Box 13"/>
          <p:cNvSpPr/>
          <p:nvPr/>
        </p:nvSpPr>
        <p:spPr>
          <a:xfrm>
            <a:off x="877680" y="4489560"/>
            <a:ext cx="4663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개인설정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_A · B · C .md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14"/>
          <p:cNvSpPr/>
          <p:nvPr/>
        </p:nvSpPr>
        <p:spPr>
          <a:xfrm>
            <a:off x="5760720" y="4489560"/>
            <a:ext cx="55774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내 관심 분야에 맞는 개인 설정 템플릿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Rounded Rectangle 15"/>
          <p:cNvSpPr/>
          <p:nvPr/>
        </p:nvSpPr>
        <p:spPr>
          <a:xfrm>
            <a:off x="567000" y="5285160"/>
            <a:ext cx="11063880" cy="77688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TextBox 16"/>
          <p:cNvSpPr/>
          <p:nvPr/>
        </p:nvSpPr>
        <p:spPr>
          <a:xfrm>
            <a:off x="914400" y="5285160"/>
            <a:ext cx="10423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명령어는 회색 상자 오른쪽 위 복사 버튼을 누르세요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한 글자도 빠지지 않습니다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17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자료는 계속 갱신됩니다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화면과 버전 번호는 시점에 따라 다를 수 있습니다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18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03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사전 준비 프로그램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25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04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SECTION 04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4"/>
          <p:cNvSpPr/>
          <p:nvPr/>
        </p:nvSpPr>
        <p:spPr>
          <a:xfrm>
            <a:off x="863640" y="2616120"/>
            <a:ext cx="692100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ko-KR" sz="44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회원가입과 커넥터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9" name="TextBox 6"/>
          <p:cNvSpPr/>
          <p:nvPr/>
        </p:nvSpPr>
        <p:spPr>
          <a:xfrm>
            <a:off x="863640" y="4114800"/>
            <a:ext cx="6921000" cy="176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ko-KR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오늘 꼭 가입할 네 곳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ko-KR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관심 분야에 따라 하나씩 더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ko-KR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커넥터 </a:t>
            </a:r>
            <a:r>
              <a:rPr lang="en-US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— 쓰던 서비스를 </a:t>
            </a:r>
            <a:r>
              <a:rPr lang="en-US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ko-KR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에 붙입니다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ko-KR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커넥터와 </a:t>
            </a:r>
            <a:r>
              <a:rPr lang="en-US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MCP, </a:t>
            </a:r>
            <a:r>
              <a:rPr lang="ko-KR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무엇이 다른가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ko-KR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대화창에 절대 넣으면 안 되는 것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ko-KR" sz="16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지침을 어디에 쓰면 어디에 적용되나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1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회원가입도 미리 해두세요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가입은 지금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데이터 키 신청은 나중에 함께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4" name="Table 0"/>
          <p:cNvGraphicFramePr/>
          <p:nvPr/>
        </p:nvGraphicFramePr>
        <p:xfrm>
          <a:off x="567000" y="1752480"/>
          <a:ext cx="11063880" cy="33300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2834640"/>
                <a:gridCol w="1280160"/>
              </a:tblGrid>
              <a:tr h="402120"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계정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왜 필요한가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사이트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비용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</a:tr>
              <a:tr h="402120"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Claude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오늘 이미 만들었습니다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claude.ai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~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120"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구글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로그인</a:t>
                      </a: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문서</a:t>
                      </a: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메일에 두루 씁니다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accounts.google.com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120"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★ GitHub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연결 도구를 내려받는 곳</a:t>
                      </a: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토큰 발급에도 필요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github.com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120"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★ 공공데이터포털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부동산 실거래가</a:t>
                      </a: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공매</a:t>
                      </a: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기업정보의 출처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data.go.kr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120"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★ Firecrawl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봇을 막는 웹사이트에서 자료를 가져옵니다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firecrawl.dev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~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120"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★ 한국투자증권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주식 시세</a:t>
                      </a: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·</a:t>
                      </a: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잔고를 </a:t>
                      </a: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Claude </a:t>
                      </a: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가 직접 조회합니다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apiportal.koreainvestment.com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120"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★ 카카오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PlayMCP </a:t>
                      </a:r>
                      <a:r>
                        <a:rPr lang="zh-CN" sz="14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도구함을 쓰려면 필요합니다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playmcp.kakao.com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6720" tIns="36360" rIns="126720" bIns="363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450" b="0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무료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126720" marT="36360" marB="36360">
                    <a:lnL w="9360">
                      <a:solidFill>
                        <a:srgbClr val="DCD4C9"/>
                      </a:solidFill>
                      <a:prstDash val="solid"/>
                    </a:lnL>
                    <a:lnR w="9360">
                      <a:solidFill>
                        <a:srgbClr val="DCD4C9"/>
                      </a:solidFill>
                      <a:prstDash val="solid"/>
                    </a:lnR>
                    <a:lnT w="9360">
                      <a:solidFill>
                        <a:srgbClr val="DCD4C9"/>
                      </a:solidFill>
                      <a:prstDash val="solid"/>
                    </a:lnT>
                    <a:lnB w="936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5" name="Shape 2"/>
          <p:cNvSpPr/>
          <p:nvPr/>
        </p:nvSpPr>
        <p:spPr>
          <a:xfrm>
            <a:off x="567000" y="5079960"/>
            <a:ext cx="11063880" cy="1015560"/>
          </a:xfrm>
          <a:prstGeom prst="roundRect">
            <a:avLst>
              <a:gd name="adj" fmla="val 4615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3"/>
          <p:cNvSpPr/>
          <p:nvPr/>
        </p:nvSpPr>
        <p:spPr>
          <a:xfrm>
            <a:off x="914400" y="5207040"/>
            <a:ext cx="10423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★ 표시된 다섯 곳은 오늘 꼭 가입하고 오세요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4"/>
          <p:cNvSpPr/>
          <p:nvPr/>
        </p:nvSpPr>
        <p:spPr>
          <a:xfrm>
            <a:off x="914400" y="5587920"/>
            <a:ext cx="1042380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가입까지만 하시면 됩니다</a:t>
            </a: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카카오는 </a:t>
            </a: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PlayMCP </a:t>
            </a: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로그인에 씁니다</a:t>
            </a: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키를 어디에 넣을지는 </a:t>
            </a: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붙일 때 함께 정합니다</a:t>
            </a: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가입이 아예 필요 없는 것도 많습니다 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유튜브 자막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웹 브라우저 자동화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문서 변환 등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 · 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data.go.kr · firecrawl.dev · apiportal.koreainvestment.com (2026-08-07 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3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04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회원가입과 커넥터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27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관심 분야에 따라 하나씩만 더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본인 트랙에 해당하는 것만 하시면 됩니다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둘 다면 둘 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2"/>
          <p:cNvSpPr/>
          <p:nvPr/>
        </p:nvSpPr>
        <p:spPr>
          <a:xfrm>
            <a:off x="567000" y="1874520"/>
            <a:ext cx="5394600" cy="3108600"/>
          </a:xfrm>
          <a:prstGeom prst="roundRect">
            <a:avLst>
              <a:gd name="adj" fmla="val 1765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3" name="Text 3"/>
          <p:cNvSpPr/>
          <p:nvPr/>
        </p:nvSpPr>
        <p:spPr>
          <a:xfrm>
            <a:off x="914400" y="2103120"/>
            <a:ext cx="4663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pc="201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주식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4"/>
          <p:cNvSpPr/>
          <p:nvPr/>
        </p:nvSpPr>
        <p:spPr>
          <a:xfrm>
            <a:off x="914400" y="25146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OpenDART</a:t>
            </a:r>
            <a:endParaRPr lang="en-US" sz="2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"/>
          <p:cNvSpPr/>
          <p:nvPr/>
        </p:nvSpPr>
        <p:spPr>
          <a:xfrm>
            <a:off x="914400" y="301752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E2DBD1"/>
                </a:solidFill>
                <a:effectLst/>
                <a:uFillTx/>
                <a:latin typeface="맑은 고딕"/>
                <a:ea typeface="맑은 고딕"/>
              </a:rPr>
              <a:t>기업 공시와 재무제표를 원문으로 봅니다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6"/>
          <p:cNvSpPr/>
          <p:nvPr/>
        </p:nvSpPr>
        <p:spPr>
          <a:xfrm>
            <a:off x="914400" y="3429000"/>
            <a:ext cx="3108600" cy="438480"/>
          </a:xfrm>
          <a:prstGeom prst="roundRect">
            <a:avLst>
              <a:gd name="adj" fmla="val 8333"/>
            </a:avLst>
          </a:prstGeom>
          <a:solidFill>
            <a:srgbClr val="24211D"/>
          </a:solidFill>
          <a:ln w="635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7" name="Text 7"/>
          <p:cNvSpPr/>
          <p:nvPr/>
        </p:nvSpPr>
        <p:spPr>
          <a:xfrm>
            <a:off x="1078920" y="3429000"/>
            <a:ext cx="27795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2E9E1"/>
                </a:solidFill>
                <a:effectLst/>
                <a:uFillTx/>
                <a:latin typeface="Consolas"/>
                <a:ea typeface="Consolas"/>
              </a:rPr>
              <a:t>opendart.fss.or.kr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8"/>
          <p:cNvSpPr/>
          <p:nvPr/>
        </p:nvSpPr>
        <p:spPr>
          <a:xfrm>
            <a:off x="914400" y="3977640"/>
            <a:ext cx="46630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이메일과 비밀번호만 있으면 됩니다</a:t>
            </a: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본인인증 없이 신청 즉시 발급됩니다</a:t>
            </a: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한 사람당 키는 하나입니다</a:t>
            </a: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9"/>
          <p:cNvSpPr/>
          <p:nvPr/>
        </p:nvSpPr>
        <p:spPr>
          <a:xfrm>
            <a:off x="6236280" y="1874520"/>
            <a:ext cx="5394600" cy="3108600"/>
          </a:xfrm>
          <a:prstGeom prst="roundRect">
            <a:avLst>
              <a:gd name="adj" fmla="val 1471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Text 10"/>
          <p:cNvSpPr/>
          <p:nvPr/>
        </p:nvSpPr>
        <p:spPr>
          <a:xfrm>
            <a:off x="6583680" y="2103120"/>
            <a:ext cx="4663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pc="201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경매 </a:t>
            </a:r>
            <a:r>
              <a:rPr lang="en-US" sz="1800" b="1" u="none" spc="201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800" b="1" u="none" spc="201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공매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1"/>
          <p:cNvSpPr/>
          <p:nvPr/>
        </p:nvSpPr>
        <p:spPr>
          <a:xfrm>
            <a:off x="6583680" y="248724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3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국가법령정보</a:t>
            </a:r>
            <a:endParaRPr lang="en-US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12"/>
          <p:cNvSpPr/>
          <p:nvPr/>
        </p:nvSpPr>
        <p:spPr>
          <a:xfrm>
            <a:off x="6583680" y="2907720"/>
            <a:ext cx="4663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법령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판례 원문 조회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13"/>
          <p:cNvSpPr/>
          <p:nvPr/>
        </p:nvSpPr>
        <p:spPr>
          <a:xfrm>
            <a:off x="6583680" y="3246120"/>
            <a:ext cx="2742840" cy="383760"/>
          </a:xfrm>
          <a:prstGeom prst="roundRect">
            <a:avLst>
              <a:gd name="adj" fmla="val 9524"/>
            </a:avLst>
          </a:prstGeom>
          <a:solidFill>
            <a:srgbClr val="24211D"/>
          </a:solidFill>
          <a:ln w="635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Text 14"/>
          <p:cNvSpPr/>
          <p:nvPr/>
        </p:nvSpPr>
        <p:spPr>
          <a:xfrm>
            <a:off x="6748200" y="3246120"/>
            <a:ext cx="2413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2E9E1"/>
                </a:solidFill>
                <a:effectLst/>
                <a:uFillTx/>
                <a:latin typeface="Consolas"/>
                <a:ea typeface="Consolas"/>
              </a:rPr>
              <a:t>open.law.go.kr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15"/>
          <p:cNvSpPr/>
          <p:nvPr/>
        </p:nvSpPr>
        <p:spPr>
          <a:xfrm>
            <a:off x="6583680" y="3767400"/>
            <a:ext cx="4663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V-World</a:t>
            </a:r>
            <a:endParaRPr lang="en-US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6"/>
          <p:cNvSpPr/>
          <p:nvPr/>
        </p:nvSpPr>
        <p:spPr>
          <a:xfrm>
            <a:off x="6583680" y="4187880"/>
            <a:ext cx="4663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토지이용계획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지적도  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선택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7"/>
          <p:cNvSpPr/>
          <p:nvPr/>
        </p:nvSpPr>
        <p:spPr>
          <a:xfrm>
            <a:off x="6583680" y="4507920"/>
            <a:ext cx="2742840" cy="383760"/>
          </a:xfrm>
          <a:prstGeom prst="roundRect">
            <a:avLst>
              <a:gd name="adj" fmla="val 9524"/>
            </a:avLst>
          </a:prstGeom>
          <a:solidFill>
            <a:srgbClr val="24211D"/>
          </a:solidFill>
          <a:ln w="635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Text 18"/>
          <p:cNvSpPr/>
          <p:nvPr/>
        </p:nvSpPr>
        <p:spPr>
          <a:xfrm>
            <a:off x="6748200" y="4507920"/>
            <a:ext cx="2413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2E9E1"/>
                </a:solidFill>
                <a:effectLst/>
                <a:uFillTx/>
                <a:latin typeface="Consolas"/>
                <a:ea typeface="Consolas"/>
              </a:rPr>
              <a:t>vworld.kr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19"/>
          <p:cNvSpPr/>
          <p:nvPr/>
        </p:nvSpPr>
        <p:spPr>
          <a:xfrm>
            <a:off x="567000" y="5166360"/>
            <a:ext cx="11063880" cy="914040"/>
          </a:xfrm>
          <a:prstGeom prst="roundRect">
            <a:avLst>
              <a:gd name="adj" fmla="val 5000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0" name="Text 20"/>
          <p:cNvSpPr/>
          <p:nvPr/>
        </p:nvSpPr>
        <p:spPr>
          <a:xfrm>
            <a:off x="914400" y="5166360"/>
            <a:ext cx="10423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지금 하지 마세요 — 네이버 검색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API (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신규 신청 중단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)   ·  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한국투자증권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API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는 증권 계좌가 있어야 신청됩니다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21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opendart.fss.or.kr · open.law.go.kr · vworld.kr (2026-08-06 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 · 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네이버 신규 신청 중단은 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developers.naver.com </a:t>
            </a:r>
            <a:r>
              <a:rPr lang="zh-CN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공지 </a:t>
            </a:r>
            <a:r>
              <a:rPr lang="en-US" sz="13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32530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Box 23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04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회원가입과 커넥터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28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커넥터 — 내가 쓰던 서비스를 붙입니다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지메일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구글 드라이브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노션처럼 이미 쓰고 계신 것들을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에 연결합니다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2"/>
          <p:cNvSpPr/>
          <p:nvPr/>
        </p:nvSpPr>
        <p:spPr>
          <a:xfrm>
            <a:off x="567000" y="1874520"/>
            <a:ext cx="6766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연결하면 이런 부탁이 됩니다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3"/>
          <p:cNvSpPr/>
          <p:nvPr/>
        </p:nvSpPr>
        <p:spPr>
          <a:xfrm>
            <a:off x="567000" y="2395800"/>
            <a:ext cx="6766200" cy="529920"/>
          </a:xfrm>
          <a:prstGeom prst="roundRect">
            <a:avLst>
              <a:gd name="adj" fmla="val 48276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4"/>
          <p:cNvSpPr/>
          <p:nvPr/>
        </p:nvSpPr>
        <p:spPr>
          <a:xfrm>
            <a:off x="877680" y="2395800"/>
            <a:ext cx="6309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“지난주 은행에서 온 메일 찾아서 요약해줘”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5"/>
          <p:cNvSpPr/>
          <p:nvPr/>
        </p:nvSpPr>
        <p:spPr>
          <a:xfrm>
            <a:off x="567000" y="3054240"/>
            <a:ext cx="6766200" cy="529920"/>
          </a:xfrm>
          <a:prstGeom prst="roundRect">
            <a:avLst>
              <a:gd name="adj" fmla="val 48276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9" name="Text 6"/>
          <p:cNvSpPr/>
          <p:nvPr/>
        </p:nvSpPr>
        <p:spPr>
          <a:xfrm>
            <a:off x="877680" y="3054240"/>
            <a:ext cx="6309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“드라이브에 있는 계약서에서 위험한 조항 뽑아줘”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7"/>
          <p:cNvSpPr/>
          <p:nvPr/>
        </p:nvSpPr>
        <p:spPr>
          <a:xfrm>
            <a:off x="567000" y="3712320"/>
            <a:ext cx="6766200" cy="529920"/>
          </a:xfrm>
          <a:prstGeom prst="roundRect">
            <a:avLst>
              <a:gd name="adj" fmla="val 48276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8"/>
          <p:cNvSpPr/>
          <p:nvPr/>
        </p:nvSpPr>
        <p:spPr>
          <a:xfrm>
            <a:off x="877680" y="3712320"/>
            <a:ext cx="6309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“이 내용 정리해서 노션에 새 페이지로 만들어줘”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9"/>
          <p:cNvSpPr/>
          <p:nvPr/>
        </p:nvSpPr>
        <p:spPr>
          <a:xfrm>
            <a:off x="567000" y="4498920"/>
            <a:ext cx="6766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파일을 일일이 찾아서 올릴 필요가 없어집니다</a:t>
            </a:r>
            <a:r>
              <a:rPr lang="en-US" sz="1700" b="0" i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10"/>
          <p:cNvSpPr/>
          <p:nvPr/>
        </p:nvSpPr>
        <p:spPr>
          <a:xfrm>
            <a:off x="7635240" y="1874520"/>
            <a:ext cx="3995640" cy="3748680"/>
          </a:xfrm>
          <a:prstGeom prst="roundRect">
            <a:avLst>
              <a:gd name="adj" fmla="val 1463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Text 11"/>
          <p:cNvSpPr/>
          <p:nvPr/>
        </p:nvSpPr>
        <p:spPr>
          <a:xfrm>
            <a:off x="7955280" y="2148840"/>
            <a:ext cx="3382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안심하셔도 되는 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2"/>
          <p:cNvSpPr/>
          <p:nvPr/>
        </p:nvSpPr>
        <p:spPr>
          <a:xfrm>
            <a:off x="7955280" y="2651760"/>
            <a:ext cx="3382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zh-CN" sz="19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내가 볼 수 없는 것은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9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도 볼 수 없습니다</a:t>
            </a: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13"/>
          <p:cNvSpPr/>
          <p:nvPr/>
        </p:nvSpPr>
        <p:spPr>
          <a:xfrm>
            <a:off x="7955280" y="3657600"/>
            <a:ext cx="338292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는 내 권한을 그대로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물려받습니다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회사 드라이브에서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내가 못 여는 폴더는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도 못 엽니다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주고받는 자료는 모두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암호화됩니다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14"/>
          <p:cNvSpPr/>
          <p:nvPr/>
        </p:nvSpPr>
        <p:spPr>
          <a:xfrm>
            <a:off x="567000" y="5074920"/>
            <a:ext cx="6766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무료 플랜에서도 커넥터는 쓸 수 있습니다</a:t>
            </a:r>
            <a:r>
              <a:rPr lang="en-US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5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support.claude.com/en/articles/11176164 (2026-08-06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 — “Web connectors are available for all users”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17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04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회원가입과 커넥터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29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연결 방식은 두 가지입니다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헷갈리기 쉬운데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구분은 간단합니다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2"/>
          <p:cNvSpPr/>
          <p:nvPr/>
        </p:nvSpPr>
        <p:spPr>
          <a:xfrm>
            <a:off x="567000" y="1874520"/>
            <a:ext cx="5394600" cy="3657240"/>
          </a:xfrm>
          <a:prstGeom prst="roundRect">
            <a:avLst>
              <a:gd name="adj" fmla="val 1500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3" name="Text 3"/>
          <p:cNvSpPr/>
          <p:nvPr/>
        </p:nvSpPr>
        <p:spPr>
          <a:xfrm>
            <a:off x="914400" y="214884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5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커넥터  </a:t>
            </a:r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zh-CN" sz="25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웹</a:t>
            </a:r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4"/>
          <p:cNvSpPr/>
          <p:nvPr/>
        </p:nvSpPr>
        <p:spPr>
          <a:xfrm>
            <a:off x="914400" y="265176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인터넷 너머에 있는 서비스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914400" y="3154680"/>
            <a:ext cx="46630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ts val="2299"/>
              </a:lnSpc>
              <a:spcAft>
                <a:spcPts val="799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지메일 </a:t>
            </a:r>
            <a:r>
              <a:rPr lang="en-US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드라이브 </a:t>
            </a:r>
            <a:r>
              <a:rPr lang="en-US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노션 </a:t>
            </a:r>
            <a:r>
              <a:rPr lang="en-US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깃허브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299"/>
              </a:lnSpc>
              <a:spcAft>
                <a:spcPts val="799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설치할 것이 없다</a:t>
            </a:r>
            <a:r>
              <a:rPr lang="en-US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로그인만 하면 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299"/>
              </a:lnSpc>
              <a:spcAft>
                <a:spcPts val="799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휴대폰</a:t>
            </a:r>
            <a:r>
              <a:rPr lang="en-US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웹</a:t>
            </a:r>
            <a:r>
              <a:rPr lang="en-US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앱 어디서나 그대로 쓰인다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299"/>
              </a:lnSpc>
              <a:spcAft>
                <a:spcPts val="799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오늘 바로 해볼 수 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6236280" y="1874520"/>
            <a:ext cx="5394600" cy="3657240"/>
          </a:xfrm>
          <a:prstGeom prst="roundRect">
            <a:avLst>
              <a:gd name="adj" fmla="val 1250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7"/>
          <p:cNvSpPr/>
          <p:nvPr/>
        </p:nvSpPr>
        <p:spPr>
          <a:xfrm>
            <a:off x="6583680" y="214884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3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확장 프로그램  </a:t>
            </a:r>
            <a:r>
              <a:rPr lang="en-US" sz="23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zh-CN" sz="23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 컴퓨터</a:t>
            </a:r>
            <a:r>
              <a:rPr lang="en-US" sz="23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8"/>
          <p:cNvSpPr/>
          <p:nvPr/>
        </p:nvSpPr>
        <p:spPr>
          <a:xfrm>
            <a:off x="6583680" y="265176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내 컴퓨터 안에서 도는 것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9"/>
          <p:cNvSpPr/>
          <p:nvPr/>
        </p:nvSpPr>
        <p:spPr>
          <a:xfrm>
            <a:off x="6583680" y="3154680"/>
            <a:ext cx="46630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 폴더의 파일 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 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PC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의 프로그램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파일을 받아서 설치해야 한다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데스크탑 앱에서만 쓸 수 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섹션에서 같이 합니다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10"/>
          <p:cNvSpPr/>
          <p:nvPr/>
        </p:nvSpPr>
        <p:spPr>
          <a:xfrm>
            <a:off x="567000" y="5669280"/>
            <a:ext cx="11063880" cy="502560"/>
          </a:xfrm>
          <a:prstGeom prst="roundRect">
            <a:avLst>
              <a:gd name="adj" fmla="val 9091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1" name="Text 11"/>
          <p:cNvSpPr/>
          <p:nvPr/>
        </p:nvSpPr>
        <p:spPr>
          <a:xfrm>
            <a:off x="914400" y="566928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구분 기준 한 줄</a:t>
            </a: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:  </a:t>
            </a: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인터넷 너머에 있으면 커넥터</a:t>
            </a: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 컴퓨터 안에 있으면 확장 프로그램</a:t>
            </a: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2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support.claude.com/en/articles/11725091 (2026-08-06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Box 14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04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회원가입과 커넥터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30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커넥터 붙이는 법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로그인 한 번이면 끝납니다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2"/>
          <p:cNvSpPr/>
          <p:nvPr/>
        </p:nvSpPr>
        <p:spPr>
          <a:xfrm>
            <a:off x="658440" y="191124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3"/>
          <p:cNvSpPr/>
          <p:nvPr/>
        </p:nvSpPr>
        <p:spPr>
          <a:xfrm>
            <a:off x="658440" y="19112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4"/>
          <p:cNvSpPr/>
          <p:nvPr/>
        </p:nvSpPr>
        <p:spPr>
          <a:xfrm>
            <a:off x="1152000" y="1874520"/>
            <a:ext cx="5028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설정 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&gt;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커넥터 로 들어갑니다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5"/>
          <p:cNvSpPr/>
          <p:nvPr/>
        </p:nvSpPr>
        <p:spPr>
          <a:xfrm>
            <a:off x="658440" y="245988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0" name="Text 6"/>
          <p:cNvSpPr/>
          <p:nvPr/>
        </p:nvSpPr>
        <p:spPr>
          <a:xfrm>
            <a:off x="658440" y="24598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7"/>
          <p:cNvSpPr/>
          <p:nvPr/>
        </p:nvSpPr>
        <p:spPr>
          <a:xfrm>
            <a:off x="1152000" y="2423160"/>
            <a:ext cx="5028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쓰고 싶은 서비스를 찾아 연결 을 누릅니다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8"/>
          <p:cNvSpPr/>
          <p:nvPr/>
        </p:nvSpPr>
        <p:spPr>
          <a:xfrm>
            <a:off x="658440" y="300852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Text 9"/>
          <p:cNvSpPr/>
          <p:nvPr/>
        </p:nvSpPr>
        <p:spPr>
          <a:xfrm>
            <a:off x="658440" y="3008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10"/>
          <p:cNvSpPr/>
          <p:nvPr/>
        </p:nvSpPr>
        <p:spPr>
          <a:xfrm>
            <a:off x="1152000" y="2971800"/>
            <a:ext cx="5028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그 서비스 로그인 창이 뜹니다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11"/>
          <p:cNvSpPr/>
          <p:nvPr/>
        </p:nvSpPr>
        <p:spPr>
          <a:xfrm>
            <a:off x="658440" y="355716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6" name="Text 12"/>
          <p:cNvSpPr/>
          <p:nvPr/>
        </p:nvSpPr>
        <p:spPr>
          <a:xfrm>
            <a:off x="658440" y="355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3"/>
          <p:cNvSpPr/>
          <p:nvPr/>
        </p:nvSpPr>
        <p:spPr>
          <a:xfrm>
            <a:off x="1152000" y="3520440"/>
            <a:ext cx="5028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어떤 권한을 주는지 읽고 허용합니다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14"/>
          <p:cNvSpPr/>
          <p:nvPr/>
        </p:nvSpPr>
        <p:spPr>
          <a:xfrm>
            <a:off x="658440" y="4105800"/>
            <a:ext cx="328680" cy="328680"/>
          </a:xfrm>
          <a:prstGeom prst="ellipse">
            <a:avLst/>
          </a:prstGeom>
          <a:solidFill>
            <a:srgbClr val="F5F1EB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9" name="Text 15"/>
          <p:cNvSpPr/>
          <p:nvPr/>
        </p:nvSpPr>
        <p:spPr>
          <a:xfrm>
            <a:off x="658440" y="41058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16"/>
          <p:cNvSpPr/>
          <p:nvPr/>
        </p:nvSpPr>
        <p:spPr>
          <a:xfrm>
            <a:off x="1152000" y="4069080"/>
            <a:ext cx="5028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목록에 체크 표시가 뜨면 완료입니다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7"/>
          <p:cNvSpPr/>
          <p:nvPr/>
        </p:nvSpPr>
        <p:spPr>
          <a:xfrm>
            <a:off x="658440" y="470916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대화에서 켜고 끄기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18"/>
          <p:cNvSpPr/>
          <p:nvPr/>
        </p:nvSpPr>
        <p:spPr>
          <a:xfrm>
            <a:off x="658440" y="5074920"/>
            <a:ext cx="5577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대화창 왼쪽 아래  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+  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버튼 → 커넥터 → 쓸 것만 켜기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19"/>
          <p:cNvSpPr/>
          <p:nvPr/>
        </p:nvSpPr>
        <p:spPr>
          <a:xfrm>
            <a:off x="6675120" y="1874520"/>
            <a:ext cx="4955760" cy="3017160"/>
          </a:xfrm>
          <a:prstGeom prst="roundRect">
            <a:avLst>
              <a:gd name="adj" fmla="val 1818"/>
            </a:avLst>
          </a:prstGeom>
          <a:solidFill>
            <a:srgbClr val="F5F1EB"/>
          </a:solidFill>
          <a:ln w="15875">
            <a:solidFill>
              <a:srgbClr val="DCD4C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4" name="Text 20"/>
          <p:cNvSpPr/>
          <p:nvPr/>
        </p:nvSpPr>
        <p:spPr>
          <a:xfrm>
            <a:off x="6675120" y="1874520"/>
            <a:ext cx="495576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[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스크린샷 삽입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]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설정 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&gt;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커넥터 화면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001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연결 버튼과 체크 표시가 보이게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21"/>
          <p:cNvSpPr/>
          <p:nvPr/>
        </p:nvSpPr>
        <p:spPr>
          <a:xfrm>
            <a:off x="6675120" y="5029200"/>
            <a:ext cx="4955760" cy="914040"/>
          </a:xfrm>
          <a:prstGeom prst="roundRect">
            <a:avLst>
              <a:gd name="adj" fmla="val 5000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6" name="Text 22"/>
          <p:cNvSpPr/>
          <p:nvPr/>
        </p:nvSpPr>
        <p:spPr>
          <a:xfrm>
            <a:off x="6967800" y="5029200"/>
            <a:ext cx="43887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zh-CN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권한 화면을 그냥 넘기지 마세요</a:t>
            </a: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00"/>
              </a:lnSpc>
              <a:tabLst>
                <a:tab pos="0" algn="l"/>
              </a:tabLst>
            </a:pPr>
            <a:r>
              <a:rPr lang="zh-CN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안 쓰는 커넥터는 바로 해제하세요</a:t>
            </a: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23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support.claude.com/en/articles/11176164 (2026-08-06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 ·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버전에 따라 화면이 다를 수 있습니다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Box 25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04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회원가입과 커넥터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31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이것만은 넣지 마세요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대화창에 한 번 붙여넣으면 되돌릴 수 없습니다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2"/>
          <p:cNvSpPr/>
          <p:nvPr/>
        </p:nvSpPr>
        <p:spPr>
          <a:xfrm>
            <a:off x="567000" y="1874520"/>
            <a:ext cx="5394600" cy="3428640"/>
          </a:xfrm>
          <a:prstGeom prst="roundRect">
            <a:avLst>
              <a:gd name="adj" fmla="val 1600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2" name="Text 3"/>
          <p:cNvSpPr/>
          <p:nvPr/>
        </p:nvSpPr>
        <p:spPr>
          <a:xfrm>
            <a:off x="914400" y="2148840"/>
            <a:ext cx="4663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5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절대 넣지 마세요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4"/>
          <p:cNvSpPr/>
          <p:nvPr/>
        </p:nvSpPr>
        <p:spPr>
          <a:xfrm>
            <a:off x="914400" y="2651760"/>
            <a:ext cx="46630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ts val="2500"/>
              </a:lnSpc>
              <a:spcAft>
                <a:spcPts val="901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주민등록번호 </a:t>
            </a:r>
            <a:r>
              <a:rPr lang="en-US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계좌번호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500"/>
              </a:lnSpc>
              <a:spcAft>
                <a:spcPts val="901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비밀번호 </a:t>
            </a:r>
            <a:r>
              <a:rPr lang="en-US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인증서 </a:t>
            </a:r>
            <a:r>
              <a:rPr lang="en-US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 API </a:t>
            </a: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500"/>
              </a:lnSpc>
              <a:spcAft>
                <a:spcPts val="901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고객</a:t>
            </a:r>
            <a:r>
              <a:rPr lang="en-US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거래처</a:t>
            </a:r>
            <a:r>
              <a:rPr lang="en-US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채무자 실명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500"/>
              </a:lnSpc>
              <a:spcAft>
                <a:spcPts val="901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회사 기밀 </a:t>
            </a:r>
            <a:r>
              <a:rPr lang="en-US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미공개 계약 내용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500"/>
              </a:lnSpc>
              <a:spcAft>
                <a:spcPts val="901"/>
              </a:spcAft>
              <a:buClr>
                <a:srgbClr val="F6F1EA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설정 파일을 통째로 붙여넣기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5"/>
          <p:cNvSpPr/>
          <p:nvPr/>
        </p:nvSpPr>
        <p:spPr>
          <a:xfrm>
            <a:off x="6236280" y="1874520"/>
            <a:ext cx="5394600" cy="3428640"/>
          </a:xfrm>
          <a:prstGeom prst="roundRect">
            <a:avLst>
              <a:gd name="adj" fmla="val 1333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6"/>
          <p:cNvSpPr/>
          <p:nvPr/>
        </p:nvSpPr>
        <p:spPr>
          <a:xfrm>
            <a:off x="6583680" y="2148840"/>
            <a:ext cx="4663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이런 건 괜찮습니다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7"/>
          <p:cNvSpPr/>
          <p:nvPr/>
        </p:nvSpPr>
        <p:spPr>
          <a:xfrm>
            <a:off x="6583680" y="2651760"/>
            <a:ext cx="46630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 직업과 하는 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공개된 물건 정보 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공시 자료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이름을 지운 계약서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서류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숫자만 남긴 수익률 계산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공개된 법령 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판례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8"/>
          <p:cNvSpPr/>
          <p:nvPr/>
        </p:nvSpPr>
        <p:spPr>
          <a:xfrm>
            <a:off x="567000" y="5486400"/>
            <a:ext cx="11063880" cy="63972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8" name="Text 9"/>
          <p:cNvSpPr/>
          <p:nvPr/>
        </p:nvSpPr>
        <p:spPr>
          <a:xfrm>
            <a:off x="914400" y="54864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헷갈리면 이렇게 판단하세요 —  “이 내용을 모르는 사람에게 보여줘도 괜찮은가</a:t>
            </a:r>
            <a:r>
              <a:rPr lang="en-US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?”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10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개인정보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기밀 취급 원칙은 뒤에서 더 자세히 다룹니다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12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04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회원가입과 커넥터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32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Text 0"/>
          <p:cNvSpPr/>
          <p:nvPr/>
        </p:nvSpPr>
        <p:spPr>
          <a:xfrm>
            <a:off x="567000" y="320040"/>
            <a:ext cx="11063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4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어디에 쓴 지침이 어디에 적용되나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1"/>
          <p:cNvSpPr/>
          <p:nvPr/>
        </p:nvSpPr>
        <p:spPr>
          <a:xfrm>
            <a:off x="567000" y="932760"/>
            <a:ext cx="11063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같은 지침도 쓰는 위치에 따라 적용 범위가 다릅니다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3" name="Table 0"/>
          <p:cNvGraphicFramePr/>
          <p:nvPr/>
        </p:nvGraphicFramePr>
        <p:xfrm>
          <a:off x="567000" y="1481400"/>
          <a:ext cx="11063880" cy="4397760"/>
        </p:xfrm>
        <a:graphic>
          <a:graphicData uri="http://schemas.openxmlformats.org/drawingml/2006/table">
            <a:tbl>
              <a:tblPr/>
              <a:tblGrid>
                <a:gridCol w="2057400"/>
                <a:gridCol w="3703320"/>
                <a:gridCol w="1691640"/>
                <a:gridCol w="1691640"/>
                <a:gridCol w="1920240"/>
              </a:tblGrid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무엇을</a:t>
                      </a:r>
                      <a:endParaRPr lang="en-US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어디에 쓰나</a:t>
                      </a:r>
                      <a:endParaRPr lang="en-US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채팅</a:t>
                      </a:r>
                      <a:endParaRPr lang="en-US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Cowork</a:t>
                      </a:r>
                      <a:endParaRPr lang="en-US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Claude Code</a:t>
                      </a:r>
                      <a:endParaRPr lang="en-US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개인 설정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설정 </a:t>
                      </a: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&gt; Instructions for Claude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?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7A7268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×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Cowork </a:t>
                      </a: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전역 지침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설정 </a:t>
                      </a: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&gt; Cowork &gt; Global instructions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7A7268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×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7A7268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×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폴더 지침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폴더 선택 시 </a:t>
                      </a: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(Folder instructions)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7A7268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×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7A7268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×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프로젝트 지침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프로젝트 </a:t>
                      </a: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&gt; Instructions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7A7268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×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프로젝트 지식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프로젝트에 파일 업로드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7A7268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×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CLAUDE.md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디스크의 파일 </a:t>
                      </a: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(Claude Code </a:t>
                      </a: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전용</a:t>
                      </a: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)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7A7268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×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?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스킬 </a:t>
                      </a: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(SKILL.md)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Customize &gt; Skills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플러그인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Customize &gt; Plugins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원격 커넥터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Customize &gt; Connectors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00" b="0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구독 로그인 시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로컬 </a:t>
                      </a: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MCP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claude_desktop_config.json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00" b="0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데스크탑만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00" b="0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로컬 세션만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Code </a:t>
                      </a:r>
                      <a:r>
                        <a:rPr lang="zh-CN" sz="1200" b="0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탭만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확장 프로그램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설정 </a:t>
                      </a: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&gt; </a:t>
                      </a: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확장 프로그램 </a:t>
                      </a:r>
                      <a:r>
                        <a:rPr lang="en-US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(.mcpb)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00" b="0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데스크탑만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?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38040"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메모리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5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자동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○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00" b="0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프로젝트만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18000" rIns="101520" bIns="18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CN" sz="1200" b="0" u="none" strike="noStrike">
                          <a:solidFill>
                            <a:srgbClr val="A8462A"/>
                          </a:solidFill>
                          <a:effectLst/>
                          <a:uFillTx/>
                          <a:latin typeface="맑은 고딕"/>
                          <a:ea typeface="맑은 고딕"/>
                        </a:rPr>
                        <a:t>별개 시스템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18000" marB="18000">
                    <a:lnL w="7200">
                      <a:solidFill>
                        <a:srgbClr val="DCD4C9"/>
                      </a:solidFill>
                      <a:prstDash val="solid"/>
                    </a:lnL>
                    <a:lnR w="7200">
                      <a:solidFill>
                        <a:srgbClr val="DCD4C9"/>
                      </a:solidFill>
                      <a:prstDash val="solid"/>
                    </a:lnR>
                    <a:lnT w="7200">
                      <a:solidFill>
                        <a:srgbClr val="DCD4C9"/>
                      </a:solidFill>
                      <a:prstDash val="solid"/>
                    </a:lnT>
                    <a:lnB w="7200">
                      <a:solidFill>
                        <a:srgbClr val="DCD4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4" name="Text 2"/>
          <p:cNvSpPr/>
          <p:nvPr/>
        </p:nvSpPr>
        <p:spPr>
          <a:xfrm>
            <a:off x="567000" y="5970960"/>
            <a:ext cx="5668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○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된다      </a:t>
            </a:r>
            <a:r>
              <a:rPr lang="en-US" sz="1550" b="0" u="none" strike="noStrike">
                <a:solidFill>
                  <a:srgbClr val="7A7268"/>
                </a:solidFill>
                <a:effectLst/>
                <a:uFillTx/>
                <a:latin typeface="맑은 고딕"/>
                <a:ea typeface="맑은 고딕"/>
              </a:rPr>
              <a:t>×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안 된다      </a:t>
            </a:r>
            <a:r>
              <a:rPr lang="en-US" sz="15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?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공식 문서에 명시 없음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3"/>
          <p:cNvSpPr/>
          <p:nvPr/>
        </p:nvSpPr>
        <p:spPr>
          <a:xfrm>
            <a:off x="6492240" y="5897880"/>
            <a:ext cx="5138640" cy="45684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Text 4"/>
          <p:cNvSpPr/>
          <p:nvPr/>
        </p:nvSpPr>
        <p:spPr>
          <a:xfrm>
            <a:off x="6720840" y="597096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넓게 적용하려면 위쪽</a:t>
            </a:r>
            <a:r>
              <a:rPr lang="en-US" sz="14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좁게 적용하려면 아래쪽에 씁니다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5"/>
          <p:cNvSpPr/>
          <p:nvPr/>
        </p:nvSpPr>
        <p:spPr>
          <a:xfrm>
            <a:off x="567000" y="632772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1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1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support.claude.com (10185728 · 13345190 · 14479288 · 11817273) · code.claude.com/docs (memory · skills · desktop) — 2026-08-06 </a:t>
            </a:r>
            <a:r>
              <a:rPr lang="zh-CN" sz="11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직접 조회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Box 3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04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회원가입과 커넥터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33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05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SECTION 05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Box 4"/>
          <p:cNvSpPr/>
          <p:nvPr/>
        </p:nvSpPr>
        <p:spPr>
          <a:xfrm>
            <a:off x="863640" y="2616120"/>
            <a:ext cx="692100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ko-KR" sz="44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API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Box 6"/>
          <p:cNvSpPr/>
          <p:nvPr/>
        </p:nvSpPr>
        <p:spPr>
          <a:xfrm>
            <a:off x="863640" y="4114800"/>
            <a:ext cx="6921000" cy="15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는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AI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를 위한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USB-C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포트입니다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붙이는 길은 두 가지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그리고 대가가 있습니다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API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키는 신분증이자 계량기입니다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는 통로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, API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는 열쇠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6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MCP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는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AI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를 위한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USB-C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포트입니다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MCP(Model Context Protocol,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외부 프로그램 연결 규격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2"/>
          <p:cNvSpPr/>
          <p:nvPr/>
        </p:nvSpPr>
        <p:spPr>
          <a:xfrm>
            <a:off x="567000" y="1664280"/>
            <a:ext cx="11063880" cy="968760"/>
          </a:xfrm>
          <a:prstGeom prst="roundRect">
            <a:avLst>
              <a:gd name="adj" fmla="val 4717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3"/>
          <p:cNvSpPr/>
          <p:nvPr/>
        </p:nvSpPr>
        <p:spPr>
          <a:xfrm>
            <a:off x="868680" y="1664280"/>
            <a:ext cx="10515240" cy="96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노트북에 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USB-C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구멍 하나면 </a:t>
            </a: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모니터도 키보드도 충전기도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 꽂힙니다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구멍 규격이 하나로 정해져 있으니까요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MCP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 하는 일이 그것입니다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4"/>
          <p:cNvSpPr/>
          <p:nvPr/>
        </p:nvSpPr>
        <p:spPr>
          <a:xfrm>
            <a:off x="567000" y="2999160"/>
            <a:ext cx="2422800" cy="14810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5"/>
          <p:cNvSpPr/>
          <p:nvPr/>
        </p:nvSpPr>
        <p:spPr>
          <a:xfrm>
            <a:off x="567000" y="314568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나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6"/>
          <p:cNvSpPr/>
          <p:nvPr/>
        </p:nvSpPr>
        <p:spPr>
          <a:xfrm>
            <a:off x="676800" y="3566160"/>
            <a:ext cx="22032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물어보고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시킵니다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7"/>
          <p:cNvSpPr/>
          <p:nvPr/>
        </p:nvSpPr>
        <p:spPr>
          <a:xfrm>
            <a:off x="3072240" y="3593520"/>
            <a:ext cx="292320" cy="29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D4C9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5" name="Shape 8"/>
          <p:cNvSpPr/>
          <p:nvPr/>
        </p:nvSpPr>
        <p:spPr>
          <a:xfrm>
            <a:off x="3447360" y="2999160"/>
            <a:ext cx="2422800" cy="14810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9"/>
          <p:cNvSpPr/>
          <p:nvPr/>
        </p:nvSpPr>
        <p:spPr>
          <a:xfrm>
            <a:off x="3447360" y="314568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10"/>
          <p:cNvSpPr/>
          <p:nvPr/>
        </p:nvSpPr>
        <p:spPr>
          <a:xfrm>
            <a:off x="3557160" y="3566160"/>
            <a:ext cx="22032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말은 하지만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혼자서는 못 만집니다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11"/>
          <p:cNvSpPr/>
          <p:nvPr/>
        </p:nvSpPr>
        <p:spPr>
          <a:xfrm>
            <a:off x="5952600" y="3593520"/>
            <a:ext cx="292320" cy="29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D4C9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9" name="Shape 12"/>
          <p:cNvSpPr/>
          <p:nvPr/>
        </p:nvSpPr>
        <p:spPr>
          <a:xfrm>
            <a:off x="6327720" y="2999160"/>
            <a:ext cx="2422800" cy="1481040"/>
          </a:xfrm>
          <a:prstGeom prst="roundRect">
            <a:avLst>
              <a:gd name="adj" fmla="val 3704"/>
            </a:avLst>
          </a:prstGeom>
          <a:solidFill>
            <a:srgbClr val="D97757"/>
          </a:solidFill>
          <a:ln w="12700">
            <a:solidFill>
              <a:srgbClr val="D977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0" name="Text 13"/>
          <p:cNvSpPr/>
          <p:nvPr/>
        </p:nvSpPr>
        <p:spPr>
          <a:xfrm>
            <a:off x="6327720" y="314568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MCP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14"/>
          <p:cNvSpPr/>
          <p:nvPr/>
        </p:nvSpPr>
        <p:spPr>
          <a:xfrm>
            <a:off x="6437520" y="3566160"/>
            <a:ext cx="22032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BEDE6"/>
                </a:solidFill>
                <a:effectLst/>
                <a:uFillTx/>
                <a:latin typeface="맑은 고딕"/>
                <a:ea typeface="맑은 고딕"/>
              </a:rPr>
              <a:t>표준 연결 규격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BEDE6"/>
                </a:solidFill>
                <a:effectLst/>
                <a:uFillTx/>
                <a:latin typeface="맑은 고딕"/>
                <a:ea typeface="맑은 고딕"/>
              </a:rPr>
              <a:t>= </a:t>
            </a:r>
            <a:r>
              <a:rPr lang="zh-CN" sz="1600" b="0" u="none" strike="noStrike">
                <a:solidFill>
                  <a:srgbClr val="FBEDE6"/>
                </a:solidFill>
                <a:effectLst/>
                <a:uFillTx/>
                <a:latin typeface="맑은 고딕"/>
                <a:ea typeface="맑은 고딕"/>
              </a:rPr>
              <a:t>손발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15"/>
          <p:cNvSpPr/>
          <p:nvPr/>
        </p:nvSpPr>
        <p:spPr>
          <a:xfrm>
            <a:off x="8832960" y="3593520"/>
            <a:ext cx="292320" cy="29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D4C9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3" name="Shape 16"/>
          <p:cNvSpPr/>
          <p:nvPr/>
        </p:nvSpPr>
        <p:spPr>
          <a:xfrm>
            <a:off x="9208080" y="2999160"/>
            <a:ext cx="2422800" cy="14810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Text 17"/>
          <p:cNvSpPr/>
          <p:nvPr/>
        </p:nvSpPr>
        <p:spPr>
          <a:xfrm>
            <a:off x="9208080" y="3145680"/>
            <a:ext cx="24228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바깥 세상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8"/>
          <p:cNvSpPr/>
          <p:nvPr/>
        </p:nvSpPr>
        <p:spPr>
          <a:xfrm>
            <a:off x="9317880" y="3566160"/>
            <a:ext cx="22032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내 파일 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검색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업무 도구 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데이터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19"/>
          <p:cNvSpPr/>
          <p:nvPr/>
        </p:nvSpPr>
        <p:spPr>
          <a:xfrm>
            <a:off x="567000" y="4864680"/>
            <a:ext cx="11063880" cy="658080"/>
          </a:xfrm>
          <a:prstGeom prst="roundRect">
            <a:avLst>
              <a:gd name="adj" fmla="val 6944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7" name="Text 20"/>
          <p:cNvSpPr/>
          <p:nvPr/>
        </p:nvSpPr>
        <p:spPr>
          <a:xfrm>
            <a:off x="868680" y="4864680"/>
            <a:ext cx="10515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MCP</a:t>
            </a:r>
            <a:r>
              <a:rPr lang="zh-CN" sz="175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를 안 붙이면 </a:t>
            </a:r>
            <a:r>
              <a:rPr lang="en-US" sz="175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r>
              <a:rPr lang="zh-CN" sz="175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는 </a:t>
            </a:r>
            <a:r>
              <a:rPr lang="zh-CN" sz="17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대화창 안에서만</a:t>
            </a:r>
            <a:r>
              <a:rPr lang="en-US" sz="175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 삽니다</a:t>
            </a:r>
            <a:r>
              <a:rPr lang="en-US" sz="175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75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붙이는 순간 내 파일과 바깥 서비스에 닿습니다</a:t>
            </a:r>
            <a:r>
              <a:rPr lang="en-US" sz="175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21"/>
          <p:cNvSpPr/>
          <p:nvPr/>
        </p:nvSpPr>
        <p:spPr>
          <a:xfrm>
            <a:off x="567000" y="56509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여기서 많이 막힙니다</a:t>
            </a:r>
            <a:r>
              <a:rPr lang="en-US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. MCP </a:t>
            </a:r>
            <a:r>
              <a:rPr lang="zh-CN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섹션에서 직접 붙여 봅니다</a:t>
            </a:r>
            <a:r>
              <a:rPr lang="en-US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22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modelcontextprotocol.io/docs/getting-started/intro — 2026-08-06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직접 조회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Box 24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05 · MCP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API          35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붙이는 길은 두 가지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그리고 대가가 있습니다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쉬운 길부터 시도하고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목록에 없을 때만 어려운 길로 갑니다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2"/>
          <p:cNvSpPr/>
          <p:nvPr/>
        </p:nvSpPr>
        <p:spPr>
          <a:xfrm>
            <a:off x="567000" y="1700640"/>
            <a:ext cx="5394600" cy="2486880"/>
          </a:xfrm>
          <a:prstGeom prst="roundRect">
            <a:avLst>
              <a:gd name="adj" fmla="val 1838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4" name="Shape 3"/>
          <p:cNvSpPr/>
          <p:nvPr/>
        </p:nvSpPr>
        <p:spPr>
          <a:xfrm>
            <a:off x="841320" y="1938600"/>
            <a:ext cx="456840" cy="456840"/>
          </a:xfrm>
          <a:prstGeom prst="ellipse">
            <a:avLst/>
          </a:prstGeom>
          <a:solidFill>
            <a:srgbClr val="D977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 4"/>
          <p:cNvSpPr/>
          <p:nvPr/>
        </p:nvSpPr>
        <p:spPr>
          <a:xfrm>
            <a:off x="841320" y="19386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5"/>
          <p:cNvSpPr/>
          <p:nvPr/>
        </p:nvSpPr>
        <p:spPr>
          <a:xfrm>
            <a:off x="1426320" y="1938600"/>
            <a:ext cx="4205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원클릭 설치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6"/>
          <p:cNvSpPr/>
          <p:nvPr/>
        </p:nvSpPr>
        <p:spPr>
          <a:xfrm>
            <a:off x="841320" y="2468880"/>
            <a:ext cx="4845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목록에 있는 것은 버튼 한 번으로 끝납니다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7"/>
          <p:cNvSpPr/>
          <p:nvPr/>
        </p:nvSpPr>
        <p:spPr>
          <a:xfrm>
            <a:off x="841320" y="2853000"/>
            <a:ext cx="4845960" cy="4568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 w="635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9" name="Text 8"/>
          <p:cNvSpPr/>
          <p:nvPr/>
        </p:nvSpPr>
        <p:spPr>
          <a:xfrm>
            <a:off x="1005840" y="2853000"/>
            <a:ext cx="45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F2E9E1"/>
                </a:solidFill>
                <a:effectLst/>
                <a:uFillTx/>
                <a:latin typeface="Consolas"/>
                <a:ea typeface="Consolas"/>
              </a:rPr>
              <a:t>설정 </a:t>
            </a:r>
            <a:r>
              <a:rPr lang="en-US" sz="1550" b="0" u="none" strike="noStrike">
                <a:solidFill>
                  <a:srgbClr val="F2E9E1"/>
                </a:solidFill>
                <a:effectLst/>
                <a:uFillTx/>
                <a:latin typeface="Consolas"/>
                <a:ea typeface="Consolas"/>
              </a:rPr>
              <a:t>&gt; Extensions &gt; Browse extensions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9"/>
          <p:cNvSpPr/>
          <p:nvPr/>
        </p:nvSpPr>
        <p:spPr>
          <a:xfrm>
            <a:off x="841320" y="3438000"/>
            <a:ext cx="48459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설치 후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API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키만 넣으면 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연결 확인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채팅창 하단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+ &gt; Connectors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10"/>
          <p:cNvSpPr/>
          <p:nvPr/>
        </p:nvSpPr>
        <p:spPr>
          <a:xfrm>
            <a:off x="6236280" y="1700640"/>
            <a:ext cx="5394600" cy="2486880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2" name="Shape 11"/>
          <p:cNvSpPr/>
          <p:nvPr/>
        </p:nvSpPr>
        <p:spPr>
          <a:xfrm>
            <a:off x="6510600" y="1938600"/>
            <a:ext cx="456840" cy="456840"/>
          </a:xfrm>
          <a:prstGeom prst="ellipse">
            <a:avLst/>
          </a:prstGeom>
          <a:solidFill>
            <a:srgbClr val="6E675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3" name="Text 12"/>
          <p:cNvSpPr/>
          <p:nvPr/>
        </p:nvSpPr>
        <p:spPr>
          <a:xfrm>
            <a:off x="6510600" y="19386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13"/>
          <p:cNvSpPr/>
          <p:nvPr/>
        </p:nvSpPr>
        <p:spPr>
          <a:xfrm>
            <a:off x="7095600" y="1938600"/>
            <a:ext cx="4205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1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설정 파일 직접 편집</a:t>
            </a:r>
            <a:endParaRPr lang="en-US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4"/>
          <p:cNvSpPr/>
          <p:nvPr/>
        </p:nvSpPr>
        <p:spPr>
          <a:xfrm>
            <a:off x="6510600" y="2468880"/>
            <a:ext cx="48459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목록에 없는 것만</a:t>
            </a:r>
            <a:r>
              <a:rPr lang="en-US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여기서 많이 막힙니다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15"/>
          <p:cNvSpPr/>
          <p:nvPr/>
        </p:nvSpPr>
        <p:spPr>
          <a:xfrm>
            <a:off x="6510600" y="2853000"/>
            <a:ext cx="4845960" cy="4568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 w="635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7" name="Text 16"/>
          <p:cNvSpPr/>
          <p:nvPr/>
        </p:nvSpPr>
        <p:spPr>
          <a:xfrm>
            <a:off x="6675120" y="2853000"/>
            <a:ext cx="451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2E9E1"/>
                </a:solidFill>
                <a:effectLst/>
                <a:uFillTx/>
                <a:latin typeface="Consolas"/>
                <a:ea typeface="Consolas"/>
              </a:rPr>
              <a:t>claude_desktop_config.json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7"/>
          <p:cNvSpPr/>
          <p:nvPr/>
        </p:nvSpPr>
        <p:spPr>
          <a:xfrm>
            <a:off x="6510600" y="3438000"/>
            <a:ext cx="48459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백업 → 편집 →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완전 종료 → 재실행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ts val="2401"/>
              </a:lnSpc>
              <a:spcAft>
                <a:spcPts val="799"/>
              </a:spcAft>
              <a:buClr>
                <a:srgbClr val="24211D"/>
              </a:buClr>
              <a:buFont typeface="Symbol" charset="2"/>
              <a:buChar char=""/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메모장 금지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한글이 깨집니다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Shape 18"/>
          <p:cNvSpPr/>
          <p:nvPr/>
        </p:nvSpPr>
        <p:spPr>
          <a:xfrm>
            <a:off x="567000" y="4443840"/>
            <a:ext cx="11063880" cy="1481040"/>
          </a:xfrm>
          <a:prstGeom prst="roundRect">
            <a:avLst>
              <a:gd name="adj" fmla="val 3704"/>
            </a:avLst>
          </a:prstGeom>
          <a:solidFill>
            <a:srgbClr val="FBF0EA"/>
          </a:solidFill>
          <a:ln w="15875">
            <a:solidFill>
              <a:srgbClr val="D977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0" name="Text 19"/>
          <p:cNvSpPr/>
          <p:nvPr/>
        </p:nvSpPr>
        <p:spPr>
          <a:xfrm>
            <a:off x="868680" y="4553640"/>
            <a:ext cx="10515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많이 붙일수록 느려지고 비싸집니다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20"/>
          <p:cNvSpPr/>
          <p:nvPr/>
        </p:nvSpPr>
        <p:spPr>
          <a:xfrm>
            <a:off x="868680" y="497448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299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붙인 도구의 설명서가 </a:t>
            </a:r>
            <a:r>
              <a:rPr lang="zh-CN" sz="17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대화를 시작하기도 전에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 자리를 차지합니다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99"/>
              </a:lnSpc>
              <a:tabLst>
                <a:tab pos="0" algn="l"/>
              </a:tabLst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실측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25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개를 붙여두니 첫 마디를 꺼내기 전에 이미 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335,000 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단위를 썼습니다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21"/>
          <p:cNvSpPr/>
          <p:nvPr/>
        </p:nvSpPr>
        <p:spPr>
          <a:xfrm>
            <a:off x="567000" y="6035040"/>
            <a:ext cx="11063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안 쓰는 것은 꺼두세요</a:t>
            </a:r>
            <a:r>
              <a:rPr lang="en-US" sz="16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6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필요할 때 다시 켜면 됩니다</a:t>
            </a:r>
            <a:r>
              <a:rPr lang="en-US" sz="16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22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실측 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2026-08-06 ·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붙인 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MCP 25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개 기준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도구 수에 따라 달라집니다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Box 24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05 · MCP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API          36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API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키는 신분증이자 계량기입니다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API(Application Programming Interface,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프로그램끼리 주고받는 창구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2"/>
          <p:cNvSpPr/>
          <p:nvPr/>
        </p:nvSpPr>
        <p:spPr>
          <a:xfrm>
            <a:off x="567000" y="1664280"/>
            <a:ext cx="11063880" cy="785880"/>
          </a:xfrm>
          <a:prstGeom prst="roundRect">
            <a:avLst>
              <a:gd name="adj" fmla="val 5814"/>
            </a:avLst>
          </a:prstGeom>
          <a:solidFill>
            <a:srgbClr val="F5F1EB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8" name="Text 3"/>
          <p:cNvSpPr/>
          <p:nvPr/>
        </p:nvSpPr>
        <p:spPr>
          <a:xfrm>
            <a:off x="868680" y="1664280"/>
            <a:ext cx="1051524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헬스장 회원카드와 같습니다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누구인지 확인하고</a:t>
            </a:r>
            <a:r>
              <a:rPr lang="en-US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얼마나 썼는지 셉니다</a:t>
            </a:r>
            <a:r>
              <a:rPr lang="en-US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4"/>
          <p:cNvSpPr/>
          <p:nvPr/>
        </p:nvSpPr>
        <p:spPr>
          <a:xfrm>
            <a:off x="567000" y="2797920"/>
            <a:ext cx="3200040" cy="1371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0" name="Text 5"/>
          <p:cNvSpPr/>
          <p:nvPr/>
        </p:nvSpPr>
        <p:spPr>
          <a:xfrm>
            <a:off x="567000" y="2944440"/>
            <a:ext cx="3200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 프로그램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6"/>
          <p:cNvSpPr/>
          <p:nvPr/>
        </p:nvSpPr>
        <p:spPr>
          <a:xfrm>
            <a:off x="676800" y="3346560"/>
            <a:ext cx="2980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요청을 보냅니다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7"/>
          <p:cNvSpPr/>
          <p:nvPr/>
        </p:nvSpPr>
        <p:spPr>
          <a:xfrm>
            <a:off x="3986640" y="3337560"/>
            <a:ext cx="292320" cy="29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D4C9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3" name="Shape 8"/>
          <p:cNvSpPr/>
          <p:nvPr/>
        </p:nvSpPr>
        <p:spPr>
          <a:xfrm>
            <a:off x="4498920" y="2797920"/>
            <a:ext cx="3200040" cy="1371240"/>
          </a:xfrm>
          <a:prstGeom prst="roundRect">
            <a:avLst>
              <a:gd name="adj" fmla="val 4000"/>
            </a:avLst>
          </a:prstGeom>
          <a:solidFill>
            <a:srgbClr val="D97757"/>
          </a:solidFill>
          <a:ln w="12700">
            <a:solidFill>
              <a:srgbClr val="D977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4" name="Text 9"/>
          <p:cNvSpPr/>
          <p:nvPr/>
        </p:nvSpPr>
        <p:spPr>
          <a:xfrm>
            <a:off x="4498920" y="2944440"/>
            <a:ext cx="3200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API </a:t>
            </a:r>
            <a:r>
              <a:rPr lang="zh-CN" sz="19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0"/>
          <p:cNvSpPr/>
          <p:nvPr/>
        </p:nvSpPr>
        <p:spPr>
          <a:xfrm>
            <a:off x="4608720" y="3346560"/>
            <a:ext cx="2980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BEDE6"/>
                </a:solidFill>
                <a:effectLst/>
                <a:uFillTx/>
                <a:latin typeface="맑은 고딕"/>
                <a:ea typeface="맑은 고딕"/>
              </a:rPr>
              <a:t>이 사람 맞나</a:t>
            </a:r>
            <a:r>
              <a:rPr lang="en-US" sz="1600" b="0" u="none" strike="noStrike">
                <a:solidFill>
                  <a:srgbClr val="FBEDE6"/>
                </a:solidFill>
                <a:effectLst/>
                <a:uFillTx/>
                <a:latin typeface="맑은 고딕"/>
                <a:ea typeface="맑은 고딕"/>
              </a:rPr>
              <a:t>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BEDE6"/>
                </a:solidFill>
                <a:effectLst/>
                <a:uFillTx/>
                <a:latin typeface="맑은 고딕"/>
                <a:ea typeface="맑은 고딕"/>
              </a:rPr>
              <a:t>얼마나 썼나</a:t>
            </a:r>
            <a:r>
              <a:rPr lang="en-US" sz="1600" b="0" u="none" strike="noStrike">
                <a:solidFill>
                  <a:srgbClr val="FBEDE6"/>
                </a:solidFill>
                <a:effectLst/>
                <a:uFillTx/>
                <a:latin typeface="맑은 고딕"/>
                <a:ea typeface="맑은 고딕"/>
              </a:rPr>
              <a:t>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11"/>
          <p:cNvSpPr/>
          <p:nvPr/>
        </p:nvSpPr>
        <p:spPr>
          <a:xfrm>
            <a:off x="7918560" y="3337560"/>
            <a:ext cx="292320" cy="29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D4C9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7" name="Shape 12"/>
          <p:cNvSpPr/>
          <p:nvPr/>
        </p:nvSpPr>
        <p:spPr>
          <a:xfrm>
            <a:off x="8430840" y="2797920"/>
            <a:ext cx="3200040" cy="1371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8" name="Text 13"/>
          <p:cNvSpPr/>
          <p:nvPr/>
        </p:nvSpPr>
        <p:spPr>
          <a:xfrm>
            <a:off x="8430840" y="2944440"/>
            <a:ext cx="32000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서비스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14"/>
          <p:cNvSpPr/>
          <p:nvPr/>
        </p:nvSpPr>
        <p:spPr>
          <a:xfrm>
            <a:off x="8540640" y="3346560"/>
            <a:ext cx="29804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데이터를 돌려주고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701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사용량을 기록합니다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Shape 15"/>
          <p:cNvSpPr/>
          <p:nvPr/>
        </p:nvSpPr>
        <p:spPr>
          <a:xfrm>
            <a:off x="567000" y="4425840"/>
            <a:ext cx="11063880" cy="1572480"/>
          </a:xfrm>
          <a:prstGeom prst="roundRect">
            <a:avLst>
              <a:gd name="adj" fmla="val 3488"/>
            </a:avLst>
          </a:prstGeom>
          <a:solidFill>
            <a:srgbClr val="24211D"/>
          </a:solidFill>
          <a:ln w="12700">
            <a:solidFill>
              <a:srgbClr val="24211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1" name="Text 16"/>
          <p:cNvSpPr/>
          <p:nvPr/>
        </p:nvSpPr>
        <p:spPr>
          <a:xfrm>
            <a:off x="868680" y="4535280"/>
            <a:ext cx="10515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키가 새면 남이 내 돈을 씁니다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17"/>
          <p:cNvSpPr/>
          <p:nvPr/>
        </p:nvSpPr>
        <p:spPr>
          <a:xfrm>
            <a:off x="868680" y="4974480"/>
            <a:ext cx="10515240" cy="85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299"/>
              </a:lnSpc>
              <a:tabLst>
                <a:tab pos="0" algn="l"/>
              </a:tabLst>
            </a:pPr>
            <a:r>
              <a:rPr lang="zh-CN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설정 파일을 통째로 대화창에 붙여넣지 마세요</a:t>
            </a: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70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안에 키가 평문으로 들어 있습니다</a:t>
            </a:r>
            <a:r>
              <a:rPr lang="en-US" sz="170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99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AI</a:t>
            </a:r>
            <a:r>
              <a:rPr lang="zh-CN" sz="170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가 그 내용을 </a:t>
            </a:r>
            <a:r>
              <a:rPr lang="zh-CN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화면에 다시 출력할 수 있습니다</a:t>
            </a: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r>
              <a:rPr lang="en-US" sz="170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 </a:t>
            </a:r>
            <a:r>
              <a:rPr lang="zh-CN" sz="170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실제로 일어난 사고입니다</a:t>
            </a:r>
            <a:r>
              <a:rPr lang="en-US" sz="1700" b="0" u="none" strike="noStrike">
                <a:solidFill>
                  <a:srgbClr val="F3EDE5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18"/>
          <p:cNvSpPr/>
          <p:nvPr/>
        </p:nvSpPr>
        <p:spPr>
          <a:xfrm>
            <a:off x="567000" y="6053400"/>
            <a:ext cx="11063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필요한 줄만 골라서 보여주고</a:t>
            </a:r>
            <a:r>
              <a:rPr lang="en-US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키 자리는 ○○○ 로 가리세요</a:t>
            </a:r>
            <a:r>
              <a:rPr lang="en-US" sz="165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Box 20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05 · MCP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API          37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Text 0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MCP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는 통로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API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는 열쇠입니다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1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"MCP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를 붙였는데 왜 또 키를 넣으라 하지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?"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에 대한 답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2"/>
          <p:cNvSpPr/>
          <p:nvPr/>
        </p:nvSpPr>
        <p:spPr>
          <a:xfrm>
            <a:off x="567000" y="1755720"/>
            <a:ext cx="11063880" cy="2139480"/>
          </a:xfrm>
          <a:prstGeom prst="roundRect">
            <a:avLst>
              <a:gd name="adj" fmla="val 2564"/>
            </a:avLst>
          </a:prstGeom>
          <a:solidFill>
            <a:srgbClr val="F5F1EB"/>
          </a:solidFill>
          <a:ln w="1587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8" name="Shape 3"/>
          <p:cNvSpPr/>
          <p:nvPr/>
        </p:nvSpPr>
        <p:spPr>
          <a:xfrm>
            <a:off x="914400" y="2322720"/>
            <a:ext cx="2651400" cy="10054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Text 4"/>
          <p:cNvSpPr/>
          <p:nvPr/>
        </p:nvSpPr>
        <p:spPr>
          <a:xfrm>
            <a:off x="914400" y="2322720"/>
            <a:ext cx="26514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Claude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5"/>
          <p:cNvSpPr/>
          <p:nvPr/>
        </p:nvSpPr>
        <p:spPr>
          <a:xfrm>
            <a:off x="4773240" y="2322720"/>
            <a:ext cx="2651400" cy="1005480"/>
          </a:xfrm>
          <a:prstGeom prst="roundRect">
            <a:avLst>
              <a:gd name="adj" fmla="val 5455"/>
            </a:avLst>
          </a:prstGeom>
          <a:solidFill>
            <a:srgbClr val="D97757"/>
          </a:solidFill>
          <a:ln w="12700">
            <a:solidFill>
              <a:srgbClr val="D977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6"/>
          <p:cNvSpPr/>
          <p:nvPr/>
        </p:nvSpPr>
        <p:spPr>
          <a:xfrm>
            <a:off x="4773240" y="243216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5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MCP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7"/>
          <p:cNvSpPr/>
          <p:nvPr/>
        </p:nvSpPr>
        <p:spPr>
          <a:xfrm>
            <a:off x="4773240" y="2816280"/>
            <a:ext cx="2651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BEDE6"/>
                </a:solidFill>
                <a:effectLst/>
                <a:uFillTx/>
                <a:latin typeface="맑은 고딕"/>
                <a:ea typeface="맑은 고딕"/>
              </a:rPr>
              <a:t>통로를 놓습니다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8"/>
          <p:cNvSpPr/>
          <p:nvPr/>
        </p:nvSpPr>
        <p:spPr>
          <a:xfrm>
            <a:off x="8632080" y="2322720"/>
            <a:ext cx="2651400" cy="10054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587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4" name="Text 9"/>
          <p:cNvSpPr/>
          <p:nvPr/>
        </p:nvSpPr>
        <p:spPr>
          <a:xfrm>
            <a:off x="8632080" y="2432160"/>
            <a:ext cx="2651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바깥 서비스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10"/>
          <p:cNvSpPr/>
          <p:nvPr/>
        </p:nvSpPr>
        <p:spPr>
          <a:xfrm>
            <a:off x="8632080" y="2816280"/>
            <a:ext cx="2651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증권사 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지도 </a:t>
            </a:r>
            <a:r>
              <a:rPr lang="en-US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5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검색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11"/>
          <p:cNvSpPr/>
          <p:nvPr/>
        </p:nvSpPr>
        <p:spPr>
          <a:xfrm>
            <a:off x="3712320" y="2679120"/>
            <a:ext cx="822600" cy="29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D4C9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7" name="Shape 12"/>
          <p:cNvSpPr/>
          <p:nvPr/>
        </p:nvSpPr>
        <p:spPr>
          <a:xfrm>
            <a:off x="7571160" y="2679120"/>
            <a:ext cx="822600" cy="29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CD4C9"/>
          </a:solidFill>
          <a:ln w="12700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8" name="Shape 13"/>
          <p:cNvSpPr/>
          <p:nvPr/>
        </p:nvSpPr>
        <p:spPr>
          <a:xfrm>
            <a:off x="7369920" y="3346560"/>
            <a:ext cx="1225080" cy="402120"/>
          </a:xfrm>
          <a:prstGeom prst="roundRect">
            <a:avLst>
              <a:gd name="adj" fmla="val 11364"/>
            </a:avLst>
          </a:prstGeom>
          <a:solidFill>
            <a:srgbClr val="A8462A"/>
          </a:solidFill>
          <a:ln w="12700">
            <a:solidFill>
              <a:srgbClr val="A846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9" name="Text 14"/>
          <p:cNvSpPr/>
          <p:nvPr/>
        </p:nvSpPr>
        <p:spPr>
          <a:xfrm>
            <a:off x="7369920" y="3346560"/>
            <a:ext cx="12250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API </a:t>
            </a:r>
            <a:r>
              <a:rPr lang="zh-CN" sz="1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5"/>
          <p:cNvSpPr/>
          <p:nvPr/>
        </p:nvSpPr>
        <p:spPr>
          <a:xfrm>
            <a:off x="6309360" y="1901880"/>
            <a:ext cx="4974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550" b="0" i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문 앞에서 신분 확인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6"/>
          <p:cNvSpPr/>
          <p:nvPr/>
        </p:nvSpPr>
        <p:spPr>
          <a:xfrm>
            <a:off x="567000" y="4060080"/>
            <a:ext cx="11063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MCP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를 붙여도 </a:t>
            </a:r>
            <a:r>
              <a:rPr lang="zh-CN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그 서비스가 요구하면 키는 따로 넣어야 합니다</a:t>
            </a:r>
            <a:r>
              <a:rPr lang="en-US" sz="1800" b="1" u="none" strike="noStrike">
                <a:solidFill>
                  <a:srgbClr val="A8462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 </a:t>
            </a: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통로와 열쇠는 다릅니다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17"/>
          <p:cNvSpPr/>
          <p:nvPr/>
        </p:nvSpPr>
        <p:spPr>
          <a:xfrm>
            <a:off x="567000" y="4590360"/>
            <a:ext cx="3529080" cy="1316520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3" name="Shape 18"/>
          <p:cNvSpPr/>
          <p:nvPr/>
        </p:nvSpPr>
        <p:spPr>
          <a:xfrm>
            <a:off x="768240" y="4773240"/>
            <a:ext cx="383760" cy="383760"/>
          </a:xfrm>
          <a:prstGeom prst="ellipse">
            <a:avLst/>
          </a:prstGeom>
          <a:solidFill>
            <a:srgbClr val="A846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4" name="Text 19"/>
          <p:cNvSpPr/>
          <p:nvPr/>
        </p:nvSpPr>
        <p:spPr>
          <a:xfrm>
            <a:off x="768240" y="47732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20"/>
          <p:cNvSpPr/>
          <p:nvPr/>
        </p:nvSpPr>
        <p:spPr>
          <a:xfrm>
            <a:off x="1243440" y="4773240"/>
            <a:ext cx="2669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대화창에 붙이지 않기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1"/>
          <p:cNvSpPr/>
          <p:nvPr/>
        </p:nvSpPr>
        <p:spPr>
          <a:xfrm>
            <a:off x="786240" y="5248800"/>
            <a:ext cx="3090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설정 파일 </a:t>
            </a:r>
            <a:r>
              <a:rPr lang="en-US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로그 전체를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그대로 넣지 마세요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Shape 22"/>
          <p:cNvSpPr/>
          <p:nvPr/>
        </p:nvSpPr>
        <p:spPr>
          <a:xfrm>
            <a:off x="4334400" y="4590360"/>
            <a:ext cx="3529080" cy="1316520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8" name="Shape 23"/>
          <p:cNvSpPr/>
          <p:nvPr/>
        </p:nvSpPr>
        <p:spPr>
          <a:xfrm>
            <a:off x="4535280" y="4773240"/>
            <a:ext cx="383760" cy="383760"/>
          </a:xfrm>
          <a:prstGeom prst="ellipse">
            <a:avLst/>
          </a:prstGeom>
          <a:solidFill>
            <a:srgbClr val="A846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9" name="Text 24"/>
          <p:cNvSpPr/>
          <p:nvPr/>
        </p:nvSpPr>
        <p:spPr>
          <a:xfrm>
            <a:off x="4535280" y="47732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5"/>
          <p:cNvSpPr/>
          <p:nvPr/>
        </p:nvSpPr>
        <p:spPr>
          <a:xfrm>
            <a:off x="5010840" y="4773240"/>
            <a:ext cx="2669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가리고 보여주기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26"/>
          <p:cNvSpPr/>
          <p:nvPr/>
        </p:nvSpPr>
        <p:spPr>
          <a:xfrm>
            <a:off x="4553640" y="5248800"/>
            <a:ext cx="3090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키 자리는 ○○○ 로 바꾸고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필요한 줄만 고르세요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Shape 27"/>
          <p:cNvSpPr/>
          <p:nvPr/>
        </p:nvSpPr>
        <p:spPr>
          <a:xfrm>
            <a:off x="8101440" y="4590360"/>
            <a:ext cx="3529080" cy="1316520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9525">
            <a:solidFill>
              <a:srgbClr val="DCD4C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3" name="Shape 28"/>
          <p:cNvSpPr/>
          <p:nvPr/>
        </p:nvSpPr>
        <p:spPr>
          <a:xfrm>
            <a:off x="8302680" y="4773240"/>
            <a:ext cx="383760" cy="383760"/>
          </a:xfrm>
          <a:prstGeom prst="ellipse">
            <a:avLst/>
          </a:prstGeom>
          <a:solidFill>
            <a:srgbClr val="A846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Text 29"/>
          <p:cNvSpPr/>
          <p:nvPr/>
        </p:nvSpPr>
        <p:spPr>
          <a:xfrm>
            <a:off x="8302680" y="47732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30"/>
          <p:cNvSpPr/>
          <p:nvPr/>
        </p:nvSpPr>
        <p:spPr>
          <a:xfrm>
            <a:off x="8778240" y="4773240"/>
            <a:ext cx="2669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75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새면 재발급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31"/>
          <p:cNvSpPr/>
          <p:nvPr/>
        </p:nvSpPr>
        <p:spPr>
          <a:xfrm>
            <a:off x="8321040" y="5248800"/>
            <a:ext cx="3090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지우는 걸로는 안 됩니다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서비스에서 새로 받으세요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32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키가 노출되면 대화 기록에도 남습니다</a:t>
            </a:r>
            <a:r>
              <a:rPr lang="en-US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400" b="0" i="1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지운다고 없던 일이 되지 않습니다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Box 34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05 · MCP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API          38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0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06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SECTION 06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Box 4"/>
          <p:cNvSpPr/>
          <p:nvPr/>
        </p:nvSpPr>
        <p:spPr>
          <a:xfrm>
            <a:off x="863640" y="2616120"/>
            <a:ext cx="692100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ko-KR" sz="44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스킬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Box 6"/>
          <p:cNvSpPr/>
          <p:nvPr/>
        </p:nvSpPr>
        <p:spPr>
          <a:xfrm>
            <a:off x="863640" y="4114800"/>
            <a:ext cx="6921000" cy="152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스킬은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에게 주는 업무 매뉴얼입니다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같은 설명을 매번 다시 하지 않기 위해서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실물 예시 —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MCP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가 안 붙을 때 찾아주는 스킬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스킬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8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개를 파일 하나로 설치합니다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6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스킬은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Claude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에게 주는 업무 매뉴얼입니다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폴더 하나에 설명서 한 장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그 일이 생길 때만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Claude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가 꺼내 읽습니다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Rounded Rectangle 3"/>
          <p:cNvSpPr/>
          <p:nvPr/>
        </p:nvSpPr>
        <p:spPr>
          <a:xfrm>
            <a:off x="567000" y="1874520"/>
            <a:ext cx="3931560" cy="32914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0" name="TextBox 4"/>
          <p:cNvSpPr/>
          <p:nvPr/>
        </p:nvSpPr>
        <p:spPr>
          <a:xfrm>
            <a:off x="896040" y="2148840"/>
            <a:ext cx="3273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이렇게 생각하세요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Box 5"/>
          <p:cNvSpPr/>
          <p:nvPr/>
        </p:nvSpPr>
        <p:spPr>
          <a:xfrm>
            <a:off x="896040" y="2560320"/>
            <a:ext cx="32731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신입 직원에게 건네는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2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업무 매뉴얼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Box 6"/>
          <p:cNvSpPr/>
          <p:nvPr/>
        </p:nvSpPr>
        <p:spPr>
          <a:xfrm>
            <a:off x="896040" y="3520440"/>
            <a:ext cx="327312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평소에는 서랍에 꽂혀 있습니다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그 일이 생기면 꺼내서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적힌 절차대로 처리합니다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"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지난번에 어떻게 했더라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"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를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다시 설명할 필요가 없습니다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Box 7"/>
          <p:cNvSpPr/>
          <p:nvPr/>
        </p:nvSpPr>
        <p:spPr>
          <a:xfrm>
            <a:off x="4846320" y="1874520"/>
            <a:ext cx="678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Claude </a:t>
            </a: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가 스킬을 꺼내 보는 순서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Oval 8"/>
          <p:cNvSpPr/>
          <p:nvPr/>
        </p:nvSpPr>
        <p:spPr>
          <a:xfrm>
            <a:off x="4846320" y="2414160"/>
            <a:ext cx="365400" cy="3654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5" name="TextBox 9"/>
          <p:cNvSpPr/>
          <p:nvPr/>
        </p:nvSpPr>
        <p:spPr>
          <a:xfrm>
            <a:off x="4846320" y="24141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Box 10"/>
          <p:cNvSpPr/>
          <p:nvPr/>
        </p:nvSpPr>
        <p:spPr>
          <a:xfrm>
            <a:off x="5376600" y="2304360"/>
            <a:ext cx="1481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평소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Box 11"/>
          <p:cNvSpPr/>
          <p:nvPr/>
        </p:nvSpPr>
        <p:spPr>
          <a:xfrm>
            <a:off x="6912720" y="2304360"/>
            <a:ext cx="4717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제목과 설명 한 줄만 봅니다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Box 12"/>
          <p:cNvSpPr/>
          <p:nvPr/>
        </p:nvSpPr>
        <p:spPr>
          <a:xfrm>
            <a:off x="5376600" y="2651760"/>
            <a:ext cx="62542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스킬을 여러 개 넣어둬도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대화가 무거워지지 않습니다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Oval 13"/>
          <p:cNvSpPr/>
          <p:nvPr/>
        </p:nvSpPr>
        <p:spPr>
          <a:xfrm>
            <a:off x="4846320" y="3383280"/>
            <a:ext cx="365400" cy="3654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0" name="TextBox 14"/>
          <p:cNvSpPr/>
          <p:nvPr/>
        </p:nvSpPr>
        <p:spPr>
          <a:xfrm>
            <a:off x="4846320" y="3383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Box 15"/>
          <p:cNvSpPr/>
          <p:nvPr/>
        </p:nvSpPr>
        <p:spPr>
          <a:xfrm>
            <a:off x="5376600" y="3273480"/>
            <a:ext cx="1481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그 일이 생기면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Box 16"/>
          <p:cNvSpPr/>
          <p:nvPr/>
        </p:nvSpPr>
        <p:spPr>
          <a:xfrm>
            <a:off x="6912720" y="3273480"/>
            <a:ext cx="4717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설명서 본문을 펴서 읽습니다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Box 17"/>
          <p:cNvSpPr/>
          <p:nvPr/>
        </p:nvSpPr>
        <p:spPr>
          <a:xfrm>
            <a:off x="5376600" y="3620880"/>
            <a:ext cx="62542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내가 시키지 않아도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Claude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가 알아서 판단합니다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Oval 18"/>
          <p:cNvSpPr/>
          <p:nvPr/>
        </p:nvSpPr>
        <p:spPr>
          <a:xfrm>
            <a:off x="4846320" y="4352400"/>
            <a:ext cx="365400" cy="3654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5" name="TextBox 19"/>
          <p:cNvSpPr/>
          <p:nvPr/>
        </p:nvSpPr>
        <p:spPr>
          <a:xfrm>
            <a:off x="4846320" y="43524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Box 20"/>
          <p:cNvSpPr/>
          <p:nvPr/>
        </p:nvSpPr>
        <p:spPr>
          <a:xfrm>
            <a:off x="5376600" y="4242960"/>
            <a:ext cx="1481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더 필요하면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Box 21"/>
          <p:cNvSpPr/>
          <p:nvPr/>
        </p:nvSpPr>
        <p:spPr>
          <a:xfrm>
            <a:off x="6912720" y="4242960"/>
            <a:ext cx="47178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첨부된 자료</a:t>
            </a: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</a:t>
            </a: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양식까지 꺼냅니다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Box 22"/>
          <p:cNvSpPr/>
          <p:nvPr/>
        </p:nvSpPr>
        <p:spPr>
          <a:xfrm>
            <a:off x="5376600" y="4590360"/>
            <a:ext cx="62542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쓰지 않은 자료는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한 글자도 읽지 않습니다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Rounded Rectangle 23"/>
          <p:cNvSpPr/>
          <p:nvPr/>
        </p:nvSpPr>
        <p:spPr>
          <a:xfrm>
            <a:off x="567000" y="5321880"/>
            <a:ext cx="11063880" cy="82260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0" name="TextBox 24"/>
          <p:cNvSpPr/>
          <p:nvPr/>
        </p:nvSpPr>
        <p:spPr>
          <a:xfrm>
            <a:off x="914400" y="532188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스킬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=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폴더 하나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+ SKILL.md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한 장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 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맨 위에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"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무슨 일을 하는 스킬인지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,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언제 쓰는지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"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만 적으면 됩니다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Box 25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출처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platform.claude.com/docs/en/agents-and-tools/agent-skills/overview (2026-08-07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직접 조회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Box 26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06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스킬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40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왜 스킬을 써야 하나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같은 설명을 매번 다시 하지 않기 위해서입니다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Rounded Rectangle 3"/>
          <p:cNvSpPr/>
          <p:nvPr/>
        </p:nvSpPr>
        <p:spPr>
          <a:xfrm>
            <a:off x="567000" y="1874520"/>
            <a:ext cx="3529080" cy="278856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6" name="Oval 4"/>
          <p:cNvSpPr/>
          <p:nvPr/>
        </p:nvSpPr>
        <p:spPr>
          <a:xfrm>
            <a:off x="859680" y="2121480"/>
            <a:ext cx="383760" cy="3837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7" name="TextBox 5"/>
          <p:cNvSpPr/>
          <p:nvPr/>
        </p:nvSpPr>
        <p:spPr>
          <a:xfrm>
            <a:off x="859680" y="2121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Box 6"/>
          <p:cNvSpPr/>
          <p:nvPr/>
        </p:nvSpPr>
        <p:spPr>
          <a:xfrm>
            <a:off x="859680" y="2651760"/>
            <a:ext cx="294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매번 설명하지 않아도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Box 7"/>
          <p:cNvSpPr/>
          <p:nvPr/>
        </p:nvSpPr>
        <p:spPr>
          <a:xfrm>
            <a:off x="859680" y="3310200"/>
            <a:ext cx="294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한 번 만들어 두면 그 일이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생길 때마다 자동으로 꺼내 씁니다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Box 8"/>
          <p:cNvSpPr/>
          <p:nvPr/>
        </p:nvSpPr>
        <p:spPr>
          <a:xfrm>
            <a:off x="859680" y="4041720"/>
            <a:ext cx="29440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"</a:t>
            </a: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지난번처럼 해줘</a:t>
            </a:r>
            <a:r>
              <a:rPr lang="en-US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"</a:t>
            </a: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실제로 통합니다</a:t>
            </a:r>
            <a:r>
              <a:rPr lang="en-US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Rounded Rectangle 9"/>
          <p:cNvSpPr/>
          <p:nvPr/>
        </p:nvSpPr>
        <p:spPr>
          <a:xfrm>
            <a:off x="4334400" y="1874520"/>
            <a:ext cx="3529080" cy="278856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2" name="Oval 10"/>
          <p:cNvSpPr/>
          <p:nvPr/>
        </p:nvSpPr>
        <p:spPr>
          <a:xfrm>
            <a:off x="4626720" y="2121480"/>
            <a:ext cx="383760" cy="3837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3" name="TextBox 11"/>
          <p:cNvSpPr/>
          <p:nvPr/>
        </p:nvSpPr>
        <p:spPr>
          <a:xfrm>
            <a:off x="4626720" y="2121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Box 12"/>
          <p:cNvSpPr/>
          <p:nvPr/>
        </p:nvSpPr>
        <p:spPr>
          <a:xfrm>
            <a:off x="4626720" y="2651760"/>
            <a:ext cx="294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결과가 매번 같아집니다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Box 13"/>
          <p:cNvSpPr/>
          <p:nvPr/>
        </p:nvSpPr>
        <p:spPr>
          <a:xfrm>
            <a:off x="4626720" y="3310200"/>
            <a:ext cx="294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같은 절차와 같은 양식을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매번 그대로 밟습니다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Box 14"/>
          <p:cNvSpPr/>
          <p:nvPr/>
        </p:nvSpPr>
        <p:spPr>
          <a:xfrm>
            <a:off x="4626720" y="4041720"/>
            <a:ext cx="29440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오늘 한 것과 다음 달에 한 것이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같은 품질로 나옵니다</a:t>
            </a:r>
            <a:r>
              <a:rPr lang="en-US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Rounded Rectangle 15"/>
          <p:cNvSpPr/>
          <p:nvPr/>
        </p:nvSpPr>
        <p:spPr>
          <a:xfrm>
            <a:off x="8101440" y="1874520"/>
            <a:ext cx="3529080" cy="278856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8" name="Oval 16"/>
          <p:cNvSpPr/>
          <p:nvPr/>
        </p:nvSpPr>
        <p:spPr>
          <a:xfrm>
            <a:off x="8394120" y="2121480"/>
            <a:ext cx="383760" cy="38376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Box 17"/>
          <p:cNvSpPr/>
          <p:nvPr/>
        </p:nvSpPr>
        <p:spPr>
          <a:xfrm>
            <a:off x="8394120" y="2121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Box 18"/>
          <p:cNvSpPr/>
          <p:nvPr/>
        </p:nvSpPr>
        <p:spPr>
          <a:xfrm>
            <a:off x="8394120" y="2651760"/>
            <a:ext cx="2944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대화가 가벼워집니다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Box 19"/>
          <p:cNvSpPr/>
          <p:nvPr/>
        </p:nvSpPr>
        <p:spPr>
          <a:xfrm>
            <a:off x="8394120" y="3310200"/>
            <a:ext cx="2944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평소에는 제목과 설명 한 줄만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자리를 차지합니다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Box 20"/>
          <p:cNvSpPr/>
          <p:nvPr/>
        </p:nvSpPr>
        <p:spPr>
          <a:xfrm>
            <a:off x="8394120" y="4041720"/>
            <a:ext cx="29440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MCP </a:t>
            </a: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와 정반대입니다</a:t>
            </a:r>
            <a:r>
              <a:rPr lang="en-US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많이 넣어도 괜찮습니다</a:t>
            </a:r>
            <a:r>
              <a:rPr lang="en-US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Box 21"/>
          <p:cNvSpPr/>
          <p:nvPr/>
        </p:nvSpPr>
        <p:spPr>
          <a:xfrm>
            <a:off x="567000" y="480960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셋을 이렇게 구분하세요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Rounded Rectangle 22"/>
          <p:cNvSpPr/>
          <p:nvPr/>
        </p:nvSpPr>
        <p:spPr>
          <a:xfrm>
            <a:off x="567000" y="5175360"/>
            <a:ext cx="3529080" cy="566640"/>
          </a:xfrm>
          <a:prstGeom prst="roundRect">
            <a:avLst>
              <a:gd name="adj" fmla="val 14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Box 23"/>
          <p:cNvSpPr/>
          <p:nvPr/>
        </p:nvSpPr>
        <p:spPr>
          <a:xfrm>
            <a:off x="786240" y="5175360"/>
            <a:ext cx="1005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개인 설정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Box 24"/>
          <p:cNvSpPr/>
          <p:nvPr/>
        </p:nvSpPr>
        <p:spPr>
          <a:xfrm>
            <a:off x="1792080" y="5175360"/>
            <a:ext cx="2157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내가 누구인가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항상 읽습니다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Rounded Rectangle 25"/>
          <p:cNvSpPr/>
          <p:nvPr/>
        </p:nvSpPr>
        <p:spPr>
          <a:xfrm>
            <a:off x="4334400" y="5175360"/>
            <a:ext cx="3529080" cy="566640"/>
          </a:xfrm>
          <a:prstGeom prst="roundRect">
            <a:avLst>
              <a:gd name="adj" fmla="val 14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Box 26"/>
          <p:cNvSpPr/>
          <p:nvPr/>
        </p:nvSpPr>
        <p:spPr>
          <a:xfrm>
            <a:off x="4553640" y="5175360"/>
            <a:ext cx="1005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스킬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Box 27"/>
          <p:cNvSpPr/>
          <p:nvPr/>
        </p:nvSpPr>
        <p:spPr>
          <a:xfrm>
            <a:off x="5559480" y="5175360"/>
            <a:ext cx="2157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이 일을 어떻게 하는가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그 일이 생길 때만 읽습니다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Rounded Rectangle 28"/>
          <p:cNvSpPr/>
          <p:nvPr/>
        </p:nvSpPr>
        <p:spPr>
          <a:xfrm>
            <a:off x="8101440" y="5175360"/>
            <a:ext cx="3529080" cy="566640"/>
          </a:xfrm>
          <a:prstGeom prst="roundRect">
            <a:avLst>
              <a:gd name="adj" fmla="val 14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Box 29"/>
          <p:cNvSpPr/>
          <p:nvPr/>
        </p:nvSpPr>
        <p:spPr>
          <a:xfrm>
            <a:off x="8321040" y="5175360"/>
            <a:ext cx="1005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Box 30"/>
          <p:cNvSpPr/>
          <p:nvPr/>
        </p:nvSpPr>
        <p:spPr>
          <a:xfrm>
            <a:off x="9326880" y="5175360"/>
            <a:ext cx="2157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무엇을 만질 수 있는가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손과 발이 됩니다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Box 31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스킬은 신뢰할 수 있는 출처의 것만 쓰세요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출처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platform.claude.com/docs/en/agents-and-tools/agent-skills/overview (2026-08-07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직접 조회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Box 32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06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스킬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41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실물 예시 — 이 교육에서 쓸 스킬 하나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MCP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가 안 붙을 때 원인을 찾아주는 스킬입니다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Box 3"/>
          <p:cNvSpPr/>
          <p:nvPr/>
        </p:nvSpPr>
        <p:spPr>
          <a:xfrm>
            <a:off x="567000" y="1874520"/>
            <a:ext cx="5357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이 한마디면 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Rounded Rectangle 4"/>
          <p:cNvSpPr/>
          <p:nvPr/>
        </p:nvSpPr>
        <p:spPr>
          <a:xfrm>
            <a:off x="567000" y="2249280"/>
            <a:ext cx="5357880" cy="456840"/>
          </a:xfrm>
          <a:prstGeom prst="roundRect">
            <a:avLst>
              <a:gd name="adj" fmla="val 2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9" name="TextBox 5"/>
          <p:cNvSpPr/>
          <p:nvPr/>
        </p:nvSpPr>
        <p:spPr>
          <a:xfrm>
            <a:off x="877680" y="2249280"/>
            <a:ext cx="4736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“MCP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가 안 붙어요”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Rounded Rectangle 6"/>
          <p:cNvSpPr/>
          <p:nvPr/>
        </p:nvSpPr>
        <p:spPr>
          <a:xfrm>
            <a:off x="567000" y="2797920"/>
            <a:ext cx="5357880" cy="456840"/>
          </a:xfrm>
          <a:prstGeom prst="roundRect">
            <a:avLst>
              <a:gd name="adj" fmla="val 2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1" name="TextBox 7"/>
          <p:cNvSpPr/>
          <p:nvPr/>
        </p:nvSpPr>
        <p:spPr>
          <a:xfrm>
            <a:off x="877680" y="2797920"/>
            <a:ext cx="4736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“Server disconnected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떠요”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Rounded Rectangle 8"/>
          <p:cNvSpPr/>
          <p:nvPr/>
        </p:nvSpPr>
        <p:spPr>
          <a:xfrm>
            <a:off x="567000" y="3346560"/>
            <a:ext cx="5357880" cy="456840"/>
          </a:xfrm>
          <a:prstGeom prst="roundRect">
            <a:avLst>
              <a:gd name="adj" fmla="val 2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3" name="TextBox 9"/>
          <p:cNvSpPr/>
          <p:nvPr/>
        </p:nvSpPr>
        <p:spPr>
          <a:xfrm>
            <a:off x="877680" y="3346560"/>
            <a:ext cx="4736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“확장 프로그램 설치가 안 돼요”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Box 10"/>
          <p:cNvSpPr/>
          <p:nvPr/>
        </p:nvSpPr>
        <p:spPr>
          <a:xfrm>
            <a:off x="567000" y="3950280"/>
            <a:ext cx="5357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시키지 않아도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Claude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가 이 스킬을 알아서 꺼냅니다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Rounded Rectangle 11"/>
          <p:cNvSpPr/>
          <p:nvPr/>
        </p:nvSpPr>
        <p:spPr>
          <a:xfrm>
            <a:off x="567000" y="4316040"/>
            <a:ext cx="5357880" cy="822600"/>
          </a:xfrm>
          <a:prstGeom prst="roundRect">
            <a:avLst>
              <a:gd name="adj" fmla="val 12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6" name="TextBox 12"/>
          <p:cNvSpPr/>
          <p:nvPr/>
        </p:nvSpPr>
        <p:spPr>
          <a:xfrm>
            <a:off x="896040" y="4316040"/>
            <a:ext cx="4699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로그를 훑어 죽은 서버를 찾아내고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원인과 처방을 함께 알려줍니다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Box 13"/>
          <p:cNvSpPr/>
          <p:nvPr/>
        </p:nvSpPr>
        <p:spPr>
          <a:xfrm>
            <a:off x="6272640" y="1874520"/>
            <a:ext cx="5357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스킬 안에 든 것은 이게 전부입니다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Rounded Rectangle 14"/>
          <p:cNvSpPr/>
          <p:nvPr/>
        </p:nvSpPr>
        <p:spPr>
          <a:xfrm>
            <a:off x="6272640" y="2249280"/>
            <a:ext cx="5357880" cy="100548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9" name="TextBox 15"/>
          <p:cNvSpPr/>
          <p:nvPr/>
        </p:nvSpPr>
        <p:spPr>
          <a:xfrm>
            <a:off x="6546960" y="2249280"/>
            <a:ext cx="4809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mcp-health-check/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    SKILL.md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    references/error-patterns.md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Oval 16"/>
          <p:cNvSpPr/>
          <p:nvPr/>
        </p:nvSpPr>
        <p:spPr>
          <a:xfrm>
            <a:off x="6272640" y="3401640"/>
            <a:ext cx="310680" cy="310680"/>
          </a:xfrm>
          <a:prstGeom prst="ellipse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1" name="TextBox 17"/>
          <p:cNvSpPr/>
          <p:nvPr/>
        </p:nvSpPr>
        <p:spPr>
          <a:xfrm>
            <a:off x="6272640" y="340164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Box 18"/>
          <p:cNvSpPr/>
          <p:nvPr/>
        </p:nvSpPr>
        <p:spPr>
          <a:xfrm>
            <a:off x="6748200" y="3401640"/>
            <a:ext cx="4882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죽은 서버를 한 번에 훑습니다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Oval 19"/>
          <p:cNvSpPr/>
          <p:nvPr/>
        </p:nvSpPr>
        <p:spPr>
          <a:xfrm>
            <a:off x="6272640" y="3877200"/>
            <a:ext cx="310680" cy="310680"/>
          </a:xfrm>
          <a:prstGeom prst="ellipse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Box 20"/>
          <p:cNvSpPr/>
          <p:nvPr/>
        </p:nvSpPr>
        <p:spPr>
          <a:xfrm>
            <a:off x="6272640" y="38772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Box 21"/>
          <p:cNvSpPr/>
          <p:nvPr/>
        </p:nvSpPr>
        <p:spPr>
          <a:xfrm>
            <a:off x="6748200" y="3877200"/>
            <a:ext cx="4882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겪어 본 오류 문구와 대조합니다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Oval 22"/>
          <p:cNvSpPr/>
          <p:nvPr/>
        </p:nvSpPr>
        <p:spPr>
          <a:xfrm>
            <a:off x="6272640" y="4352400"/>
            <a:ext cx="310680" cy="310680"/>
          </a:xfrm>
          <a:prstGeom prst="ellipse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7" name="TextBox 23"/>
          <p:cNvSpPr/>
          <p:nvPr/>
        </p:nvSpPr>
        <p:spPr>
          <a:xfrm>
            <a:off x="6272640" y="435240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TextBox 24"/>
          <p:cNvSpPr/>
          <p:nvPr/>
        </p:nvSpPr>
        <p:spPr>
          <a:xfrm>
            <a:off x="6748200" y="4352400"/>
            <a:ext cx="4882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무엇을 고칠지까지 알려줍니다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Box 25"/>
          <p:cNvSpPr/>
          <p:nvPr/>
        </p:nvSpPr>
        <p:spPr>
          <a:xfrm>
            <a:off x="6272640" y="4864680"/>
            <a:ext cx="5357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설정 파일을 통째로 읽지 않습니다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필요한 줄만 봅니다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Rounded Rectangle 26"/>
          <p:cNvSpPr/>
          <p:nvPr/>
        </p:nvSpPr>
        <p:spPr>
          <a:xfrm>
            <a:off x="567000" y="5321880"/>
            <a:ext cx="11063880" cy="82260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1" name="TextBox 27"/>
          <p:cNvSpPr/>
          <p:nvPr/>
        </p:nvSpPr>
        <p:spPr>
          <a:xfrm>
            <a:off x="914400" y="532188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설치는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.skill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파일을 채팅창에 끌어다 놓고 저장 한 번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 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새 대화부터 바로 적용됩니다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Box 28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 스킬은 강사가 배포합니다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스킬은 신뢰할 수 있는 출처의 것만 설치하세요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TextBox 29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06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스킬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42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스킬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8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개를 파일 하나로 설치합니다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하나씩 넣지 않아도 됩니다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끌어다 놓고 저장 버튼 한 번입니다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Box 3"/>
          <p:cNvSpPr/>
          <p:nvPr/>
        </p:nvSpPr>
        <p:spPr>
          <a:xfrm>
            <a:off x="567000" y="187452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받는 곳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Rounded Rectangle 4"/>
          <p:cNvSpPr/>
          <p:nvPr/>
        </p:nvSpPr>
        <p:spPr>
          <a:xfrm>
            <a:off x="567000" y="2240280"/>
            <a:ext cx="11063880" cy="529920"/>
          </a:xfrm>
          <a:prstGeom prst="roundRect">
            <a:avLst>
              <a:gd name="adj" fmla="val 10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8" name="TextBox 5"/>
          <p:cNvSpPr/>
          <p:nvPr/>
        </p:nvSpPr>
        <p:spPr>
          <a:xfrm>
            <a:off x="841320" y="2240280"/>
            <a:ext cx="1051524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2E9E1"/>
                </a:solidFill>
                <a:effectLst/>
                <a:uFillTx/>
                <a:latin typeface="Consolas"/>
              </a:rPr>
              <a:t>github.com/dgkim3333-hash/claude-guide-kr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Box 6"/>
          <p:cNvSpPr/>
          <p:nvPr/>
        </p:nvSpPr>
        <p:spPr>
          <a:xfrm>
            <a:off x="567000" y="287136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claude-guide-kr.plugin 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파일 하나에 아래 여덟 개가 들어 있습니다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Rounded Rectangle 7"/>
          <p:cNvSpPr/>
          <p:nvPr/>
        </p:nvSpPr>
        <p:spPr>
          <a:xfrm>
            <a:off x="567000" y="3237120"/>
            <a:ext cx="3291480" cy="19746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1" name="TextBox 8"/>
          <p:cNvSpPr/>
          <p:nvPr/>
        </p:nvSpPr>
        <p:spPr>
          <a:xfrm>
            <a:off x="822960" y="3438000"/>
            <a:ext cx="2779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어디에나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Box 9"/>
          <p:cNvSpPr/>
          <p:nvPr/>
        </p:nvSpPr>
        <p:spPr>
          <a:xfrm>
            <a:off x="822960" y="3803760"/>
            <a:ext cx="277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mcp-health-check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Box 10"/>
          <p:cNvSpPr/>
          <p:nvPr/>
        </p:nvSpPr>
        <p:spPr>
          <a:xfrm>
            <a:off x="822960" y="3977640"/>
            <a:ext cx="277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MCP </a:t>
            </a: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가 안 붙을 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Box 11"/>
          <p:cNvSpPr/>
          <p:nvPr/>
        </p:nvSpPr>
        <p:spPr>
          <a:xfrm>
            <a:off x="822960" y="4206240"/>
            <a:ext cx="277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number-format-guard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Box 12"/>
          <p:cNvSpPr/>
          <p:nvPr/>
        </p:nvSpPr>
        <p:spPr>
          <a:xfrm>
            <a:off x="822960" y="4380120"/>
            <a:ext cx="277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금액 원 단위 콤마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Box 13"/>
          <p:cNvSpPr/>
          <p:nvPr/>
        </p:nvSpPr>
        <p:spPr>
          <a:xfrm>
            <a:off x="822960" y="4608720"/>
            <a:ext cx="277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artifact-safe-update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Box 14"/>
          <p:cNvSpPr/>
          <p:nvPr/>
        </p:nvSpPr>
        <p:spPr>
          <a:xfrm>
            <a:off x="822960" y="4782240"/>
            <a:ext cx="277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대시보드 안전 갱신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Rounded Rectangle 15"/>
          <p:cNvSpPr/>
          <p:nvPr/>
        </p:nvSpPr>
        <p:spPr>
          <a:xfrm>
            <a:off x="4151520" y="3237120"/>
            <a:ext cx="4205880" cy="19746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9" name="TextBox 16"/>
          <p:cNvSpPr/>
          <p:nvPr/>
        </p:nvSpPr>
        <p:spPr>
          <a:xfrm>
            <a:off x="4407480" y="3438000"/>
            <a:ext cx="3693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경매 </a:t>
            </a:r>
            <a:r>
              <a:rPr lang="en-US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· </a:t>
            </a: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부동산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Box 17"/>
          <p:cNvSpPr/>
          <p:nvPr/>
        </p:nvSpPr>
        <p:spPr>
          <a:xfrm>
            <a:off x="4407480" y="3803760"/>
            <a:ext cx="369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residential-auction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Box 18"/>
          <p:cNvSpPr/>
          <p:nvPr/>
        </p:nvSpPr>
        <p:spPr>
          <a:xfrm>
            <a:off x="4407480" y="3977640"/>
            <a:ext cx="369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아파트</a:t>
            </a:r>
            <a:r>
              <a:rPr lang="en-US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</a:t>
            </a: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다가구 물건 분석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Box 19"/>
          <p:cNvSpPr/>
          <p:nvPr/>
        </p:nvSpPr>
        <p:spPr>
          <a:xfrm>
            <a:off x="4407480" y="4206240"/>
            <a:ext cx="369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property-location-scan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Box 20"/>
          <p:cNvSpPr/>
          <p:nvPr/>
        </p:nvSpPr>
        <p:spPr>
          <a:xfrm>
            <a:off x="4407480" y="4380120"/>
            <a:ext cx="369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입지</a:t>
            </a:r>
            <a:r>
              <a:rPr lang="en-US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</a:t>
            </a: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상권</a:t>
            </a:r>
            <a:r>
              <a:rPr lang="en-US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</a:t>
            </a: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규제 조사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Box 21"/>
          <p:cNvSpPr/>
          <p:nvPr/>
        </p:nvSpPr>
        <p:spPr>
          <a:xfrm>
            <a:off x="4407480" y="4608720"/>
            <a:ext cx="369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onbid-api-caller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Box 22"/>
          <p:cNvSpPr/>
          <p:nvPr/>
        </p:nvSpPr>
        <p:spPr>
          <a:xfrm>
            <a:off x="4407480" y="4782240"/>
            <a:ext cx="369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온비드 공매 조회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Box 23"/>
          <p:cNvSpPr/>
          <p:nvPr/>
        </p:nvSpPr>
        <p:spPr>
          <a:xfrm>
            <a:off x="4407480" y="5010840"/>
            <a:ext cx="369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real-estate-tax-calculator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Box 24"/>
          <p:cNvSpPr/>
          <p:nvPr/>
        </p:nvSpPr>
        <p:spPr>
          <a:xfrm>
            <a:off x="4407480" y="5184720"/>
            <a:ext cx="369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취득세</a:t>
            </a:r>
            <a:r>
              <a:rPr lang="en-US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</a:t>
            </a: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양도세 산정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Rounded Rectangle 25"/>
          <p:cNvSpPr/>
          <p:nvPr/>
        </p:nvSpPr>
        <p:spPr>
          <a:xfrm>
            <a:off x="8650080" y="3237120"/>
            <a:ext cx="3291480" cy="19746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9" name="TextBox 26"/>
          <p:cNvSpPr/>
          <p:nvPr/>
        </p:nvSpPr>
        <p:spPr>
          <a:xfrm>
            <a:off x="8906400" y="3438000"/>
            <a:ext cx="2779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주식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Box 27"/>
          <p:cNvSpPr/>
          <p:nvPr/>
        </p:nvSpPr>
        <p:spPr>
          <a:xfrm>
            <a:off x="8906400" y="3803760"/>
            <a:ext cx="277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24211D"/>
                </a:solidFill>
                <a:effectLst/>
                <a:uFillTx/>
                <a:latin typeface="Consolas"/>
              </a:rPr>
              <a:t>stock-first-check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Box 28"/>
          <p:cNvSpPr/>
          <p:nvPr/>
        </p:nvSpPr>
        <p:spPr>
          <a:xfrm>
            <a:off x="8906400" y="3977640"/>
            <a:ext cx="277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종목 퇴출위험</a:t>
            </a:r>
            <a:r>
              <a:rPr lang="en-US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</a:t>
            </a: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재무 점검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Rounded Rectangle 29"/>
          <p:cNvSpPr/>
          <p:nvPr/>
        </p:nvSpPr>
        <p:spPr>
          <a:xfrm>
            <a:off x="567000" y="5394960"/>
            <a:ext cx="11063880" cy="73116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3" name="TextBox 30"/>
          <p:cNvSpPr/>
          <p:nvPr/>
        </p:nvSpPr>
        <p:spPr>
          <a:xfrm>
            <a:off x="914400" y="539496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낙찰가 계수와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NPL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매입 분석은 들어 있지 않습니다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공개 데이터와 법령만 씁니다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TextBox 31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스킬은 자료를 정리하고 위험을 드러낼 뿐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,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투자를 권유하지 않습니다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신뢰할 수 있는 출처의 것만 설치하세요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Box 32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06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스킬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43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7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07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SECTION 07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Box 4"/>
          <p:cNvSpPr/>
          <p:nvPr/>
        </p:nvSpPr>
        <p:spPr>
          <a:xfrm>
            <a:off x="863640" y="2616120"/>
            <a:ext cx="69210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ko-KR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프로젝트 </a:t>
            </a: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아티팩트 </a:t>
            </a: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예정됨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1" name="TextBox 6"/>
          <p:cNvSpPr/>
          <p:nvPr/>
        </p:nvSpPr>
        <p:spPr>
          <a:xfrm>
            <a:off x="863640" y="4114800"/>
            <a:ext cx="6921000" cy="170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프로젝트는 그 일만 쓰는 전용 책상입니다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스킬로는 안 되는 네 가지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대화는 흘러가고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아티팩트는 남습니다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아티팩트 두 종류 — 채팅형과 상시형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ko-KR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예정됨 — 한 번 설명하면 알아서 반복합니다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3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프로젝트는 그 일만 쓰는 전용 책상입니다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지침과 자료를 한 번 넣어두면 그 안의 모든 대화에 적용됩니다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Rounded Rectangle 3"/>
          <p:cNvSpPr/>
          <p:nvPr/>
        </p:nvSpPr>
        <p:spPr>
          <a:xfrm>
            <a:off x="567000" y="1874520"/>
            <a:ext cx="3931560" cy="310860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7" name="TextBox 4"/>
          <p:cNvSpPr/>
          <p:nvPr/>
        </p:nvSpPr>
        <p:spPr>
          <a:xfrm>
            <a:off x="896040" y="2121480"/>
            <a:ext cx="3273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이렇게 생각하세요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Box 5"/>
          <p:cNvSpPr/>
          <p:nvPr/>
        </p:nvSpPr>
        <p:spPr>
          <a:xfrm>
            <a:off x="896040" y="2523600"/>
            <a:ext cx="32731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그 일만 하는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2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전용 책상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TextBox 6"/>
          <p:cNvSpPr/>
          <p:nvPr/>
        </p:nvSpPr>
        <p:spPr>
          <a:xfrm>
            <a:off x="896040" y="3493080"/>
            <a:ext cx="32731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책상 위에 자료가 늘 펼쳐져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있습니다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앉으면 바로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이어서 일합니다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다른 일을 할 때는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다른 책상에 앉으면 됩니다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Box 7"/>
          <p:cNvSpPr/>
          <p:nvPr/>
        </p:nvSpPr>
        <p:spPr>
          <a:xfrm>
            <a:off x="4846320" y="1874520"/>
            <a:ext cx="6784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프로젝트에 담기는 세 가지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Oval 8"/>
          <p:cNvSpPr/>
          <p:nvPr/>
        </p:nvSpPr>
        <p:spPr>
          <a:xfrm>
            <a:off x="4846320" y="2395800"/>
            <a:ext cx="365400" cy="3654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Box 9"/>
          <p:cNvSpPr/>
          <p:nvPr/>
        </p:nvSpPr>
        <p:spPr>
          <a:xfrm>
            <a:off x="4846320" y="2395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Box 10"/>
          <p:cNvSpPr/>
          <p:nvPr/>
        </p:nvSpPr>
        <p:spPr>
          <a:xfrm>
            <a:off x="5376600" y="2304360"/>
            <a:ext cx="2102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프로젝트 지침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Box 11"/>
          <p:cNvSpPr/>
          <p:nvPr/>
        </p:nvSpPr>
        <p:spPr>
          <a:xfrm>
            <a:off x="7534800" y="2304360"/>
            <a:ext cx="4096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이 프로젝트에서 지킬 규칙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Box 12"/>
          <p:cNvSpPr/>
          <p:nvPr/>
        </p:nvSpPr>
        <p:spPr>
          <a:xfrm>
            <a:off x="5376600" y="2651760"/>
            <a:ext cx="62542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금액은 원 단위 콤마로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결론을 먼저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리스크를 빠뜨리지 말 것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Oval 13"/>
          <p:cNvSpPr/>
          <p:nvPr/>
        </p:nvSpPr>
        <p:spPr>
          <a:xfrm>
            <a:off x="4846320" y="3328560"/>
            <a:ext cx="365400" cy="3654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Box 14"/>
          <p:cNvSpPr/>
          <p:nvPr/>
        </p:nvSpPr>
        <p:spPr>
          <a:xfrm>
            <a:off x="4846320" y="33285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Box 15"/>
          <p:cNvSpPr/>
          <p:nvPr/>
        </p:nvSpPr>
        <p:spPr>
          <a:xfrm>
            <a:off x="5376600" y="3237120"/>
            <a:ext cx="2102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프로젝트 지식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Box 16"/>
          <p:cNvSpPr/>
          <p:nvPr/>
        </p:nvSpPr>
        <p:spPr>
          <a:xfrm>
            <a:off x="7534800" y="3237120"/>
            <a:ext cx="4096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매번 올리지 않아도 되는 자료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Box 17"/>
          <p:cNvSpPr/>
          <p:nvPr/>
        </p:nvSpPr>
        <p:spPr>
          <a:xfrm>
            <a:off x="5376600" y="3584520"/>
            <a:ext cx="62542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계약서 양식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우리 기준표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자주 쓰는 체크리스트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Oval 18"/>
          <p:cNvSpPr/>
          <p:nvPr/>
        </p:nvSpPr>
        <p:spPr>
          <a:xfrm>
            <a:off x="4846320" y="4260960"/>
            <a:ext cx="365400" cy="3654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2" name="TextBox 19"/>
          <p:cNvSpPr/>
          <p:nvPr/>
        </p:nvSpPr>
        <p:spPr>
          <a:xfrm>
            <a:off x="4846320" y="42609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Box 20"/>
          <p:cNvSpPr/>
          <p:nvPr/>
        </p:nvSpPr>
        <p:spPr>
          <a:xfrm>
            <a:off x="5376600" y="4169520"/>
            <a:ext cx="21027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대화 이력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Box 21"/>
          <p:cNvSpPr/>
          <p:nvPr/>
        </p:nvSpPr>
        <p:spPr>
          <a:xfrm>
            <a:off x="7534800" y="4169520"/>
            <a:ext cx="4096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그 프로젝트 안에 쌓입니다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Box 22"/>
          <p:cNvSpPr/>
          <p:nvPr/>
        </p:nvSpPr>
        <p:spPr>
          <a:xfrm>
            <a:off x="5376600" y="4517280"/>
            <a:ext cx="62542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"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지난주에 본 그 물건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"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을 다시 찾기 쉬워집니다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Rounded Rectangle 23"/>
          <p:cNvSpPr/>
          <p:nvPr/>
        </p:nvSpPr>
        <p:spPr>
          <a:xfrm>
            <a:off x="567000" y="5212080"/>
            <a:ext cx="11063880" cy="86832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Box 24"/>
          <p:cNvSpPr/>
          <p:nvPr/>
        </p:nvSpPr>
        <p:spPr>
          <a:xfrm>
            <a:off x="914400" y="521208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만드는 곳 — 좌측 사이드바의 프로젝트 → 새 프로젝트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경매용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,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주식용처럼 일 단위로 나눠 만듭니다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25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프로젝트 지침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지식은 채팅과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Cowork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에 적용됩니다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버전에 따라 메뉴 위치가 다를 수 있습니다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Box 26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07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프로젝트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아티팩트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예정됨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45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스킬이 있는데 왜 프로젝트까지 만드나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스킬로는 안 되는 네 가지가 있습니다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Rounded Rectangle 3"/>
          <p:cNvSpPr/>
          <p:nvPr/>
        </p:nvSpPr>
        <p:spPr>
          <a:xfrm>
            <a:off x="567000" y="1874520"/>
            <a:ext cx="2614680" cy="2559960"/>
          </a:xfrm>
          <a:prstGeom prst="roundRect">
            <a:avLst>
              <a:gd name="adj" fmla="val 7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3" name="Oval 4"/>
          <p:cNvSpPr/>
          <p:nvPr/>
        </p:nvSpPr>
        <p:spPr>
          <a:xfrm>
            <a:off x="804600" y="2084760"/>
            <a:ext cx="347040" cy="347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4" name="TextBox 5"/>
          <p:cNvSpPr/>
          <p:nvPr/>
        </p:nvSpPr>
        <p:spPr>
          <a:xfrm>
            <a:off x="804600" y="208476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6"/>
          <p:cNvSpPr/>
          <p:nvPr/>
        </p:nvSpPr>
        <p:spPr>
          <a:xfrm>
            <a:off x="804600" y="257868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내 자료를 담을 수 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Box 7"/>
          <p:cNvSpPr/>
          <p:nvPr/>
        </p:nvSpPr>
        <p:spPr>
          <a:xfrm>
            <a:off x="804600" y="3182040"/>
            <a:ext cx="2139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스킬은 절차를 담지만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내 자료는 담지 못합니다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Box 8"/>
          <p:cNvSpPr/>
          <p:nvPr/>
        </p:nvSpPr>
        <p:spPr>
          <a:xfrm>
            <a:off x="804600" y="380376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프로젝트 지식에 넣으면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매번 올릴 필요가 없습니다</a:t>
            </a:r>
            <a:r>
              <a:rPr lang="en-US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Rounded Rectangle 9"/>
          <p:cNvSpPr/>
          <p:nvPr/>
        </p:nvSpPr>
        <p:spPr>
          <a:xfrm>
            <a:off x="3383280" y="1874520"/>
            <a:ext cx="2614680" cy="2559960"/>
          </a:xfrm>
          <a:prstGeom prst="roundRect">
            <a:avLst>
              <a:gd name="adj" fmla="val 7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9" name="Oval 10"/>
          <p:cNvSpPr/>
          <p:nvPr/>
        </p:nvSpPr>
        <p:spPr>
          <a:xfrm>
            <a:off x="3620880" y="2084760"/>
            <a:ext cx="347040" cy="347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TextBox 11"/>
          <p:cNvSpPr/>
          <p:nvPr/>
        </p:nvSpPr>
        <p:spPr>
          <a:xfrm>
            <a:off x="3620880" y="208476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Box 12"/>
          <p:cNvSpPr/>
          <p:nvPr/>
        </p:nvSpPr>
        <p:spPr>
          <a:xfrm>
            <a:off x="3620880" y="257868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대화가 한곳에 쌓인다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Box 13"/>
          <p:cNvSpPr/>
          <p:nvPr/>
        </p:nvSpPr>
        <p:spPr>
          <a:xfrm>
            <a:off x="3620880" y="3182040"/>
            <a:ext cx="2139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스킬은 대화를 보관하지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않습니다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Box 14"/>
          <p:cNvSpPr/>
          <p:nvPr/>
        </p:nvSpPr>
        <p:spPr>
          <a:xfrm>
            <a:off x="3620880" y="380376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"</a:t>
            </a:r>
            <a:r>
              <a:rPr lang="zh-CN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지난번 그 건</a:t>
            </a:r>
            <a:r>
              <a:rPr lang="en-US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" </a:t>
            </a:r>
            <a:r>
              <a:rPr lang="zh-CN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프로젝트에서 찾습니다</a:t>
            </a:r>
            <a:r>
              <a:rPr lang="en-US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Rounded Rectangle 15"/>
          <p:cNvSpPr/>
          <p:nvPr/>
        </p:nvSpPr>
        <p:spPr>
          <a:xfrm>
            <a:off x="6199560" y="1874520"/>
            <a:ext cx="2614680" cy="2559960"/>
          </a:xfrm>
          <a:prstGeom prst="roundRect">
            <a:avLst>
              <a:gd name="adj" fmla="val 7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5" name="Oval 16"/>
          <p:cNvSpPr/>
          <p:nvPr/>
        </p:nvSpPr>
        <p:spPr>
          <a:xfrm>
            <a:off x="6437520" y="2084760"/>
            <a:ext cx="347040" cy="347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Box 17"/>
          <p:cNvSpPr/>
          <p:nvPr/>
        </p:nvSpPr>
        <p:spPr>
          <a:xfrm>
            <a:off x="6437520" y="208476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Box 18"/>
          <p:cNvSpPr/>
          <p:nvPr/>
        </p:nvSpPr>
        <p:spPr>
          <a:xfrm>
            <a:off x="6437520" y="257868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조건 없이 늘 켜져 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Box 19"/>
          <p:cNvSpPr/>
          <p:nvPr/>
        </p:nvSpPr>
        <p:spPr>
          <a:xfrm>
            <a:off x="6437520" y="3182040"/>
            <a:ext cx="2139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스킬은 발동 조건에 맞아야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켜집니다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Box 20"/>
          <p:cNvSpPr/>
          <p:nvPr/>
        </p:nvSpPr>
        <p:spPr>
          <a:xfrm>
            <a:off x="6437520" y="380376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프로젝트 지침은 그 안에서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항상 적용됩니다</a:t>
            </a:r>
            <a:r>
              <a:rPr lang="en-US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Rounded Rectangle 21"/>
          <p:cNvSpPr/>
          <p:nvPr/>
        </p:nvSpPr>
        <p:spPr>
          <a:xfrm>
            <a:off x="9015840" y="1874520"/>
            <a:ext cx="2614680" cy="2559960"/>
          </a:xfrm>
          <a:prstGeom prst="roundRect">
            <a:avLst>
              <a:gd name="adj" fmla="val 7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1" name="Oval 22"/>
          <p:cNvSpPr/>
          <p:nvPr/>
        </p:nvSpPr>
        <p:spPr>
          <a:xfrm>
            <a:off x="9253800" y="2084760"/>
            <a:ext cx="347040" cy="347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2" name="TextBox 23"/>
          <p:cNvSpPr/>
          <p:nvPr/>
        </p:nvSpPr>
        <p:spPr>
          <a:xfrm>
            <a:off x="9253800" y="208476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TextBox 24"/>
          <p:cNvSpPr/>
          <p:nvPr/>
        </p:nvSpPr>
        <p:spPr>
          <a:xfrm>
            <a:off x="9253800" y="257868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일과 일이 섞이지 않는다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Box 25"/>
          <p:cNvSpPr/>
          <p:nvPr/>
        </p:nvSpPr>
        <p:spPr>
          <a:xfrm>
            <a:off x="9253800" y="3182040"/>
            <a:ext cx="2139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개인 설정에 다 넣으면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주식 얘기에 경매 규칙이 섞입니다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Box 26"/>
          <p:cNvSpPr/>
          <p:nvPr/>
        </p:nvSpPr>
        <p:spPr>
          <a:xfrm>
            <a:off x="9253800" y="380376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프로젝트를 나누면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서로 간섭하지 않습니다</a:t>
            </a:r>
            <a:r>
              <a:rPr lang="en-US" sz="13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TextBox 27"/>
          <p:cNvSpPr/>
          <p:nvPr/>
        </p:nvSpPr>
        <p:spPr>
          <a:xfrm>
            <a:off x="567000" y="4590360"/>
            <a:ext cx="11063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넷을 이렇게 구분하세요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Rounded Rectangle 28"/>
          <p:cNvSpPr/>
          <p:nvPr/>
        </p:nvSpPr>
        <p:spPr>
          <a:xfrm>
            <a:off x="567000" y="4937760"/>
            <a:ext cx="2614680" cy="658080"/>
          </a:xfrm>
          <a:prstGeom prst="roundRect">
            <a:avLst>
              <a:gd name="adj" fmla="val 14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Box 29"/>
          <p:cNvSpPr/>
          <p:nvPr/>
        </p:nvSpPr>
        <p:spPr>
          <a:xfrm>
            <a:off x="749880" y="5010840"/>
            <a:ext cx="2248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개인 설정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Box 30"/>
          <p:cNvSpPr/>
          <p:nvPr/>
        </p:nvSpPr>
        <p:spPr>
          <a:xfrm>
            <a:off x="749880" y="5266800"/>
            <a:ext cx="2248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15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나는 누구인가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15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어디서나 항상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Rounded Rectangle 31"/>
          <p:cNvSpPr/>
          <p:nvPr/>
        </p:nvSpPr>
        <p:spPr>
          <a:xfrm>
            <a:off x="3383280" y="4937760"/>
            <a:ext cx="2614680" cy="658080"/>
          </a:xfrm>
          <a:prstGeom prst="roundRect">
            <a:avLst>
              <a:gd name="adj" fmla="val 14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1" name="TextBox 32"/>
          <p:cNvSpPr/>
          <p:nvPr/>
        </p:nvSpPr>
        <p:spPr>
          <a:xfrm>
            <a:off x="3566160" y="5010840"/>
            <a:ext cx="2248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프로젝트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Box 33"/>
          <p:cNvSpPr/>
          <p:nvPr/>
        </p:nvSpPr>
        <p:spPr>
          <a:xfrm>
            <a:off x="3566160" y="5266800"/>
            <a:ext cx="2248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15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이 일의 배경과 자료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15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그 프로젝트 안에서 항상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Rounded Rectangle 34"/>
          <p:cNvSpPr/>
          <p:nvPr/>
        </p:nvSpPr>
        <p:spPr>
          <a:xfrm>
            <a:off x="6199560" y="4937760"/>
            <a:ext cx="2614680" cy="658080"/>
          </a:xfrm>
          <a:prstGeom prst="roundRect">
            <a:avLst>
              <a:gd name="adj" fmla="val 14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4" name="TextBox 35"/>
          <p:cNvSpPr/>
          <p:nvPr/>
        </p:nvSpPr>
        <p:spPr>
          <a:xfrm>
            <a:off x="6382440" y="5010840"/>
            <a:ext cx="2248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스킬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Box 36"/>
          <p:cNvSpPr/>
          <p:nvPr/>
        </p:nvSpPr>
        <p:spPr>
          <a:xfrm>
            <a:off x="6382440" y="5266800"/>
            <a:ext cx="2248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15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이 일을 어떻게 하는가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15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그 일이 생길 때만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Rounded Rectangle 37"/>
          <p:cNvSpPr/>
          <p:nvPr/>
        </p:nvSpPr>
        <p:spPr>
          <a:xfrm>
            <a:off x="9015840" y="4937760"/>
            <a:ext cx="2614680" cy="658080"/>
          </a:xfrm>
          <a:prstGeom prst="roundRect">
            <a:avLst>
              <a:gd name="adj" fmla="val 14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7" name="TextBox 38"/>
          <p:cNvSpPr/>
          <p:nvPr/>
        </p:nvSpPr>
        <p:spPr>
          <a:xfrm>
            <a:off x="9198720" y="5010840"/>
            <a:ext cx="2248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MCP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Box 39"/>
          <p:cNvSpPr/>
          <p:nvPr/>
        </p:nvSpPr>
        <p:spPr>
          <a:xfrm>
            <a:off x="9198720" y="5266800"/>
            <a:ext cx="2248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15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무엇을 만질 수 있는가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15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손과 발이 된다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Rounded Rectangle 40"/>
          <p:cNvSpPr/>
          <p:nvPr/>
        </p:nvSpPr>
        <p:spPr>
          <a:xfrm>
            <a:off x="567000" y="5706000"/>
            <a:ext cx="11063880" cy="51156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Box 41"/>
          <p:cNvSpPr/>
          <p:nvPr/>
        </p:nvSpPr>
        <p:spPr>
          <a:xfrm>
            <a:off x="914400" y="5706000"/>
            <a:ext cx="104238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넷은 경쟁 관계가 아닙니다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 </a:t>
            </a:r>
            <a:r>
              <a:rPr lang="zh-CN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프로젝트 안에서 스킬이 돌고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, </a:t>
            </a:r>
            <a:r>
              <a:rPr lang="zh-CN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스킬이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MCP </a:t>
            </a:r>
            <a:r>
              <a:rPr lang="zh-CN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를 씁니다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Box 42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적용 범위 상세는 앞의 「어디에 쓴 지침이 어디에 적용되나」 슬라이드 참조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Box 43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07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프로젝트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아티팩트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예정됨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46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대화는 흘러가고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,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아티팩트는 남습니다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답이 대화 속에 묻히지 않고 옆에 전용 창으로 뜹니다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Box 3"/>
          <p:cNvSpPr/>
          <p:nvPr/>
        </p:nvSpPr>
        <p:spPr>
          <a:xfrm>
            <a:off x="567000" y="1874520"/>
            <a:ext cx="11063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이런 것이 아티팩트가 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Rounded Rectangle 4"/>
          <p:cNvSpPr/>
          <p:nvPr/>
        </p:nvSpPr>
        <p:spPr>
          <a:xfrm>
            <a:off x="567000" y="2212920"/>
            <a:ext cx="1737000" cy="456840"/>
          </a:xfrm>
          <a:prstGeom prst="roundRect">
            <a:avLst>
              <a:gd name="adj" fmla="val 2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7" name="TextBox 5"/>
          <p:cNvSpPr/>
          <p:nvPr/>
        </p:nvSpPr>
        <p:spPr>
          <a:xfrm>
            <a:off x="567000" y="221292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문서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Rounded Rectangle 6"/>
          <p:cNvSpPr/>
          <p:nvPr/>
        </p:nvSpPr>
        <p:spPr>
          <a:xfrm>
            <a:off x="2432160" y="2212920"/>
            <a:ext cx="1737000" cy="456840"/>
          </a:xfrm>
          <a:prstGeom prst="roundRect">
            <a:avLst>
              <a:gd name="adj" fmla="val 2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Box 7"/>
          <p:cNvSpPr/>
          <p:nvPr/>
        </p:nvSpPr>
        <p:spPr>
          <a:xfrm>
            <a:off x="2432160" y="221292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표</a:t>
            </a:r>
            <a:r>
              <a:rPr lang="en-US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</a:t>
            </a: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목록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Rounded Rectangle 8"/>
          <p:cNvSpPr/>
          <p:nvPr/>
        </p:nvSpPr>
        <p:spPr>
          <a:xfrm>
            <a:off x="4297680" y="2212920"/>
            <a:ext cx="1737000" cy="456840"/>
          </a:xfrm>
          <a:prstGeom prst="roundRect">
            <a:avLst>
              <a:gd name="adj" fmla="val 2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1" name="TextBox 9"/>
          <p:cNvSpPr/>
          <p:nvPr/>
        </p:nvSpPr>
        <p:spPr>
          <a:xfrm>
            <a:off x="4297680" y="221292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코드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Rounded Rectangle 10"/>
          <p:cNvSpPr/>
          <p:nvPr/>
        </p:nvSpPr>
        <p:spPr>
          <a:xfrm>
            <a:off x="6163200" y="2212920"/>
            <a:ext cx="1737000" cy="456840"/>
          </a:xfrm>
          <a:prstGeom prst="roundRect">
            <a:avLst>
              <a:gd name="adj" fmla="val 2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Box 11"/>
          <p:cNvSpPr/>
          <p:nvPr/>
        </p:nvSpPr>
        <p:spPr>
          <a:xfrm>
            <a:off x="6163200" y="221292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웹페이지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Rounded Rectangle 12"/>
          <p:cNvSpPr/>
          <p:nvPr/>
        </p:nvSpPr>
        <p:spPr>
          <a:xfrm>
            <a:off x="8028360" y="2212920"/>
            <a:ext cx="1737000" cy="456840"/>
          </a:xfrm>
          <a:prstGeom prst="roundRect">
            <a:avLst>
              <a:gd name="adj" fmla="val 2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5" name="TextBox 13"/>
          <p:cNvSpPr/>
          <p:nvPr/>
        </p:nvSpPr>
        <p:spPr>
          <a:xfrm>
            <a:off x="8028360" y="221292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그림</a:t>
            </a:r>
            <a:r>
              <a:rPr lang="en-US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</a:t>
            </a: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도표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Rounded Rectangle 14"/>
          <p:cNvSpPr/>
          <p:nvPr/>
        </p:nvSpPr>
        <p:spPr>
          <a:xfrm>
            <a:off x="9893880" y="2212920"/>
            <a:ext cx="1737000" cy="456840"/>
          </a:xfrm>
          <a:prstGeom prst="roundRect">
            <a:avLst>
              <a:gd name="adj" fmla="val 2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Box 15"/>
          <p:cNvSpPr/>
          <p:nvPr/>
        </p:nvSpPr>
        <p:spPr>
          <a:xfrm>
            <a:off x="9893880" y="2212920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계산기</a:t>
            </a:r>
            <a:r>
              <a:rPr lang="en-US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</a:t>
            </a: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Box 16"/>
          <p:cNvSpPr/>
          <p:nvPr/>
        </p:nvSpPr>
        <p:spPr>
          <a:xfrm>
            <a:off x="567000" y="2761560"/>
            <a:ext cx="11063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15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줄이 넘고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,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따로 떼어 써도 말이 되고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,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나중에 다시 볼 만한 것이면 자동으로 만들어집니다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Box 17"/>
          <p:cNvSpPr/>
          <p:nvPr/>
        </p:nvSpPr>
        <p:spPr>
          <a:xfrm>
            <a:off x="567000" y="3182040"/>
            <a:ext cx="5577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이렇게 쓸 수 있습니다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Oval 18"/>
          <p:cNvSpPr/>
          <p:nvPr/>
        </p:nvSpPr>
        <p:spPr>
          <a:xfrm>
            <a:off x="567000" y="3584520"/>
            <a:ext cx="328680" cy="3286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1" name="TextBox 19"/>
          <p:cNvSpPr/>
          <p:nvPr/>
        </p:nvSpPr>
        <p:spPr>
          <a:xfrm>
            <a:off x="567000" y="3584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Box 20"/>
          <p:cNvSpPr/>
          <p:nvPr/>
        </p:nvSpPr>
        <p:spPr>
          <a:xfrm>
            <a:off x="1042560" y="352944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버전을 넘나든다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Box 21"/>
          <p:cNvSpPr/>
          <p:nvPr/>
        </p:nvSpPr>
        <p:spPr>
          <a:xfrm>
            <a:off x="3200400" y="3529440"/>
            <a:ext cx="2944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이전 버전으로 되돌릴 수 있습니다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Oval 22"/>
          <p:cNvSpPr/>
          <p:nvPr/>
        </p:nvSpPr>
        <p:spPr>
          <a:xfrm>
            <a:off x="567000" y="4151520"/>
            <a:ext cx="328680" cy="3286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5" name="TextBox 23"/>
          <p:cNvSpPr/>
          <p:nvPr/>
        </p:nvSpPr>
        <p:spPr>
          <a:xfrm>
            <a:off x="567000" y="41515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Box 24"/>
          <p:cNvSpPr/>
          <p:nvPr/>
        </p:nvSpPr>
        <p:spPr>
          <a:xfrm>
            <a:off x="1042560" y="409644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그 자리에서 고친다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Box 25"/>
          <p:cNvSpPr/>
          <p:nvPr/>
        </p:nvSpPr>
        <p:spPr>
          <a:xfrm>
            <a:off x="3200400" y="4096440"/>
            <a:ext cx="2944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고칠 부분을 드래그해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Edit with Claude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Oval 26"/>
          <p:cNvSpPr/>
          <p:nvPr/>
        </p:nvSpPr>
        <p:spPr>
          <a:xfrm>
            <a:off x="567000" y="4718160"/>
            <a:ext cx="328680" cy="3286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Box 27"/>
          <p:cNvSpPr/>
          <p:nvPr/>
        </p:nvSpPr>
        <p:spPr>
          <a:xfrm>
            <a:off x="567000" y="4718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Box 28"/>
          <p:cNvSpPr/>
          <p:nvPr/>
        </p:nvSpPr>
        <p:spPr>
          <a:xfrm>
            <a:off x="1042560" y="4663440"/>
            <a:ext cx="2102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그대로 꺼낸다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Box 29"/>
          <p:cNvSpPr/>
          <p:nvPr/>
        </p:nvSpPr>
        <p:spPr>
          <a:xfrm>
            <a:off x="3200400" y="4663440"/>
            <a:ext cx="2944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코드 보기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복사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내려받기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Rounded Rectangle 30"/>
          <p:cNvSpPr/>
          <p:nvPr/>
        </p:nvSpPr>
        <p:spPr>
          <a:xfrm>
            <a:off x="6346080" y="3182040"/>
            <a:ext cx="5284800" cy="201132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3" name="TextBox 31"/>
          <p:cNvSpPr/>
          <p:nvPr/>
        </p:nvSpPr>
        <p:spPr>
          <a:xfrm>
            <a:off x="6620400" y="3401640"/>
            <a:ext cx="4736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자주 놓치는 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Box 32"/>
          <p:cNvSpPr/>
          <p:nvPr/>
        </p:nvSpPr>
        <p:spPr>
          <a:xfrm>
            <a:off x="6620400" y="3749040"/>
            <a:ext cx="4736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대화에서 만든 아티팩트는 목록에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자동으로 올라가지 않습니다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열어서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Publish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를 눌러야 남습니다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Box 33"/>
          <p:cNvSpPr/>
          <p:nvPr/>
        </p:nvSpPr>
        <p:spPr>
          <a:xfrm>
            <a:off x="6620400" y="4663440"/>
            <a:ext cx="47361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오류가 나면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Try fixing with Claude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버튼을 누르면 됩니다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Rounded Rectangle 34"/>
          <p:cNvSpPr/>
          <p:nvPr/>
        </p:nvSpPr>
        <p:spPr>
          <a:xfrm>
            <a:off x="567000" y="5376600"/>
            <a:ext cx="11063880" cy="78588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7" name="TextBox 35"/>
          <p:cNvSpPr/>
          <p:nvPr/>
        </p:nvSpPr>
        <p:spPr>
          <a:xfrm>
            <a:off x="914400" y="5376600"/>
            <a:ext cx="104238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먼저 켜야 합니다 — 설정 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&gt; Capabilities &gt;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코드 실행 및 파일 생성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꺼져 있으면 아티팩트가 아예 나오지 않습니다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TextBox 36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출처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support.claude.com/en/articles/9487310 (2026-08-07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직접 조회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 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무료 플랜에서도 쓸 수 있습니다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Box 37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07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프로젝트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아티팩트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예정됨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47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아티팩트는 두 종류입니다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한 번 만들고 끝나는 것과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열 때마다 새로 채워지는 것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Rounded Rectangle 3"/>
          <p:cNvSpPr/>
          <p:nvPr/>
        </p:nvSpPr>
        <p:spPr>
          <a:xfrm>
            <a:off x="567000" y="1874520"/>
            <a:ext cx="5394600" cy="2614680"/>
          </a:xfrm>
          <a:prstGeom prst="roundRect">
            <a:avLst>
              <a:gd name="adj" fmla="val 7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3" name="TextBox 4"/>
          <p:cNvSpPr/>
          <p:nvPr/>
        </p:nvSpPr>
        <p:spPr>
          <a:xfrm>
            <a:off x="896040" y="2103120"/>
            <a:ext cx="4736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채팅 아티팩트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Box 5"/>
          <p:cNvSpPr/>
          <p:nvPr/>
        </p:nvSpPr>
        <p:spPr>
          <a:xfrm>
            <a:off x="896040" y="2450520"/>
            <a:ext cx="4736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만든 그때 그대로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Box 6"/>
          <p:cNvSpPr/>
          <p:nvPr/>
        </p:nvSpPr>
        <p:spPr>
          <a:xfrm>
            <a:off x="896040" y="3035880"/>
            <a:ext cx="47361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대화 중에 만들어져 옆 창에 뜹니다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내용이 그 시점으로 고정됩니다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무료 플랜에서도 됩니다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웹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앱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데스크탑 어디서나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Rounded Rectangle 7"/>
          <p:cNvSpPr/>
          <p:nvPr/>
        </p:nvSpPr>
        <p:spPr>
          <a:xfrm>
            <a:off x="6236280" y="1874520"/>
            <a:ext cx="5394600" cy="2614680"/>
          </a:xfrm>
          <a:prstGeom prst="roundRect">
            <a:avLst>
              <a:gd name="adj" fmla="val 7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7" name="TextBox 8"/>
          <p:cNvSpPr/>
          <p:nvPr/>
        </p:nvSpPr>
        <p:spPr>
          <a:xfrm>
            <a:off x="6565320" y="2103120"/>
            <a:ext cx="4736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Cowork </a:t>
            </a:r>
            <a:r>
              <a:rPr lang="zh-CN" sz="15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라이브 아티팩트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Box 9"/>
          <p:cNvSpPr/>
          <p:nvPr/>
        </p:nvSpPr>
        <p:spPr>
          <a:xfrm>
            <a:off x="6565320" y="2450520"/>
            <a:ext cx="4736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2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열 때마다 새로 채워집니다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Box 10"/>
          <p:cNvSpPr/>
          <p:nvPr/>
        </p:nvSpPr>
        <p:spPr>
          <a:xfrm>
            <a:off x="6565320" y="3035880"/>
            <a:ext cx="47361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열면 연결된 앱에서 최신 자료를 가져옵니다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사이드바 목록에 계속 남습니다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고칠 때마다 이전 버전이 저장됩니다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· Pro </a:t>
            </a: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이상 </a:t>
            </a:r>
            <a:r>
              <a:rPr lang="en-US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데스크탑 전용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Box 11"/>
          <p:cNvSpPr/>
          <p:nvPr/>
        </p:nvSpPr>
        <p:spPr>
          <a:xfrm>
            <a:off x="567000" y="46450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라이브 아티팩트는 이런 데 씁니다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Rounded Rectangle 12"/>
          <p:cNvSpPr/>
          <p:nvPr/>
        </p:nvSpPr>
        <p:spPr>
          <a:xfrm>
            <a:off x="567000" y="4974480"/>
            <a:ext cx="3529080" cy="566640"/>
          </a:xfrm>
          <a:prstGeom prst="roundRect">
            <a:avLst>
              <a:gd name="adj" fmla="val 14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2" name="TextBox 13"/>
          <p:cNvSpPr/>
          <p:nvPr/>
        </p:nvSpPr>
        <p:spPr>
          <a:xfrm>
            <a:off x="786240" y="5047560"/>
            <a:ext cx="3090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아침 브리핑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Box 14"/>
          <p:cNvSpPr/>
          <p:nvPr/>
        </p:nvSpPr>
        <p:spPr>
          <a:xfrm>
            <a:off x="786240" y="5266800"/>
            <a:ext cx="3090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오늘 일정 </a:t>
            </a:r>
            <a:r>
              <a:rPr lang="en-US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메일 </a:t>
            </a:r>
            <a:r>
              <a:rPr lang="en-US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할 일을 한 장으로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Rounded Rectangle 15"/>
          <p:cNvSpPr/>
          <p:nvPr/>
        </p:nvSpPr>
        <p:spPr>
          <a:xfrm>
            <a:off x="4334400" y="4974480"/>
            <a:ext cx="3529080" cy="566640"/>
          </a:xfrm>
          <a:prstGeom prst="roundRect">
            <a:avLst>
              <a:gd name="adj" fmla="val 14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5" name="TextBox 16"/>
          <p:cNvSpPr/>
          <p:nvPr/>
        </p:nvSpPr>
        <p:spPr>
          <a:xfrm>
            <a:off x="4553640" y="5047560"/>
            <a:ext cx="3090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현황 추적판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TextBox 17"/>
          <p:cNvSpPr/>
          <p:nvPr/>
        </p:nvSpPr>
        <p:spPr>
          <a:xfrm>
            <a:off x="4553640" y="5266800"/>
            <a:ext cx="3090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진행 중인 건을 열 때마다 최신으로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Rounded Rectangle 18"/>
          <p:cNvSpPr/>
          <p:nvPr/>
        </p:nvSpPr>
        <p:spPr>
          <a:xfrm>
            <a:off x="8101440" y="4974480"/>
            <a:ext cx="3529080" cy="566640"/>
          </a:xfrm>
          <a:prstGeom prst="roundRect">
            <a:avLst>
              <a:gd name="adj" fmla="val 14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Box 19"/>
          <p:cNvSpPr/>
          <p:nvPr/>
        </p:nvSpPr>
        <p:spPr>
          <a:xfrm>
            <a:off x="8321040" y="5047560"/>
            <a:ext cx="3090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관심 대상 감시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Box 20"/>
          <p:cNvSpPr/>
          <p:nvPr/>
        </p:nvSpPr>
        <p:spPr>
          <a:xfrm>
            <a:off x="8321040" y="5266800"/>
            <a:ext cx="3090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경쟁사 </a:t>
            </a:r>
            <a:r>
              <a:rPr lang="en-US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2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관심 종목의 변화를 모아서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Rounded Rectangle 21"/>
          <p:cNvSpPr/>
          <p:nvPr/>
        </p:nvSpPr>
        <p:spPr>
          <a:xfrm>
            <a:off x="567000" y="5687640"/>
            <a:ext cx="11063880" cy="52992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1" name="TextBox 22"/>
          <p:cNvSpPr/>
          <p:nvPr/>
        </p:nvSpPr>
        <p:spPr>
          <a:xfrm>
            <a:off x="914400" y="5687640"/>
            <a:ext cx="104238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라이브 아티팩트는 커넥터를 쓸 때 따로 묻지 않습니다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 </a:t>
            </a:r>
            <a:r>
              <a:rPr lang="zh-CN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내 컴퓨터에만 저장되어 기기를 바꾸면 따라오지 않습니다</a:t>
            </a: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Box 23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출처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support.claude.com/en/articles/14729249 (2026-08-07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직접 조회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Box 24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07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프로젝트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아티팩트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예정됨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48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예정됨 — 한 번 설명하면 알아서 반복합니다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매번 같은 부탁을 다시 하지 않습니다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결과물만 받아보면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Box 3"/>
          <p:cNvSpPr/>
          <p:nvPr/>
        </p:nvSpPr>
        <p:spPr>
          <a:xfrm>
            <a:off x="567000" y="1874520"/>
            <a:ext cx="5577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이런 데 씁니다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Oval 4"/>
          <p:cNvSpPr/>
          <p:nvPr/>
        </p:nvSpPr>
        <p:spPr>
          <a:xfrm>
            <a:off x="567000" y="2286000"/>
            <a:ext cx="328680" cy="3286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8" name="TextBox 5"/>
          <p:cNvSpPr/>
          <p:nvPr/>
        </p:nvSpPr>
        <p:spPr>
          <a:xfrm>
            <a:off x="567000" y="22860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Box 6"/>
          <p:cNvSpPr/>
          <p:nvPr/>
        </p:nvSpPr>
        <p:spPr>
          <a:xfrm>
            <a:off x="1042560" y="2240280"/>
            <a:ext cx="1974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매일 브리핑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Box 7"/>
          <p:cNvSpPr/>
          <p:nvPr/>
        </p:nvSpPr>
        <p:spPr>
          <a:xfrm>
            <a:off x="3072240" y="2240280"/>
            <a:ext cx="3071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지난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24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시간 메일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일정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메시지를 요약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Oval 8"/>
          <p:cNvSpPr/>
          <p:nvPr/>
        </p:nvSpPr>
        <p:spPr>
          <a:xfrm>
            <a:off x="567000" y="2797920"/>
            <a:ext cx="328680" cy="3286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2" name="TextBox 9"/>
          <p:cNvSpPr/>
          <p:nvPr/>
        </p:nvSpPr>
        <p:spPr>
          <a:xfrm>
            <a:off x="567000" y="2797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Box 10"/>
          <p:cNvSpPr/>
          <p:nvPr/>
        </p:nvSpPr>
        <p:spPr>
          <a:xfrm>
            <a:off x="1042560" y="2752200"/>
            <a:ext cx="1974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주간 보고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Box 11"/>
          <p:cNvSpPr/>
          <p:nvPr/>
        </p:nvSpPr>
        <p:spPr>
          <a:xfrm>
            <a:off x="3072240" y="2752200"/>
            <a:ext cx="3071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흩어진 자료를 정해진 양식 한 장으로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Oval 12"/>
          <p:cNvSpPr/>
          <p:nvPr/>
        </p:nvSpPr>
        <p:spPr>
          <a:xfrm>
            <a:off x="567000" y="3310200"/>
            <a:ext cx="328680" cy="3286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6" name="TextBox 13"/>
          <p:cNvSpPr/>
          <p:nvPr/>
        </p:nvSpPr>
        <p:spPr>
          <a:xfrm>
            <a:off x="56700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Box 14"/>
          <p:cNvSpPr/>
          <p:nvPr/>
        </p:nvSpPr>
        <p:spPr>
          <a:xfrm>
            <a:off x="1042560" y="3264480"/>
            <a:ext cx="1974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반복 조사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Box 15"/>
          <p:cNvSpPr/>
          <p:nvPr/>
        </p:nvSpPr>
        <p:spPr>
          <a:xfrm>
            <a:off x="3072240" y="3264480"/>
            <a:ext cx="3071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관심 주제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경쟁사 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업계 동향 추적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Oval 16"/>
          <p:cNvSpPr/>
          <p:nvPr/>
        </p:nvSpPr>
        <p:spPr>
          <a:xfrm>
            <a:off x="567000" y="3822120"/>
            <a:ext cx="328680" cy="3286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0" name="TextBox 17"/>
          <p:cNvSpPr/>
          <p:nvPr/>
        </p:nvSpPr>
        <p:spPr>
          <a:xfrm>
            <a:off x="567000" y="38221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Box 18"/>
          <p:cNvSpPr/>
          <p:nvPr/>
        </p:nvSpPr>
        <p:spPr>
          <a:xfrm>
            <a:off x="1042560" y="3776400"/>
            <a:ext cx="1974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파일 정리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Box 19"/>
          <p:cNvSpPr/>
          <p:nvPr/>
        </p:nvSpPr>
        <p:spPr>
          <a:xfrm>
            <a:off x="3072240" y="3776400"/>
            <a:ext cx="3071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정해둔 폴더를 주기적으로 정돈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Oval 20"/>
          <p:cNvSpPr/>
          <p:nvPr/>
        </p:nvSpPr>
        <p:spPr>
          <a:xfrm>
            <a:off x="567000" y="4334400"/>
            <a:ext cx="328680" cy="3286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4" name="TextBox 21"/>
          <p:cNvSpPr/>
          <p:nvPr/>
        </p:nvSpPr>
        <p:spPr>
          <a:xfrm>
            <a:off x="567000" y="43344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Box 22"/>
          <p:cNvSpPr/>
          <p:nvPr/>
        </p:nvSpPr>
        <p:spPr>
          <a:xfrm>
            <a:off x="1042560" y="4288680"/>
            <a:ext cx="19746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진행 상황 정리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Box 23"/>
          <p:cNvSpPr/>
          <p:nvPr/>
        </p:nvSpPr>
        <p:spPr>
          <a:xfrm>
            <a:off x="3072240" y="4288680"/>
            <a:ext cx="3071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무엇이 어디까지 됐는지 정리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Box 24"/>
          <p:cNvSpPr/>
          <p:nvPr/>
        </p:nvSpPr>
        <p:spPr>
          <a:xfrm>
            <a:off x="6492240" y="1874520"/>
            <a:ext cx="5138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얼마나 자주 돌릴지 고릅니다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Rounded Rectangle 25"/>
          <p:cNvSpPr/>
          <p:nvPr/>
        </p:nvSpPr>
        <p:spPr>
          <a:xfrm>
            <a:off x="6492240" y="2240280"/>
            <a:ext cx="5138640" cy="383760"/>
          </a:xfrm>
          <a:prstGeom prst="roundRect">
            <a:avLst>
              <a:gd name="adj" fmla="val 24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9" name="TextBox 26"/>
          <p:cNvSpPr/>
          <p:nvPr/>
        </p:nvSpPr>
        <p:spPr>
          <a:xfrm>
            <a:off x="6803280" y="2240280"/>
            <a:ext cx="4571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매시간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Rounded Rectangle 27"/>
          <p:cNvSpPr/>
          <p:nvPr/>
        </p:nvSpPr>
        <p:spPr>
          <a:xfrm>
            <a:off x="6492240" y="2679120"/>
            <a:ext cx="5138640" cy="383760"/>
          </a:xfrm>
          <a:prstGeom prst="roundRect">
            <a:avLst>
              <a:gd name="adj" fmla="val 24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1" name="TextBox 28"/>
          <p:cNvSpPr/>
          <p:nvPr/>
        </p:nvSpPr>
        <p:spPr>
          <a:xfrm>
            <a:off x="6803280" y="2679120"/>
            <a:ext cx="4571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매일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Rounded Rectangle 29"/>
          <p:cNvSpPr/>
          <p:nvPr/>
        </p:nvSpPr>
        <p:spPr>
          <a:xfrm>
            <a:off x="6492240" y="3117960"/>
            <a:ext cx="5138640" cy="383760"/>
          </a:xfrm>
          <a:prstGeom prst="roundRect">
            <a:avLst>
              <a:gd name="adj" fmla="val 24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3" name="TextBox 30"/>
          <p:cNvSpPr/>
          <p:nvPr/>
        </p:nvSpPr>
        <p:spPr>
          <a:xfrm>
            <a:off x="6803280" y="3117960"/>
            <a:ext cx="4571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매주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Rounded Rectangle 31"/>
          <p:cNvSpPr/>
          <p:nvPr/>
        </p:nvSpPr>
        <p:spPr>
          <a:xfrm>
            <a:off x="6492240" y="3557160"/>
            <a:ext cx="5138640" cy="383760"/>
          </a:xfrm>
          <a:prstGeom prst="roundRect">
            <a:avLst>
              <a:gd name="adj" fmla="val 24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Box 32"/>
          <p:cNvSpPr/>
          <p:nvPr/>
        </p:nvSpPr>
        <p:spPr>
          <a:xfrm>
            <a:off x="6803280" y="3557160"/>
            <a:ext cx="4571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평일만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Rounded Rectangle 33"/>
          <p:cNvSpPr/>
          <p:nvPr/>
        </p:nvSpPr>
        <p:spPr>
          <a:xfrm>
            <a:off x="6492240" y="3996000"/>
            <a:ext cx="5138640" cy="383760"/>
          </a:xfrm>
          <a:prstGeom prst="roundRect">
            <a:avLst>
              <a:gd name="adj" fmla="val 24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7" name="TextBox 34"/>
          <p:cNvSpPr/>
          <p:nvPr/>
        </p:nvSpPr>
        <p:spPr>
          <a:xfrm>
            <a:off x="6803280" y="3996000"/>
            <a:ext cx="4571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수동으로만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Rounded Rectangle 35"/>
          <p:cNvSpPr/>
          <p:nvPr/>
        </p:nvSpPr>
        <p:spPr>
          <a:xfrm>
            <a:off x="6492240" y="4517280"/>
            <a:ext cx="5138640" cy="566640"/>
          </a:xfrm>
          <a:prstGeom prst="roundRect">
            <a:avLst>
              <a:gd name="adj" fmla="val 1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9" name="TextBox 36"/>
          <p:cNvSpPr/>
          <p:nvPr/>
        </p:nvSpPr>
        <p:spPr>
          <a:xfrm>
            <a:off x="6803280" y="4517280"/>
            <a:ext cx="4571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평소 쓰는 커넥터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플러그인을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그대로 씁니다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Rounded Rectangle 37"/>
          <p:cNvSpPr/>
          <p:nvPr/>
        </p:nvSpPr>
        <p:spPr>
          <a:xfrm>
            <a:off x="567000" y="5266800"/>
            <a:ext cx="11063880" cy="82260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1" name="TextBox 38"/>
          <p:cNvSpPr/>
          <p:nvPr/>
        </p:nvSpPr>
        <p:spPr>
          <a:xfrm>
            <a:off x="914400" y="52668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컴퓨터를 꺼둬도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, </a:t>
            </a: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앱을 닫아둬도 정해진 시각에 돌아갑니다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원격에서 실행되기 때문입니다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Box 39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출처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support.claude.com/en/articles/13854387 (2026-08-07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직접 조회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 ·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유료 플랜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(Pro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이상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에서 쓸 수 있습니다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Box 40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07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프로젝트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아티팩트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예정됨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49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만들고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,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멈추고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,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다시 돌립니다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좌측 사이드바의 예정됨 → 새 작업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Rounded Rectangle 3"/>
          <p:cNvSpPr/>
          <p:nvPr/>
        </p:nvSpPr>
        <p:spPr>
          <a:xfrm>
            <a:off x="567000" y="1874520"/>
            <a:ext cx="5394600" cy="2102760"/>
          </a:xfrm>
          <a:prstGeom prst="roundRect">
            <a:avLst>
              <a:gd name="adj" fmla="val 7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7" name="TextBox 4"/>
          <p:cNvSpPr/>
          <p:nvPr/>
        </p:nvSpPr>
        <p:spPr>
          <a:xfrm>
            <a:off x="896040" y="2066400"/>
            <a:ext cx="4736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권장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Box 5"/>
          <p:cNvSpPr/>
          <p:nvPr/>
        </p:nvSpPr>
        <p:spPr>
          <a:xfrm>
            <a:off x="896040" y="2359080"/>
            <a:ext cx="4736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Claude </a:t>
            </a:r>
            <a:r>
              <a:rPr lang="zh-CN" sz="22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와 함께 만들기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TextBox 6"/>
          <p:cNvSpPr/>
          <p:nvPr/>
        </p:nvSpPr>
        <p:spPr>
          <a:xfrm>
            <a:off x="896040" y="2834640"/>
            <a:ext cx="4736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무엇을 언제 하고 싶은지 말하면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Claude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가 부족한 것을 되물어 채웁니다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이름 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·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주기 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·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할 일을 보여주고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,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예약 버튼을 누르면 등록됩니다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Rounded Rectangle 7"/>
          <p:cNvSpPr/>
          <p:nvPr/>
        </p:nvSpPr>
        <p:spPr>
          <a:xfrm>
            <a:off x="6236280" y="1874520"/>
            <a:ext cx="5394600" cy="2102760"/>
          </a:xfrm>
          <a:prstGeom prst="roundRect">
            <a:avLst>
              <a:gd name="adj" fmla="val 7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1" name="TextBox 8"/>
          <p:cNvSpPr/>
          <p:nvPr/>
        </p:nvSpPr>
        <p:spPr>
          <a:xfrm>
            <a:off x="6565320" y="2066400"/>
            <a:ext cx="4736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직접 설정하기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Box 9"/>
          <p:cNvSpPr/>
          <p:nvPr/>
        </p:nvSpPr>
        <p:spPr>
          <a:xfrm>
            <a:off x="6565320" y="2359080"/>
            <a:ext cx="4736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이 여섯 가지를 채웁니다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Box 10"/>
          <p:cNvSpPr/>
          <p:nvPr/>
        </p:nvSpPr>
        <p:spPr>
          <a:xfrm>
            <a:off x="6565320" y="2761560"/>
            <a:ext cx="47361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작업 이름 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무엇을 할지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(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프롬프트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승인 방식 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 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주기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모델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(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선택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)  · 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작업 폴더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(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선택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Box 11"/>
          <p:cNvSpPr/>
          <p:nvPr/>
        </p:nvSpPr>
        <p:spPr>
          <a:xfrm>
            <a:off x="567000" y="4133160"/>
            <a:ext cx="11063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A8462A"/>
                </a:solidFill>
                <a:effectLst/>
                <a:uFillTx/>
                <a:latin typeface="맑은 고딕"/>
              </a:rPr>
              <a:t>만든 뒤에는 이렇게 관리합니다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Rounded Rectangle 12"/>
          <p:cNvSpPr/>
          <p:nvPr/>
        </p:nvSpPr>
        <p:spPr>
          <a:xfrm>
            <a:off x="567000" y="4480560"/>
            <a:ext cx="2139480" cy="511560"/>
          </a:xfrm>
          <a:prstGeom prst="roundRect">
            <a:avLst>
              <a:gd name="adj" fmla="val 2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Box 13"/>
          <p:cNvSpPr/>
          <p:nvPr/>
        </p:nvSpPr>
        <p:spPr>
          <a:xfrm>
            <a:off x="567000" y="448056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지금 바로 실행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Rounded Rectangle 14"/>
          <p:cNvSpPr/>
          <p:nvPr/>
        </p:nvSpPr>
        <p:spPr>
          <a:xfrm>
            <a:off x="2797920" y="4480560"/>
            <a:ext cx="2139480" cy="511560"/>
          </a:xfrm>
          <a:prstGeom prst="roundRect">
            <a:avLst>
              <a:gd name="adj" fmla="val 2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8" name="TextBox 15"/>
          <p:cNvSpPr/>
          <p:nvPr/>
        </p:nvSpPr>
        <p:spPr>
          <a:xfrm>
            <a:off x="2797920" y="448056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잠시 멈춤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Rounded Rectangle 16"/>
          <p:cNvSpPr/>
          <p:nvPr/>
        </p:nvSpPr>
        <p:spPr>
          <a:xfrm>
            <a:off x="5029200" y="4480560"/>
            <a:ext cx="2139480" cy="511560"/>
          </a:xfrm>
          <a:prstGeom prst="roundRect">
            <a:avLst>
              <a:gd name="adj" fmla="val 2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0" name="TextBox 17"/>
          <p:cNvSpPr/>
          <p:nvPr/>
        </p:nvSpPr>
        <p:spPr>
          <a:xfrm>
            <a:off x="5029200" y="448056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다시 시작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Rounded Rectangle 18"/>
          <p:cNvSpPr/>
          <p:nvPr/>
        </p:nvSpPr>
        <p:spPr>
          <a:xfrm>
            <a:off x="7260480" y="4480560"/>
            <a:ext cx="2139480" cy="511560"/>
          </a:xfrm>
          <a:prstGeom prst="roundRect">
            <a:avLst>
              <a:gd name="adj" fmla="val 2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2" name="TextBox 19"/>
          <p:cNvSpPr/>
          <p:nvPr/>
        </p:nvSpPr>
        <p:spPr>
          <a:xfrm>
            <a:off x="7260480" y="448056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내용</a:t>
            </a:r>
            <a:r>
              <a:rPr lang="en-US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·</a:t>
            </a: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주기 수정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Rounded Rectangle 20"/>
          <p:cNvSpPr/>
          <p:nvPr/>
        </p:nvSpPr>
        <p:spPr>
          <a:xfrm>
            <a:off x="9491400" y="4480560"/>
            <a:ext cx="2139480" cy="511560"/>
          </a:xfrm>
          <a:prstGeom prst="roundRect">
            <a:avLst>
              <a:gd name="adj" fmla="val 2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4" name="TextBox 21"/>
          <p:cNvSpPr/>
          <p:nvPr/>
        </p:nvSpPr>
        <p:spPr>
          <a:xfrm>
            <a:off x="9491400" y="4480560"/>
            <a:ext cx="213948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삭제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Box 22"/>
          <p:cNvSpPr/>
          <p:nvPr/>
        </p:nvSpPr>
        <p:spPr>
          <a:xfrm>
            <a:off x="567000" y="5083920"/>
            <a:ext cx="110638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예정된 실행과 지난 실행 결과도 같은 화면에서 볼 수 있습니다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Rounded Rectangle 23"/>
          <p:cNvSpPr/>
          <p:nvPr/>
        </p:nvSpPr>
        <p:spPr>
          <a:xfrm>
            <a:off x="567000" y="5431680"/>
            <a:ext cx="11063880" cy="78588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7" name="TextBox 24"/>
          <p:cNvSpPr/>
          <p:nvPr/>
        </p:nvSpPr>
        <p:spPr>
          <a:xfrm>
            <a:off x="914400" y="5431680"/>
            <a:ext cx="1042380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함정 — 내 컴퓨터의 폴더나 프로그램이 필요한 작업은 로컬에서만 돌아갑니다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그런 작업은 컴퓨터가 켜져 있어야 실행됩니다</a:t>
            </a: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TextBox 25"/>
          <p:cNvSpPr/>
          <p:nvPr/>
        </p:nvSpPr>
        <p:spPr>
          <a:xfrm>
            <a:off x="567000" y="6272640"/>
            <a:ext cx="110638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출처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support.claude.com/en/articles/13854387 (2026-08-07 </a:t>
            </a:r>
            <a:r>
              <a:rPr lang="zh-CN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직접 조회</a:t>
            </a:r>
            <a:r>
              <a:rPr lang="en-US" sz="13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Box 26"/>
          <p:cNvSpPr/>
          <p:nvPr/>
        </p:nvSpPr>
        <p:spPr>
          <a:xfrm>
            <a:off x="6350040" y="6451560"/>
            <a:ext cx="52700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07 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프로젝트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아티팩트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ko-KR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예정됨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50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1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08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SECTION 08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Box 4"/>
          <p:cNvSpPr/>
          <p:nvPr/>
        </p:nvSpPr>
        <p:spPr>
          <a:xfrm>
            <a:off x="863640" y="2616120"/>
            <a:ext cx="69210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실전 — 테마 레이더 만들기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Box 6"/>
          <p:cNvSpPr/>
          <p:nvPr/>
        </p:nvSpPr>
        <p:spPr>
          <a:xfrm>
            <a:off x="863640" y="4114800"/>
            <a:ext cx="6921000" cy="170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오늘 만들 화면과 준비물 세 가지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커넥터 하나로 시작합니다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도구는 만드는 게 아니라 딸려옵니다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한 문장씩 넣어 화면을 쌓아 갑니다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사람마다 다른 화면이 나옵니다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7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오늘 만들 화면은 이것입니다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마지막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20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분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각자 노트북에서 이 화면을 직접 만듭니다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Rounded Rectangle 3"/>
          <p:cNvSpPr/>
          <p:nvPr/>
        </p:nvSpPr>
        <p:spPr>
          <a:xfrm>
            <a:off x="571680" y="1879560"/>
            <a:ext cx="11061360" cy="3580920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TextBox 4"/>
          <p:cNvSpPr/>
          <p:nvPr/>
        </p:nvSpPr>
        <p:spPr>
          <a:xfrm>
            <a:off x="571680" y="349236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9A938A"/>
                </a:solidFill>
                <a:effectLst/>
                <a:uFillTx/>
                <a:latin typeface="맑은 고딕"/>
                <a:ea typeface="맑은 고딕"/>
              </a:rPr>
              <a:t>[ </a:t>
            </a:r>
            <a:r>
              <a:rPr lang="zh-CN" sz="1700" b="1" u="none" strike="noStrike">
                <a:solidFill>
                  <a:srgbClr val="9A938A"/>
                </a:solidFill>
                <a:effectLst/>
                <a:uFillTx/>
                <a:latin typeface="맑은 고딕"/>
                <a:ea typeface="맑은 고딕"/>
              </a:rPr>
              <a:t>스크린샷 삽입</a:t>
            </a:r>
            <a:r>
              <a:rPr lang="en-US" sz="1700" b="1" u="none" strike="noStrike">
                <a:solidFill>
                  <a:srgbClr val="9A938A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zh-CN" sz="1700" b="1" u="none" strike="noStrike">
                <a:solidFill>
                  <a:srgbClr val="9A938A"/>
                </a:solidFill>
                <a:effectLst/>
                <a:uFillTx/>
                <a:latin typeface="맑은 고딕"/>
                <a:ea typeface="맑은 고딕"/>
              </a:rPr>
              <a:t>완성된 「한국 테마 레이더」 아티팩트 전체 화면 </a:t>
            </a:r>
            <a:r>
              <a:rPr lang="en-US" sz="1700" b="1" u="none" strike="noStrike">
                <a:solidFill>
                  <a:srgbClr val="9A938A"/>
                </a:solidFill>
                <a:effectLst/>
                <a:uFillTx/>
                <a:latin typeface="맑은 고딕"/>
                <a:ea typeface="맑은 고딕"/>
              </a:rPr>
              <a:t>]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Rounded Rectangle 5"/>
          <p:cNvSpPr/>
          <p:nvPr/>
        </p:nvSpPr>
        <p:spPr>
          <a:xfrm>
            <a:off x="571680" y="5638680"/>
            <a:ext cx="11061360" cy="53316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3" name="TextBox 6"/>
          <p:cNvSpPr/>
          <p:nvPr/>
        </p:nvSpPr>
        <p:spPr>
          <a:xfrm>
            <a:off x="863640" y="577224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코드는 한 줄도 쓰지 않습니다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한 문장씩 말로 시켜서 만듭니다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Box 7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화면은 예시이며 시세는 조회 시점에 따라 달라집니다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Box 8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52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만들기 전에 네 가지를 확인합니다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하나라도 빠지면 화면이 만들어지지 않습니다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Rounded Rectangle 3"/>
          <p:cNvSpPr/>
          <p:nvPr/>
        </p:nvSpPr>
        <p:spPr>
          <a:xfrm>
            <a:off x="571680" y="1930320"/>
            <a:ext cx="2641320" cy="34030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Rounded Rectangle 4"/>
          <p:cNvSpPr/>
          <p:nvPr/>
        </p:nvSpPr>
        <p:spPr>
          <a:xfrm>
            <a:off x="851040" y="2209680"/>
            <a:ext cx="431280" cy="4312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Box 5"/>
          <p:cNvSpPr/>
          <p:nvPr/>
        </p:nvSpPr>
        <p:spPr>
          <a:xfrm>
            <a:off x="851040" y="2298600"/>
            <a:ext cx="4312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Box 6"/>
          <p:cNvSpPr/>
          <p:nvPr/>
        </p:nvSpPr>
        <p:spPr>
          <a:xfrm>
            <a:off x="851040" y="2819520"/>
            <a:ext cx="20826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요금제가 </a:t>
            </a:r>
            <a:r>
              <a:rPr lang="en-US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Pro </a:t>
            </a: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Box 7"/>
          <p:cNvSpPr/>
          <p:nvPr/>
        </p:nvSpPr>
        <p:spPr>
          <a:xfrm>
            <a:off x="851040" y="3479760"/>
            <a:ext cx="20826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설정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&gt; 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계정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Box 8"/>
          <p:cNvSpPr/>
          <p:nvPr/>
        </p:nvSpPr>
        <p:spPr>
          <a:xfrm>
            <a:off x="851040" y="3911760"/>
            <a:ext cx="2082600" cy="12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무료 계정에서는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아티팩트가 아예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만들어지지 않습니다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Rounded Rectangle 9"/>
          <p:cNvSpPr/>
          <p:nvPr/>
        </p:nvSpPr>
        <p:spPr>
          <a:xfrm>
            <a:off x="3378240" y="1930320"/>
            <a:ext cx="2641320" cy="34030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5" name="Rounded Rectangle 10"/>
          <p:cNvSpPr/>
          <p:nvPr/>
        </p:nvSpPr>
        <p:spPr>
          <a:xfrm>
            <a:off x="3657600" y="2209680"/>
            <a:ext cx="431280" cy="4312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6" name="TextBox 11"/>
          <p:cNvSpPr/>
          <p:nvPr/>
        </p:nvSpPr>
        <p:spPr>
          <a:xfrm>
            <a:off x="3657600" y="2298600"/>
            <a:ext cx="4312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Box 12"/>
          <p:cNvSpPr/>
          <p:nvPr/>
        </p:nvSpPr>
        <p:spPr>
          <a:xfrm>
            <a:off x="3657600" y="2819520"/>
            <a:ext cx="20826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도구함에 </a:t>
            </a:r>
            <a:r>
              <a:rPr lang="en-US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개 담기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Box 13"/>
          <p:cNvSpPr/>
          <p:nvPr/>
        </p:nvSpPr>
        <p:spPr>
          <a:xfrm>
            <a:off x="3657600" y="3479760"/>
            <a:ext cx="20826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playmcp.kakao.com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Box 14"/>
          <p:cNvSpPr/>
          <p:nvPr/>
        </p:nvSpPr>
        <p:spPr>
          <a:xfrm>
            <a:off x="3657600" y="3911760"/>
            <a:ext cx="2082600" cy="12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한국 주식 정보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네이버 검색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Rounded Rectangle 15"/>
          <p:cNvSpPr/>
          <p:nvPr/>
        </p:nvSpPr>
        <p:spPr>
          <a:xfrm>
            <a:off x="6184800" y="1930320"/>
            <a:ext cx="2641320" cy="34030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Rounded Rectangle 16"/>
          <p:cNvSpPr/>
          <p:nvPr/>
        </p:nvSpPr>
        <p:spPr>
          <a:xfrm>
            <a:off x="6464160" y="2209680"/>
            <a:ext cx="431280" cy="4312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Box 17"/>
          <p:cNvSpPr/>
          <p:nvPr/>
        </p:nvSpPr>
        <p:spPr>
          <a:xfrm>
            <a:off x="6464160" y="2298600"/>
            <a:ext cx="4312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Box 18"/>
          <p:cNvSpPr/>
          <p:nvPr/>
        </p:nvSpPr>
        <p:spPr>
          <a:xfrm>
            <a:off x="6464160" y="2819520"/>
            <a:ext cx="20826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0000"/>
              </a:lnSpc>
            </a:pPr>
            <a:r>
              <a:rPr lang="en-US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PlayMCP </a:t>
            </a: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커넥터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Box 19"/>
          <p:cNvSpPr/>
          <p:nvPr/>
        </p:nvSpPr>
        <p:spPr>
          <a:xfrm>
            <a:off x="6464160" y="3479760"/>
            <a:ext cx="20826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설정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&gt; 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커넥터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Box 20"/>
          <p:cNvSpPr/>
          <p:nvPr/>
        </p:nvSpPr>
        <p:spPr>
          <a:xfrm>
            <a:off x="6464160" y="3911760"/>
            <a:ext cx="2082600" cy="12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담은 뒤에 연결합니다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거꾸로 하면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쓸 도구가 없습니다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Rounded Rectangle 21"/>
          <p:cNvSpPr/>
          <p:nvPr/>
        </p:nvSpPr>
        <p:spPr>
          <a:xfrm>
            <a:off x="571680" y="5587920"/>
            <a:ext cx="11061360" cy="53316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7" name="TextBox 22"/>
          <p:cNvSpPr/>
          <p:nvPr/>
        </p:nvSpPr>
        <p:spPr>
          <a:xfrm>
            <a:off x="863640" y="572148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순서가 있습니다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웹에서 먼저 담고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그다음 앱에서 연결합니다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Box 23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53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Rounded Rectangle 15"/>
          <p:cNvSpPr/>
          <p:nvPr/>
        </p:nvSpPr>
        <p:spPr>
          <a:xfrm>
            <a:off x="8991720" y="1930320"/>
            <a:ext cx="2641320" cy="34030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Rounded Rectangle 16"/>
          <p:cNvSpPr/>
          <p:nvPr/>
        </p:nvSpPr>
        <p:spPr>
          <a:xfrm>
            <a:off x="9271080" y="2209680"/>
            <a:ext cx="431280" cy="4312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1" name="TextBox 17"/>
          <p:cNvSpPr/>
          <p:nvPr/>
        </p:nvSpPr>
        <p:spPr>
          <a:xfrm>
            <a:off x="9271080" y="2298600"/>
            <a:ext cx="4312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Box 18"/>
          <p:cNvSpPr/>
          <p:nvPr/>
        </p:nvSpPr>
        <p:spPr>
          <a:xfrm>
            <a:off x="9271080" y="2819520"/>
            <a:ext cx="2082600" cy="63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2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새 대화를 연다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TextBox 19"/>
          <p:cNvSpPr/>
          <p:nvPr/>
        </p:nvSpPr>
        <p:spPr>
          <a:xfrm>
            <a:off x="9271080" y="3479760"/>
            <a:ext cx="20826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왼쪽 사이드바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Box 20"/>
          <p:cNvSpPr/>
          <p:nvPr/>
        </p:nvSpPr>
        <p:spPr>
          <a:xfrm>
            <a:off x="9271080" y="3911760"/>
            <a:ext cx="2082600" cy="12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커넥터를 방금 켰다면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이전 대화에서는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5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잡히지 않습니다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커넥터는 하나면 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시세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순위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차트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뉴스가 전부 한 곳에서 나옵니다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Rounded Rectangle 3"/>
          <p:cNvSpPr/>
          <p:nvPr/>
        </p:nvSpPr>
        <p:spPr>
          <a:xfrm>
            <a:off x="571680" y="2031840"/>
            <a:ext cx="3454200" cy="132048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TextBox 4"/>
          <p:cNvSpPr/>
          <p:nvPr/>
        </p:nvSpPr>
        <p:spPr>
          <a:xfrm>
            <a:off x="571680" y="2413080"/>
            <a:ext cx="34542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 아티팩트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Box 5"/>
          <p:cNvSpPr/>
          <p:nvPr/>
        </p:nvSpPr>
        <p:spPr>
          <a:xfrm>
            <a:off x="571680" y="2793960"/>
            <a:ext cx="3454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화면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Box 6"/>
          <p:cNvSpPr/>
          <p:nvPr/>
        </p:nvSpPr>
        <p:spPr>
          <a:xfrm>
            <a:off x="4076640" y="2489040"/>
            <a:ext cx="3805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→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Rounded Rectangle 7"/>
          <p:cNvSpPr/>
          <p:nvPr/>
        </p:nvSpPr>
        <p:spPr>
          <a:xfrm>
            <a:off x="4508640" y="2031840"/>
            <a:ext cx="3454200" cy="132048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TextBox 8"/>
          <p:cNvSpPr/>
          <p:nvPr/>
        </p:nvSpPr>
        <p:spPr>
          <a:xfrm>
            <a:off x="4508640" y="2413080"/>
            <a:ext cx="34542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PlayMCP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Box 9"/>
          <p:cNvSpPr/>
          <p:nvPr/>
        </p:nvSpPr>
        <p:spPr>
          <a:xfrm>
            <a:off x="4508640" y="2793960"/>
            <a:ext cx="3454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도구함 </a:t>
            </a:r>
            <a:r>
              <a:rPr lang="en-US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주식 </a:t>
            </a:r>
            <a:r>
              <a:rPr lang="en-US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+ </a:t>
            </a:r>
            <a:r>
              <a:rPr lang="zh-CN" sz="14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뉴스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Box 10"/>
          <p:cNvSpPr/>
          <p:nvPr/>
        </p:nvSpPr>
        <p:spPr>
          <a:xfrm>
            <a:off x="8013600" y="2489040"/>
            <a:ext cx="3805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4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→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Rounded Rectangle 11"/>
          <p:cNvSpPr/>
          <p:nvPr/>
        </p:nvSpPr>
        <p:spPr>
          <a:xfrm>
            <a:off x="8445600" y="2031840"/>
            <a:ext cx="3454200" cy="132048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TextBox 12"/>
          <p:cNvSpPr/>
          <p:nvPr/>
        </p:nvSpPr>
        <p:spPr>
          <a:xfrm>
            <a:off x="8445600" y="2413080"/>
            <a:ext cx="34542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한국투자증권 </a:t>
            </a:r>
            <a:r>
              <a:rPr lang="en-US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네이버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Box 13"/>
          <p:cNvSpPr/>
          <p:nvPr/>
        </p:nvSpPr>
        <p:spPr>
          <a:xfrm>
            <a:off x="8445600" y="2793960"/>
            <a:ext cx="34542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시세는 </a:t>
            </a:r>
            <a:r>
              <a:rPr lang="en-US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KIS · </a:t>
            </a:r>
            <a:r>
              <a:rPr lang="zh-CN" sz="14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뉴스는 검색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Rounded Rectangle 18"/>
          <p:cNvSpPr/>
          <p:nvPr/>
        </p:nvSpPr>
        <p:spPr>
          <a:xfrm>
            <a:off x="571680" y="5079960"/>
            <a:ext cx="11061360" cy="53316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9" name="TextBox 19"/>
          <p:cNvSpPr/>
          <p:nvPr/>
        </p:nvSpPr>
        <p:spPr>
          <a:xfrm>
            <a:off x="863640" y="521352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커넥터는 하나입니다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안 될 때 원인도 하나라 그 자리에서 잡힙니다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Box 20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kko.kakao.com/connectclaude · playmcp.kakao.com/llms.txt (2026-08-10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직접 조회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Box 21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54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Box 22"/>
          <p:cNvSpPr/>
          <p:nvPr/>
        </p:nvSpPr>
        <p:spPr>
          <a:xfrm>
            <a:off x="571680" y="3505320"/>
            <a:ext cx="11061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붙이는 순서 — 웹에서 먼저</a:t>
            </a: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앱에서 나중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Rounded Rectangle 23"/>
          <p:cNvSpPr/>
          <p:nvPr/>
        </p:nvSpPr>
        <p:spPr>
          <a:xfrm>
            <a:off x="571680" y="3886200"/>
            <a:ext cx="5333760" cy="114264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TextBox 24"/>
          <p:cNvSpPr/>
          <p:nvPr/>
        </p:nvSpPr>
        <p:spPr>
          <a:xfrm>
            <a:off x="863640" y="4064040"/>
            <a:ext cx="1523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① 웹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Box 25"/>
          <p:cNvSpPr/>
          <p:nvPr/>
        </p:nvSpPr>
        <p:spPr>
          <a:xfrm>
            <a:off x="863640" y="4368960"/>
            <a:ext cx="48258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playmcp.kakao.com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로그인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→ 한국 주식 정보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네이버 검색 담기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Rounded Rectangle 26"/>
          <p:cNvSpPr/>
          <p:nvPr/>
        </p:nvSpPr>
        <p:spPr>
          <a:xfrm>
            <a:off x="6299280" y="3886200"/>
            <a:ext cx="5333760" cy="1142640"/>
          </a:xfrm>
          <a:prstGeom prst="roundRect">
            <a:avLst>
              <a:gd name="adj" fmla="val 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TextBox 27"/>
          <p:cNvSpPr/>
          <p:nvPr/>
        </p:nvSpPr>
        <p:spPr>
          <a:xfrm>
            <a:off x="6591240" y="4064040"/>
            <a:ext cx="1523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② 앱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Box 28"/>
          <p:cNvSpPr/>
          <p:nvPr/>
        </p:nvSpPr>
        <p:spPr>
          <a:xfrm>
            <a:off x="6591240" y="4368960"/>
            <a:ext cx="48258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설정 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&gt;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커넥터 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&gt;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커넥터 둘러보기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</a:pP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→ PlayMCP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선택 → 연결 → 카카오 로그인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도구는 만드는 게 아니라 딸려옵니다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커넥터를 붙이면 그 안의 도구가 통째로 따라옵니다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Box 3"/>
          <p:cNvSpPr/>
          <p:nvPr/>
        </p:nvSpPr>
        <p:spPr>
          <a:xfrm>
            <a:off x="2489040" y="1930320"/>
            <a:ext cx="53337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무엇인가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Box 4"/>
          <p:cNvSpPr/>
          <p:nvPr/>
        </p:nvSpPr>
        <p:spPr>
          <a:xfrm>
            <a:off x="8636040" y="1930320"/>
            <a:ext cx="2997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누가 만드나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Rounded Rectangle 5"/>
          <p:cNvSpPr/>
          <p:nvPr/>
        </p:nvSpPr>
        <p:spPr>
          <a:xfrm>
            <a:off x="571680" y="2311560"/>
            <a:ext cx="11061360" cy="685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TextBox 6"/>
          <p:cNvSpPr/>
          <p:nvPr/>
        </p:nvSpPr>
        <p:spPr>
          <a:xfrm>
            <a:off x="863640" y="2489040"/>
            <a:ext cx="15235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커넥터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Box 7"/>
          <p:cNvSpPr/>
          <p:nvPr/>
        </p:nvSpPr>
        <p:spPr>
          <a:xfrm>
            <a:off x="2489040" y="2502000"/>
            <a:ext cx="58417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공구함을 책상 옆에 놓는 것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Box 8"/>
          <p:cNvSpPr/>
          <p:nvPr/>
        </p:nvSpPr>
        <p:spPr>
          <a:xfrm>
            <a:off x="8636040" y="2502000"/>
            <a:ext cx="29970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내가 붙인다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7" name="Rounded Rectangle 9"/>
          <p:cNvSpPr/>
          <p:nvPr/>
        </p:nvSpPr>
        <p:spPr>
          <a:xfrm>
            <a:off x="571680" y="3098880"/>
            <a:ext cx="11061360" cy="68544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Box 10"/>
          <p:cNvSpPr/>
          <p:nvPr/>
        </p:nvSpPr>
        <p:spPr>
          <a:xfrm>
            <a:off x="863640" y="3276720"/>
            <a:ext cx="15235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도구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Box 11"/>
          <p:cNvSpPr/>
          <p:nvPr/>
        </p:nvSpPr>
        <p:spPr>
          <a:xfrm>
            <a:off x="2489040" y="3289320"/>
            <a:ext cx="58417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공구함 안에 든 공구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Box 12"/>
          <p:cNvSpPr/>
          <p:nvPr/>
        </p:nvSpPr>
        <p:spPr>
          <a:xfrm>
            <a:off x="8636040" y="3289320"/>
            <a:ext cx="29970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이미 들어 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Rounded Rectangle 13"/>
          <p:cNvSpPr/>
          <p:nvPr/>
        </p:nvSpPr>
        <p:spPr>
          <a:xfrm>
            <a:off x="571680" y="3886200"/>
            <a:ext cx="11061360" cy="685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Box 14"/>
          <p:cNvSpPr/>
          <p:nvPr/>
        </p:nvSpPr>
        <p:spPr>
          <a:xfrm>
            <a:off x="863640" y="4064040"/>
            <a:ext cx="15235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스킬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Box 15"/>
          <p:cNvSpPr/>
          <p:nvPr/>
        </p:nvSpPr>
        <p:spPr>
          <a:xfrm>
            <a:off x="2489040" y="4076640"/>
            <a:ext cx="58417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그 공구로 일하는 순서를 적은 매뉴얼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Box 16"/>
          <p:cNvSpPr/>
          <p:nvPr/>
        </p:nvSpPr>
        <p:spPr>
          <a:xfrm>
            <a:off x="8636040" y="4076640"/>
            <a:ext cx="29970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내가 쓰거나 받는다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Rounded Rectangle 17"/>
          <p:cNvSpPr/>
          <p:nvPr/>
        </p:nvSpPr>
        <p:spPr>
          <a:xfrm>
            <a:off x="571680" y="4673520"/>
            <a:ext cx="11061360" cy="685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Box 18"/>
          <p:cNvSpPr/>
          <p:nvPr/>
        </p:nvSpPr>
        <p:spPr>
          <a:xfrm>
            <a:off x="863640" y="4851360"/>
            <a:ext cx="15235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아티팩트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Box 19"/>
          <p:cNvSpPr/>
          <p:nvPr/>
        </p:nvSpPr>
        <p:spPr>
          <a:xfrm>
            <a:off x="2489040" y="4863960"/>
            <a:ext cx="58417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그 일의 결과물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Box 20"/>
          <p:cNvSpPr/>
          <p:nvPr/>
        </p:nvSpPr>
        <p:spPr>
          <a:xfrm>
            <a:off x="8636040" y="4863960"/>
            <a:ext cx="29970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 만든다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9" name="Rounded Rectangle 21"/>
          <p:cNvSpPr/>
          <p:nvPr/>
        </p:nvSpPr>
        <p:spPr>
          <a:xfrm>
            <a:off x="571680" y="5587920"/>
            <a:ext cx="11061360" cy="53316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Box 22"/>
          <p:cNvSpPr/>
          <p:nvPr/>
        </p:nvSpPr>
        <p:spPr>
          <a:xfrm>
            <a:off x="863640" y="572148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도구 이름을 외울 필요는 없습니다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"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등락률 상위 알려줘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"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하면 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가 알아서 집습니다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Box 23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55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 문장씩 넣습니다 ①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뭘 할 수 있는지 먼저 물어봅니다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4" name="Rounded Rectangle 3"/>
          <p:cNvSpPr/>
          <p:nvPr/>
        </p:nvSpPr>
        <p:spPr>
          <a:xfrm>
            <a:off x="571680" y="1930320"/>
            <a:ext cx="11061360" cy="78696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TextBox 4"/>
          <p:cNvSpPr/>
          <p:nvPr/>
        </p:nvSpPr>
        <p:spPr>
          <a:xfrm>
            <a:off x="774720" y="2176920"/>
            <a:ext cx="1065492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나는 한국 주식 테마에 대한 아티팩트를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MCP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를 이용해서 만들고 싶어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6" name="Rounded Rectangle 5"/>
          <p:cNvSpPr/>
          <p:nvPr/>
        </p:nvSpPr>
        <p:spPr>
          <a:xfrm>
            <a:off x="571680" y="2895480"/>
            <a:ext cx="11061360" cy="78696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TextBox 6"/>
          <p:cNvSpPr/>
          <p:nvPr/>
        </p:nvSpPr>
        <p:spPr>
          <a:xfrm>
            <a:off x="774720" y="3142080"/>
            <a:ext cx="1065492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내가 지금 쓸 수 있는 커넥터랑 도구에 뭐가 있는지 먼저 알려줘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Rounded Rectangle 7"/>
          <p:cNvSpPr/>
          <p:nvPr/>
        </p:nvSpPr>
        <p:spPr>
          <a:xfrm>
            <a:off x="571680" y="3860640"/>
            <a:ext cx="11061360" cy="78696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TextBox 8"/>
          <p:cNvSpPr/>
          <p:nvPr/>
        </p:nvSpPr>
        <p:spPr>
          <a:xfrm>
            <a:off x="774720" y="4107240"/>
            <a:ext cx="1065492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그 도구로 삼성전자 현재가를 한번 가져와 봐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Rounded Rectangle 9"/>
          <p:cNvSpPr/>
          <p:nvPr/>
        </p:nvSpPr>
        <p:spPr>
          <a:xfrm>
            <a:off x="571680" y="4826160"/>
            <a:ext cx="11061360" cy="78696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TextBox 10"/>
          <p:cNvSpPr/>
          <p:nvPr/>
        </p:nvSpPr>
        <p:spPr>
          <a:xfrm>
            <a:off x="774720" y="5072400"/>
            <a:ext cx="1065492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오늘 많이 오른 종목이랑 많이 내린 종목도 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20</a:t>
            </a:r>
            <a:r>
              <a:rPr lang="zh-CN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개씩 보여줘</a:t>
            </a:r>
            <a:r>
              <a:rPr lang="en-US" sz="16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TextBox 11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여기서 숫자가 안 나오면 뒤는 전부 안 됩니다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커넥터부터 다시 확인하세요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Box 12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56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 문장씩 넣습니다 ②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이제 화면으로 만듭니다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6" name="Rounded Rectangle 3"/>
          <p:cNvSpPr/>
          <p:nvPr/>
        </p:nvSpPr>
        <p:spPr>
          <a:xfrm>
            <a:off x="571680" y="193032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Box 4"/>
          <p:cNvSpPr/>
          <p:nvPr/>
        </p:nvSpPr>
        <p:spPr>
          <a:xfrm>
            <a:off x="774720" y="214776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좋아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방금 본 걸 아티팩트로 만들어줘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제목은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"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한국 테마 레이더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"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로 해줘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8" name="Rounded Rectangle 5"/>
          <p:cNvSpPr/>
          <p:nvPr/>
        </p:nvSpPr>
        <p:spPr>
          <a:xfrm>
            <a:off x="571680" y="276876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9" name="TextBox 6"/>
          <p:cNvSpPr/>
          <p:nvPr/>
        </p:nvSpPr>
        <p:spPr>
          <a:xfrm>
            <a:off x="774720" y="298620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오른 종목이랑 내린 종목을 좌우 두 칸으로 나눠줘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Rounded Rectangle 7"/>
          <p:cNvSpPr/>
          <p:nvPr/>
        </p:nvSpPr>
        <p:spPr>
          <a:xfrm>
            <a:off x="571680" y="360684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Box 8"/>
          <p:cNvSpPr/>
          <p:nvPr/>
        </p:nvSpPr>
        <p:spPr>
          <a:xfrm>
            <a:off x="774720" y="382428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금액이 읽기 힘든데 원 단위 콤마로 바꿔줄래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? 1,422,000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원 이런 식으로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Rounded Rectangle 9"/>
          <p:cNvSpPr/>
          <p:nvPr/>
        </p:nvSpPr>
        <p:spPr>
          <a:xfrm>
            <a:off x="571680" y="444492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TextBox 10"/>
          <p:cNvSpPr/>
          <p:nvPr/>
        </p:nvSpPr>
        <p:spPr>
          <a:xfrm>
            <a:off x="774720" y="466236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맨 위에 새로고침 버튼을 하나 만들어줘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누르면 다시 불러오게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Rounded Rectangle 11"/>
          <p:cNvSpPr/>
          <p:nvPr/>
        </p:nvSpPr>
        <p:spPr>
          <a:xfrm>
            <a:off x="571680" y="528336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Box 12"/>
          <p:cNvSpPr/>
          <p:nvPr/>
        </p:nvSpPr>
        <p:spPr>
          <a:xfrm>
            <a:off x="774720" y="550080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불러온 값을 저장해 뒀다가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다시 열면 저장된 걸 먼저 보여주고 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10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분 지났으면 알아서 갱신해줘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Box 13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첫 아티팩트가 만들어지는 순간입니다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안 만들어지면 요금제를 확인하세요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Box 14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57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 문장씩 넣습니다 ③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테마를 붙여 갑니다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Rounded Rectangle 3"/>
          <p:cNvSpPr/>
          <p:nvPr/>
        </p:nvSpPr>
        <p:spPr>
          <a:xfrm>
            <a:off x="571680" y="1930320"/>
            <a:ext cx="11061360" cy="6091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TextBox 4"/>
          <p:cNvSpPr/>
          <p:nvPr/>
        </p:nvSpPr>
        <p:spPr>
          <a:xfrm>
            <a:off x="774720" y="2106360"/>
            <a:ext cx="10654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이제 테마를 넣고 싶어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요즘 거래대금이 많이 몰리는 테마 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20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개를 네가 골라서 순위표 아래에 카드로 나열해줘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Rounded Rectangle 5"/>
          <p:cNvSpPr/>
          <p:nvPr/>
        </p:nvSpPr>
        <p:spPr>
          <a:xfrm>
            <a:off x="571680" y="2641680"/>
            <a:ext cx="11061360" cy="6091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TextBox 6"/>
          <p:cNvSpPr/>
          <p:nvPr/>
        </p:nvSpPr>
        <p:spPr>
          <a:xfrm>
            <a:off x="774720" y="2817360"/>
            <a:ext cx="10654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카드마다 그 테마 점수랑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신선도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자금신호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촉매강도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모멘텀 네 가지를 막대로 보여줘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Rounded Rectangle 7"/>
          <p:cNvSpPr/>
          <p:nvPr/>
        </p:nvSpPr>
        <p:spPr>
          <a:xfrm>
            <a:off x="571680" y="3352680"/>
            <a:ext cx="11061360" cy="6091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TextBox 8"/>
          <p:cNvSpPr/>
          <p:nvPr/>
        </p:nvSpPr>
        <p:spPr>
          <a:xfrm>
            <a:off x="774720" y="3528720"/>
            <a:ext cx="10654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카드마다 그 테마의 대표 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ETF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랑 관련주도 같이 보여주고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각각 지금 몇 퍼센트인지 옆에 붙여줘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Rounded Rectangle 9"/>
          <p:cNvSpPr/>
          <p:nvPr/>
        </p:nvSpPr>
        <p:spPr>
          <a:xfrm>
            <a:off x="571680" y="4064040"/>
            <a:ext cx="11061360" cy="6091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TextBox 10"/>
          <p:cNvSpPr/>
          <p:nvPr/>
        </p:nvSpPr>
        <p:spPr>
          <a:xfrm>
            <a:off x="774720" y="4239720"/>
            <a:ext cx="10654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카드마다 대표 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ETF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랑 대표 관련주의 최근 한 달 흐름을 한 그래프에 두 선으로 그려줘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시작을 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0%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로 맞춰서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Rounded Rectangle 11"/>
          <p:cNvSpPr/>
          <p:nvPr/>
        </p:nvSpPr>
        <p:spPr>
          <a:xfrm>
            <a:off x="571680" y="4775040"/>
            <a:ext cx="11061360" cy="6091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Box 12"/>
          <p:cNvSpPr/>
          <p:nvPr/>
        </p:nvSpPr>
        <p:spPr>
          <a:xfrm>
            <a:off x="774720" y="4951080"/>
            <a:ext cx="10654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그 테마가 지금 왜 움직이는지도 카드에 한 줄로 적어주고 날짜를 붙여줘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Rounded Rectangle 13"/>
          <p:cNvSpPr/>
          <p:nvPr/>
        </p:nvSpPr>
        <p:spPr>
          <a:xfrm>
            <a:off x="571680" y="5486400"/>
            <a:ext cx="11061360" cy="6091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TextBox 14"/>
          <p:cNvSpPr/>
          <p:nvPr/>
        </p:nvSpPr>
        <p:spPr>
          <a:xfrm>
            <a:off x="774720" y="5662440"/>
            <a:ext cx="10654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카드마다 뉴스 버튼을 만들어줘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누르면 그 테마 이름으로 뉴스를 검색해서 제목을 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개 가져오고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제목을 누르면 원문이 열리게 해줘</a:t>
            </a:r>
            <a:r>
              <a:rPr lang="en-US" sz="14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Box 15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테마와 종목은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 정한 것입니다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정답이 아닙니다 — 본인 관심사로 바꿔보게 하세요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Box 16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58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 문장씩 넣습니다 ④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지도를 올리고 마무리합니다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Rounded Rectangle 3"/>
          <p:cNvSpPr/>
          <p:nvPr/>
        </p:nvSpPr>
        <p:spPr>
          <a:xfrm>
            <a:off x="571680" y="193032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TextBox 4"/>
          <p:cNvSpPr/>
          <p:nvPr/>
        </p:nvSpPr>
        <p:spPr>
          <a:xfrm>
            <a:off x="774720" y="214776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순위표 위에 테마들을 한눈에 보는 지도를 넣고 싶어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가로는 초기부터 성숙까지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세로는 둔화부터 가속까지로 해서 테마를 동그라미로 찍어줘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Rounded Rectangle 5"/>
          <p:cNvSpPr/>
          <p:nvPr/>
        </p:nvSpPr>
        <p:spPr>
          <a:xfrm>
            <a:off x="571680" y="276876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Box 6"/>
          <p:cNvSpPr/>
          <p:nvPr/>
        </p:nvSpPr>
        <p:spPr>
          <a:xfrm>
            <a:off x="774720" y="298620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지도를 네 칸으로 나눠서 이름표를 달고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왼쪽 위 칸만 연한 초록으로 강조해줘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Rounded Rectangle 7"/>
          <p:cNvSpPr/>
          <p:nvPr/>
        </p:nvSpPr>
        <p:spPr>
          <a:xfrm>
            <a:off x="571680" y="360684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TextBox 8"/>
          <p:cNvSpPr/>
          <p:nvPr/>
        </p:nvSpPr>
        <p:spPr>
          <a:xfrm>
            <a:off x="774720" y="382428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동그라미 크기를 점수에 맞춰 다르게 하고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겹치면 알아서 밀어내서 안 겹치게 해줘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2" name="Rounded Rectangle 9"/>
          <p:cNvSpPr/>
          <p:nvPr/>
        </p:nvSpPr>
        <p:spPr>
          <a:xfrm>
            <a:off x="571680" y="444492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TextBox 10"/>
          <p:cNvSpPr/>
          <p:nvPr/>
        </p:nvSpPr>
        <p:spPr>
          <a:xfrm>
            <a:off x="774720" y="466236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열 때마다 자동으로 불러오니까 느린데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버튼 누를 때만 부르게 바꿔줘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4" name="Rounded Rectangle 11"/>
          <p:cNvSpPr/>
          <p:nvPr/>
        </p:nvSpPr>
        <p:spPr>
          <a:xfrm>
            <a:off x="571680" y="5283360"/>
            <a:ext cx="11061360" cy="7110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TextBox 12"/>
          <p:cNvSpPr/>
          <p:nvPr/>
        </p:nvSpPr>
        <p:spPr>
          <a:xfrm>
            <a:off x="774720" y="5500800"/>
            <a:ext cx="1065492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맨 아래에 투자 추천이 아니라는 문구를 넣어줘</a:t>
            </a: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Box 13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마지막 문장을 건너뛰지 마세요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이 화면을 남에게 보여주게 되는 순간이 옵니다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Box 14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59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사람마다 다른 화면이 나옵니다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실패가 아닙니다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원래 그렇습니다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0" name="Rounded Rectangle 3"/>
          <p:cNvSpPr/>
          <p:nvPr/>
        </p:nvSpPr>
        <p:spPr>
          <a:xfrm>
            <a:off x="571680" y="1930320"/>
            <a:ext cx="5333760" cy="304776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TextBox 4"/>
          <p:cNvSpPr/>
          <p:nvPr/>
        </p:nvSpPr>
        <p:spPr>
          <a:xfrm>
            <a:off x="914400" y="2235240"/>
            <a:ext cx="45716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말로 시키면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Box 5"/>
          <p:cNvSpPr/>
          <p:nvPr/>
        </p:nvSpPr>
        <p:spPr>
          <a:xfrm>
            <a:off x="914400" y="2717640"/>
            <a:ext cx="4571640" cy="20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같은 문장을 넣어도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테마도 색도 배치도 조금씩 다릅니다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대신 내가 무엇을 시켰는지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하나하나 기억에 남습니다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Rounded Rectangle 6"/>
          <p:cNvSpPr/>
          <p:nvPr/>
        </p:nvSpPr>
        <p:spPr>
          <a:xfrm>
            <a:off x="6299280" y="1930320"/>
            <a:ext cx="5333760" cy="3047760"/>
          </a:xfrm>
          <a:prstGeom prst="roundRect">
            <a:avLst>
              <a:gd name="adj" fmla="val 6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Box 7"/>
          <p:cNvSpPr/>
          <p:nvPr/>
        </p:nvSpPr>
        <p:spPr>
          <a:xfrm>
            <a:off x="6642000" y="2235240"/>
            <a:ext cx="45716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0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파일을 주면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Box 8"/>
          <p:cNvSpPr/>
          <p:nvPr/>
        </p:nvSpPr>
        <p:spPr>
          <a:xfrm>
            <a:off x="6642000" y="2717640"/>
            <a:ext cx="4571640" cy="20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완성된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HTML 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을 주고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"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이대로 만들어줘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" 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하면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거의 똑같이 나옵니다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대신 왜 그렇게 됐는지는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남지 않습니다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Rounded Rectangle 9"/>
          <p:cNvSpPr/>
          <p:nvPr/>
        </p:nvSpPr>
        <p:spPr>
          <a:xfrm>
            <a:off x="571680" y="5181480"/>
            <a:ext cx="11061360" cy="53316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7" name="TextBox 10"/>
          <p:cNvSpPr/>
          <p:nvPr/>
        </p:nvSpPr>
        <p:spPr>
          <a:xfrm>
            <a:off x="863640" y="531504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오늘은 앞의 방식으로 만듭니다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똑같은 화면이 필요하면 그때 파일을 받으세요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11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완성본 파일과 프롬프트 전문은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GitHub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자료실에 있습니다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Box 12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60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Rounded Rectangle 6"/>
          <p:cNvSpPr/>
          <p:nvPr/>
        </p:nvSpPr>
        <p:spPr>
          <a:xfrm>
            <a:off x="571680" y="2286000"/>
            <a:ext cx="11061360" cy="482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안 될 때는 이 순서로 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대부분 이 일곱 가지 안에 있습니다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Box 3"/>
          <p:cNvSpPr/>
          <p:nvPr/>
        </p:nvSpPr>
        <p:spPr>
          <a:xfrm>
            <a:off x="863640" y="1930320"/>
            <a:ext cx="38095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증상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Box 4"/>
          <p:cNvSpPr/>
          <p:nvPr/>
        </p:nvSpPr>
        <p:spPr>
          <a:xfrm>
            <a:off x="5079960" y="1930320"/>
            <a:ext cx="30477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왜 그런가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Box 5"/>
          <p:cNvSpPr/>
          <p:nvPr/>
        </p:nvSpPr>
        <p:spPr>
          <a:xfrm>
            <a:off x="8381880" y="1930320"/>
            <a:ext cx="3250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이렇게 하세요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6" name="Rounded Rectangle 6"/>
          <p:cNvSpPr/>
          <p:nvPr/>
        </p:nvSpPr>
        <p:spPr>
          <a:xfrm>
            <a:off x="571680" y="3327480"/>
            <a:ext cx="11061360" cy="482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TextBox 7"/>
          <p:cNvSpPr/>
          <p:nvPr/>
        </p:nvSpPr>
        <p:spPr>
          <a:xfrm>
            <a:off x="863640" y="2425680"/>
            <a:ext cx="4063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커넥터를 못 찾는다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TextBox 8"/>
          <p:cNvSpPr/>
          <p:nvPr/>
        </p:nvSpPr>
        <p:spPr>
          <a:xfrm>
            <a:off x="5079960" y="2438280"/>
            <a:ext cx="3174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새 대화가 아님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Box 9"/>
          <p:cNvSpPr/>
          <p:nvPr/>
        </p:nvSpPr>
        <p:spPr>
          <a:xfrm>
            <a:off x="8381880" y="2438280"/>
            <a:ext cx="3250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새 대화를 열고 다시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Box 10"/>
          <p:cNvSpPr/>
          <p:nvPr/>
        </p:nvSpPr>
        <p:spPr>
          <a:xfrm>
            <a:off x="863640" y="3467160"/>
            <a:ext cx="4063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아티팩트가 안 만들어진다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Box 11"/>
          <p:cNvSpPr/>
          <p:nvPr/>
        </p:nvSpPr>
        <p:spPr>
          <a:xfrm>
            <a:off x="5079960" y="3479760"/>
            <a:ext cx="3174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무료 요금제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2" name="TextBox 12"/>
          <p:cNvSpPr/>
          <p:nvPr/>
        </p:nvSpPr>
        <p:spPr>
          <a:xfrm>
            <a:off x="8381880" y="3479760"/>
            <a:ext cx="3250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Pro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이상이 필요합니다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3" name="Rounded Rectangle 13"/>
          <p:cNvSpPr/>
          <p:nvPr/>
        </p:nvSpPr>
        <p:spPr>
          <a:xfrm>
            <a:off x="571680" y="4368960"/>
            <a:ext cx="11061360" cy="482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Box 14"/>
          <p:cNvSpPr/>
          <p:nvPr/>
        </p:nvSpPr>
        <p:spPr>
          <a:xfrm>
            <a:off x="863640" y="3987720"/>
            <a:ext cx="4063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화면은 뜨는데 숫자가 빈다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Box 15"/>
          <p:cNvSpPr/>
          <p:nvPr/>
        </p:nvSpPr>
        <p:spPr>
          <a:xfrm>
            <a:off x="5079960" y="4000680"/>
            <a:ext cx="3174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도구 호출 실패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Box 16"/>
          <p:cNvSpPr/>
          <p:nvPr/>
        </p:nvSpPr>
        <p:spPr>
          <a:xfrm>
            <a:off x="8381880" y="4000680"/>
            <a:ext cx="3250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왜 안 들어오는지 물어보기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Box 17"/>
          <p:cNvSpPr/>
          <p:nvPr/>
        </p:nvSpPr>
        <p:spPr>
          <a:xfrm>
            <a:off x="863640" y="4508640"/>
            <a:ext cx="4063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금액이 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142.2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만원 으로 나온다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Box 18"/>
          <p:cNvSpPr/>
          <p:nvPr/>
        </p:nvSpPr>
        <p:spPr>
          <a:xfrm>
            <a:off x="5079960" y="4521240"/>
            <a:ext cx="3174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지시가 무시됨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Box 19"/>
          <p:cNvSpPr/>
          <p:nvPr/>
        </p:nvSpPr>
        <p:spPr>
          <a:xfrm>
            <a:off x="8381880" y="4521240"/>
            <a:ext cx="3250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원 단위 콤마로 다시 시키기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0" name="Rounded Rectangle 20"/>
          <p:cNvSpPr/>
          <p:nvPr/>
        </p:nvSpPr>
        <p:spPr>
          <a:xfrm>
            <a:off x="571680" y="5410080"/>
            <a:ext cx="11061360" cy="482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TextBox 21"/>
          <p:cNvSpPr/>
          <p:nvPr/>
        </p:nvSpPr>
        <p:spPr>
          <a:xfrm>
            <a:off x="863640" y="5029200"/>
            <a:ext cx="4063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고치랬더니 화면이 통째로 바뀐다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Box 22"/>
          <p:cNvSpPr/>
          <p:nvPr/>
        </p:nvSpPr>
        <p:spPr>
          <a:xfrm>
            <a:off x="5079960" y="5041800"/>
            <a:ext cx="3174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범위를 안 정해줌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Box 23"/>
          <p:cNvSpPr/>
          <p:nvPr/>
        </p:nvSpPr>
        <p:spPr>
          <a:xfrm>
            <a:off x="8381880" y="5041800"/>
            <a:ext cx="3250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"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다른 건 그대로 두고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"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붙이기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Box 24"/>
          <p:cNvSpPr/>
          <p:nvPr/>
        </p:nvSpPr>
        <p:spPr>
          <a:xfrm>
            <a:off x="863640" y="5549760"/>
            <a:ext cx="4063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어제 값이 나온다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Box 25"/>
          <p:cNvSpPr/>
          <p:nvPr/>
        </p:nvSpPr>
        <p:spPr>
          <a:xfrm>
            <a:off x="5079960" y="5562720"/>
            <a:ext cx="3174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장 시작 전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주말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Box 26"/>
          <p:cNvSpPr/>
          <p:nvPr/>
        </p:nvSpPr>
        <p:spPr>
          <a:xfrm>
            <a:off x="8381880" y="5562720"/>
            <a:ext cx="3250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고장이 아닙니다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7" name="Rounded Rectangle 27"/>
          <p:cNvSpPr/>
          <p:nvPr/>
        </p:nvSpPr>
        <p:spPr>
          <a:xfrm>
            <a:off x="571680" y="5969160"/>
            <a:ext cx="11061360" cy="43128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TextBox 28"/>
          <p:cNvSpPr/>
          <p:nvPr/>
        </p:nvSpPr>
        <p:spPr>
          <a:xfrm>
            <a:off x="863640" y="6058080"/>
            <a:ext cx="1047708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여섯 번째가 중요합니다</a:t>
            </a:r>
            <a:r>
              <a:rPr lang="en-US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"</a:t>
            </a:r>
            <a:r>
              <a:rPr lang="zh-CN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다른 건 그대로 두고 ○○만 고쳐줘</a:t>
            </a:r>
            <a:r>
              <a:rPr lang="en-US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" </a:t>
            </a:r>
            <a:r>
              <a:rPr lang="zh-CN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를 습관으로 만드세요</a:t>
            </a:r>
            <a:r>
              <a:rPr lang="en-US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Box 29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61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Box 7"/>
          <p:cNvSpPr/>
          <p:nvPr/>
        </p:nvSpPr>
        <p:spPr>
          <a:xfrm>
            <a:off x="863640" y="2946240"/>
            <a:ext cx="4063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시세는 되는데 뉴스만 안 나온다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Box 8"/>
          <p:cNvSpPr/>
          <p:nvPr/>
        </p:nvSpPr>
        <p:spPr>
          <a:xfrm>
            <a:off x="5079960" y="2959200"/>
            <a:ext cx="3174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도구함에 네이버 검색을 안 담음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Box 9"/>
          <p:cNvSpPr/>
          <p:nvPr/>
        </p:nvSpPr>
        <p:spPr>
          <a:xfrm>
            <a:off x="8381880" y="2959200"/>
            <a:ext cx="3250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웹에서 담고 새 대화 열기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숫자의 출처를 물어보세요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답할 수 없는 숫자는 쓰지 않습니다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Rounded Rectangle 3"/>
          <p:cNvSpPr/>
          <p:nvPr/>
        </p:nvSpPr>
        <p:spPr>
          <a:xfrm>
            <a:off x="571680" y="1981080"/>
            <a:ext cx="11061360" cy="8125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TextBox 4"/>
          <p:cNvSpPr/>
          <p:nvPr/>
        </p:nvSpPr>
        <p:spPr>
          <a:xfrm>
            <a:off x="774720" y="2221920"/>
            <a:ext cx="10654920" cy="8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zh-CN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 화면에 나오는 숫자들이 각각 어디서 온 건지 알려줘</a:t>
            </a:r>
            <a:r>
              <a:rPr lang="en-US" sz="18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Rounded Rectangle 5"/>
          <p:cNvSpPr/>
          <p:nvPr/>
        </p:nvSpPr>
        <p:spPr>
          <a:xfrm>
            <a:off x="571680" y="3098880"/>
            <a:ext cx="11061360" cy="68544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TextBox 6"/>
          <p:cNvSpPr/>
          <p:nvPr/>
        </p:nvSpPr>
        <p:spPr>
          <a:xfrm>
            <a:off x="863640" y="3289320"/>
            <a:ext cx="30477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출처를 대지 못하면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Box 7"/>
          <p:cNvSpPr/>
          <p:nvPr/>
        </p:nvSpPr>
        <p:spPr>
          <a:xfrm>
            <a:off x="4064040" y="3289320"/>
            <a:ext cx="72385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그 숫자는 쓰지 않습니다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0" name="Rounded Rectangle 8"/>
          <p:cNvSpPr/>
          <p:nvPr/>
        </p:nvSpPr>
        <p:spPr>
          <a:xfrm>
            <a:off x="571680" y="3886200"/>
            <a:ext cx="11061360" cy="68544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TextBox 9"/>
          <p:cNvSpPr/>
          <p:nvPr/>
        </p:nvSpPr>
        <p:spPr>
          <a:xfrm>
            <a:off x="863640" y="4076640"/>
            <a:ext cx="30477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테마를 묶은 기준은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2" name="TextBox 10"/>
          <p:cNvSpPr/>
          <p:nvPr/>
        </p:nvSpPr>
        <p:spPr>
          <a:xfrm>
            <a:off x="4064040" y="4076640"/>
            <a:ext cx="72385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사람이 정한 것입니다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정답이 아닙니다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Rounded Rectangle 11"/>
          <p:cNvSpPr/>
          <p:nvPr/>
        </p:nvSpPr>
        <p:spPr>
          <a:xfrm>
            <a:off x="571680" y="4673520"/>
            <a:ext cx="11061360" cy="68544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Box 12"/>
          <p:cNvSpPr/>
          <p:nvPr/>
        </p:nvSpPr>
        <p:spPr>
          <a:xfrm>
            <a:off x="863640" y="4863960"/>
            <a:ext cx="30477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오른쪽 위에 있다고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Box 13"/>
          <p:cNvSpPr/>
          <p:nvPr/>
        </p:nvSpPr>
        <p:spPr>
          <a:xfrm>
            <a:off x="4064040" y="4863960"/>
            <a:ext cx="723852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좋은 것이 아닙니다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지나온 흐름일 뿐입니다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6" name="Rounded Rectangle 14"/>
          <p:cNvSpPr/>
          <p:nvPr/>
        </p:nvSpPr>
        <p:spPr>
          <a:xfrm>
            <a:off x="571680" y="5537160"/>
            <a:ext cx="11061360" cy="58392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Box 15"/>
          <p:cNvSpPr/>
          <p:nvPr/>
        </p:nvSpPr>
        <p:spPr>
          <a:xfrm>
            <a:off x="863640" y="569592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투자 판단과 그 결과는 본인 책임입니다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Claude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는 판단 재료를 모아줄 뿐 대신 결정하지 않습니다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TextBox 16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시세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차트는 한국투자증권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(KIS)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공식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API 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뉴스는 네이버 검색 결과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매매 전 원본 공시를 확인하십시오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TextBox 17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SECTION 08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실전 주식 테마 레이더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62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Rectangle 1"/>
          <p:cNvSpPr/>
          <p:nvPr/>
        </p:nvSpPr>
        <p:spPr>
          <a:xfrm>
            <a:off x="8129160" y="0"/>
            <a:ext cx="405972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TextBox 2"/>
          <p:cNvSpPr/>
          <p:nvPr/>
        </p:nvSpPr>
        <p:spPr>
          <a:xfrm>
            <a:off x="8129160" y="1901880"/>
            <a:ext cx="405972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</a:rPr>
              <a:t>09</a:t>
            </a:r>
            <a:endParaRPr lang="en-US" sz="19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Box 3"/>
          <p:cNvSpPr/>
          <p:nvPr/>
        </p:nvSpPr>
        <p:spPr>
          <a:xfrm>
            <a:off x="859680" y="2231280"/>
            <a:ext cx="58428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</a:rPr>
              <a:t>SECTION 09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Box 4"/>
          <p:cNvSpPr/>
          <p:nvPr/>
        </p:nvSpPr>
        <p:spPr>
          <a:xfrm>
            <a:off x="859680" y="2615040"/>
            <a:ext cx="692172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경매 물건 분석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Rectangle 5"/>
          <p:cNvSpPr/>
          <p:nvPr/>
        </p:nvSpPr>
        <p:spPr>
          <a:xfrm>
            <a:off x="914400" y="3813120"/>
            <a:ext cx="813600" cy="543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Box 6"/>
          <p:cNvSpPr/>
          <p:nvPr/>
        </p:nvSpPr>
        <p:spPr>
          <a:xfrm>
            <a:off x="859680" y="4114800"/>
            <a:ext cx="6921720" cy="170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</a:rPr>
              <a:t>서류를 넣으면 물건카드가 나옵니다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</a:rPr>
              <a:t>설치는 폴더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</a:rPr>
              <a:t>· 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</a:rPr>
              <a:t>프로젝트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</a:rPr>
              <a:t>· 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</a:rPr>
              <a:t>스킬 세 단계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</a:rPr>
              <a:t>MCP 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</a:rPr>
              <a:t>네 개를 붙입니다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</a:rPr>
              <a:t>공시가격과 종부세는 주의해서 봅니다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TextBox 7"/>
          <p:cNvSpPr/>
          <p:nvPr/>
        </p:nvSpPr>
        <p:spPr>
          <a:xfrm>
            <a:off x="859680" y="6172200"/>
            <a:ext cx="5842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데스크탑 시작하기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서류를 넣으면 물건카드가 나옵니다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한 마디만 하면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22~24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장짜리 검토 보고서가 만들어집니다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Rectangle 3"/>
          <p:cNvSpPr/>
          <p:nvPr/>
        </p:nvSpPr>
        <p:spPr>
          <a:xfrm>
            <a:off x="567000" y="1929240"/>
            <a:ext cx="35748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4"/>
          <p:cNvSpPr/>
          <p:nvPr/>
        </p:nvSpPr>
        <p:spPr>
          <a:xfrm>
            <a:off x="85032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Box 5"/>
          <p:cNvSpPr/>
          <p:nvPr/>
        </p:nvSpPr>
        <p:spPr>
          <a:xfrm>
            <a:off x="85032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Box 6"/>
          <p:cNvSpPr/>
          <p:nvPr/>
        </p:nvSpPr>
        <p:spPr>
          <a:xfrm>
            <a:off x="850320" y="2816280"/>
            <a:ext cx="30081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서류를 넣는다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3" name="TextBox 7"/>
          <p:cNvSpPr/>
          <p:nvPr/>
        </p:nvSpPr>
        <p:spPr>
          <a:xfrm>
            <a:off x="850320" y="3483720"/>
            <a:ext cx="3008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물건 폴더에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PDF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Box 8"/>
          <p:cNvSpPr/>
          <p:nvPr/>
        </p:nvSpPr>
        <p:spPr>
          <a:xfrm>
            <a:off x="850320" y="3913560"/>
            <a:ext cx="300816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경매정보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등기부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매각물건명세서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현황조사서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감정평가서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문건접수내역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Rectangle 9"/>
          <p:cNvSpPr/>
          <p:nvPr/>
        </p:nvSpPr>
        <p:spPr>
          <a:xfrm>
            <a:off x="4316040" y="1929240"/>
            <a:ext cx="35748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6" name="Rectangle 10"/>
          <p:cNvSpPr/>
          <p:nvPr/>
        </p:nvSpPr>
        <p:spPr>
          <a:xfrm>
            <a:off x="459936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7" name="TextBox 11"/>
          <p:cNvSpPr/>
          <p:nvPr/>
        </p:nvSpPr>
        <p:spPr>
          <a:xfrm>
            <a:off x="459936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Box 12"/>
          <p:cNvSpPr/>
          <p:nvPr/>
        </p:nvSpPr>
        <p:spPr>
          <a:xfrm>
            <a:off x="4599360" y="2816280"/>
            <a:ext cx="30081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한 마디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9" name="TextBox 13"/>
          <p:cNvSpPr/>
          <p:nvPr/>
        </p:nvSpPr>
        <p:spPr>
          <a:xfrm>
            <a:off x="4599360" y="3483720"/>
            <a:ext cx="3008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새 대화에서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Box 14"/>
          <p:cNvSpPr/>
          <p:nvPr/>
        </p:nvSpPr>
        <p:spPr>
          <a:xfrm>
            <a:off x="4599360" y="3913560"/>
            <a:ext cx="300816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"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 물건 분석해줘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권리분석부터 세금까지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순서대로 검토합니다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1" name="Rectangle 15"/>
          <p:cNvSpPr/>
          <p:nvPr/>
        </p:nvSpPr>
        <p:spPr>
          <a:xfrm>
            <a:off x="8055720" y="1929240"/>
            <a:ext cx="35748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6"/>
          <p:cNvSpPr/>
          <p:nvPr/>
        </p:nvSpPr>
        <p:spPr>
          <a:xfrm>
            <a:off x="833940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TextBox 17"/>
          <p:cNvSpPr/>
          <p:nvPr/>
        </p:nvSpPr>
        <p:spPr>
          <a:xfrm>
            <a:off x="833940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Box 18"/>
          <p:cNvSpPr/>
          <p:nvPr/>
        </p:nvSpPr>
        <p:spPr>
          <a:xfrm>
            <a:off x="8339400" y="2816280"/>
            <a:ext cx="30081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물건카드가 나온다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TextBox 19"/>
          <p:cNvSpPr/>
          <p:nvPr/>
        </p:nvSpPr>
        <p:spPr>
          <a:xfrm>
            <a:off x="8339400" y="3483720"/>
            <a:ext cx="3008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PPTX 22~24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장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Box 20"/>
          <p:cNvSpPr/>
          <p:nvPr/>
        </p:nvSpPr>
        <p:spPr>
          <a:xfrm>
            <a:off x="8339400" y="3913560"/>
            <a:ext cx="300816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권리 순위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임차인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예상 배당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입찰가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취득세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보유세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명도 계획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Rectangle 21"/>
          <p:cNvSpPr/>
          <p:nvPr/>
        </p:nvSpPr>
        <p:spPr>
          <a:xfrm>
            <a:off x="567000" y="5586840"/>
            <a:ext cx="11063880" cy="529920"/>
          </a:xfrm>
          <a:prstGeom prst="rect">
            <a:avLst/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TextBox 22"/>
          <p:cNvSpPr/>
          <p:nvPr/>
        </p:nvSpPr>
        <p:spPr>
          <a:xfrm>
            <a:off x="859680" y="5724000"/>
            <a:ext cx="10478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마지막 장이 결론입니다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 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답을 준 게 아니라 「무엇을 더 봐야 하는지」를 알려줍니다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9" name="TextBox 23"/>
          <p:cNvSpPr/>
          <p:nvPr/>
        </p:nvSpPr>
        <p:spPr>
          <a:xfrm>
            <a:off x="6346080" y="6455520"/>
            <a:ext cx="52664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SECTION 09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경매 물건 분석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64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서류 여덟 가지가 각각 다른 것을 말해줍니다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1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많이 넣을수록 정확해집니다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특히 위의 셋은 꼭 넣으세요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42" name="Table 3"/>
          <p:cNvGraphicFramePr/>
          <p:nvPr/>
        </p:nvGraphicFramePr>
        <p:xfrm>
          <a:off x="567000" y="1828800"/>
          <a:ext cx="11063880" cy="3657240"/>
        </p:xfrm>
        <a:graphic>
          <a:graphicData uri="http://schemas.openxmlformats.org/drawingml/2006/table">
            <a:tbl>
              <a:tblPr/>
              <a:tblGrid>
                <a:gridCol w="2651760"/>
                <a:gridCol w="6035040"/>
                <a:gridCol w="2377440"/>
              </a:tblGrid>
              <a:tr h="406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400" b="1" u="none" strike="noStrike">
                          <a:solidFill>
                            <a:srgbClr val="F6F1EA"/>
                          </a:solidFill>
                          <a:effectLst/>
                          <a:uFillTx/>
                          <a:latin typeface="맑은 고딕"/>
                        </a:rPr>
                        <a:t>서류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400" b="1" u="none" strike="noStrike">
                          <a:solidFill>
                            <a:srgbClr val="F6F1EA"/>
                          </a:solidFill>
                          <a:effectLst/>
                          <a:uFillTx/>
                          <a:latin typeface="맑은 고딕"/>
                        </a:rPr>
                        <a:t>무엇을 말해주나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6F1EA"/>
                          </a:solidFill>
                          <a:effectLst/>
                          <a:uFillTx/>
                          <a:latin typeface="맑은 고딕"/>
                        </a:rPr>
                        <a:t> 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24211D"/>
                    </a:solidFill>
                  </a:tcPr>
                </a:tc>
              </a:tr>
              <a:tr h="406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매각물건명세서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인수되는 권리가 있나 </a:t>
                      </a:r>
                      <a:r>
                        <a:rPr lang="en-US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· </a:t>
                      </a: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임차인이 몇 명이고 대항력이 있나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D97757"/>
                          </a:solidFill>
                          <a:effectLst/>
                          <a:uFillTx/>
                          <a:latin typeface="맑은 고딕"/>
                        </a:rPr>
                        <a:t>★ 없으면 절반이 날아감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등기부 </a:t>
                      </a:r>
                      <a:r>
                        <a:rPr lang="en-US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(</a:t>
                      </a: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토지</a:t>
                      </a:r>
                      <a:r>
                        <a:rPr lang="en-US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·</a:t>
                      </a: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건물</a:t>
                      </a:r>
                      <a:r>
                        <a:rPr lang="en-US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말소기준권리가 무엇이고 무엇이 지워지나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D97757"/>
                          </a:solidFill>
                          <a:effectLst/>
                          <a:uFillTx/>
                          <a:latin typeface="맑은 고딕"/>
                        </a:rPr>
                        <a:t>★ 토지 등기부가 자주 빠짐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</a:tr>
              <a:tr h="406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현황조사서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실제로 누가 살고 있나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D97757"/>
                          </a:solidFill>
                          <a:effectLst/>
                          <a:uFillTx/>
                          <a:latin typeface="맑은 고딕"/>
                        </a:rPr>
                        <a:t>★ 꼭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전입세대열람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전입일이 근저당보다 빠른가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D97757"/>
                          </a:solidFill>
                          <a:effectLst/>
                          <a:uFillTx/>
                          <a:latin typeface="맑은 고딕"/>
                        </a:rPr>
                        <a:t> 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</a:tr>
              <a:tr h="406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감정평가서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감정가가 적정한가 </a:t>
                      </a:r>
                      <a:r>
                        <a:rPr lang="en-US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· </a:t>
                      </a: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기준시점이 얼마나 지났나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D97757"/>
                          </a:solidFill>
                          <a:effectLst/>
                          <a:uFillTx/>
                          <a:latin typeface="맑은 고딕"/>
                        </a:rPr>
                        <a:t> 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건축물대장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면적 </a:t>
                      </a:r>
                      <a:r>
                        <a:rPr lang="en-US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· </a:t>
                      </a: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용도 </a:t>
                      </a:r>
                      <a:r>
                        <a:rPr lang="en-US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· </a:t>
                      </a: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위반건축물 여부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D97757"/>
                          </a:solidFill>
                          <a:effectLst/>
                          <a:uFillTx/>
                          <a:latin typeface="맑은 고딕"/>
                        </a:rPr>
                        <a:t> 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</a:tr>
              <a:tr h="406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문건</a:t>
                      </a:r>
                      <a:r>
                        <a:rPr lang="en-US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/</a:t>
                      </a: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송달내역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채무자가 저항하나 </a:t>
                      </a:r>
                      <a:r>
                        <a:rPr lang="en-US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· </a:t>
                      </a: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기일을 누가 세웠나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D97757"/>
                          </a:solidFill>
                          <a:effectLst/>
                          <a:uFillTx/>
                          <a:latin typeface="맑은 고딕"/>
                        </a:rPr>
                        <a:t> 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1" u="none" strike="noStrike">
                          <a:solidFill>
                            <a:srgbClr val="24211D"/>
                          </a:solidFill>
                          <a:effectLst/>
                          <a:uFillTx/>
                          <a:latin typeface="맑은 고딕"/>
                        </a:rPr>
                        <a:t>경매정보 출력물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유찰 회차 </a:t>
                      </a:r>
                      <a:r>
                        <a:rPr lang="en-US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· </a:t>
                      </a:r>
                      <a:r>
                        <a:rPr lang="zh-CN" sz="1300" b="0" u="none" strike="noStrike">
                          <a:solidFill>
                            <a:srgbClr val="514B43"/>
                          </a:solidFill>
                          <a:effectLst/>
                          <a:uFillTx/>
                          <a:latin typeface="맑은 고딕"/>
                        </a:rPr>
                        <a:t>최저매각가격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D97757"/>
                          </a:solidFill>
                          <a:effectLst/>
                          <a:uFillTx/>
                          <a:latin typeface="맑은 고딕"/>
                        </a:rPr>
                        <a:t> 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5F1EB"/>
                    </a:solidFill>
                  </a:tcPr>
                </a:tc>
              </a:tr>
            </a:tbl>
          </a:graphicData>
        </a:graphic>
      </p:graphicFrame>
      <p:sp>
        <p:nvSpPr>
          <p:cNvPr id="1243" name="TextBox 4"/>
          <p:cNvSpPr/>
          <p:nvPr/>
        </p:nvSpPr>
        <p:spPr>
          <a:xfrm>
            <a:off x="6346080" y="6455520"/>
            <a:ext cx="52664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SECTION 09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경매 물건 분석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65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설치는 세 단계입니다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5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폴더 만들고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프로젝트 만들고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스킬 넣으면 끝입니다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6" name="Rectangle 3"/>
          <p:cNvSpPr/>
          <p:nvPr/>
        </p:nvSpPr>
        <p:spPr>
          <a:xfrm>
            <a:off x="567000" y="1929240"/>
            <a:ext cx="35748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4"/>
          <p:cNvSpPr/>
          <p:nvPr/>
        </p:nvSpPr>
        <p:spPr>
          <a:xfrm>
            <a:off x="85032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TextBox 5"/>
          <p:cNvSpPr/>
          <p:nvPr/>
        </p:nvSpPr>
        <p:spPr>
          <a:xfrm>
            <a:off x="85032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6"/>
          <p:cNvSpPr/>
          <p:nvPr/>
        </p:nvSpPr>
        <p:spPr>
          <a:xfrm>
            <a:off x="850320" y="2816280"/>
            <a:ext cx="30081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폴더 만들기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0" name="TextBox 7"/>
          <p:cNvSpPr/>
          <p:nvPr/>
        </p:nvSpPr>
        <p:spPr>
          <a:xfrm>
            <a:off x="850320" y="3483720"/>
            <a:ext cx="3008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C:\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경매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\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1" name="TextBox 8"/>
          <p:cNvSpPr/>
          <p:nvPr/>
        </p:nvSpPr>
        <p:spPr>
          <a:xfrm>
            <a:off x="850320" y="3913560"/>
            <a:ext cx="300816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물건마다 폴더 하나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이름은 소재지로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예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평택 고덕동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1990-13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사건번호로 짓지 않습니다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Rectangle 9"/>
          <p:cNvSpPr/>
          <p:nvPr/>
        </p:nvSpPr>
        <p:spPr>
          <a:xfrm>
            <a:off x="4316040" y="1929240"/>
            <a:ext cx="35748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10"/>
          <p:cNvSpPr/>
          <p:nvPr/>
        </p:nvSpPr>
        <p:spPr>
          <a:xfrm>
            <a:off x="459936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TextBox 11"/>
          <p:cNvSpPr/>
          <p:nvPr/>
        </p:nvSpPr>
        <p:spPr>
          <a:xfrm>
            <a:off x="459936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Box 12"/>
          <p:cNvSpPr/>
          <p:nvPr/>
        </p:nvSpPr>
        <p:spPr>
          <a:xfrm>
            <a:off x="4599360" y="2816280"/>
            <a:ext cx="30081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프로젝트 만들기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13"/>
          <p:cNvSpPr/>
          <p:nvPr/>
        </p:nvSpPr>
        <p:spPr>
          <a:xfrm>
            <a:off x="4599360" y="3483720"/>
            <a:ext cx="3008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프로젝트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&gt; 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새 프로젝트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Box 14"/>
          <p:cNvSpPr/>
          <p:nvPr/>
        </p:nvSpPr>
        <p:spPr>
          <a:xfrm>
            <a:off x="4599360" y="3913560"/>
            <a:ext cx="300816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이름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: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경매 물건 분석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「지침 편집」에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프로젝트지침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.md 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붙여넣기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폴더를 연결합니다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8" name="Rectangle 15"/>
          <p:cNvSpPr/>
          <p:nvPr/>
        </p:nvSpPr>
        <p:spPr>
          <a:xfrm>
            <a:off x="8055720" y="1929240"/>
            <a:ext cx="35748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16"/>
          <p:cNvSpPr/>
          <p:nvPr/>
        </p:nvSpPr>
        <p:spPr>
          <a:xfrm>
            <a:off x="833940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TextBox 17"/>
          <p:cNvSpPr/>
          <p:nvPr/>
        </p:nvSpPr>
        <p:spPr>
          <a:xfrm>
            <a:off x="833940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Box 18"/>
          <p:cNvSpPr/>
          <p:nvPr/>
        </p:nvSpPr>
        <p:spPr>
          <a:xfrm>
            <a:off x="8339400" y="2816280"/>
            <a:ext cx="300816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스킬 넣기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Box 19"/>
          <p:cNvSpPr/>
          <p:nvPr/>
        </p:nvSpPr>
        <p:spPr>
          <a:xfrm>
            <a:off x="8339400" y="3483720"/>
            <a:ext cx="30081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.skill 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파일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6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Box 20"/>
          <p:cNvSpPr/>
          <p:nvPr/>
        </p:nvSpPr>
        <p:spPr>
          <a:xfrm>
            <a:off x="8339400" y="3913560"/>
            <a:ext cx="300816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채팅창에 끌어다 놓고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저장 버튼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auction-property-card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하나만 넣어도 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4" name="Rectangle 21"/>
          <p:cNvSpPr/>
          <p:nvPr/>
        </p:nvSpPr>
        <p:spPr>
          <a:xfrm>
            <a:off x="567000" y="5586840"/>
            <a:ext cx="11063880" cy="529920"/>
          </a:xfrm>
          <a:prstGeom prst="rect">
            <a:avLst/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TextBox 22"/>
          <p:cNvSpPr/>
          <p:nvPr/>
        </p:nvSpPr>
        <p:spPr>
          <a:xfrm>
            <a:off x="859680" y="5724000"/>
            <a:ext cx="10478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파일은 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GitHub  →  claude-guide-kr  → 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경매물건분석  폴더에 다 있습니다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Box 23"/>
          <p:cNvSpPr/>
          <p:nvPr/>
        </p:nvSpPr>
        <p:spPr>
          <a:xfrm>
            <a:off x="6346080" y="6455520"/>
            <a:ext cx="52664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SECTION 09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경매 물건 분석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66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MCP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네 개를 붙입니다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기본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config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에 이미 들어 있습니다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키와 폴더만 준비하면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9" name="Rectangle 3"/>
          <p:cNvSpPr/>
          <p:nvPr/>
        </p:nvSpPr>
        <p:spPr>
          <a:xfrm>
            <a:off x="567000" y="1929240"/>
            <a:ext cx="26424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"/>
          <p:cNvSpPr/>
          <p:nvPr/>
        </p:nvSpPr>
        <p:spPr>
          <a:xfrm>
            <a:off x="85032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TextBox 5"/>
          <p:cNvSpPr/>
          <p:nvPr/>
        </p:nvSpPr>
        <p:spPr>
          <a:xfrm>
            <a:off x="85032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Box 6"/>
          <p:cNvSpPr/>
          <p:nvPr/>
        </p:nvSpPr>
        <p:spPr>
          <a:xfrm>
            <a:off x="850320" y="2816280"/>
            <a:ext cx="207540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korean-law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Box 7"/>
          <p:cNvSpPr/>
          <p:nvPr/>
        </p:nvSpPr>
        <p:spPr>
          <a:xfrm>
            <a:off x="850320" y="3483720"/>
            <a:ext cx="2075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법령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· 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판례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Box 8"/>
          <p:cNvSpPr/>
          <p:nvPr/>
        </p:nvSpPr>
        <p:spPr>
          <a:xfrm>
            <a:off x="850320" y="3913560"/>
            <a:ext cx="20754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세율을 조문에서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직접 읽습니다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폴더가 필요 없습니다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npx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가 알아서 받습니다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5" name="Rectangle 9"/>
          <p:cNvSpPr/>
          <p:nvPr/>
        </p:nvSpPr>
        <p:spPr>
          <a:xfrm>
            <a:off x="3374280" y="1929240"/>
            <a:ext cx="26424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10"/>
          <p:cNvSpPr/>
          <p:nvPr/>
        </p:nvSpPr>
        <p:spPr>
          <a:xfrm>
            <a:off x="365760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TextBox 11"/>
          <p:cNvSpPr/>
          <p:nvPr/>
        </p:nvSpPr>
        <p:spPr>
          <a:xfrm>
            <a:off x="365760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8" name="TextBox 12"/>
          <p:cNvSpPr/>
          <p:nvPr/>
        </p:nvSpPr>
        <p:spPr>
          <a:xfrm>
            <a:off x="3657600" y="2816280"/>
            <a:ext cx="207540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real-estate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Box 13"/>
          <p:cNvSpPr/>
          <p:nvPr/>
        </p:nvSpPr>
        <p:spPr>
          <a:xfrm>
            <a:off x="3657600" y="3483720"/>
            <a:ext cx="2075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국토부 실거래가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Box 14"/>
          <p:cNvSpPr/>
          <p:nvPr/>
        </p:nvSpPr>
        <p:spPr>
          <a:xfrm>
            <a:off x="3657600" y="3913560"/>
            <a:ext cx="20754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매매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전월세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시세 대조의 근거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GitHub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에서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ZIP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tae0y/real-estate-mcp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1" name="Rectangle 15"/>
          <p:cNvSpPr/>
          <p:nvPr/>
        </p:nvSpPr>
        <p:spPr>
          <a:xfrm>
            <a:off x="6181200" y="1929240"/>
            <a:ext cx="26424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2" name="Rectangle 16"/>
          <p:cNvSpPr/>
          <p:nvPr/>
        </p:nvSpPr>
        <p:spPr>
          <a:xfrm>
            <a:off x="646488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TextBox 17"/>
          <p:cNvSpPr/>
          <p:nvPr/>
        </p:nvSpPr>
        <p:spPr>
          <a:xfrm>
            <a:off x="646488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Box 18"/>
          <p:cNvSpPr/>
          <p:nvPr/>
        </p:nvSpPr>
        <p:spPr>
          <a:xfrm>
            <a:off x="6464880" y="2816280"/>
            <a:ext cx="207540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datagokr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Box 19"/>
          <p:cNvSpPr/>
          <p:nvPr/>
        </p:nvSpPr>
        <p:spPr>
          <a:xfrm>
            <a:off x="6464880" y="3483720"/>
            <a:ext cx="2075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건축물대장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· 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상권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Box 20"/>
          <p:cNvSpPr/>
          <p:nvPr/>
        </p:nvSpPr>
        <p:spPr>
          <a:xfrm>
            <a:off x="6464880" y="3913560"/>
            <a:ext cx="20754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대장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상권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공매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실거래가 보조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설치가 가장 까다롭습니다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수업 때 같이 합니다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7" name="Rectangle 21"/>
          <p:cNvSpPr/>
          <p:nvPr/>
        </p:nvSpPr>
        <p:spPr>
          <a:xfrm>
            <a:off x="8988480" y="1929240"/>
            <a:ext cx="2642400" cy="34012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22"/>
          <p:cNvSpPr/>
          <p:nvPr/>
        </p:nvSpPr>
        <p:spPr>
          <a:xfrm>
            <a:off x="9272160" y="221292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TextBox 23"/>
          <p:cNvSpPr/>
          <p:nvPr/>
        </p:nvSpPr>
        <p:spPr>
          <a:xfrm>
            <a:off x="9272160" y="229500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0" name="TextBox 24"/>
          <p:cNvSpPr/>
          <p:nvPr/>
        </p:nvSpPr>
        <p:spPr>
          <a:xfrm>
            <a:off x="9272160" y="2816280"/>
            <a:ext cx="207540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vworld-landuse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Box 25"/>
          <p:cNvSpPr/>
          <p:nvPr/>
        </p:nvSpPr>
        <p:spPr>
          <a:xfrm>
            <a:off x="9272160" y="3483720"/>
            <a:ext cx="2075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공시지가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· 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용도지역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2" name="TextBox 26"/>
          <p:cNvSpPr/>
          <p:nvPr/>
        </p:nvSpPr>
        <p:spPr>
          <a:xfrm>
            <a:off x="9272160" y="3913560"/>
            <a:ext cx="207540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개별공시지가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토지이용계획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 저장소에 들어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있습니다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3" name="Rectangle 27"/>
          <p:cNvSpPr/>
          <p:nvPr/>
        </p:nvSpPr>
        <p:spPr>
          <a:xfrm>
            <a:off x="567000" y="5586840"/>
            <a:ext cx="11063880" cy="529920"/>
          </a:xfrm>
          <a:prstGeom prst="rect">
            <a:avLst/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TextBox 28"/>
          <p:cNvSpPr/>
          <p:nvPr/>
        </p:nvSpPr>
        <p:spPr>
          <a:xfrm>
            <a:off x="859680" y="5724000"/>
            <a:ext cx="10478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폴더가 필요한 셋은 전부  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C:\mcp\ 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아래에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  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인증키는 네 가지입니다 — 다음 장에서 정리합니다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5" name="TextBox 29"/>
          <p:cNvSpPr/>
          <p:nvPr/>
        </p:nvSpPr>
        <p:spPr>
          <a:xfrm>
            <a:off x="6346080" y="6455520"/>
            <a:ext cx="52664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SECTION 09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경매 물건 분석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67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두 개만 붙여도 절반은 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하나도 안 붙여도 서류만으로 분석은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8" name="Rectangle 3"/>
          <p:cNvSpPr/>
          <p:nvPr/>
        </p:nvSpPr>
        <p:spPr>
          <a:xfrm>
            <a:off x="567000" y="1874520"/>
            <a:ext cx="5394600" cy="19198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4"/>
          <p:cNvSpPr/>
          <p:nvPr/>
        </p:nvSpPr>
        <p:spPr>
          <a:xfrm>
            <a:off x="850320" y="213048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TextBox 5"/>
          <p:cNvSpPr/>
          <p:nvPr/>
        </p:nvSpPr>
        <p:spPr>
          <a:xfrm>
            <a:off x="850320" y="221292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Box 6"/>
          <p:cNvSpPr/>
          <p:nvPr/>
        </p:nvSpPr>
        <p:spPr>
          <a:xfrm>
            <a:off x="1435680" y="213048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korean-law </a:t>
            </a: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부터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Box 7"/>
          <p:cNvSpPr/>
          <p:nvPr/>
        </p:nvSpPr>
        <p:spPr>
          <a:xfrm>
            <a:off x="1435680" y="253296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가장 쉽습니다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3" name="TextBox 8"/>
          <p:cNvSpPr/>
          <p:nvPr/>
        </p:nvSpPr>
        <p:spPr>
          <a:xfrm>
            <a:off x="850320" y="2935080"/>
            <a:ext cx="4827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폴더도 설치도 필요 없습니다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설정에 한 줄 넣고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OC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만 받으면 끝입니다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4" name="Rectangle 9"/>
          <p:cNvSpPr/>
          <p:nvPr/>
        </p:nvSpPr>
        <p:spPr>
          <a:xfrm>
            <a:off x="6236280" y="1874520"/>
            <a:ext cx="5394600" cy="19198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Rectangle 10"/>
          <p:cNvSpPr/>
          <p:nvPr/>
        </p:nvSpPr>
        <p:spPr>
          <a:xfrm>
            <a:off x="6519600" y="213048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6" name="TextBox 11"/>
          <p:cNvSpPr/>
          <p:nvPr/>
        </p:nvSpPr>
        <p:spPr>
          <a:xfrm>
            <a:off x="6519600" y="221292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Box 12"/>
          <p:cNvSpPr/>
          <p:nvPr/>
        </p:nvSpPr>
        <p:spPr>
          <a:xfrm>
            <a:off x="7104960" y="213048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그다음 </a:t>
            </a:r>
            <a:r>
              <a:rPr lang="en-US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real-estate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8" name="TextBox 13"/>
          <p:cNvSpPr/>
          <p:nvPr/>
        </p:nvSpPr>
        <p:spPr>
          <a:xfrm>
            <a:off x="7104960" y="253296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체감이 가장 큽니다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TextBox 14"/>
          <p:cNvSpPr/>
          <p:nvPr/>
        </p:nvSpPr>
        <p:spPr>
          <a:xfrm>
            <a:off x="6519600" y="2935080"/>
            <a:ext cx="48276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안 붙이면 시세 대조를 못 합니다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감정가가 적정한지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판단할 근거가 사라집니다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0" name="Rectangle 15"/>
          <p:cNvSpPr/>
          <p:nvPr/>
        </p:nvSpPr>
        <p:spPr>
          <a:xfrm>
            <a:off x="567000" y="4069080"/>
            <a:ext cx="11063880" cy="137124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TextBox 16"/>
          <p:cNvSpPr/>
          <p:nvPr/>
        </p:nvSpPr>
        <p:spPr>
          <a:xfrm>
            <a:off x="859680" y="4260960"/>
            <a:ext cx="10478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인증키는 네 가지입니다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2" name="TextBox 17"/>
          <p:cNvSpPr/>
          <p:nvPr/>
        </p:nvSpPr>
        <p:spPr>
          <a:xfrm>
            <a:off x="859680" y="4645080"/>
            <a:ext cx="104785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공공데이터포털 인증키  → 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3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곳에 넣지만 전부 같은 값입니다  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 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브이월드 인증키  → 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1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곳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법령센터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OC(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이메일 아이디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)  →  1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곳  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  Firecrawl API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키  → 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1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곳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서비스마다 「활용신청」은 따로 눌러야 열립니다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승인에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1~2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일 걸리는 것도 있으니 수업 전날까지 신청을 끝내세요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3" name="Rectangle 18"/>
          <p:cNvSpPr/>
          <p:nvPr/>
        </p:nvSpPr>
        <p:spPr>
          <a:xfrm>
            <a:off x="567000" y="5586840"/>
            <a:ext cx="11063880" cy="529920"/>
          </a:xfrm>
          <a:prstGeom prst="rect">
            <a:avLst/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TextBox 19"/>
          <p:cNvSpPr/>
          <p:nvPr/>
        </p:nvSpPr>
        <p:spPr>
          <a:xfrm>
            <a:off x="859680" y="5724000"/>
            <a:ext cx="10478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준비가 안 된 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MCP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는 붉은 오류로 뜹니다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고장이 아닙니다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나머지는 정상 작동합니다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TextBox 20"/>
          <p:cNvSpPr/>
          <p:nvPr/>
        </p:nvSpPr>
        <p:spPr>
          <a:xfrm>
            <a:off x="6346080" y="6455520"/>
            <a:ext cx="52664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SECTION 09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경매 물건 분석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68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공시가격은 가정값이고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,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종부세는 내년 기준입니다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7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이 둘을 모르면 세금 숫자를 오해합니다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8" name="Rectangle 3"/>
          <p:cNvSpPr/>
          <p:nvPr/>
        </p:nvSpPr>
        <p:spPr>
          <a:xfrm>
            <a:off x="567000" y="1874520"/>
            <a:ext cx="5394600" cy="210276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4"/>
          <p:cNvSpPr/>
          <p:nvPr/>
        </p:nvSpPr>
        <p:spPr>
          <a:xfrm>
            <a:off x="850320" y="213048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Box 5"/>
          <p:cNvSpPr/>
          <p:nvPr/>
        </p:nvSpPr>
        <p:spPr>
          <a:xfrm>
            <a:off x="850320" y="221292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TextBox 6"/>
          <p:cNvSpPr/>
          <p:nvPr/>
        </p:nvSpPr>
        <p:spPr>
          <a:xfrm>
            <a:off x="1435680" y="213048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공시가격 </a:t>
            </a:r>
            <a:r>
              <a:rPr lang="en-US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= </a:t>
            </a: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감정평가액 </a:t>
            </a:r>
            <a:r>
              <a:rPr lang="en-US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× 50%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2" name="TextBox 7"/>
          <p:cNvSpPr/>
          <p:nvPr/>
        </p:nvSpPr>
        <p:spPr>
          <a:xfrm>
            <a:off x="1435680" y="253296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조회할 공개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API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가 없습니다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3" name="TextBox 8"/>
          <p:cNvSpPr/>
          <p:nvPr/>
        </p:nvSpPr>
        <p:spPr>
          <a:xfrm>
            <a:off x="850320" y="2935080"/>
            <a:ext cx="4827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실제 값이 필요하면 부동산공시가격알리미에서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확인해 알려주세요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즉시 다시 계산합니다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슬라이드에는 항상 「가정」이라고 표시됩니다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4" name="Rectangle 9"/>
          <p:cNvSpPr/>
          <p:nvPr/>
        </p:nvSpPr>
        <p:spPr>
          <a:xfrm>
            <a:off x="6236280" y="1874520"/>
            <a:ext cx="5394600" cy="210276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"/>
          <p:cNvSpPr/>
          <p:nvPr/>
        </p:nvSpPr>
        <p:spPr>
          <a:xfrm>
            <a:off x="6519600" y="2130480"/>
            <a:ext cx="429480" cy="4294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TextBox 11"/>
          <p:cNvSpPr/>
          <p:nvPr/>
        </p:nvSpPr>
        <p:spPr>
          <a:xfrm>
            <a:off x="6519600" y="2212920"/>
            <a:ext cx="4294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맑은 고딕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7" name="TextBox 12"/>
          <p:cNvSpPr/>
          <p:nvPr/>
        </p:nvSpPr>
        <p:spPr>
          <a:xfrm>
            <a:off x="7104960" y="213048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종부세는 낙찰 다음 해부터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8" name="TextBox 13"/>
          <p:cNvSpPr/>
          <p:nvPr/>
        </p:nvSpPr>
        <p:spPr>
          <a:xfrm>
            <a:off x="7104960" y="2532960"/>
            <a:ext cx="4205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과세기준일이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6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월 </a:t>
            </a:r>
            <a:r>
              <a:rPr lang="en-US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1</a:t>
            </a: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일입니다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9" name="TextBox 14"/>
          <p:cNvSpPr/>
          <p:nvPr/>
        </p:nvSpPr>
        <p:spPr>
          <a:xfrm>
            <a:off x="6519600" y="2935080"/>
            <a:ext cx="4827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6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월 이후 잔금을 내면 그 해 종부세는 없습니다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그래서 다음 해 세율로 계산합니다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2026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세제개편안 기준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국회 통과 전 정부안입니다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Rectangle 15"/>
          <p:cNvSpPr/>
          <p:nvPr/>
        </p:nvSpPr>
        <p:spPr>
          <a:xfrm>
            <a:off x="567000" y="4206240"/>
            <a:ext cx="11063880" cy="123408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1" name="TextBox 16"/>
          <p:cNvSpPr/>
          <p:nvPr/>
        </p:nvSpPr>
        <p:spPr>
          <a:xfrm>
            <a:off x="859680" y="4389120"/>
            <a:ext cx="10478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그 밖에 알아두실 것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2" name="TextBox 17"/>
          <p:cNvSpPr/>
          <p:nvPr/>
        </p:nvSpPr>
        <p:spPr>
          <a:xfrm>
            <a:off x="859680" y="4773240"/>
            <a:ext cx="10478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민간 추정시세는 쓰지 않습니다 — 국토교통부 실거래가만 씁니다  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 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낙찰 계수는 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6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개월이 지나면 참고치로만 쓰고 인근 낙찰사례로 교차 검증하세요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물건카드를 남에게 보내지 마세요 — 임차인 정보가 들어 있습니다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3" name="Rectangle 18"/>
          <p:cNvSpPr/>
          <p:nvPr/>
        </p:nvSpPr>
        <p:spPr>
          <a:xfrm>
            <a:off x="567000" y="5586840"/>
            <a:ext cx="11063880" cy="529920"/>
          </a:xfrm>
          <a:prstGeom prst="rect">
            <a:avLst/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TextBox 19"/>
          <p:cNvSpPr/>
          <p:nvPr/>
        </p:nvSpPr>
        <p:spPr>
          <a:xfrm>
            <a:off x="859680" y="5724000"/>
            <a:ext cx="10478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숫자가 어디서 왔는지 항상 물어보세요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 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「이 금액 출처가 뭐야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?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」  근거를 못 대면 쓰지 않는 게 맞습니다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Box 20"/>
          <p:cNvSpPr/>
          <p:nvPr/>
        </p:nvSpPr>
        <p:spPr>
          <a:xfrm>
            <a:off x="6346080" y="6455520"/>
            <a:ext cx="52664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SECTION 09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경매 물건 분석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69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TextBox 1"/>
          <p:cNvSpPr/>
          <p:nvPr/>
        </p:nvSpPr>
        <p:spPr>
          <a:xfrm>
            <a:off x="567000" y="38412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마지막 장이 결론입니다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Box 2"/>
          <p:cNvSpPr/>
          <p:nvPr/>
        </p:nvSpPr>
        <p:spPr>
          <a:xfrm>
            <a:off x="567000" y="113400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물건카드의 끝에 「확인해야 할 것」이 나옵니다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8" name="Rectangle 3"/>
          <p:cNvSpPr/>
          <p:nvPr/>
        </p:nvSpPr>
        <p:spPr>
          <a:xfrm>
            <a:off x="567000" y="1874520"/>
            <a:ext cx="11063880" cy="210276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TextBox 4"/>
          <p:cNvSpPr/>
          <p:nvPr/>
        </p:nvSpPr>
        <p:spPr>
          <a:xfrm>
            <a:off x="859680" y="2103120"/>
            <a:ext cx="104785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AI</a:t>
            </a:r>
            <a:r>
              <a:rPr lang="zh-CN" sz="22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는 답을 주지 않습니다</a:t>
            </a:r>
            <a:r>
              <a:rPr lang="en-US" sz="22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 </a:t>
            </a:r>
            <a:r>
              <a:rPr lang="zh-CN" sz="22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무엇을 더 봐야 하는지를 줍니다</a:t>
            </a:r>
            <a:r>
              <a:rPr lang="en-US" sz="22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0" name="TextBox 5"/>
          <p:cNvSpPr/>
          <p:nvPr/>
        </p:nvSpPr>
        <p:spPr>
          <a:xfrm>
            <a:off x="859680" y="2697480"/>
            <a:ext cx="104785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물건카드에는 확인하지 못한 항목이 우선순위와 함께 정리됩니다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등기부 원문 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매각물건명세서 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현장 확인 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·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기일 진행 여부 같은 것들입니다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그 목록을 들고 직접 확인하는 것이 실제 입찰 준비입니다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Rectangle 6"/>
          <p:cNvSpPr/>
          <p:nvPr/>
        </p:nvSpPr>
        <p:spPr>
          <a:xfrm>
            <a:off x="567000" y="4206240"/>
            <a:ext cx="3574800" cy="1234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7"/>
          <p:cNvSpPr/>
          <p:nvPr/>
        </p:nvSpPr>
        <p:spPr>
          <a:xfrm>
            <a:off x="567000" y="4206240"/>
            <a:ext cx="54360" cy="12340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Box 8"/>
          <p:cNvSpPr/>
          <p:nvPr/>
        </p:nvSpPr>
        <p:spPr>
          <a:xfrm>
            <a:off x="822960" y="4389120"/>
            <a:ext cx="311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권리분석은 출발점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Box 9"/>
          <p:cNvSpPr/>
          <p:nvPr/>
        </p:nvSpPr>
        <p:spPr>
          <a:xfrm>
            <a:off x="822960" y="4773240"/>
            <a:ext cx="3117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등기부와 매각물건명세서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원문을 직접 보십시오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5" name="Rectangle 10"/>
          <p:cNvSpPr/>
          <p:nvPr/>
        </p:nvSpPr>
        <p:spPr>
          <a:xfrm>
            <a:off x="4316040" y="4206240"/>
            <a:ext cx="3574800" cy="1234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1"/>
          <p:cNvSpPr/>
          <p:nvPr/>
        </p:nvSpPr>
        <p:spPr>
          <a:xfrm>
            <a:off x="4316040" y="4206240"/>
            <a:ext cx="54360" cy="12340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TextBox 12"/>
          <p:cNvSpPr/>
          <p:nvPr/>
        </p:nvSpPr>
        <p:spPr>
          <a:xfrm>
            <a:off x="4572000" y="4389120"/>
            <a:ext cx="311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입찰가는 참고치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Box 13"/>
          <p:cNvSpPr/>
          <p:nvPr/>
        </p:nvSpPr>
        <p:spPr>
          <a:xfrm>
            <a:off x="4572000" y="4773240"/>
            <a:ext cx="3117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인근 낙찰사례로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반드시 교차 검증하십시오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9" name="Rectangle 14"/>
          <p:cNvSpPr/>
          <p:nvPr/>
        </p:nvSpPr>
        <p:spPr>
          <a:xfrm>
            <a:off x="8055720" y="4206240"/>
            <a:ext cx="3574800" cy="1234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5"/>
          <p:cNvSpPr/>
          <p:nvPr/>
        </p:nvSpPr>
        <p:spPr>
          <a:xfrm>
            <a:off x="8055720" y="4206240"/>
            <a:ext cx="54360" cy="12340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TextBox 16"/>
          <p:cNvSpPr/>
          <p:nvPr/>
        </p:nvSpPr>
        <p:spPr>
          <a:xfrm>
            <a:off x="8312040" y="4389120"/>
            <a:ext cx="311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</a:rPr>
              <a:t>결정은 본인이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Box 17"/>
          <p:cNvSpPr/>
          <p:nvPr/>
        </p:nvSpPr>
        <p:spPr>
          <a:xfrm>
            <a:off x="8312040" y="4773240"/>
            <a:ext cx="3117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투자 판단과 그 결과는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zh-CN" sz="1350" b="0" u="none" strike="noStrike">
                <a:solidFill>
                  <a:srgbClr val="726859"/>
                </a:solidFill>
                <a:effectLst/>
                <a:uFillTx/>
                <a:latin typeface="맑은 고딕"/>
              </a:rPr>
              <a:t>본인 책임입니다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3" name="Rectangle 18"/>
          <p:cNvSpPr/>
          <p:nvPr/>
        </p:nvSpPr>
        <p:spPr>
          <a:xfrm>
            <a:off x="567000" y="5586840"/>
            <a:ext cx="11063880" cy="529920"/>
          </a:xfrm>
          <a:prstGeom prst="rect">
            <a:avLst/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TextBox 19"/>
          <p:cNvSpPr/>
          <p:nvPr/>
        </p:nvSpPr>
        <p:spPr>
          <a:xfrm>
            <a:off x="859680" y="5724000"/>
            <a:ext cx="1047852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AI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분석은 검토 출발점입니다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 </a:t>
            </a:r>
            <a:r>
              <a:rPr lang="zh-CN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실제 입찰 전 원문과 전문가 확인이 필요합니다</a:t>
            </a:r>
            <a:r>
              <a:rPr lang="en-US" sz="1500" b="0" u="none" strike="noStrike">
                <a:solidFill>
                  <a:srgbClr val="F6F1EA"/>
                </a:solidFill>
                <a:effectLst/>
                <a:uFillTx/>
                <a:latin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Box 20"/>
          <p:cNvSpPr/>
          <p:nvPr/>
        </p:nvSpPr>
        <p:spPr>
          <a:xfrm>
            <a:off x="6346080" y="6455520"/>
            <a:ext cx="52664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SECTION 09 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경매 물건 분석         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</a:rPr>
              <a:t>70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7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A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APPENDIX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Box 4"/>
          <p:cNvSpPr/>
          <p:nvPr/>
        </p:nvSpPr>
        <p:spPr>
          <a:xfrm>
            <a:off x="863640" y="2616120"/>
            <a:ext cx="69210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내가 붙인 </a:t>
            </a: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MCP 26</a:t>
            </a:r>
            <a:r>
              <a:rPr lang="zh-CN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개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TextBox 6"/>
          <p:cNvSpPr/>
          <p:nvPr/>
        </p:nvSpPr>
        <p:spPr>
          <a:xfrm>
            <a:off x="863640" y="4114800"/>
            <a:ext cx="6921000" cy="170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분야별로 무엇을 붙였나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키가 필요 없는 것들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공공데이터포털 하나로 다섯 개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나머지 키는 어디서 받나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이만큼 붙일 필요는 없습니다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63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한눈에 보기 —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26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개를 일곱 묶음으로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년에 걸쳐 하나씩 늘린 것입니다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Rounded Rectangle 3"/>
          <p:cNvSpPr/>
          <p:nvPr/>
        </p:nvSpPr>
        <p:spPr>
          <a:xfrm>
            <a:off x="571680" y="1905120"/>
            <a:ext cx="11061360" cy="456840"/>
          </a:xfrm>
          <a:prstGeom prst="roundRect">
            <a:avLst>
              <a:gd name="adj" fmla="val 1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TextBox 4"/>
          <p:cNvSpPr/>
          <p:nvPr/>
        </p:nvSpPr>
        <p:spPr>
          <a:xfrm>
            <a:off x="863640" y="2006640"/>
            <a:ext cx="2539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부동산 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경매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8" name="Rounded Rectangle 5"/>
          <p:cNvSpPr/>
          <p:nvPr/>
        </p:nvSpPr>
        <p:spPr>
          <a:xfrm>
            <a:off x="3454560" y="2019240"/>
            <a:ext cx="406080" cy="22824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TextBox 6"/>
          <p:cNvSpPr/>
          <p:nvPr/>
        </p:nvSpPr>
        <p:spPr>
          <a:xfrm>
            <a:off x="3454560" y="2031840"/>
            <a:ext cx="4060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Box 7"/>
          <p:cNvSpPr/>
          <p:nvPr/>
        </p:nvSpPr>
        <p:spPr>
          <a:xfrm>
            <a:off x="4064040" y="2019240"/>
            <a:ext cx="7492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국토부 실거래가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법원경매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공공데이터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토지이용규제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매물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업무용 사설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1" name="Rounded Rectangle 8"/>
          <p:cNvSpPr/>
          <p:nvPr/>
        </p:nvSpPr>
        <p:spPr>
          <a:xfrm>
            <a:off x="571680" y="2425680"/>
            <a:ext cx="11061360" cy="456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TextBox 9"/>
          <p:cNvSpPr/>
          <p:nvPr/>
        </p:nvSpPr>
        <p:spPr>
          <a:xfrm>
            <a:off x="863640" y="2527200"/>
            <a:ext cx="2539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법령 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기업정보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3" name="Rounded Rectangle 10"/>
          <p:cNvSpPr/>
          <p:nvPr/>
        </p:nvSpPr>
        <p:spPr>
          <a:xfrm>
            <a:off x="3454560" y="2540160"/>
            <a:ext cx="406080" cy="22824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TextBox 11"/>
          <p:cNvSpPr/>
          <p:nvPr/>
        </p:nvSpPr>
        <p:spPr>
          <a:xfrm>
            <a:off x="3454560" y="2552760"/>
            <a:ext cx="4060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TextBox 12"/>
          <p:cNvSpPr/>
          <p:nvPr/>
        </p:nvSpPr>
        <p:spPr>
          <a:xfrm>
            <a:off x="4064040" y="2540160"/>
            <a:ext cx="7492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국가법령정보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종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사업자확인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재무정보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국민연금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6" name="Rounded Rectangle 13"/>
          <p:cNvSpPr/>
          <p:nvPr/>
        </p:nvSpPr>
        <p:spPr>
          <a:xfrm>
            <a:off x="571680" y="2946240"/>
            <a:ext cx="11061360" cy="456840"/>
          </a:xfrm>
          <a:prstGeom prst="roundRect">
            <a:avLst>
              <a:gd name="adj" fmla="val 1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7" name="TextBox 14"/>
          <p:cNvSpPr/>
          <p:nvPr/>
        </p:nvSpPr>
        <p:spPr>
          <a:xfrm>
            <a:off x="863640" y="3048120"/>
            <a:ext cx="2539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웹 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검색 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코드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Rounded Rectangle 15"/>
          <p:cNvSpPr/>
          <p:nvPr/>
        </p:nvSpPr>
        <p:spPr>
          <a:xfrm>
            <a:off x="3454560" y="3060720"/>
            <a:ext cx="406080" cy="22824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6"/>
          <p:cNvSpPr/>
          <p:nvPr/>
        </p:nvSpPr>
        <p:spPr>
          <a:xfrm>
            <a:off x="3454560" y="3073320"/>
            <a:ext cx="4060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0" name="TextBox 17"/>
          <p:cNvSpPr/>
          <p:nvPr/>
        </p:nvSpPr>
        <p:spPr>
          <a:xfrm>
            <a:off x="4064040" y="3060720"/>
            <a:ext cx="7492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네이버검색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Firecrawl 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브라우저자동화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개발문서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GitHub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1" name="Rounded Rectangle 18"/>
          <p:cNvSpPr/>
          <p:nvPr/>
        </p:nvSpPr>
        <p:spPr>
          <a:xfrm>
            <a:off x="571680" y="3467160"/>
            <a:ext cx="11061360" cy="456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TextBox 19"/>
          <p:cNvSpPr/>
          <p:nvPr/>
        </p:nvSpPr>
        <p:spPr>
          <a:xfrm>
            <a:off x="863640" y="3568680"/>
            <a:ext cx="2539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문서 만들기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3" name="Rounded Rectangle 20"/>
          <p:cNvSpPr/>
          <p:nvPr/>
        </p:nvSpPr>
        <p:spPr>
          <a:xfrm>
            <a:off x="3454560" y="3581280"/>
            <a:ext cx="406080" cy="22824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TextBox 21"/>
          <p:cNvSpPr/>
          <p:nvPr/>
        </p:nvSpPr>
        <p:spPr>
          <a:xfrm>
            <a:off x="3454560" y="3594240"/>
            <a:ext cx="4060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5" name="TextBox 22"/>
          <p:cNvSpPr/>
          <p:nvPr/>
        </p:nvSpPr>
        <p:spPr>
          <a:xfrm>
            <a:off x="4064040" y="3581280"/>
            <a:ext cx="7492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PowerPoint · Word 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한글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종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6" name="Rounded Rectangle 23"/>
          <p:cNvSpPr/>
          <p:nvPr/>
        </p:nvSpPr>
        <p:spPr>
          <a:xfrm>
            <a:off x="571680" y="3987720"/>
            <a:ext cx="11061360" cy="456840"/>
          </a:xfrm>
          <a:prstGeom prst="roundRect">
            <a:avLst>
              <a:gd name="adj" fmla="val 1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TextBox 24"/>
          <p:cNvSpPr/>
          <p:nvPr/>
        </p:nvSpPr>
        <p:spPr>
          <a:xfrm>
            <a:off x="863640" y="4089240"/>
            <a:ext cx="2539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기록 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데이터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8" name="Rounded Rectangle 25"/>
          <p:cNvSpPr/>
          <p:nvPr/>
        </p:nvSpPr>
        <p:spPr>
          <a:xfrm>
            <a:off x="3454560" y="4102200"/>
            <a:ext cx="406080" cy="22824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TextBox 26"/>
          <p:cNvSpPr/>
          <p:nvPr/>
        </p:nvSpPr>
        <p:spPr>
          <a:xfrm>
            <a:off x="3454560" y="4114800"/>
            <a:ext cx="4060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TextBox 27"/>
          <p:cNvSpPr/>
          <p:nvPr/>
        </p:nvSpPr>
        <p:spPr>
          <a:xfrm>
            <a:off x="4064040" y="4102200"/>
            <a:ext cx="7492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옵시디언 노트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로컬 데이터베이스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단계별 사고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1" name="Rounded Rectangle 28"/>
          <p:cNvSpPr/>
          <p:nvPr/>
        </p:nvSpPr>
        <p:spPr>
          <a:xfrm>
            <a:off x="571680" y="4508640"/>
            <a:ext cx="11061360" cy="456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TextBox 29"/>
          <p:cNvSpPr/>
          <p:nvPr/>
        </p:nvSpPr>
        <p:spPr>
          <a:xfrm>
            <a:off x="863640" y="4610160"/>
            <a:ext cx="2539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영상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Rounded Rectangle 30"/>
          <p:cNvSpPr/>
          <p:nvPr/>
        </p:nvSpPr>
        <p:spPr>
          <a:xfrm>
            <a:off x="3454560" y="4622760"/>
            <a:ext cx="406080" cy="22824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TextBox 31"/>
          <p:cNvSpPr/>
          <p:nvPr/>
        </p:nvSpPr>
        <p:spPr>
          <a:xfrm>
            <a:off x="3454560" y="4635360"/>
            <a:ext cx="4060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5" name="TextBox 32"/>
          <p:cNvSpPr/>
          <p:nvPr/>
        </p:nvSpPr>
        <p:spPr>
          <a:xfrm>
            <a:off x="4064040" y="4622760"/>
            <a:ext cx="7492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유튜브 내려받기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자막 추출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Rounded Rectangle 33"/>
          <p:cNvSpPr/>
          <p:nvPr/>
        </p:nvSpPr>
        <p:spPr>
          <a:xfrm>
            <a:off x="571680" y="5029200"/>
            <a:ext cx="11061360" cy="456840"/>
          </a:xfrm>
          <a:prstGeom prst="roundRect">
            <a:avLst>
              <a:gd name="adj" fmla="val 12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7" name="TextBox 34"/>
          <p:cNvSpPr/>
          <p:nvPr/>
        </p:nvSpPr>
        <p:spPr>
          <a:xfrm>
            <a:off x="863640" y="5130720"/>
            <a:ext cx="2539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주식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8" name="Rounded Rectangle 35"/>
          <p:cNvSpPr/>
          <p:nvPr/>
        </p:nvSpPr>
        <p:spPr>
          <a:xfrm>
            <a:off x="3454560" y="5143680"/>
            <a:ext cx="406080" cy="22824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36"/>
          <p:cNvSpPr/>
          <p:nvPr/>
        </p:nvSpPr>
        <p:spPr>
          <a:xfrm>
            <a:off x="3454560" y="5156280"/>
            <a:ext cx="4060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37"/>
          <p:cNvSpPr/>
          <p:nvPr/>
        </p:nvSpPr>
        <p:spPr>
          <a:xfrm>
            <a:off x="4064040" y="5143680"/>
            <a:ext cx="7492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한국투자증권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1" name="Rounded Rectangle 38"/>
          <p:cNvSpPr/>
          <p:nvPr/>
        </p:nvSpPr>
        <p:spPr>
          <a:xfrm>
            <a:off x="571680" y="5664240"/>
            <a:ext cx="11061360" cy="456840"/>
          </a:xfrm>
          <a:prstGeom prst="roundRect">
            <a:avLst>
              <a:gd name="adj" fmla="val 20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TextBox 39"/>
          <p:cNvSpPr/>
          <p:nvPr/>
        </p:nvSpPr>
        <p:spPr>
          <a:xfrm>
            <a:off x="863640" y="5791320"/>
            <a:ext cx="104770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분야가 늘어난 게 아니라</a:t>
            </a:r>
            <a:r>
              <a:rPr lang="en-US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하던 일에서 막힐 때마다 하나씩 붙인 결과입니다</a:t>
            </a:r>
            <a:r>
              <a:rPr lang="en-US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3" name="TextBox 40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부록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내가 붙인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MCP          72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키가 필요 없는 것이 절반입니다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26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개 중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11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개는 붙이기만 하면 바로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6" name="Rounded Rectangle 3"/>
          <p:cNvSpPr/>
          <p:nvPr/>
        </p:nvSpPr>
        <p:spPr>
          <a:xfrm>
            <a:off x="571680" y="2031840"/>
            <a:ext cx="5397120" cy="99036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TextBox 4"/>
          <p:cNvSpPr/>
          <p:nvPr/>
        </p:nvSpPr>
        <p:spPr>
          <a:xfrm>
            <a:off x="825480" y="2235240"/>
            <a:ext cx="4889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PowerPoint · Word · </a:t>
            </a: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한글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TextBox 5"/>
          <p:cNvSpPr/>
          <p:nvPr/>
        </p:nvSpPr>
        <p:spPr>
          <a:xfrm>
            <a:off x="825480" y="2616120"/>
            <a:ext cx="48891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내 컴퓨터의 오피스를 직접 조작합니다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Rounded Rectangle 6"/>
          <p:cNvSpPr/>
          <p:nvPr/>
        </p:nvSpPr>
        <p:spPr>
          <a:xfrm>
            <a:off x="571680" y="3200400"/>
            <a:ext cx="5397120" cy="99036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TextBox 7"/>
          <p:cNvSpPr/>
          <p:nvPr/>
        </p:nvSpPr>
        <p:spPr>
          <a:xfrm>
            <a:off x="825480" y="3403440"/>
            <a:ext cx="4889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브라우저 자동화 </a:t>
            </a: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(playwright)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TextBox 8"/>
          <p:cNvSpPr/>
          <p:nvPr/>
        </p:nvSpPr>
        <p:spPr>
          <a:xfrm>
            <a:off x="825480" y="3784680"/>
            <a:ext cx="48891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웹사이트를 눌러가며 자료를 모읍니다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Rounded Rectangle 9"/>
          <p:cNvSpPr/>
          <p:nvPr/>
        </p:nvSpPr>
        <p:spPr>
          <a:xfrm>
            <a:off x="571680" y="4368960"/>
            <a:ext cx="5397120" cy="99036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TextBox 10"/>
          <p:cNvSpPr/>
          <p:nvPr/>
        </p:nvSpPr>
        <p:spPr>
          <a:xfrm>
            <a:off x="825480" y="4572000"/>
            <a:ext cx="4889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개발 문서 </a:t>
            </a: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(context7)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TextBox 11"/>
          <p:cNvSpPr/>
          <p:nvPr/>
        </p:nvSpPr>
        <p:spPr>
          <a:xfrm>
            <a:off x="825480" y="4952880"/>
            <a:ext cx="48891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라이브러리 최신 사용법을 가져옵니다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Rounded Rectangle 12"/>
          <p:cNvSpPr/>
          <p:nvPr/>
        </p:nvSpPr>
        <p:spPr>
          <a:xfrm>
            <a:off x="6235560" y="2031840"/>
            <a:ext cx="5397120" cy="99036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TextBox 13"/>
          <p:cNvSpPr/>
          <p:nvPr/>
        </p:nvSpPr>
        <p:spPr>
          <a:xfrm>
            <a:off x="6489720" y="2235240"/>
            <a:ext cx="4889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유튜브 </a:t>
            </a: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자막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TextBox 14"/>
          <p:cNvSpPr/>
          <p:nvPr/>
        </p:nvSpPr>
        <p:spPr>
          <a:xfrm>
            <a:off x="6489720" y="2616120"/>
            <a:ext cx="48891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영상과 자막을 내려받습니다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Rounded Rectangle 15"/>
          <p:cNvSpPr/>
          <p:nvPr/>
        </p:nvSpPr>
        <p:spPr>
          <a:xfrm>
            <a:off x="6235560" y="3200400"/>
            <a:ext cx="5397120" cy="99036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TextBox 16"/>
          <p:cNvSpPr/>
          <p:nvPr/>
        </p:nvSpPr>
        <p:spPr>
          <a:xfrm>
            <a:off x="6489720" y="3403440"/>
            <a:ext cx="4889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로컬 데이터베이스 </a:t>
            </a: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(duckdb)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TextBox 17"/>
          <p:cNvSpPr/>
          <p:nvPr/>
        </p:nvSpPr>
        <p:spPr>
          <a:xfrm>
            <a:off x="6489720" y="3784680"/>
            <a:ext cx="48891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내 </a:t>
            </a:r>
            <a:r>
              <a:rPr lang="en-US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PC</a:t>
            </a: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의 데이터 파일을 조회합니다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Rounded Rectangle 18"/>
          <p:cNvSpPr/>
          <p:nvPr/>
        </p:nvSpPr>
        <p:spPr>
          <a:xfrm>
            <a:off x="6235560" y="4368960"/>
            <a:ext cx="5397120" cy="99036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2" name="TextBox 19"/>
          <p:cNvSpPr/>
          <p:nvPr/>
        </p:nvSpPr>
        <p:spPr>
          <a:xfrm>
            <a:off x="6489720" y="4572000"/>
            <a:ext cx="4889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단계별 사고 </a:t>
            </a:r>
            <a:r>
              <a:rPr lang="en-US" sz="17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(sequential-thinking)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TextBox 20"/>
          <p:cNvSpPr/>
          <p:nvPr/>
        </p:nvSpPr>
        <p:spPr>
          <a:xfrm>
            <a:off x="6489720" y="4952880"/>
            <a:ext cx="48891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복잡한 문제를 나눠서 풀게 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4" name="Rounded Rectangle 21"/>
          <p:cNvSpPr/>
          <p:nvPr/>
        </p:nvSpPr>
        <p:spPr>
          <a:xfrm>
            <a:off x="571680" y="5638680"/>
            <a:ext cx="11061360" cy="50760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5" name="TextBox 22"/>
          <p:cNvSpPr/>
          <p:nvPr/>
        </p:nvSpPr>
        <p:spPr>
          <a:xfrm>
            <a:off x="863640" y="576576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키가 필요한 것은 서비스가 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"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누가 얼마나 쓰는지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"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세야 하는 경우뿐입니다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Box 23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부록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내가 붙인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MCP          73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공공데이터포털 키 하나로 다섯 개가 열립니다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8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한 번 발급받아 여러 서버에 같이 씁니다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TextBox 3"/>
          <p:cNvSpPr/>
          <p:nvPr/>
        </p:nvSpPr>
        <p:spPr>
          <a:xfrm>
            <a:off x="571680" y="1854360"/>
            <a:ext cx="11061360" cy="4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data.go.kr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0" name="TextBox 4"/>
          <p:cNvSpPr/>
          <p:nvPr/>
        </p:nvSpPr>
        <p:spPr>
          <a:xfrm>
            <a:off x="571680" y="23875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회원가입 후 활용신청 → 대부분 </a:t>
            </a:r>
            <a:r>
              <a:rPr lang="en-US" sz="15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10</a:t>
            </a:r>
            <a:r>
              <a:rPr lang="zh-CN" sz="15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분 안에 승인됩니다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1" name="Rounded Rectangle 5"/>
          <p:cNvSpPr/>
          <p:nvPr/>
        </p:nvSpPr>
        <p:spPr>
          <a:xfrm>
            <a:off x="571680" y="2895480"/>
            <a:ext cx="11061360" cy="5076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Box 6"/>
          <p:cNvSpPr/>
          <p:nvPr/>
        </p:nvSpPr>
        <p:spPr>
          <a:xfrm>
            <a:off x="863640" y="3009960"/>
            <a:ext cx="33015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국토부 실거래가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Box 7"/>
          <p:cNvSpPr/>
          <p:nvPr/>
        </p:nvSpPr>
        <p:spPr>
          <a:xfrm>
            <a:off x="4317840" y="3022560"/>
            <a:ext cx="7111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아파트</a:t>
            </a:r>
            <a:r>
              <a:rPr lang="en-US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오피스텔</a:t>
            </a:r>
            <a:r>
              <a:rPr lang="en-US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빌라 매매와 전월세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4" name="Rounded Rectangle 8"/>
          <p:cNvSpPr/>
          <p:nvPr/>
        </p:nvSpPr>
        <p:spPr>
          <a:xfrm>
            <a:off x="571680" y="3454560"/>
            <a:ext cx="11061360" cy="507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5" name="TextBox 9"/>
          <p:cNvSpPr/>
          <p:nvPr/>
        </p:nvSpPr>
        <p:spPr>
          <a:xfrm>
            <a:off x="863640" y="3568680"/>
            <a:ext cx="33015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온비드 공매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Box 10"/>
          <p:cNvSpPr/>
          <p:nvPr/>
        </p:nvSpPr>
        <p:spPr>
          <a:xfrm>
            <a:off x="4317840" y="3581280"/>
            <a:ext cx="7111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공매 물건과 낙찰 결과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7" name="Rounded Rectangle 11"/>
          <p:cNvSpPr/>
          <p:nvPr/>
        </p:nvSpPr>
        <p:spPr>
          <a:xfrm>
            <a:off x="571680" y="4013280"/>
            <a:ext cx="11061360" cy="5076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8" name="TextBox 12"/>
          <p:cNvSpPr/>
          <p:nvPr/>
        </p:nvSpPr>
        <p:spPr>
          <a:xfrm>
            <a:off x="863640" y="4127400"/>
            <a:ext cx="33015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건축물대장 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소상공인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Box 13"/>
          <p:cNvSpPr/>
          <p:nvPr/>
        </p:nvSpPr>
        <p:spPr>
          <a:xfrm>
            <a:off x="4317840" y="4140360"/>
            <a:ext cx="7111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용도 확인과 상권 조사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0" name="Rounded Rectangle 14"/>
          <p:cNvSpPr/>
          <p:nvPr/>
        </p:nvSpPr>
        <p:spPr>
          <a:xfrm>
            <a:off x="571680" y="4572000"/>
            <a:ext cx="11061360" cy="507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1" name="TextBox 15"/>
          <p:cNvSpPr/>
          <p:nvPr/>
        </p:nvSpPr>
        <p:spPr>
          <a:xfrm>
            <a:off x="863640" y="4686480"/>
            <a:ext cx="33015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사업자 확인 </a:t>
            </a: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재무정보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Box 16"/>
          <p:cNvSpPr/>
          <p:nvPr/>
        </p:nvSpPr>
        <p:spPr>
          <a:xfrm>
            <a:off x="4317840" y="4699080"/>
            <a:ext cx="7111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사업자번호 진위와 기업 재무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3" name="Rounded Rectangle 17"/>
          <p:cNvSpPr/>
          <p:nvPr/>
        </p:nvSpPr>
        <p:spPr>
          <a:xfrm>
            <a:off x="571680" y="5130720"/>
            <a:ext cx="11061360" cy="5076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TextBox 18"/>
          <p:cNvSpPr/>
          <p:nvPr/>
        </p:nvSpPr>
        <p:spPr>
          <a:xfrm>
            <a:off x="863640" y="5245200"/>
            <a:ext cx="33015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국민연금 가입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Box 19"/>
          <p:cNvSpPr/>
          <p:nvPr/>
        </p:nvSpPr>
        <p:spPr>
          <a:xfrm>
            <a:off x="4317840" y="5257800"/>
            <a:ext cx="71118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법인의 실제 영업 여부 확인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6" name="Rounded Rectangle 20"/>
          <p:cNvSpPr/>
          <p:nvPr/>
        </p:nvSpPr>
        <p:spPr>
          <a:xfrm>
            <a:off x="571680" y="5765760"/>
            <a:ext cx="11061360" cy="456840"/>
          </a:xfrm>
          <a:prstGeom prst="roundRect">
            <a:avLst>
              <a:gd name="adj" fmla="val 20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7" name="TextBox 21"/>
          <p:cNvSpPr/>
          <p:nvPr/>
        </p:nvSpPr>
        <p:spPr>
          <a:xfrm>
            <a:off x="863640" y="5865480"/>
            <a:ext cx="10477080" cy="28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키 하나가 다섯 곳에 들어갑니다</a:t>
            </a:r>
            <a:r>
              <a:rPr lang="en-US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그래서 이 키가 새면 다섯 개가 한꺼번에 뚫립니다</a:t>
            </a:r>
            <a:r>
              <a:rPr lang="en-US" sz="1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Box 22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부록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내가 붙인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MCP          74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나머지 키는 여기서 받습니다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필요할 때 하나씩 받으면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Box 3"/>
          <p:cNvSpPr/>
          <p:nvPr/>
        </p:nvSpPr>
        <p:spPr>
          <a:xfrm>
            <a:off x="863640" y="1879560"/>
            <a:ext cx="27936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서비스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2" name="TextBox 4"/>
          <p:cNvSpPr/>
          <p:nvPr/>
        </p:nvSpPr>
        <p:spPr>
          <a:xfrm>
            <a:off x="3809880" y="1879560"/>
            <a:ext cx="38095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어디서 받나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Rounded Rectangle 5"/>
          <p:cNvSpPr/>
          <p:nvPr/>
        </p:nvSpPr>
        <p:spPr>
          <a:xfrm>
            <a:off x="571680" y="2184480"/>
            <a:ext cx="11061360" cy="5076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4" name="TextBox 6"/>
          <p:cNvSpPr/>
          <p:nvPr/>
        </p:nvSpPr>
        <p:spPr>
          <a:xfrm>
            <a:off x="863640" y="2298600"/>
            <a:ext cx="27936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한국투자증권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5" name="TextBox 7"/>
          <p:cNvSpPr/>
          <p:nvPr/>
        </p:nvSpPr>
        <p:spPr>
          <a:xfrm>
            <a:off x="3809880" y="2298600"/>
            <a:ext cx="4063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apiportal.koreainvestment.com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Box 8"/>
          <p:cNvSpPr/>
          <p:nvPr/>
        </p:nvSpPr>
        <p:spPr>
          <a:xfrm>
            <a:off x="8128080" y="2311560"/>
            <a:ext cx="35049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증권 계좌가 있어야 신청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7" name="TextBox 9"/>
          <p:cNvSpPr/>
          <p:nvPr/>
        </p:nvSpPr>
        <p:spPr>
          <a:xfrm>
            <a:off x="863640" y="2857680"/>
            <a:ext cx="27936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국가법령정보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8" name="TextBox 10"/>
          <p:cNvSpPr/>
          <p:nvPr/>
        </p:nvSpPr>
        <p:spPr>
          <a:xfrm>
            <a:off x="3809880" y="2857680"/>
            <a:ext cx="4063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open.law.go.kr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Box 11"/>
          <p:cNvSpPr/>
          <p:nvPr/>
        </p:nvSpPr>
        <p:spPr>
          <a:xfrm>
            <a:off x="8128080" y="2870280"/>
            <a:ext cx="35049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법령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판례 원문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이메일만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0" name="Rounded Rectangle 12"/>
          <p:cNvSpPr/>
          <p:nvPr/>
        </p:nvSpPr>
        <p:spPr>
          <a:xfrm>
            <a:off x="571680" y="3301920"/>
            <a:ext cx="11061360" cy="5076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Box 13"/>
          <p:cNvSpPr/>
          <p:nvPr/>
        </p:nvSpPr>
        <p:spPr>
          <a:xfrm>
            <a:off x="863640" y="3416400"/>
            <a:ext cx="27936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DART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Box 14"/>
          <p:cNvSpPr/>
          <p:nvPr/>
        </p:nvSpPr>
        <p:spPr>
          <a:xfrm>
            <a:off x="3809880" y="3416400"/>
            <a:ext cx="4063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opendart.fss.or.kr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3" name="TextBox 15"/>
          <p:cNvSpPr/>
          <p:nvPr/>
        </p:nvSpPr>
        <p:spPr>
          <a:xfrm>
            <a:off x="8128080" y="3429000"/>
            <a:ext cx="35049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기업 공시와 재무제표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4" name="TextBox 16"/>
          <p:cNvSpPr/>
          <p:nvPr/>
        </p:nvSpPr>
        <p:spPr>
          <a:xfrm>
            <a:off x="863640" y="3975120"/>
            <a:ext cx="27936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V-World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Box 17"/>
          <p:cNvSpPr/>
          <p:nvPr/>
        </p:nvSpPr>
        <p:spPr>
          <a:xfrm>
            <a:off x="3809880" y="3975120"/>
            <a:ext cx="4063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vworld.kr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6" name="TextBox 18"/>
          <p:cNvSpPr/>
          <p:nvPr/>
        </p:nvSpPr>
        <p:spPr>
          <a:xfrm>
            <a:off x="8128080" y="3987720"/>
            <a:ext cx="35049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토지이용계획</a:t>
            </a: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</a:t>
            </a: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지적도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7" name="Rounded Rectangle 19"/>
          <p:cNvSpPr/>
          <p:nvPr/>
        </p:nvSpPr>
        <p:spPr>
          <a:xfrm>
            <a:off x="571680" y="4419720"/>
            <a:ext cx="11061360" cy="5076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8" name="TextBox 20"/>
          <p:cNvSpPr/>
          <p:nvPr/>
        </p:nvSpPr>
        <p:spPr>
          <a:xfrm>
            <a:off x="863640" y="4533840"/>
            <a:ext cx="27936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Firecrawl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9" name="TextBox 21"/>
          <p:cNvSpPr/>
          <p:nvPr/>
        </p:nvSpPr>
        <p:spPr>
          <a:xfrm>
            <a:off x="3809880" y="4533840"/>
            <a:ext cx="4063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firecrawl.dev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0" name="TextBox 22"/>
          <p:cNvSpPr/>
          <p:nvPr/>
        </p:nvSpPr>
        <p:spPr>
          <a:xfrm>
            <a:off x="8128080" y="4546440"/>
            <a:ext cx="35049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봇 차단 사이트 자료 수집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Box 23"/>
          <p:cNvSpPr/>
          <p:nvPr/>
        </p:nvSpPr>
        <p:spPr>
          <a:xfrm>
            <a:off x="863640" y="5092560"/>
            <a:ext cx="27936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네이버 검색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2" name="TextBox 24"/>
          <p:cNvSpPr/>
          <p:nvPr/>
        </p:nvSpPr>
        <p:spPr>
          <a:xfrm>
            <a:off x="3809880" y="5092560"/>
            <a:ext cx="4063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developers.naver.com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3" name="TextBox 25"/>
          <p:cNvSpPr/>
          <p:nvPr/>
        </p:nvSpPr>
        <p:spPr>
          <a:xfrm>
            <a:off x="8128080" y="5105520"/>
            <a:ext cx="35049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★ 신규 신청 중단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Rounded Rectangle 26"/>
          <p:cNvSpPr/>
          <p:nvPr/>
        </p:nvSpPr>
        <p:spPr>
          <a:xfrm>
            <a:off x="571680" y="5537160"/>
            <a:ext cx="11061360" cy="5076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5" name="TextBox 27"/>
          <p:cNvSpPr/>
          <p:nvPr/>
        </p:nvSpPr>
        <p:spPr>
          <a:xfrm>
            <a:off x="863640" y="5651640"/>
            <a:ext cx="279360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옵시디언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Box 28"/>
          <p:cNvSpPr/>
          <p:nvPr/>
        </p:nvSpPr>
        <p:spPr>
          <a:xfrm>
            <a:off x="3809880" y="5651640"/>
            <a:ext cx="4063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0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플러그인 안에서 직접 발급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TextBox 29"/>
          <p:cNvSpPr/>
          <p:nvPr/>
        </p:nvSpPr>
        <p:spPr>
          <a:xfrm>
            <a:off x="8128080" y="5664240"/>
            <a:ext cx="35049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4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내 노트를 읽고 씁니다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8" name="TextBox 30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각 기관 공식 사이트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네이버 신규 신청 중단은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developers.naver.com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공지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32530 (2026-08-06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확인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9" name="TextBox 31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부록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내가 붙인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MCP          75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이만큼 붙일 필요는 없습니다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1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26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개는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년치입니다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오늘은 하나로 시작합니다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2" name="Rounded Rectangle 3"/>
          <p:cNvSpPr/>
          <p:nvPr/>
        </p:nvSpPr>
        <p:spPr>
          <a:xfrm>
            <a:off x="571680" y="1981080"/>
            <a:ext cx="5333760" cy="304776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3" name="TextBox 4"/>
          <p:cNvSpPr/>
          <p:nvPr/>
        </p:nvSpPr>
        <p:spPr>
          <a:xfrm>
            <a:off x="914400" y="2286000"/>
            <a:ext cx="45716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많이 붙이면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4" name="TextBox 5"/>
          <p:cNvSpPr/>
          <p:nvPr/>
        </p:nvSpPr>
        <p:spPr>
          <a:xfrm>
            <a:off x="914400" y="2768760"/>
            <a:ext cx="4571640" cy="20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안 써도 자리를 차지합니다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대화가 무거워지고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사용 한도가 빨리 찹니다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안 될 때 원인을 찾기도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그만큼 어려워집니다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5" name="Rounded Rectangle 6"/>
          <p:cNvSpPr/>
          <p:nvPr/>
        </p:nvSpPr>
        <p:spPr>
          <a:xfrm>
            <a:off x="6299280" y="1981080"/>
            <a:ext cx="5333760" cy="3047760"/>
          </a:xfrm>
          <a:prstGeom prst="roundRect">
            <a:avLst>
              <a:gd name="adj" fmla="val 6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6" name="TextBox 7"/>
          <p:cNvSpPr/>
          <p:nvPr/>
        </p:nvSpPr>
        <p:spPr>
          <a:xfrm>
            <a:off x="6642000" y="2286000"/>
            <a:ext cx="457164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0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하나로 시작하면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7" name="TextBox 8"/>
          <p:cNvSpPr/>
          <p:nvPr/>
        </p:nvSpPr>
        <p:spPr>
          <a:xfrm>
            <a:off x="6642000" y="2768760"/>
            <a:ext cx="4571640" cy="20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막히는 지점이 하나라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그 자리에서 잡힙니다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필요할 때 하나씩 늘리세요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"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이게 안 되네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" 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싶을 때가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붙일 때입니다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8" name="Rounded Rectangle 9"/>
          <p:cNvSpPr/>
          <p:nvPr/>
        </p:nvSpPr>
        <p:spPr>
          <a:xfrm>
            <a:off x="571680" y="5232240"/>
            <a:ext cx="11061360" cy="53316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9" name="TextBox 10"/>
          <p:cNvSpPr/>
          <p:nvPr/>
        </p:nvSpPr>
        <p:spPr>
          <a:xfrm>
            <a:off x="863640" y="536112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오늘 붙일 것은 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PlayMCP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커넥터 하나입니다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나머지는 필요해질 때 오시면 됩니다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0" name="TextBox 11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설정 파일에는 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API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키가 들어 있습니다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화면 공유나 캡처 전에 반드시 가리십시오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1" name="TextBox 12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부록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내가 붙인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MCP          76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직사각형 1"/>
          <p:cNvSpPr/>
          <p:nvPr/>
        </p:nvSpPr>
        <p:spPr>
          <a:xfrm>
            <a:off x="8128080" y="0"/>
            <a:ext cx="4063680" cy="6857640"/>
          </a:xfrm>
          <a:prstGeom prst="rect">
            <a:avLst/>
          </a:prstGeom>
          <a:solidFill>
            <a:srgbClr val="302C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TextBox 2"/>
          <p:cNvSpPr/>
          <p:nvPr/>
        </p:nvSpPr>
        <p:spPr>
          <a:xfrm>
            <a:off x="8128080" y="1905120"/>
            <a:ext cx="4063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9000" b="1" u="none" strike="noStrike">
                <a:solidFill>
                  <a:srgbClr val="4A4239"/>
                </a:solidFill>
                <a:effectLst/>
                <a:uFillTx/>
                <a:latin typeface="맑은 고딕"/>
                <a:ea typeface="맑은 고딕"/>
              </a:rPr>
              <a:t>B</a:t>
            </a:r>
            <a:endParaRPr lang="en-US" sz="1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4" name="TextBox 3"/>
          <p:cNvSpPr/>
          <p:nvPr/>
        </p:nvSpPr>
        <p:spPr>
          <a:xfrm>
            <a:off x="863640" y="2235240"/>
            <a:ext cx="584172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APPENDIX B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TextBox 4"/>
          <p:cNvSpPr/>
          <p:nvPr/>
        </p:nvSpPr>
        <p:spPr>
          <a:xfrm>
            <a:off x="863640" y="2616120"/>
            <a:ext cx="69210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Cowork </a:t>
            </a:r>
            <a:r>
              <a:rPr lang="zh-CN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Code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6" name="직사각형 5"/>
          <p:cNvSpPr/>
          <p:nvPr/>
        </p:nvSpPr>
        <p:spPr>
          <a:xfrm>
            <a:off x="914400" y="3809880"/>
            <a:ext cx="812520" cy="504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TextBox 6"/>
          <p:cNvSpPr/>
          <p:nvPr/>
        </p:nvSpPr>
        <p:spPr>
          <a:xfrm>
            <a:off x="863640" y="4114800"/>
            <a:ext cx="6921000" cy="170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방 한 칸이냐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집 열쇠냐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Code 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에만 있는 것 세 가지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이런 일은 여기서 하세요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처음엔 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Cowork </a:t>
            </a: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로 충분합니다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8" name="TextBox 7"/>
          <p:cNvSpPr/>
          <p:nvPr/>
        </p:nvSpPr>
        <p:spPr>
          <a:xfrm>
            <a:off x="863640" y="6172200"/>
            <a:ext cx="58417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Claude </a:t>
            </a:r>
            <a:r>
              <a:rPr lang="zh-CN" sz="1300" b="0" u="none" strike="noStrike">
                <a:solidFill>
                  <a:srgbClr val="726859"/>
                </a:solidFill>
                <a:effectLst/>
                <a:uFillTx/>
                <a:latin typeface="맑은 고딕"/>
                <a:ea typeface="맑은 고딕"/>
              </a:rPr>
              <a:t>데스크탑 시작하기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99" name="그래픽 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753480" y="888840"/>
            <a:ext cx="812520" cy="81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방 한 칸이냐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집 열쇠냐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둘은 같은 사람입니다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어디까지 들어가느냐가 다릅니다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2" name="Rounded Rectangle 3"/>
          <p:cNvSpPr/>
          <p:nvPr/>
        </p:nvSpPr>
        <p:spPr>
          <a:xfrm>
            <a:off x="571680" y="1930320"/>
            <a:ext cx="5333760" cy="292068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3" name="TextBox 4"/>
          <p:cNvSpPr/>
          <p:nvPr/>
        </p:nvSpPr>
        <p:spPr>
          <a:xfrm>
            <a:off x="914400" y="2235240"/>
            <a:ext cx="45716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Cowork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Box 5"/>
          <p:cNvSpPr/>
          <p:nvPr/>
        </p:nvSpPr>
        <p:spPr>
          <a:xfrm>
            <a:off x="914400" y="2692440"/>
            <a:ext cx="457164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방 한 칸을 내주는 것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Box 6"/>
          <p:cNvSpPr/>
          <p:nvPr/>
        </p:nvSpPr>
        <p:spPr>
          <a:xfrm>
            <a:off x="914400" y="3149640"/>
            <a:ext cx="4571640" cy="13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5000"/>
              </a:lnSpc>
            </a:pP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"</a:t>
            </a: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이 방에서 일해줘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."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5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그 방 안의 물건만 만집니다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5000"/>
              </a:lnSpc>
            </a:pPr>
            <a:r>
              <a:rPr lang="zh-CN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옆방은 못 들어갑니다</a:t>
            </a:r>
            <a:r>
              <a:rPr lang="en-US" sz="17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6" name="Rounded Rectangle 7"/>
          <p:cNvSpPr/>
          <p:nvPr/>
        </p:nvSpPr>
        <p:spPr>
          <a:xfrm>
            <a:off x="6299280" y="1930320"/>
            <a:ext cx="5333760" cy="2920680"/>
          </a:xfrm>
          <a:prstGeom prst="roundRect">
            <a:avLst>
              <a:gd name="adj" fmla="val 6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7" name="TextBox 8"/>
          <p:cNvSpPr/>
          <p:nvPr/>
        </p:nvSpPr>
        <p:spPr>
          <a:xfrm>
            <a:off x="6642000" y="2235240"/>
            <a:ext cx="457164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Code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Box 9"/>
          <p:cNvSpPr/>
          <p:nvPr/>
        </p:nvSpPr>
        <p:spPr>
          <a:xfrm>
            <a:off x="6642000" y="2692440"/>
            <a:ext cx="457164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집 열쇠를 통째로 주는 것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Box 10"/>
          <p:cNvSpPr/>
          <p:nvPr/>
        </p:nvSpPr>
        <p:spPr>
          <a:xfrm>
            <a:off x="6642000" y="3149640"/>
            <a:ext cx="4571640" cy="13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5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어느 방이든 들어가고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5000"/>
              </a:lnSpc>
            </a:pPr>
            <a:r>
              <a:rPr lang="zh-CN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창고의 공구도 꺼내 씁니다</a:t>
            </a:r>
            <a:r>
              <a:rPr lang="en-US" sz="1700" b="0" u="none" strike="noStrike">
                <a:solidFill>
                  <a:srgbClr val="C9C0B4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0" name="Rounded Rectangle 11"/>
          <p:cNvSpPr/>
          <p:nvPr/>
        </p:nvSpPr>
        <p:spPr>
          <a:xfrm>
            <a:off x="571680" y="5054760"/>
            <a:ext cx="11061360" cy="53316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1" name="TextBox 12"/>
          <p:cNvSpPr/>
          <p:nvPr/>
        </p:nvSpPr>
        <p:spPr>
          <a:xfrm>
            <a:off x="863640" y="518328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실력이 다른 게 아닙니다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둘 다 바탕은 같은 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Claude Code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입니다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Box 13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claude.com/resources/tutorials/navigating-the-claude-desktop-app (2026-08-09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직접 조회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Box 14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부록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Cowork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Code          78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Code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에만 있는 것 세 가지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이 셋이 필요해지면 그때 옮기면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6" name="Rounded Rectangle 3"/>
          <p:cNvSpPr/>
          <p:nvPr/>
        </p:nvSpPr>
        <p:spPr>
          <a:xfrm>
            <a:off x="571680" y="1905120"/>
            <a:ext cx="11061360" cy="1193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Rounded Rectangle 4"/>
          <p:cNvSpPr/>
          <p:nvPr/>
        </p:nvSpPr>
        <p:spPr>
          <a:xfrm>
            <a:off x="914400" y="2133720"/>
            <a:ext cx="507600" cy="5076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8" name="TextBox 5"/>
          <p:cNvSpPr/>
          <p:nvPr/>
        </p:nvSpPr>
        <p:spPr>
          <a:xfrm>
            <a:off x="914400" y="2247840"/>
            <a:ext cx="5076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Box 6"/>
          <p:cNvSpPr/>
          <p:nvPr/>
        </p:nvSpPr>
        <p:spPr>
          <a:xfrm>
            <a:off x="1701720" y="2133720"/>
            <a:ext cx="888948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되돌리기가 됩니다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Box 7"/>
          <p:cNvSpPr/>
          <p:nvPr/>
        </p:nvSpPr>
        <p:spPr>
          <a:xfrm>
            <a:off x="1701720" y="2540160"/>
            <a:ext cx="96516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Ctrl + Z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가 며칠 전까지 먹힌다고 보시면 됩니다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어제 상태로 통째로 돌아갈 수 있습니다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1" name="Rounded Rectangle 8"/>
          <p:cNvSpPr/>
          <p:nvPr/>
        </p:nvSpPr>
        <p:spPr>
          <a:xfrm>
            <a:off x="571680" y="3276720"/>
            <a:ext cx="11061360" cy="1193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2" name="Rounded Rectangle 9"/>
          <p:cNvSpPr/>
          <p:nvPr/>
        </p:nvSpPr>
        <p:spPr>
          <a:xfrm>
            <a:off x="914400" y="3505320"/>
            <a:ext cx="507600" cy="5076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3" name="TextBox 10"/>
          <p:cNvSpPr/>
          <p:nvPr/>
        </p:nvSpPr>
        <p:spPr>
          <a:xfrm>
            <a:off x="914400" y="3619440"/>
            <a:ext cx="5076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Box 11"/>
          <p:cNvSpPr/>
          <p:nvPr/>
        </p:nvSpPr>
        <p:spPr>
          <a:xfrm>
            <a:off x="1701720" y="3505320"/>
            <a:ext cx="888948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어디를 고쳤는지 보여줍니다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Box 12"/>
          <p:cNvSpPr/>
          <p:nvPr/>
        </p:nvSpPr>
        <p:spPr>
          <a:xfrm>
            <a:off x="1701720" y="3911760"/>
            <a:ext cx="96516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바뀐 줄에 색이 칠해집니다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 Cowork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는 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"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고쳤습니다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"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하고 끝입니다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6" name="Rounded Rectangle 13"/>
          <p:cNvSpPr/>
          <p:nvPr/>
        </p:nvSpPr>
        <p:spPr>
          <a:xfrm>
            <a:off x="571680" y="4648320"/>
            <a:ext cx="11061360" cy="1193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7" name="Rounded Rectangle 14"/>
          <p:cNvSpPr/>
          <p:nvPr/>
        </p:nvSpPr>
        <p:spPr>
          <a:xfrm>
            <a:off x="914400" y="4876920"/>
            <a:ext cx="507600" cy="5076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8" name="TextBox 15"/>
          <p:cNvSpPr/>
          <p:nvPr/>
        </p:nvSpPr>
        <p:spPr>
          <a:xfrm>
            <a:off x="914400" y="4991040"/>
            <a:ext cx="5076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Box 16"/>
          <p:cNvSpPr/>
          <p:nvPr/>
        </p:nvSpPr>
        <p:spPr>
          <a:xfrm>
            <a:off x="1701720" y="4876920"/>
            <a:ext cx="888948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0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만들고 바로 돌려봅니다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Box 17"/>
          <p:cNvSpPr/>
          <p:nvPr/>
        </p:nvSpPr>
        <p:spPr>
          <a:xfrm>
            <a:off x="1701720" y="5283360"/>
            <a:ext cx="965160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30000"/>
              </a:lnSpc>
            </a:pP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같은 화면에서 실행하고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안 되면 고치고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또 돌려봅니다</a:t>
            </a:r>
            <a:r>
              <a:rPr lang="en-US" sz="16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1" name="Rounded Rectangle 18"/>
          <p:cNvSpPr/>
          <p:nvPr/>
        </p:nvSpPr>
        <p:spPr>
          <a:xfrm>
            <a:off x="571680" y="5969160"/>
            <a:ext cx="11061360" cy="406080"/>
          </a:xfrm>
          <a:prstGeom prst="roundRect">
            <a:avLst>
              <a:gd name="adj" fmla="val 22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2" name="TextBox 19"/>
          <p:cNvSpPr/>
          <p:nvPr/>
        </p:nvSpPr>
        <p:spPr>
          <a:xfrm>
            <a:off x="863640" y="6070680"/>
            <a:ext cx="104770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3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Cowork </a:t>
            </a:r>
            <a:r>
              <a:rPr lang="zh-CN" sz="13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에는 되돌리기가 없습니다</a:t>
            </a:r>
            <a:r>
              <a:rPr lang="en-US" sz="13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  </a:t>
            </a:r>
            <a:r>
              <a:rPr lang="zh-CN" sz="13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그래서 고치기 전에 백업을 직접 떠야 합니다</a:t>
            </a:r>
            <a:r>
              <a:rPr lang="en-US" sz="13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Box 20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부록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Cowork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Code          79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이런 일은 여기서 하세요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일의 성격으로 고르면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6" name="Rounded Rectangle 3"/>
          <p:cNvSpPr/>
          <p:nvPr/>
        </p:nvSpPr>
        <p:spPr>
          <a:xfrm>
            <a:off x="571680" y="1930320"/>
            <a:ext cx="11061360" cy="5839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7" name="TextBox 4"/>
          <p:cNvSpPr/>
          <p:nvPr/>
        </p:nvSpPr>
        <p:spPr>
          <a:xfrm>
            <a:off x="863640" y="2082960"/>
            <a:ext cx="7111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파일 정리 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· 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엑셀과 문서 만들기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8" name="Rounded Rectangle 5"/>
          <p:cNvSpPr/>
          <p:nvPr/>
        </p:nvSpPr>
        <p:spPr>
          <a:xfrm>
            <a:off x="8889840" y="2044800"/>
            <a:ext cx="1523520" cy="35532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9" name="TextBox 6"/>
          <p:cNvSpPr/>
          <p:nvPr/>
        </p:nvSpPr>
        <p:spPr>
          <a:xfrm>
            <a:off x="8889840" y="2095560"/>
            <a:ext cx="15235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Cowork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Rounded Rectangle 7"/>
          <p:cNvSpPr/>
          <p:nvPr/>
        </p:nvSpPr>
        <p:spPr>
          <a:xfrm>
            <a:off x="571680" y="2590920"/>
            <a:ext cx="11061360" cy="5839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1" name="TextBox 8"/>
          <p:cNvSpPr/>
          <p:nvPr/>
        </p:nvSpPr>
        <p:spPr>
          <a:xfrm>
            <a:off x="863640" y="2743200"/>
            <a:ext cx="7111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화면 하나 만들기 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오늘 한 것</a:t>
            </a:r>
            <a:r>
              <a:rPr lang="en-US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2" name="Rounded Rectangle 9"/>
          <p:cNvSpPr/>
          <p:nvPr/>
        </p:nvSpPr>
        <p:spPr>
          <a:xfrm>
            <a:off x="8889840" y="2705040"/>
            <a:ext cx="1523520" cy="35532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TextBox 10"/>
          <p:cNvSpPr/>
          <p:nvPr/>
        </p:nvSpPr>
        <p:spPr>
          <a:xfrm>
            <a:off x="8889840" y="2755800"/>
            <a:ext cx="15235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Cowork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4" name="Rounded Rectangle 11"/>
          <p:cNvSpPr/>
          <p:nvPr/>
        </p:nvSpPr>
        <p:spPr>
          <a:xfrm>
            <a:off x="571680" y="3251160"/>
            <a:ext cx="11061360" cy="5839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5" name="TextBox 12"/>
          <p:cNvSpPr/>
          <p:nvPr/>
        </p:nvSpPr>
        <p:spPr>
          <a:xfrm>
            <a:off x="863640" y="3403440"/>
            <a:ext cx="7111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매일 아침 자동으로 돌리기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Rounded Rectangle 13"/>
          <p:cNvSpPr/>
          <p:nvPr/>
        </p:nvSpPr>
        <p:spPr>
          <a:xfrm>
            <a:off x="8889840" y="3365640"/>
            <a:ext cx="1523520" cy="35532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Box 14"/>
          <p:cNvSpPr/>
          <p:nvPr/>
        </p:nvSpPr>
        <p:spPr>
          <a:xfrm>
            <a:off x="8889840" y="3416400"/>
            <a:ext cx="15235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Cowork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8" name="Rounded Rectangle 15"/>
          <p:cNvSpPr/>
          <p:nvPr/>
        </p:nvSpPr>
        <p:spPr>
          <a:xfrm>
            <a:off x="571680" y="3911760"/>
            <a:ext cx="11061360" cy="583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Box 16"/>
          <p:cNvSpPr/>
          <p:nvPr/>
        </p:nvSpPr>
        <p:spPr>
          <a:xfrm>
            <a:off x="863640" y="4064040"/>
            <a:ext cx="7111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만든 걸 몇 주에 걸쳐 계속 고칠 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0" name="Rounded Rectangle 17"/>
          <p:cNvSpPr/>
          <p:nvPr/>
        </p:nvSpPr>
        <p:spPr>
          <a:xfrm>
            <a:off x="8889840" y="4025880"/>
            <a:ext cx="1523520" cy="355320"/>
          </a:xfrm>
          <a:prstGeom prst="roundRect">
            <a:avLst>
              <a:gd name="adj" fmla="val 30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1" name="TextBox 18"/>
          <p:cNvSpPr/>
          <p:nvPr/>
        </p:nvSpPr>
        <p:spPr>
          <a:xfrm>
            <a:off x="8889840" y="4076640"/>
            <a:ext cx="15235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2" name="Rounded Rectangle 19"/>
          <p:cNvSpPr/>
          <p:nvPr/>
        </p:nvSpPr>
        <p:spPr>
          <a:xfrm>
            <a:off x="571680" y="4572000"/>
            <a:ext cx="11061360" cy="583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3" name="TextBox 20"/>
          <p:cNvSpPr/>
          <p:nvPr/>
        </p:nvSpPr>
        <p:spPr>
          <a:xfrm>
            <a:off x="863640" y="4724280"/>
            <a:ext cx="7111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잘못 고쳤을 때 되돌려야 할 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4" name="Rounded Rectangle 21"/>
          <p:cNvSpPr/>
          <p:nvPr/>
        </p:nvSpPr>
        <p:spPr>
          <a:xfrm>
            <a:off x="8889840" y="4686480"/>
            <a:ext cx="1523520" cy="355320"/>
          </a:xfrm>
          <a:prstGeom prst="roundRect">
            <a:avLst>
              <a:gd name="adj" fmla="val 30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Box 22"/>
          <p:cNvSpPr/>
          <p:nvPr/>
        </p:nvSpPr>
        <p:spPr>
          <a:xfrm>
            <a:off x="8889840" y="4737240"/>
            <a:ext cx="15235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6" name="Rounded Rectangle 23"/>
          <p:cNvSpPr/>
          <p:nvPr/>
        </p:nvSpPr>
        <p:spPr>
          <a:xfrm>
            <a:off x="571680" y="5232240"/>
            <a:ext cx="11061360" cy="583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7" name="TextBox 24"/>
          <p:cNvSpPr/>
          <p:nvPr/>
        </p:nvSpPr>
        <p:spPr>
          <a:xfrm>
            <a:off x="863640" y="5384880"/>
            <a:ext cx="7111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700" b="0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폴더 여러 개에 흩어져 있을 때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8" name="Rounded Rectangle 25"/>
          <p:cNvSpPr/>
          <p:nvPr/>
        </p:nvSpPr>
        <p:spPr>
          <a:xfrm>
            <a:off x="8889840" y="5346720"/>
            <a:ext cx="1523520" cy="355320"/>
          </a:xfrm>
          <a:prstGeom prst="roundRect">
            <a:avLst>
              <a:gd name="adj" fmla="val 30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9" name="TextBox 26"/>
          <p:cNvSpPr/>
          <p:nvPr/>
        </p:nvSpPr>
        <p:spPr>
          <a:xfrm>
            <a:off x="8889840" y="5397480"/>
            <a:ext cx="15235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맑은 고딕"/>
                <a:ea typeface="맑은 고딕"/>
              </a:rPr>
              <a:t>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0" name="TextBox 27"/>
          <p:cNvSpPr/>
          <p:nvPr/>
        </p:nvSpPr>
        <p:spPr>
          <a:xfrm>
            <a:off x="571680" y="599436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5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매일 아침 자동 실행</a:t>
            </a:r>
            <a:r>
              <a:rPr lang="en-US" sz="15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(</a:t>
            </a:r>
            <a:r>
              <a:rPr lang="zh-CN" sz="15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예약 작업</a:t>
            </a:r>
            <a:r>
              <a:rPr lang="en-US" sz="15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r>
              <a:rPr lang="zh-CN" sz="15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은 </a:t>
            </a:r>
            <a:r>
              <a:rPr lang="en-US" sz="15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Cowork </a:t>
            </a:r>
            <a:r>
              <a:rPr lang="zh-CN" sz="15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에만 있습니다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Box 28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부록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Cowork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Code          80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TextBox 1"/>
          <p:cNvSpPr/>
          <p:nvPr/>
        </p:nvSpPr>
        <p:spPr>
          <a:xfrm>
            <a:off x="571680" y="380880"/>
            <a:ext cx="1106136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처음엔 </a:t>
            </a:r>
            <a:r>
              <a:rPr lang="en-US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Cowork </a:t>
            </a:r>
            <a:r>
              <a:rPr lang="zh-CN" sz="3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로 충분합니다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Box 2"/>
          <p:cNvSpPr/>
          <p:nvPr/>
        </p:nvSpPr>
        <p:spPr>
          <a:xfrm>
            <a:off x="571680" y="113040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Code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는 필요해질 때 옮기면 됩니다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Rounded Rectangle 3"/>
          <p:cNvSpPr/>
          <p:nvPr/>
        </p:nvSpPr>
        <p:spPr>
          <a:xfrm>
            <a:off x="571680" y="1981080"/>
            <a:ext cx="11061360" cy="1523520"/>
          </a:xfrm>
          <a:prstGeom prst="roundRect">
            <a:avLst>
              <a:gd name="adj" fmla="val 6000"/>
            </a:avLst>
          </a:prstGeom>
          <a:solidFill>
            <a:srgbClr val="F5F1EB"/>
          </a:solidFill>
          <a:ln w="12700">
            <a:solidFill>
              <a:srgbClr val="DCD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5" name="TextBox 4"/>
          <p:cNvSpPr/>
          <p:nvPr/>
        </p:nvSpPr>
        <p:spPr>
          <a:xfrm>
            <a:off x="914400" y="2311560"/>
            <a:ext cx="1041372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결과물을 받고 끝이면  </a:t>
            </a:r>
            <a:r>
              <a:rPr lang="en-US" sz="26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Cowork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6" name="TextBox 5"/>
          <p:cNvSpPr/>
          <p:nvPr/>
        </p:nvSpPr>
        <p:spPr>
          <a:xfrm>
            <a:off x="914400" y="2819520"/>
            <a:ext cx="1041372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26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그 코드를 앞으로도 계속 만질 거면  </a:t>
            </a:r>
            <a:r>
              <a:rPr lang="en-US" sz="2600" b="1" u="none" strike="noStrike">
                <a:solidFill>
                  <a:srgbClr val="D97757"/>
                </a:solidFill>
                <a:effectLst/>
                <a:uFillTx/>
                <a:latin typeface="맑은 고딕"/>
                <a:ea typeface="맑은 고딕"/>
              </a:rPr>
              <a:t>Code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TextBox 6"/>
          <p:cNvSpPr/>
          <p:nvPr/>
        </p:nvSpPr>
        <p:spPr>
          <a:xfrm>
            <a:off x="571680" y="3809880"/>
            <a:ext cx="110613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오늘 만든 화면은 </a:t>
            </a:r>
            <a:r>
              <a:rPr lang="en-US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Cowork </a:t>
            </a:r>
            <a:r>
              <a:rPr lang="zh-CN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가 맞습니다</a:t>
            </a:r>
            <a:r>
              <a:rPr lang="en-US" sz="1900" b="1" u="none" strike="noStrike">
                <a:solidFill>
                  <a:srgbClr val="24211D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Box 7"/>
          <p:cNvSpPr/>
          <p:nvPr/>
        </p:nvSpPr>
        <p:spPr>
          <a:xfrm>
            <a:off x="571680" y="4241880"/>
            <a:ext cx="11061360" cy="8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4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이걸 반년 동안 기능을 붙여가며 키울 생각이라면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,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그때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Code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로 옮기시면 됩니다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</a:pP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지금 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Code </a:t>
            </a:r>
            <a:r>
              <a:rPr lang="zh-CN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를 배우실 필요는 없습니다</a:t>
            </a:r>
            <a:r>
              <a:rPr lang="en-US" sz="180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Rounded Rectangle 8"/>
          <p:cNvSpPr/>
          <p:nvPr/>
        </p:nvSpPr>
        <p:spPr>
          <a:xfrm>
            <a:off x="571680" y="5334120"/>
            <a:ext cx="11061360" cy="507600"/>
          </a:xfrm>
          <a:prstGeom prst="roundRect">
            <a:avLst>
              <a:gd name="adj" fmla="val 18000"/>
            </a:avLst>
          </a:prstGeom>
          <a:solidFill>
            <a:srgbClr val="242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0" name="TextBox 9"/>
          <p:cNvSpPr/>
          <p:nvPr/>
        </p:nvSpPr>
        <p:spPr>
          <a:xfrm>
            <a:off x="863640" y="5450040"/>
            <a:ext cx="10477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Code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탭은 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Pro · Max · Team · Enterprise </a:t>
            </a:r>
            <a:r>
              <a:rPr lang="zh-CN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에 순차 제공 중입니다</a:t>
            </a:r>
            <a:r>
              <a:rPr lang="en-US" sz="1500" b="1" u="none" strike="noStrike">
                <a:solidFill>
                  <a:srgbClr val="F6F1EA"/>
                </a:solidFill>
                <a:effectLst/>
                <a:uFillTx/>
                <a:latin typeface="맑은 고딕"/>
                <a:ea typeface="맑은 고딕"/>
              </a:rPr>
              <a:t>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1" name="TextBox 10"/>
          <p:cNvSpPr/>
          <p:nvPr/>
        </p:nvSpPr>
        <p:spPr>
          <a:xfrm>
            <a:off x="571680" y="6273720"/>
            <a:ext cx="110613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출처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: claude.com/resources/tutorials/navigating-the-claude-desktop-app (2026-08-09 </a:t>
            </a:r>
            <a:r>
              <a:rPr lang="zh-CN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직접 조회</a:t>
            </a:r>
            <a:r>
              <a:rPr lang="en-US" sz="1350" b="0" u="none" strike="noStrike">
                <a:solidFill>
                  <a:srgbClr val="514B43"/>
                </a:solidFill>
                <a:effectLst/>
                <a:uFillTx/>
                <a:latin typeface="맑은 고딕"/>
                <a:ea typeface="맑은 고딕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TextBox 11"/>
          <p:cNvSpPr/>
          <p:nvPr/>
        </p:nvSpPr>
        <p:spPr>
          <a:xfrm>
            <a:off x="6350040" y="6451560"/>
            <a:ext cx="52700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부록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· Cowork </a:t>
            </a:r>
            <a:r>
              <a:rPr lang="zh-CN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와 </a:t>
            </a:r>
            <a:r>
              <a:rPr lang="en-US" sz="1200" b="0" u="none" strike="noStrike">
                <a:solidFill>
                  <a:srgbClr val="A69C90"/>
                </a:solidFill>
                <a:effectLst/>
                <a:uFillTx/>
                <a:latin typeface="맑은 고딕"/>
                <a:ea typeface="맑은 고딕"/>
              </a:rPr>
              <a:t>Code          81 / 81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</TotalTime>
  <Application>LibreOffice/26.2.4.2$Linux_X86_64 LibreOffice_project/620$Build-2</Application>
  <AppVersion>15.0000</AppVersion>
  <Words>20731</Words>
  <Paragraphs>1503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2026-08-06T09:52:34Z</dcterms:created>
  <dc:creator>클로드 교육</dc:creator>
  <dc:description/>
  <dc:language>en-US</dc:language>
  <cp:lastModifiedBy>DG KIM</cp:lastModifiedBy>
  <dcterms:modified xsi:type="dcterms:W3CDTF">2026-08-10T06:06:24Z</dcterms:modified>
  <cp:revision>4</cp:revision>
  <dc:subject>PptxGenJS Presentation</dc:subject>
  <dc:title>Claude 데스크탑 시작하기 - 1회차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73</vt:r8>
  </property>
  <property fmtid="{D5CDD505-2E9C-101B-9397-08002B2CF9AE}" pid="3" name="PresentationFormat">
    <vt:lpwstr>와이드스크린</vt:lpwstr>
  </property>
  <property fmtid="{D5CDD505-2E9C-101B-9397-08002B2CF9AE}" pid="4" name="Slides">
    <vt:r8>77</vt:r8>
  </property>
</Properties>
</file>