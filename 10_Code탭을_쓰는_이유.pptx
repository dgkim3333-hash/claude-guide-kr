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[대사]
오늘은 설치나 설정이 아니라 "어디서 일을 시키느냐"를 정리합니다.
최근 Claude의 Cowork가 일하는 장소가 바뀌었습니다. 이걸 모르면 자동 작업이 '성공'이라고 나오는데 파일이 없는 일이 생깁니다.
14장으로 개념 → 실제로 생긴 문제 → 해결 → 막힐 때 순서로 갑니다.
[예상 질문]
Q. 새로 깔아야 하는 게 있나요? → 없습니다. 전부 지금 쓰는 데스크탑 앱 안에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[대사]
결론부터 드립니다. 첫째, Cowork는 이제 내 PC가 아니라 Anthropic의 서버에서 일합니다.
둘째, 그래서 내 PC의 파일이나 MCP는 데스크탑 앱이 켜져 있고 PC가 깨어 있을 때만 닿습니다.
셋째, 그래서 내 PC 파일을 만지는 일은 Code 탭에서, 그 일을 자동으로 돌리는 건 Code 루틴으로 합니다.
아래 주황 상자 두 문장은 오늘 끝까지 반복합니다.
[출처 — 2026-10-15 조회]
support.claude.com/en/articles/15520349 "In a remote session, Claude's work runs on Anthropic's servers instead of your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[대사]
먼저 이름부터 정리하겠습니다. 데스크탑 앱 하나 안에 네 군데가 있습니다.
채팅은 묻고 답하는 곳, Cowork는 일을 맡기는 곳입니다. 이 둘은 이제 인터넷 너머에서 돕니다.
Code 탭은 이름이 Code지만 개발 전용이 아닙니다. 말로 시키는 방식은 Cowork와 같고, 내 PC 안에서 직접 일합니다.
Code 루틴은 Code 탭에서 거는 예약입니다. 이것도 내 PC에서 돕니다.
[강조]
"Code"라는 이름에 겁먹지 않게. 명령어 창(검은 창)을 쓰지 않습니다.
[예상 질문]
Q. Code 탭이 안 보여요 → 앱을 최신으로 업데이트. 화면 위쪽(또는 왼쪽) 탭 이름은 버전에 따라 위치가 다를 수 있습니다.
[출처 — 2026-10-15 조회]
code.claude.com/docs/en/desktop-scheduled-tasks : "A local task runs on your machine with direct access to your files and tools"
support.claude.com/en/articles/15520349 : Sessions run remotely on every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[대사]
왼쪽이 지금까지 배운 그림입니다. Cowork도, 내 폴더도, 엑셀도, MCP도 전부 PC 한 대 안에 있었습니다.
오른쪽이 바뀐 그림입니다. Cowork는 인터넷 너머에서 일하고, 내 PC의 폴더와 MCP는 데스크탑 앱이라는 '전화선'을 통해 빌려 갑니다.
앱을 닫으면 세션은 계속 돌지만 내 파일에는 손을 못 댑니다. 이건 공식 도움말 문장 그대로입니다.
반대로 Code 탭은 처음부터 내 PC 안에 있으니 전화선이 필요 없습니다.
[출처 — 2026-10-15 조회]
support.claude.com/en/articles/15520349 : "If the app is closed, the session keeps running but can't reach your local files."
"Local connectors and plugins that include local MCP servers work through the desktop app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[대사]
언제 바뀌었냐면, 공식 릴리스 노트에 2026년 7월 7일 공지됐습니다. 아직 베타이고 Max 요금제부터 몇 주에 걸쳐 차례로 적용한다고 되어 있습니다.
그래서 사람마다 바뀐 날이 다릅니다. 제 PC는 10월 7일에 처음으로 예약 작업이 클라우드에서 돌았습니다.
여러분 PC는 아직 예전 방식일 수도 있습니다. 하지만 결국 다 바뀌므로 지금부터 새 방식으로 습관을 들이는 게 안전합니다.
[예상 질문]
Q. 내 PC가 바뀌었는지 어떻게 아나요? → 공식 확인 메뉴는 따로 안내되어 있지 않습니다. 앱을 닫고 Cowork에 내 폴더 파일을 열어 달라고 했을 때 못 열면 바뀐 것으로 보시면 됩니다(강사 경험상 판단).
[출처 — 2026-10-15 조회]
support.claude.com/en/articles/12138966 (Release notes, 2026-07-07 항목)
support.claude.com/en/articles/15520349 : "rolling out over the next several weeks starting with the Max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[대사]
비유로 정리합니다. Cowork는 재택근무 직원입니다. 일은 자기 집에서 하고, 우리 사무실 서랍이 필요하면 전화로 부탁해서 빌려 갑니다.
전화가 끊기면, 즉 앱이 꺼졌거나 PC가 잠들면 서랍을 못 엽니다. 전화가 연결돼 있어도 엑셀처럼 손이 많이 가는 일은 중간에 끊기기 쉽습니다.
대신 재택 직원은 집에서도 일하니 휴대폰으로 진행 상황을 볼 수 있다는 장점이 있습니다.
Code 탭은 사무실에 출근한 직원입니다. 내 책상에 앉아 서랍을 직접 열고 엑셀도 직접 켭니다. 대신 사무실(PC)이 열려 있어야 출근할 수 있습니다.
[강조]
둘 다 장단점이 있습니다. 어느 쪽이 나쁘다는 이야기가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[대사]
공식 도움말이 "데스크탑 앱이 필요한 것"으로 꼽은 네 가지입니다.
내 폴더 파일 읽고 쓰기, 내 PC에 붙인 MCP(로컬 커넥터), 크롬 브라우저 조작, 화면 클릭하는 컴퓨터 사용.
우리 교육에서 쓰는 실거래가·법령·DB·엑셀 MCP는 거의 다 두 번째, 로컬 MCP입니다. 그래서 앱이 꺼지면 다 같이 멈춥니다.
반대로 웹 검색이나 Anthropic이 제공하는 클라우드 커넥터는 앱이 꺼져도 됩니다.
[출처 — 2026-10-15 조회]
support.claude.com/en/articles/15520349 「What requires the desktop app」: Local file access / Local connectors / Browser use / Computer use
"A remote session reaches these files only while the desktop app is open, only for folders you've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[대사]
실제로 제 PC에서 생긴 일입니다. 분석을 하다가 PC가 잠깐 잠들거나 앱 연결이 끊기면 DB, 엑셀, 법령, 실거래가 도구가 한꺼번에 빠집니다.
문제는 Claude가 그걸 모르고 계속하는 경우입니다. 도구가 없으니 숫자를 '기억'으로 채운 답이 나올 수 있습니다. 겉보기엔 멀쩡해서 더 위험합니다.
그래서 숫자가 평소와 다르거나 이상하면 먼저 연결부터 확인합니다. Cowork는 입력창의 + → Connectors, Code 탭은 /mcp 입니다.
제 경우엔 메시지를 하나 더 보내니 다시 붙었습니다.
[예방 문구]
요청할 때 "도구가 연결 안 돼 있으면 추측하지 말고 멈춰서 알려줘"를 덧붙입니다.
[실측]
강사 PC 2026-10-15 (Windows, Microsoft Store 판 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[대사]
두 번째 문제는 파일 작업입니다. 제 PC에서 세 번이나 반복된 일입니다.
Cowork(클라우드)에서 엑셀 도구로 표·슬라이서·피벗을 만들라고 하면 "session_id is required"라는 오류로 전부 실패했습니다. 자료는 다 모았는데 엑셀은 0개였습니다.
엑셀을 닫는 명령도 같은 오류로 실패해서, 눈에 안 보이는 엑셀이 파일을 잡고 남았습니다. 그러면 다음에 그 파일을 못 엽니다.
DB 파일에 원격으로 쓰다가 파일이 0바이트로 망가진 적도 있습니다.
그리고 클라우드 쪽 저장 공간은 임시라서, 내 PC로 보내지 않은 파일은 세션이 끝나면 사라집니다.
[예상 질문]
Q. 숨은 엑셀은 어떻게 없애요? → 작업 관리자에서 Excel을 끝내고, 폴더에 남은 ~$로 시작하는 파일을 지웁니다.
[실측]
엑셀 오류 2026-10-07 · 10-13 · 10-14 / DB 손상 2026-08 (강사 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[대사]
제일 위험한 장면입니다. Cowork 예약을 월요일 10시에 걸어 뒀다고 해 봅시다.
이제 Cowork 예약은 PC가 꺼져 있어도 클라우드에서 돕니다. 그런데 PC가 꺼져 있으니 내 폴더에 손을 못 댑니다. 그래도 기록에는 '성공'이 찍힐 수 있습니다.
'성공'은 "돌았다"는 뜻이지 "결과가 나왔다"는 뜻이 아닙니다.
Code 루틴은 PC에서 돌기 때문에, PC가 잠들어 있으면 그 회차를 건너뛰고 기록에 이유를 남깁니다. 그리고 PC가 깨면 놓친 것 중 가장 최근 1회를 따라잡아 실행합니다(최근 7일 안).
즉, 안 돌았으면 안 돌았다고 정직하게 보입니다.
[주의 — 공식 문서끼리 문구가 엇갈림]
Cowork 예약 안내(13854387)는 아직 "앱이 열려 있고 PC가 깨어 있어야 실행, 놓치면 깨어날 때 실행"이라고 쓰고, 원격 실행 안내(15520349)는 "Scheduled tasks run with no device online"이라고 씁니다. 어느 쪽이든 PC 파일에 닿으려면 앱과 PC가 켜져 있어야 한다는 결론은 같습니다.
[출처 — 2026-10-15 조회]
code.claude.com/docs/en/desktop-scheduled-tasks 「Missed runs」: "Desktop starts exactly one catch-up run for the most recently missed time"
같은 문서 「Review history」: skipped runs와 이유(asleep / previous run in progress 등) 표시
실측: 강사 PC 2026-10-07 '성공'인데 산출물 0개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[대사]
그래서 해결책이 Code 탭입니다. 근거가 세 가지 있습니다.
첫째, 공식 문서에 "로컬 예약은 내 PC에서 돌고 내 파일과 도구에 직접 접근한다"고 되어 있습니다.
둘째, 05섹션에서 넣은 설정 파일(claude_desktop_config.json)의 MCP를 Code 탭이 그대로 불러온다고 공식 문서에 적혀 있습니다. 따로 등록할 것이 없습니다.
셋째, 제 PC에서 Cowork로는 실패하던 엑셀 작업 9단계를 Code 루틴으로 돌렸더니 전부 성공했습니다.
[출처 — 2026-10-15 조회]
code.claude.com/docs/en/desktop 「MCP servers from the Claude Desktop chat app」:
"A server you define in claude_desktop_config.json is available in both the Desktop chat surface and local Code tab sessions."
code.claude.com/docs/en/desktop-scheduled-tasks: "A local task runs on your machine with direct access to your files and tools" / MCP servers: Config files and connectors
실측: 강사 PC 2026-10-14 Code 루틴 엑셀 9단계 성공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[대사]
세 가지를 한 표로 놓고 보겠습니다.
가장 중요한 줄은 두 번째 줄, "PC가 꺼져 있으면"입니다. Cowork는 돌긴 돌지만 내 파일에 못 닿고, Code 탭과 루틴은 아예 안 돕니다.
그래서 Cowork는 PC 파일이 필요 없는 일, Code 탭과 루틴은 PC 파일이 필요한 일에 씁니다.
Code 루틴의 약점도 분명히 말씀드립니다. 그 시각에 앱이 켜져 있고 PC가 깨어 있어야 하고, 폴더는 하나만 고릅니다.
[참고]
Code 탭 Routines 화면의 New routine에는 Local과 Remote가 있습니다. Remote는 클라우드에서 돌아 내 PC 파일에 닿지 않으므로, PC 일은 반드시 Local을 고릅니다.
[출처 — 2026-10-15 조회]
code.claude.com/docs/en/desktop-scheduled-tasks 비교표: Desktop = Runs on Your machine / Requires machine on Yes / Access to local files Yes / MCP: Config files and connectors / Minimum interval 1 minute
support.claude.com/en/articles/15520349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[대사]
실제로 일을 시킬 때는 질문 두 개만 하면 됩니다.
첫 질문: 이 일이 내 PC의 파일·엑셀·MCP를 만지나요? 아니면 Cowork, 맞으면 Code 쪽입니다.
두 번째 질문: 정해진 시간에 반복하나요? Cowork 쪽이면 예정됨(예약), Code 쪽이면 Code 루틴입니다.
예를 들어 매일 아침 뉴스 요약은 PC 파일이 필요 없으니 Cowork 예약, 매주 경매 신건을 모아 엑셀로 저장하는 일은 Code 루틴입니다.
[강사 실측 팁]
기존 Cowork 예약을 Code 루틴으로 옮길 때는 새 루틴을 먼저 만들고, 그다음에 Cowork 예약을 「일시 중지」했습니다. 둘이 동시에 돌지 않게 하려는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[대사]
마지막으로 자주 막히는 곳입니다. 증상이 보이면 오른쪽 칸부터 확인하세요.
특히 Keep computer awake(컴퓨터 깨어 있게 하기)는 노트북 덮개를 닫으면 소용이 없습니다. 루틴을 걸어 둔 날은 덮개를 열어 두세요.
그리고 두 문장으로 마무리합니다. (하단 두 문장 천천히 읽기)
[참고 — 메뉴 위치]
Keep computer awake 위치는 공식 문서 기준 Settings &gt; This computer &gt; System 입니다(2026-10-15 조회). 한국어 화면의 메뉴 이름·위치는 앱 버전에 따라 다를 수 있으니 화면에서 확인해 주세요.
[예상 질문]
Q. 루틴이 멈춰서 안 끝나요 → 권한을 묻는 중일 수 있습니다. 왼쪽 Scheduled 아래 실행 세션을 열어 답하면 이어서 돕니다. 처음 만들 때 Run now로 한 번 돌리며 「항상 허용」을 고르면 다음부터 묻지 않습니다.
[출처 — 2026-10-15 조회]
code.claude.com/docs/en/desktop-scheduled-tasks (Keep computer awake · lid · Run now · always allow · Review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77240"/>
          </a:xfrm>
          <a:prstGeom prst="rect">
            <a:avLst/>
          </a:prstGeom>
          <a:noFill/>
          <a:ln/>
        </p:spPr>
        <p:txBody>
          <a:bodyPr wrap="square" rtlCol="0"/>
          <a:lstStyle>
            <a:lvl1pPr algn="l" indent="0" marL="0">
              <a:buNone/>
              <a:defRPr lang="en-US" sz="3000" b="1" dirty="0">
                <a:solidFill>
                  <a:srgbClr val="1F3A5F"/>
                </a:solidFill>
                <a:latin typeface="맑은 고딕" pitchFamily="34" charset="0"/>
                <a:ea typeface="맑은 고딕" pitchFamily="34" charset="-122"/>
                <a:cs typeface="맑은 고딕" pitchFamily="34" charset="-120"/>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2.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280160"/>
            <a:ext cx="6949440" cy="2011680"/>
          </a:xfrm>
          <a:prstGeom prst="rect">
            <a:avLst/>
          </a:prstGeom>
          <a:noFill/>
          <a:ln/>
        </p:spPr>
        <p:txBody>
          <a:bodyPr wrap="square" lIns="0" tIns="0" rIns="0" bIns="0" rtlCol="0" anchor="t"/>
          <a:lstStyle/>
          <a:p>
            <a:pPr indent="0" marL="0">
              <a:buNone/>
            </a:pPr>
            <a:r>
              <a:rPr lang="en-US" sz="4000" b="1" dirty="0">
                <a:solidFill>
                  <a:srgbClr val="FFFFFF"/>
                </a:solidFill>
                <a:latin typeface="맑은 고딕" pitchFamily="34" charset="0"/>
                <a:ea typeface="맑은 고딕" pitchFamily="34" charset="-122"/>
                <a:cs typeface="맑은 고딕" pitchFamily="34" charset="-120"/>
              </a:rPr>
              <a:t>Claude가 일하는 장소가</a:t>
            </a:r>
            <a:endParaRPr lang="en-US" sz="4000" dirty="0"/>
          </a:p>
          <a:p>
            <a:pPr indent="0" marL="0">
              <a:buNone/>
            </a:pPr>
            <a:r>
              <a:rPr lang="en-US" sz="4000" b="1" dirty="0">
                <a:solidFill>
                  <a:srgbClr val="FFFFFF"/>
                </a:solidFill>
                <a:latin typeface="맑은 고딕" pitchFamily="34" charset="0"/>
                <a:ea typeface="맑은 고딕" pitchFamily="34" charset="-122"/>
                <a:cs typeface="맑은 고딕" pitchFamily="34" charset="-120"/>
              </a:rPr>
              <a:t>바뀌었습니다</a:t>
            </a:r>
            <a:endParaRPr lang="en-US" sz="4000" dirty="0"/>
          </a:p>
        </p:txBody>
      </p:sp>
      <p:sp>
        <p:nvSpPr>
          <p:cNvPr id="3" name="Text 1"/>
          <p:cNvSpPr txBox="1"/>
          <p:nvPr/>
        </p:nvSpPr>
        <p:spPr>
          <a:xfrm>
            <a:off x="731520" y="3474720"/>
            <a:ext cx="6949440" cy="548640"/>
          </a:xfrm>
          <a:prstGeom prst="rect">
            <a:avLst/>
          </a:prstGeom>
          <a:noFill/>
          <a:ln/>
        </p:spPr>
        <p:txBody>
          <a:bodyPr wrap="square" lIns="0" tIns="0" rIns="0" bIns="0" rtlCol="0" anchor="ctr"/>
          <a:lstStyle/>
          <a:p>
            <a:pPr indent="0" marL="0">
              <a:buNone/>
            </a:pPr>
            <a:r>
              <a:rPr lang="en-US" sz="2400" b="1" dirty="0">
                <a:solidFill>
                  <a:srgbClr val="F9A66C"/>
                </a:solidFill>
                <a:latin typeface="맑은 고딕" pitchFamily="34" charset="0"/>
                <a:ea typeface="맑은 고딕" pitchFamily="34" charset="-122"/>
                <a:cs typeface="맑은 고딕" pitchFamily="34" charset="-120"/>
              </a:rPr>
              <a:t>그래서 내 PC 일은 Code 탭에 맡깁니다</a:t>
            </a:r>
            <a:endParaRPr lang="en-US" sz="2400" dirty="0"/>
          </a:p>
        </p:txBody>
      </p:sp>
      <p:sp>
        <p:nvSpPr>
          <p:cNvPr id="4" name="Text 2"/>
          <p:cNvSpPr txBox="1"/>
          <p:nvPr/>
        </p:nvSpPr>
        <p:spPr>
          <a:xfrm>
            <a:off x="731520" y="4114800"/>
            <a:ext cx="6949440" cy="457200"/>
          </a:xfrm>
          <a:prstGeom prst="rect">
            <a:avLst/>
          </a:prstGeom>
          <a:noFill/>
          <a:ln/>
        </p:spPr>
        <p:txBody>
          <a:bodyPr wrap="square" lIns="0" tIns="0" rIns="0" bIns="0" rtlCol="0" anchor="ctr"/>
          <a:lstStyle/>
          <a:p>
            <a:pPr indent="0" marL="0">
              <a:buNone/>
            </a:pPr>
            <a:r>
              <a:rPr lang="en-US" sz="1800" dirty="0">
                <a:solidFill>
                  <a:srgbClr val="C7D2E0"/>
                </a:solidFill>
                <a:latin typeface="맑은 고딕" pitchFamily="34" charset="0"/>
                <a:ea typeface="맑은 고딕" pitchFamily="34" charset="-122"/>
                <a:cs typeface="맑은 고딕" pitchFamily="34" charset="-120"/>
              </a:rPr>
              <a:t>Cowork 클라우드 전환 · 무엇이 바뀌었고 어떻게 쓰나</a:t>
            </a:r>
            <a:endParaRPr lang="en-US" sz="1800" dirty="0"/>
          </a:p>
        </p:txBody>
      </p:sp>
      <p:sp>
        <p:nvSpPr>
          <p:cNvPr id="5" name="Text 3"/>
          <p:cNvSpPr txBox="1"/>
          <p:nvPr/>
        </p:nvSpPr>
        <p:spPr>
          <a:xfrm>
            <a:off x="731520" y="5943600"/>
            <a:ext cx="6949440" cy="365760"/>
          </a:xfrm>
          <a:prstGeom prst="rect">
            <a:avLst/>
          </a:prstGeom>
          <a:noFill/>
          <a:ln/>
        </p:spPr>
        <p:txBody>
          <a:bodyPr wrap="square" lIns="0" tIns="0" rIns="0" bIns="0" rtlCol="0" anchor="ctr"/>
          <a:lstStyle/>
          <a:p>
            <a:pPr indent="0" marL="0">
              <a:buNone/>
            </a:pPr>
            <a:r>
              <a:rPr lang="en-US" sz="1600" dirty="0">
                <a:solidFill>
                  <a:srgbClr val="C7D2E0"/>
                </a:solidFill>
                <a:latin typeface="맑은 고딕" pitchFamily="34" charset="0"/>
                <a:ea typeface="맑은 고딕" pitchFamily="34" charset="-122"/>
                <a:cs typeface="맑은 고딕" pitchFamily="34" charset="-120"/>
              </a:rPr>
              <a:t>2026-10-17 · Claude 기본 설정 모임</a:t>
            </a:r>
            <a:endParaRPr lang="en-US" sz="1600" dirty="0"/>
          </a:p>
        </p:txBody>
      </p:sp>
      <p:sp>
        <p:nvSpPr>
          <p:cNvPr id="6" name="Shape 4"/>
          <p:cNvSpPr/>
          <p:nvPr/>
        </p:nvSpPr>
        <p:spPr>
          <a:xfrm>
            <a:off x="8595360" y="1005840"/>
            <a:ext cx="1645920" cy="1645920"/>
          </a:xfrm>
          <a:prstGeom prst="ellipse">
            <a:avLst/>
          </a:prstGeom>
          <a:solidFill>
            <a:srgbClr val="2D4F7C"/>
          </a:solidFill>
          <a:ln w="12700">
            <a:solidFill>
              <a:srgbClr val="2D4F7C"/>
            </a:solidFill>
            <a:prstDash val="solid"/>
          </a:ln>
        </p:spPr>
      </p:sp>
      <p:pic>
        <p:nvPicPr>
          <p:cNvPr id="7" name="Image 0" descr="preencoded.png">    </p:cNvPr>
          <p:cNvPicPr>
            <a:picLocks noChangeAspect="1"/>
          </p:cNvPicPr>
          <p:nvPr/>
        </p:nvPicPr>
        <p:blipFill>
          <a:blip r:embed="rId1"/>
          <a:stretch>
            <a:fillRect/>
          </a:stretch>
        </p:blipFill>
        <p:spPr>
          <a:xfrm>
            <a:off x="8973922" y="1384402"/>
            <a:ext cx="888797" cy="888797"/>
          </a:xfrm>
          <a:prstGeom prst="rect">
            <a:avLst/>
          </a:prstGeom>
        </p:spPr>
      </p:pic>
      <p:sp>
        <p:nvSpPr>
          <p:cNvPr id="8" name="Text 5"/>
          <p:cNvSpPr txBox="1"/>
          <p:nvPr/>
        </p:nvSpPr>
        <p:spPr>
          <a:xfrm>
            <a:off x="7772400" y="2697480"/>
            <a:ext cx="329184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Cowork (인터넷 너머)</a:t>
            </a:r>
            <a:endParaRPr lang="en-US" sz="1800" dirty="0"/>
          </a:p>
        </p:txBody>
      </p:sp>
      <p:sp>
        <p:nvSpPr>
          <p:cNvPr id="9" name="Shape 6"/>
          <p:cNvSpPr/>
          <p:nvPr/>
        </p:nvSpPr>
        <p:spPr>
          <a:xfrm>
            <a:off x="9418320" y="3154680"/>
            <a:ext cx="0" cy="914400"/>
          </a:xfrm>
          <a:prstGeom prst="line">
            <a:avLst/>
          </a:prstGeom>
          <a:noFill/>
          <a:ln w="38100">
            <a:solidFill>
              <a:srgbClr val="F9A66C"/>
            </a:solidFill>
            <a:prstDash val="dash"/>
          </a:ln>
        </p:spPr>
      </p:sp>
      <p:sp>
        <p:nvSpPr>
          <p:cNvPr id="10" name="Text 7"/>
          <p:cNvSpPr txBox="1"/>
          <p:nvPr/>
        </p:nvSpPr>
        <p:spPr>
          <a:xfrm>
            <a:off x="9555480" y="3429000"/>
            <a:ext cx="1645920" cy="365760"/>
          </a:xfrm>
          <a:prstGeom prst="rect">
            <a:avLst/>
          </a:prstGeom>
          <a:noFill/>
          <a:ln/>
        </p:spPr>
        <p:txBody>
          <a:bodyPr wrap="square" lIns="0" tIns="0" rIns="0" bIns="0" rtlCol="0" anchor="ctr"/>
          <a:lstStyle/>
          <a:p>
            <a:pPr indent="0" marL="0">
              <a:buNone/>
            </a:pPr>
            <a:r>
              <a:rPr lang="en-US" sz="1400" dirty="0">
                <a:solidFill>
                  <a:srgbClr val="F9A66C"/>
                </a:solidFill>
                <a:latin typeface="맑은 고딕" pitchFamily="34" charset="0"/>
                <a:ea typeface="맑은 고딕" pitchFamily="34" charset="-122"/>
                <a:cs typeface="맑은 고딕" pitchFamily="34" charset="-120"/>
              </a:rPr>
              <a:t>데스크탑 앱</a:t>
            </a:r>
            <a:endParaRPr lang="en-US" sz="1400" dirty="0"/>
          </a:p>
        </p:txBody>
      </p:sp>
      <p:sp>
        <p:nvSpPr>
          <p:cNvPr id="11" name="Shape 8"/>
          <p:cNvSpPr/>
          <p:nvPr/>
        </p:nvSpPr>
        <p:spPr>
          <a:xfrm>
            <a:off x="8595360" y="4114800"/>
            <a:ext cx="1645920" cy="1645920"/>
          </a:xfrm>
          <a:prstGeom prst="ellipse">
            <a:avLst/>
          </a:prstGeom>
          <a:solidFill>
            <a:srgbClr val="E8590C"/>
          </a:solidFill>
          <a:ln w="12700">
            <a:solidFill>
              <a:srgbClr val="E8590C"/>
            </a:solidFill>
            <a:prstDash val="solid"/>
          </a:ln>
        </p:spPr>
      </p:sp>
      <p:pic>
        <p:nvPicPr>
          <p:cNvPr id="12" name="Image 1" descr="preencoded.png">    </p:cNvPr>
          <p:cNvPicPr>
            <a:picLocks noChangeAspect="1"/>
          </p:cNvPicPr>
          <p:nvPr/>
        </p:nvPicPr>
        <p:blipFill>
          <a:blip r:embed="rId2"/>
          <a:stretch>
            <a:fillRect/>
          </a:stretch>
        </p:blipFill>
        <p:spPr>
          <a:xfrm>
            <a:off x="8973922" y="4493362"/>
            <a:ext cx="888797" cy="888797"/>
          </a:xfrm>
          <a:prstGeom prst="rect">
            <a:avLst/>
          </a:prstGeom>
        </p:spPr>
      </p:pic>
      <p:sp>
        <p:nvSpPr>
          <p:cNvPr id="13" name="Text 9"/>
          <p:cNvSpPr txBox="1"/>
          <p:nvPr/>
        </p:nvSpPr>
        <p:spPr>
          <a:xfrm>
            <a:off x="7772400" y="5806440"/>
            <a:ext cx="329184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내 PC · Code 탭</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
            <a:ext cx="1143000" cy="329184"/>
          </a:xfrm>
          <a:prstGeom prst="roundRect">
            <a:avLst>
              <a:gd name="adj" fmla="val 27778"/>
            </a:avLst>
          </a:prstGeom>
          <a:solidFill>
            <a:srgbClr val="1F3A5F"/>
          </a:solidFill>
          <a:ln/>
        </p:spPr>
        <p:txBody>
          <a:bodyPr wrap="square" lIns="25400" tIns="25400" rIns="25400" bIns="2540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결론</a:t>
            </a:r>
            <a:endParaRPr lang="en-US" sz="1300" dirty="0"/>
          </a:p>
        </p:txBody>
      </p:sp>
      <p:sp>
        <p:nvSpPr>
          <p:cNvPr id="3" name="Text 1"/>
          <p:cNvSpPr txBox="1"/>
          <p:nvPr/>
        </p:nvSpPr>
        <p:spPr>
          <a:xfrm>
            <a:off x="10607040" y="6400800"/>
            <a:ext cx="1005840" cy="274320"/>
          </a:xfrm>
          <a:prstGeom prst="rect">
            <a:avLst/>
          </a:prstGeom>
          <a:noFill/>
          <a:ln/>
        </p:spPr>
        <p:txBody>
          <a:bodyPr wrap="square" lIns="0" tIns="0" rIns="0" bIns="0" rtlCol="0" anchor="ctr"/>
          <a:lstStyle/>
          <a:p>
            <a:pPr algn="r" indent="0" marL="0">
              <a:buNone/>
            </a:pPr>
            <a:r>
              <a:rPr lang="en-US" sz="1200" dirty="0">
                <a:solidFill>
                  <a:srgbClr val="6B7280"/>
                </a:solidFill>
                <a:latin typeface="맑은 고딕" pitchFamily="34" charset="0"/>
                <a:ea typeface="맑은 고딕" pitchFamily="34" charset="-122"/>
                <a:cs typeface="맑은 고딕" pitchFamily="34" charset="-120"/>
              </a:rPr>
              <a:t>2 / 14</a:t>
            </a:r>
            <a:endParaRPr lang="en-US" sz="1200" dirty="0"/>
          </a:p>
        </p:txBody>
      </p:sp>
      <p:sp>
        <p:nvSpPr>
          <p:cNvPr id="4"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000" b="1" dirty="0">
                <a:solidFill>
                  <a:srgbClr val="1F3A5F"/>
                </a:solidFill>
                <a:latin typeface="맑은 고딕" pitchFamily="34" charset="0"/>
                <a:ea typeface="맑은 고딕" pitchFamily="34" charset="-122"/>
                <a:cs typeface="맑은 고딕" pitchFamily="34" charset="-120"/>
              </a:rPr>
              <a:t>오늘의 결론은 세 가지입니다</a:t>
            </a:r>
            <a:endParaRPr lang="en-US" sz="3000" dirty="0"/>
          </a:p>
        </p:txBody>
      </p:sp>
      <p:sp>
        <p:nvSpPr>
          <p:cNvPr id="6" name="Shape 3"/>
          <p:cNvSpPr/>
          <p:nvPr/>
        </p:nvSpPr>
        <p:spPr>
          <a:xfrm>
            <a:off x="548640" y="1600200"/>
            <a:ext cx="3520440" cy="2880360"/>
          </a:xfrm>
          <a:prstGeom prst="roundRect">
            <a:avLst>
              <a:gd name="adj" fmla="val 3810"/>
            </a:avLst>
          </a:prstGeom>
          <a:solidFill>
            <a:srgbClr val="EEF2F7"/>
          </a:solidFill>
          <a:ln w="12700">
            <a:solidFill>
              <a:srgbClr val="EEF2F7"/>
            </a:solidFill>
            <a:prstDash val="solid"/>
          </a:ln>
        </p:spPr>
      </p:sp>
      <p:sp>
        <p:nvSpPr>
          <p:cNvPr id="7" name="Text 4"/>
          <p:cNvSpPr txBox="1"/>
          <p:nvPr/>
        </p:nvSpPr>
        <p:spPr>
          <a:xfrm>
            <a:off x="822960" y="1783080"/>
            <a:ext cx="731520" cy="731520"/>
          </a:xfrm>
          <a:prstGeom prst="rect">
            <a:avLst/>
          </a:prstGeom>
          <a:noFill/>
          <a:ln/>
        </p:spPr>
        <p:txBody>
          <a:bodyPr wrap="square" lIns="0" tIns="0" rIns="0" bIns="0" rtlCol="0" anchor="ctr"/>
          <a:lstStyle/>
          <a:p>
            <a:pPr indent="0" marL="0">
              <a:buNone/>
            </a:pPr>
            <a:r>
              <a:rPr lang="en-US" sz="4000" b="1" dirty="0">
                <a:solidFill>
                  <a:srgbClr val="1F3A5F"/>
                </a:solidFill>
                <a:latin typeface="맑은 고딕" pitchFamily="34" charset="0"/>
                <a:ea typeface="맑은 고딕" pitchFamily="34" charset="-122"/>
                <a:cs typeface="맑은 고딕" pitchFamily="34" charset="-120"/>
              </a:rPr>
              <a:t>1</a:t>
            </a:r>
            <a:endParaRPr lang="en-US" sz="4000" dirty="0"/>
          </a:p>
        </p:txBody>
      </p:sp>
      <p:sp>
        <p:nvSpPr>
          <p:cNvPr id="8" name="Shape 5"/>
          <p:cNvSpPr/>
          <p:nvPr/>
        </p:nvSpPr>
        <p:spPr>
          <a:xfrm>
            <a:off x="2971800" y="1783080"/>
            <a:ext cx="822960" cy="822960"/>
          </a:xfrm>
          <a:prstGeom prst="ellipse">
            <a:avLst/>
          </a:prstGeom>
          <a:solidFill>
            <a:srgbClr val="1F3A5F"/>
          </a:solidFill>
          <a:ln w="12700">
            <a:solidFill>
              <a:srgbClr val="1F3A5F"/>
            </a:solidFill>
            <a:prstDash val="solid"/>
          </a:ln>
        </p:spPr>
      </p:sp>
      <p:pic>
        <p:nvPicPr>
          <p:cNvPr id="9" name="Image 0" descr="preencoded.png">    </p:cNvPr>
          <p:cNvPicPr>
            <a:picLocks noChangeAspect="1"/>
          </p:cNvPicPr>
          <p:nvPr/>
        </p:nvPicPr>
        <p:blipFill>
          <a:blip r:embed="rId1"/>
          <a:stretch>
            <a:fillRect/>
          </a:stretch>
        </p:blipFill>
        <p:spPr>
          <a:xfrm>
            <a:off x="3161081" y="1972361"/>
            <a:ext cx="444398" cy="444398"/>
          </a:xfrm>
          <a:prstGeom prst="rect">
            <a:avLst/>
          </a:prstGeom>
        </p:spPr>
      </p:pic>
      <p:sp>
        <p:nvSpPr>
          <p:cNvPr id="10" name="Text 6"/>
          <p:cNvSpPr txBox="1"/>
          <p:nvPr/>
        </p:nvSpPr>
        <p:spPr>
          <a:xfrm>
            <a:off x="822960" y="2788920"/>
            <a:ext cx="3017520" cy="1463040"/>
          </a:xfrm>
          <a:prstGeom prst="rect">
            <a:avLst/>
          </a:prstGeom>
          <a:noFill/>
          <a:ln/>
        </p:spPr>
        <p:txBody>
          <a:bodyPr wrap="square" lIns="0" tIns="0" rIns="0" bIns="0" rtlCol="0" anchor="t"/>
          <a:lstStyle/>
          <a:p>
            <a:pPr indent="0" marL="0">
              <a:buNone/>
            </a:pPr>
            <a:r>
              <a:rPr lang="en-US" sz="2000" b="1" dirty="0">
                <a:solidFill>
                  <a:srgbClr val="1F2937"/>
                </a:solidFill>
                <a:latin typeface="맑은 고딕" pitchFamily="34" charset="0"/>
                <a:ea typeface="맑은 고딕" pitchFamily="34" charset="-122"/>
                <a:cs typeface="맑은 고딕" pitchFamily="34" charset="-120"/>
              </a:rPr>
              <a:t>Cowork는 이제 인터넷 너머 Anthropic 서버에서 일합니다</a:t>
            </a:r>
            <a:endParaRPr lang="en-US" sz="2000" dirty="0"/>
          </a:p>
        </p:txBody>
      </p:sp>
      <p:sp>
        <p:nvSpPr>
          <p:cNvPr id="11" name="Shape 7"/>
          <p:cNvSpPr/>
          <p:nvPr/>
        </p:nvSpPr>
        <p:spPr>
          <a:xfrm>
            <a:off x="4297680" y="1600200"/>
            <a:ext cx="3520440" cy="2880360"/>
          </a:xfrm>
          <a:prstGeom prst="roundRect">
            <a:avLst>
              <a:gd name="adj" fmla="val 3810"/>
            </a:avLst>
          </a:prstGeom>
          <a:solidFill>
            <a:srgbClr val="EEF2F7"/>
          </a:solidFill>
          <a:ln w="12700">
            <a:solidFill>
              <a:srgbClr val="EEF2F7"/>
            </a:solidFill>
            <a:prstDash val="solid"/>
          </a:ln>
        </p:spPr>
      </p:sp>
      <p:sp>
        <p:nvSpPr>
          <p:cNvPr id="12" name="Text 8"/>
          <p:cNvSpPr txBox="1"/>
          <p:nvPr/>
        </p:nvSpPr>
        <p:spPr>
          <a:xfrm>
            <a:off x="4572000" y="1783080"/>
            <a:ext cx="731520" cy="731520"/>
          </a:xfrm>
          <a:prstGeom prst="rect">
            <a:avLst/>
          </a:prstGeom>
          <a:noFill/>
          <a:ln/>
        </p:spPr>
        <p:txBody>
          <a:bodyPr wrap="square" lIns="0" tIns="0" rIns="0" bIns="0" rtlCol="0" anchor="ctr"/>
          <a:lstStyle/>
          <a:p>
            <a:pPr indent="0" marL="0">
              <a:buNone/>
            </a:pPr>
            <a:r>
              <a:rPr lang="en-US" sz="4000" b="1" dirty="0">
                <a:solidFill>
                  <a:srgbClr val="1F3A5F"/>
                </a:solidFill>
                <a:latin typeface="맑은 고딕" pitchFamily="34" charset="0"/>
                <a:ea typeface="맑은 고딕" pitchFamily="34" charset="-122"/>
                <a:cs typeface="맑은 고딕" pitchFamily="34" charset="-120"/>
              </a:rPr>
              <a:t>2</a:t>
            </a:r>
            <a:endParaRPr lang="en-US" sz="4000" dirty="0"/>
          </a:p>
        </p:txBody>
      </p:sp>
      <p:sp>
        <p:nvSpPr>
          <p:cNvPr id="13" name="Shape 9"/>
          <p:cNvSpPr/>
          <p:nvPr/>
        </p:nvSpPr>
        <p:spPr>
          <a:xfrm>
            <a:off x="6720840" y="1783080"/>
            <a:ext cx="822960" cy="822960"/>
          </a:xfrm>
          <a:prstGeom prst="ellipse">
            <a:avLst/>
          </a:prstGeom>
          <a:solidFill>
            <a:srgbClr val="1F3A5F"/>
          </a:solidFill>
          <a:ln w="12700">
            <a:solidFill>
              <a:srgbClr val="1F3A5F"/>
            </a:solidFill>
            <a:prstDash val="solid"/>
          </a:ln>
        </p:spPr>
      </p:sp>
      <p:pic>
        <p:nvPicPr>
          <p:cNvPr id="14" name="Image 1" descr="preencoded.png">    </p:cNvPr>
          <p:cNvPicPr>
            <a:picLocks noChangeAspect="1"/>
          </p:cNvPicPr>
          <p:nvPr/>
        </p:nvPicPr>
        <p:blipFill>
          <a:blip r:embed="rId2"/>
          <a:stretch>
            <a:fillRect/>
          </a:stretch>
        </p:blipFill>
        <p:spPr>
          <a:xfrm>
            <a:off x="6910121" y="1972361"/>
            <a:ext cx="444398" cy="444398"/>
          </a:xfrm>
          <a:prstGeom prst="rect">
            <a:avLst/>
          </a:prstGeom>
        </p:spPr>
      </p:pic>
      <p:sp>
        <p:nvSpPr>
          <p:cNvPr id="15" name="Text 10"/>
          <p:cNvSpPr txBox="1"/>
          <p:nvPr/>
        </p:nvSpPr>
        <p:spPr>
          <a:xfrm>
            <a:off x="4572000" y="2788920"/>
            <a:ext cx="3017520" cy="1463040"/>
          </a:xfrm>
          <a:prstGeom prst="rect">
            <a:avLst/>
          </a:prstGeom>
          <a:noFill/>
          <a:ln/>
        </p:spPr>
        <p:txBody>
          <a:bodyPr wrap="square" lIns="0" tIns="0" rIns="0" bIns="0" rtlCol="0" anchor="t"/>
          <a:lstStyle/>
          <a:p>
            <a:pPr indent="0" marL="0">
              <a:buNone/>
            </a:pPr>
            <a:r>
              <a:rPr lang="en-US" sz="2000" b="1" dirty="0">
                <a:solidFill>
                  <a:srgbClr val="1F2937"/>
                </a:solidFill>
                <a:latin typeface="맑은 고딕" pitchFamily="34" charset="0"/>
                <a:ea typeface="맑은 고딕" pitchFamily="34" charset="-122"/>
                <a:cs typeface="맑은 고딕" pitchFamily="34" charset="-120"/>
              </a:rPr>
              <a:t>내 PC 파일·MCP는 앱이 켜져 있고 PC가 깨어 있을 때만 닿습니다</a:t>
            </a:r>
            <a:endParaRPr lang="en-US" sz="2000" dirty="0"/>
          </a:p>
        </p:txBody>
      </p:sp>
      <p:sp>
        <p:nvSpPr>
          <p:cNvPr id="16" name="Shape 11"/>
          <p:cNvSpPr/>
          <p:nvPr/>
        </p:nvSpPr>
        <p:spPr>
          <a:xfrm>
            <a:off x="8046720" y="1600200"/>
            <a:ext cx="3520440" cy="2880360"/>
          </a:xfrm>
          <a:prstGeom prst="roundRect">
            <a:avLst>
              <a:gd name="adj" fmla="val 3810"/>
            </a:avLst>
          </a:prstGeom>
          <a:solidFill>
            <a:srgbClr val="FDF0E8"/>
          </a:solidFill>
          <a:ln w="12700">
            <a:solidFill>
              <a:srgbClr val="FDF0E8"/>
            </a:solidFill>
            <a:prstDash val="solid"/>
          </a:ln>
        </p:spPr>
      </p:sp>
      <p:sp>
        <p:nvSpPr>
          <p:cNvPr id="17" name="Text 12"/>
          <p:cNvSpPr txBox="1"/>
          <p:nvPr/>
        </p:nvSpPr>
        <p:spPr>
          <a:xfrm>
            <a:off x="8321040" y="1783080"/>
            <a:ext cx="731520" cy="731520"/>
          </a:xfrm>
          <a:prstGeom prst="rect">
            <a:avLst/>
          </a:prstGeom>
          <a:noFill/>
          <a:ln/>
        </p:spPr>
        <p:txBody>
          <a:bodyPr wrap="square" lIns="0" tIns="0" rIns="0" bIns="0" rtlCol="0" anchor="ctr"/>
          <a:lstStyle/>
          <a:p>
            <a:pPr indent="0" marL="0">
              <a:buNone/>
            </a:pPr>
            <a:r>
              <a:rPr lang="en-US" sz="4000" b="1" dirty="0">
                <a:solidFill>
                  <a:srgbClr val="E8590C"/>
                </a:solidFill>
                <a:latin typeface="맑은 고딕" pitchFamily="34" charset="0"/>
                <a:ea typeface="맑은 고딕" pitchFamily="34" charset="-122"/>
                <a:cs typeface="맑은 고딕" pitchFamily="34" charset="-120"/>
              </a:rPr>
              <a:t>3</a:t>
            </a:r>
            <a:endParaRPr lang="en-US" sz="4000" dirty="0"/>
          </a:p>
        </p:txBody>
      </p:sp>
      <p:sp>
        <p:nvSpPr>
          <p:cNvPr id="18" name="Shape 13"/>
          <p:cNvSpPr/>
          <p:nvPr/>
        </p:nvSpPr>
        <p:spPr>
          <a:xfrm>
            <a:off x="10469880" y="1783080"/>
            <a:ext cx="822960" cy="822960"/>
          </a:xfrm>
          <a:prstGeom prst="ellipse">
            <a:avLst/>
          </a:prstGeom>
          <a:solidFill>
            <a:srgbClr val="E8590C"/>
          </a:solidFill>
          <a:ln w="12700">
            <a:solidFill>
              <a:srgbClr val="E8590C"/>
            </a:solidFill>
            <a:prstDash val="solid"/>
          </a:ln>
        </p:spPr>
      </p:sp>
      <p:pic>
        <p:nvPicPr>
          <p:cNvPr id="19" name="Image 2" descr="preencoded.png">    </p:cNvPr>
          <p:cNvPicPr>
            <a:picLocks noChangeAspect="1"/>
          </p:cNvPicPr>
          <p:nvPr/>
        </p:nvPicPr>
        <p:blipFill>
          <a:blip r:embed="rId3"/>
          <a:stretch>
            <a:fillRect/>
          </a:stretch>
        </p:blipFill>
        <p:spPr>
          <a:xfrm>
            <a:off x="10659161" y="1972361"/>
            <a:ext cx="444398" cy="444398"/>
          </a:xfrm>
          <a:prstGeom prst="rect">
            <a:avLst/>
          </a:prstGeom>
        </p:spPr>
      </p:pic>
      <p:sp>
        <p:nvSpPr>
          <p:cNvPr id="20" name="Text 14"/>
          <p:cNvSpPr txBox="1"/>
          <p:nvPr/>
        </p:nvSpPr>
        <p:spPr>
          <a:xfrm>
            <a:off x="8321040" y="2788920"/>
            <a:ext cx="3017520" cy="1463040"/>
          </a:xfrm>
          <a:prstGeom prst="rect">
            <a:avLst/>
          </a:prstGeom>
          <a:noFill/>
          <a:ln/>
        </p:spPr>
        <p:txBody>
          <a:bodyPr wrap="square" lIns="0" tIns="0" rIns="0" bIns="0" rtlCol="0" anchor="t"/>
          <a:lstStyle/>
          <a:p>
            <a:pPr indent="0" marL="0">
              <a:buNone/>
            </a:pPr>
            <a:r>
              <a:rPr lang="en-US" sz="2000" b="1" dirty="0">
                <a:solidFill>
                  <a:srgbClr val="1F2937"/>
                </a:solidFill>
                <a:latin typeface="맑은 고딕" pitchFamily="34" charset="0"/>
                <a:ea typeface="맑은 고딕" pitchFamily="34" charset="-122"/>
                <a:cs typeface="맑은 고딕" pitchFamily="34" charset="-120"/>
              </a:rPr>
              <a:t>그래서 PC 일은 Code 탭, PC 예약은 Code 루틴으로</a:t>
            </a:r>
            <a:endParaRPr lang="en-US" sz="2000" dirty="0"/>
          </a:p>
        </p:txBody>
      </p:sp>
      <p:sp>
        <p:nvSpPr>
          <p:cNvPr id="21" name="Shape 15"/>
          <p:cNvSpPr/>
          <p:nvPr/>
        </p:nvSpPr>
        <p:spPr>
          <a:xfrm>
            <a:off x="548640" y="4754880"/>
            <a:ext cx="11064240" cy="1417320"/>
          </a:xfrm>
          <a:prstGeom prst="roundRect">
            <a:avLst>
              <a:gd name="adj" fmla="val 7742"/>
            </a:avLst>
          </a:prstGeom>
          <a:solidFill>
            <a:srgbClr val="FDF0E8"/>
          </a:solidFill>
          <a:ln w="31750">
            <a:solidFill>
              <a:srgbClr val="E8590C"/>
            </a:solidFill>
            <a:prstDash val="solid"/>
          </a:ln>
        </p:spPr>
      </p:sp>
      <p:sp>
        <p:nvSpPr>
          <p:cNvPr id="22" name="Text 16"/>
          <p:cNvSpPr txBox="1"/>
          <p:nvPr/>
        </p:nvSpPr>
        <p:spPr>
          <a:xfrm>
            <a:off x="914400" y="4800600"/>
            <a:ext cx="10424160" cy="1325880"/>
          </a:xfrm>
          <a:prstGeom prst="rect">
            <a:avLst/>
          </a:prstGeom>
          <a:noFill/>
          <a:ln/>
        </p:spPr>
        <p:txBody>
          <a:bodyPr wrap="square" lIns="0" tIns="0" rIns="0" bIns="0" rtlCol="0" anchor="ctr"/>
          <a:lstStyle/>
          <a:p>
            <a:pPr indent="0" marL="0">
              <a:spcAft>
                <a:spcPts val="600"/>
              </a:spcAft>
              <a:buNone/>
            </a:pPr>
            <a:r>
              <a:rPr lang="en-US" sz="2200" b="1" dirty="0">
                <a:solidFill>
                  <a:srgbClr val="E8590C"/>
                </a:solidFill>
                <a:latin typeface="맑은 고딕" pitchFamily="34" charset="0"/>
                <a:ea typeface="맑은 고딕" pitchFamily="34" charset="-122"/>
                <a:cs typeface="맑은 고딕" pitchFamily="34" charset="-120"/>
              </a:rPr>
              <a:t>① 앱이 켜져 있고 PC가 깨어 있어야 Cowork에서 PC의 MCP를 쓴다</a:t>
            </a:r>
            <a:endParaRPr lang="en-US" sz="2200" dirty="0"/>
          </a:p>
          <a:p>
            <a:pPr indent="0" marL="0">
              <a:spcAft>
                <a:spcPts val="600"/>
              </a:spcAft>
              <a:buNone/>
            </a:pPr>
            <a:r>
              <a:rPr lang="en-US" sz="2200" b="1" dirty="0">
                <a:solidFill>
                  <a:srgbClr val="E8590C"/>
                </a:solidFill>
                <a:latin typeface="맑은 고딕" pitchFamily="34" charset="0"/>
                <a:ea typeface="맑은 고딕" pitchFamily="34" charset="-122"/>
                <a:cs typeface="맑은 고딕" pitchFamily="34" charset="-120"/>
              </a:rPr>
              <a:t>② 예약 실행이 「성공」으로 찍혀도 결과물을 열어 확인한다</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01168"/>
            <a:ext cx="1143000" cy="329184"/>
          </a:xfrm>
          <a:prstGeom prst="roundRect">
            <a:avLst>
              <a:gd name="adj" fmla="val 27778"/>
            </a:avLst>
          </a:prstGeom>
          <a:solidFill>
            <a:srgbClr val="1F3A5F"/>
          </a:solidFill>
          <a:ln/>
        </p:spPr>
        <p:txBody>
          <a:bodyPr wrap="square" lIns="25400" tIns="25400" rIns="25400" bIns="2540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개념</a:t>
            </a:r>
            <a:endParaRPr lang="en-US" sz="1300" dirty="0"/>
          </a:p>
        </p:txBody>
      </p:sp>
      <p:sp>
        <p:nvSpPr>
          <p:cNvPr id="3" name="Text 1"/>
          <p:cNvSpPr txBox="1"/>
          <p:nvPr/>
        </p:nvSpPr>
        <p:spPr>
          <a:xfrm>
            <a:off x="10607040" y="6400800"/>
            <a:ext cx="1005840" cy="274320"/>
          </a:xfrm>
          <a:prstGeom prst="rect">
            <a:avLst/>
          </a:prstGeom>
          <a:noFill/>
          <a:ln/>
        </p:spPr>
        <p:txBody>
          <a:bodyPr wrap="square" lIns="0" tIns="0" rIns="0" bIns="0" rtlCol="0" anchor="ctr"/>
          <a:lstStyle/>
          <a:p>
            <a:pPr algn="r" indent="0" marL="0">
              <a:buNone/>
            </a:pPr>
            <a:r>
              <a:rPr lang="en-US" sz="1200" dirty="0">
                <a:solidFill>
                  <a:srgbClr val="6B7280"/>
                </a:solidFill>
                <a:latin typeface="맑은 고딕" pitchFamily="34" charset="0"/>
                <a:ea typeface="맑은 고딕" pitchFamily="34" charset="-122"/>
                <a:cs typeface="맑은 고딕" pitchFamily="34" charset="-120"/>
              </a:rPr>
              <a:t>3 / 14</a:t>
            </a:r>
            <a:endParaRPr lang="en-US" sz="1200" dirty="0"/>
          </a:p>
        </p:txBody>
      </p:sp>
      <p:sp>
        <p:nvSpPr>
          <p:cNvPr id="4"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000" b="1" dirty="0">
                <a:solidFill>
                  <a:srgbClr val="1F3A5F"/>
                </a:solidFill>
                <a:latin typeface="맑은 고딕" pitchFamily="34" charset="0"/>
                <a:ea typeface="맑은 고딕" pitchFamily="34" charset="-122"/>
                <a:cs typeface="맑은 고딕" pitchFamily="34" charset="-120"/>
              </a:rPr>
              <a:t>데스크탑 앱 안에는 일하는 곳이 네 군데 있습니다</a:t>
            </a:r>
            <a:endParaRPr lang="en-US" sz="3000" dirty="0"/>
          </a:p>
        </p:txBody>
      </p:sp>
      <p:sp>
        <p:nvSpPr>
          <p:cNvPr id="6" name="Shape 3"/>
          <p:cNvSpPr/>
          <p:nvPr/>
        </p:nvSpPr>
        <p:spPr>
          <a:xfrm>
            <a:off x="548640" y="1554480"/>
            <a:ext cx="5440680" cy="4206240"/>
          </a:xfrm>
          <a:prstGeom prst="roundRect">
            <a:avLst>
              <a:gd name="adj" fmla="val 2609"/>
            </a:avLst>
          </a:prstGeom>
          <a:solidFill>
            <a:srgbClr val="EEF2F7"/>
          </a:solidFill>
          <a:ln w="12700">
            <a:solidFill>
              <a:srgbClr val="EEF2F7"/>
            </a:solidFill>
            <a:prstDash val="solid"/>
          </a:ln>
        </p:spPr>
      </p:sp>
      <p:sp>
        <p:nvSpPr>
          <p:cNvPr id="7" name="Shape 4"/>
          <p:cNvSpPr/>
          <p:nvPr/>
        </p:nvSpPr>
        <p:spPr>
          <a:xfrm>
            <a:off x="6172200" y="1554480"/>
            <a:ext cx="5440680" cy="4206240"/>
          </a:xfrm>
          <a:prstGeom prst="roundRect">
            <a:avLst>
              <a:gd name="adj" fmla="val 2609"/>
            </a:avLst>
          </a:prstGeom>
          <a:solidFill>
            <a:srgbClr val="FDF0E8"/>
          </a:solidFill>
          <a:ln w="12700">
            <a:solidFill>
              <a:srgbClr val="FDF0E8"/>
            </a:solidFill>
            <a:prstDash val="solid"/>
          </a:ln>
        </p:spPr>
      </p:sp>
      <p:pic>
        <p:nvPicPr>
          <p:cNvPr id="8" name="Image 0" descr="preencoded.png">    </p:cNvPr>
          <p:cNvPicPr>
            <a:picLocks noChangeAspect="1"/>
          </p:cNvPicPr>
          <p:nvPr/>
        </p:nvPicPr>
        <p:blipFill>
          <a:blip r:embed="rId1"/>
          <a:stretch>
            <a:fillRect/>
          </a:stretch>
        </p:blipFill>
        <p:spPr>
          <a:xfrm>
            <a:off x="822960" y="1719072"/>
            <a:ext cx="457200" cy="457200"/>
          </a:xfrm>
          <a:prstGeom prst="rect">
            <a:avLst/>
          </a:prstGeom>
        </p:spPr>
      </p:pic>
      <p:sp>
        <p:nvSpPr>
          <p:cNvPr id="9" name="Text 5"/>
          <p:cNvSpPr txBox="1"/>
          <p:nvPr/>
        </p:nvSpPr>
        <p:spPr>
          <a:xfrm>
            <a:off x="1417320" y="1719072"/>
            <a:ext cx="4389120" cy="457200"/>
          </a:xfrm>
          <a:prstGeom prst="rect">
            <a:avLst/>
          </a:prstGeom>
          <a:noFill/>
          <a:ln/>
        </p:spPr>
        <p:txBody>
          <a:bodyPr wrap="square" lIns="0" tIns="0" rIns="0" bIns="0" rtlCol="0" anchor="ctr"/>
          <a:lstStyle/>
          <a:p>
            <a:pPr indent="0" marL="0">
              <a:buNone/>
            </a:pPr>
            <a:r>
              <a:rPr lang="en-US" sz="2200" b="1" dirty="0">
                <a:solidFill>
                  <a:srgbClr val="1F3A5F"/>
                </a:solidFill>
                <a:latin typeface="맑은 고딕" pitchFamily="34" charset="0"/>
                <a:ea typeface="맑은 고딕" pitchFamily="34" charset="-122"/>
                <a:cs typeface="맑은 고딕" pitchFamily="34" charset="-120"/>
              </a:rPr>
              <a:t>인터넷 너머에서 돕니다</a:t>
            </a:r>
            <a:endParaRPr lang="en-US" sz="2200" dirty="0"/>
          </a:p>
        </p:txBody>
      </p:sp>
      <p:pic>
        <p:nvPicPr>
          <p:cNvPr id="10" name="Image 1" descr="preencoded.png">    </p:cNvPr>
          <p:cNvPicPr>
            <a:picLocks noChangeAspect="1"/>
          </p:cNvPicPr>
          <p:nvPr/>
        </p:nvPicPr>
        <p:blipFill>
          <a:blip r:embed="rId2"/>
          <a:stretch>
            <a:fillRect/>
          </a:stretch>
        </p:blipFill>
        <p:spPr>
          <a:xfrm>
            <a:off x="6446520" y="1719072"/>
            <a:ext cx="457200" cy="457200"/>
          </a:xfrm>
          <a:prstGeom prst="rect">
            <a:avLst/>
          </a:prstGeom>
        </p:spPr>
      </p:pic>
      <p:sp>
        <p:nvSpPr>
          <p:cNvPr id="11" name="Text 6"/>
          <p:cNvSpPr txBox="1"/>
          <p:nvPr/>
        </p:nvSpPr>
        <p:spPr>
          <a:xfrm>
            <a:off x="7040880" y="1719072"/>
            <a:ext cx="4389120" cy="457200"/>
          </a:xfrm>
          <a:prstGeom prst="rect">
            <a:avLst/>
          </a:prstGeom>
          <a:noFill/>
          <a:ln/>
        </p:spPr>
        <p:txBody>
          <a:bodyPr wrap="square" lIns="0" tIns="0" rIns="0" bIns="0" rtlCol="0" anchor="ctr"/>
          <a:lstStyle/>
          <a:p>
            <a:pPr indent="0" marL="0">
              <a:buNone/>
            </a:pPr>
            <a:r>
              <a:rPr lang="en-US" sz="2200" b="1" dirty="0">
                <a:solidFill>
                  <a:srgbClr val="E8590C"/>
                </a:solidFill>
                <a:latin typeface="맑은 고딕" pitchFamily="34" charset="0"/>
                <a:ea typeface="맑은 고딕" pitchFamily="34" charset="-122"/>
                <a:cs typeface="맑은 고딕" pitchFamily="34" charset="-120"/>
              </a:rPr>
              <a:t>내 PC 안에서 돕니다</a:t>
            </a:r>
            <a:endParaRPr lang="en-US" sz="2200" dirty="0"/>
          </a:p>
        </p:txBody>
      </p:sp>
      <p:sp>
        <p:nvSpPr>
          <p:cNvPr id="12" name="Shape 7"/>
          <p:cNvSpPr/>
          <p:nvPr/>
        </p:nvSpPr>
        <p:spPr>
          <a:xfrm>
            <a:off x="822960" y="2377440"/>
            <a:ext cx="4892040" cy="1508760"/>
          </a:xfrm>
          <a:prstGeom prst="roundRect">
            <a:avLst>
              <a:gd name="adj" fmla="val 7273"/>
            </a:avLst>
          </a:prstGeom>
          <a:solidFill>
            <a:srgbClr val="FFFFFF"/>
          </a:solidFill>
          <a:ln w="19050">
            <a:solidFill>
              <a:srgbClr val="1F3A5F"/>
            </a:solidFill>
            <a:prstDash val="solid"/>
          </a:ln>
        </p:spPr>
      </p:sp>
      <p:sp>
        <p:nvSpPr>
          <p:cNvPr id="13" name="Text 8"/>
          <p:cNvSpPr txBox="1"/>
          <p:nvPr/>
        </p:nvSpPr>
        <p:spPr>
          <a:xfrm>
            <a:off x="1097280" y="2514600"/>
            <a:ext cx="4389120" cy="502920"/>
          </a:xfrm>
          <a:prstGeom prst="rect">
            <a:avLst/>
          </a:prstGeom>
          <a:noFill/>
          <a:ln/>
        </p:spPr>
        <p:txBody>
          <a:bodyPr wrap="square" lIns="0" tIns="0" rIns="0" bIns="0" rtlCol="0" anchor="ctr"/>
          <a:lstStyle/>
          <a:p>
            <a:pPr indent="0" marL="0">
              <a:buNone/>
            </a:pPr>
            <a:r>
              <a:rPr lang="en-US" sz="2400" b="1" dirty="0">
                <a:solidFill>
                  <a:srgbClr val="1F3A5F"/>
                </a:solidFill>
                <a:latin typeface="맑은 고딕" pitchFamily="34" charset="0"/>
                <a:ea typeface="맑은 고딕" pitchFamily="34" charset="-122"/>
                <a:cs typeface="맑은 고딕" pitchFamily="34" charset="-120"/>
              </a:rPr>
              <a:t>채팅</a:t>
            </a:r>
            <a:endParaRPr lang="en-US" sz="2400" dirty="0"/>
          </a:p>
        </p:txBody>
      </p:sp>
      <p:sp>
        <p:nvSpPr>
          <p:cNvPr id="14" name="Text 9"/>
          <p:cNvSpPr txBox="1"/>
          <p:nvPr/>
        </p:nvSpPr>
        <p:spPr>
          <a:xfrm>
            <a:off x="1097280" y="3063240"/>
            <a:ext cx="4389120" cy="685800"/>
          </a:xfrm>
          <a:prstGeom prst="rect">
            <a:avLst/>
          </a:prstGeom>
          <a:noFill/>
          <a:ln/>
        </p:spPr>
        <p:txBody>
          <a:bodyPr wrap="square" lIns="0" tIns="0" rIns="0" bIns="0" rtlCol="0" anchor="t"/>
          <a:lstStyle/>
          <a:p>
            <a:pPr indent="0" marL="0">
              <a:buNone/>
            </a:pPr>
            <a:r>
              <a:rPr lang="en-US" sz="1800" dirty="0">
                <a:solidFill>
                  <a:srgbClr val="1F2937"/>
                </a:solidFill>
                <a:latin typeface="맑은 고딕" pitchFamily="34" charset="0"/>
                <a:ea typeface="맑은 고딕" pitchFamily="34" charset="-122"/>
                <a:cs typeface="맑은 고딕" pitchFamily="34" charset="-120"/>
              </a:rPr>
              <a:t>묻고 답하기 · 요약 · 글 다듬기</a:t>
            </a:r>
            <a:endParaRPr lang="en-US" sz="1800" dirty="0"/>
          </a:p>
        </p:txBody>
      </p:sp>
      <p:sp>
        <p:nvSpPr>
          <p:cNvPr id="15" name="Shape 10"/>
          <p:cNvSpPr/>
          <p:nvPr/>
        </p:nvSpPr>
        <p:spPr>
          <a:xfrm>
            <a:off x="822960" y="4069080"/>
            <a:ext cx="4892040" cy="1508760"/>
          </a:xfrm>
          <a:prstGeom prst="roundRect">
            <a:avLst>
              <a:gd name="adj" fmla="val 7273"/>
            </a:avLst>
          </a:prstGeom>
          <a:solidFill>
            <a:srgbClr val="FFFFFF"/>
          </a:solidFill>
          <a:ln w="19050">
            <a:solidFill>
              <a:srgbClr val="1F3A5F"/>
            </a:solidFill>
            <a:prstDash val="solid"/>
          </a:ln>
        </p:spPr>
      </p:sp>
      <p:sp>
        <p:nvSpPr>
          <p:cNvPr id="16" name="Text 11"/>
          <p:cNvSpPr txBox="1"/>
          <p:nvPr/>
        </p:nvSpPr>
        <p:spPr>
          <a:xfrm>
            <a:off x="1097280" y="4206240"/>
            <a:ext cx="4389120" cy="502920"/>
          </a:xfrm>
          <a:prstGeom prst="rect">
            <a:avLst/>
          </a:prstGeom>
          <a:noFill/>
          <a:ln/>
        </p:spPr>
        <p:txBody>
          <a:bodyPr wrap="square" lIns="0" tIns="0" rIns="0" bIns="0" rtlCol="0" anchor="ctr"/>
          <a:lstStyle/>
          <a:p>
            <a:pPr indent="0" marL="0">
              <a:buNone/>
            </a:pPr>
            <a:r>
              <a:rPr lang="en-US" sz="2400" b="1" dirty="0">
                <a:solidFill>
                  <a:srgbClr val="1F3A5F"/>
                </a:solidFill>
                <a:latin typeface="맑은 고딕" pitchFamily="34" charset="0"/>
                <a:ea typeface="맑은 고딕" pitchFamily="34" charset="-122"/>
                <a:cs typeface="맑은 고딕" pitchFamily="34" charset="-120"/>
              </a:rPr>
              <a:t>Cowork</a:t>
            </a:r>
            <a:endParaRPr lang="en-US" sz="2400" dirty="0"/>
          </a:p>
        </p:txBody>
      </p:sp>
      <p:sp>
        <p:nvSpPr>
          <p:cNvPr id="17" name="Text 12"/>
          <p:cNvSpPr txBox="1"/>
          <p:nvPr/>
        </p:nvSpPr>
        <p:spPr>
          <a:xfrm>
            <a:off x="1097280" y="4754880"/>
            <a:ext cx="4389120" cy="685800"/>
          </a:xfrm>
          <a:prstGeom prst="rect">
            <a:avLst/>
          </a:prstGeom>
          <a:noFill/>
          <a:ln/>
        </p:spPr>
        <p:txBody>
          <a:bodyPr wrap="square" lIns="0" tIns="0" rIns="0" bIns="0" rtlCol="0" anchor="t"/>
          <a:lstStyle/>
          <a:p>
            <a:pPr indent="0" marL="0">
              <a:buNone/>
            </a:pPr>
            <a:r>
              <a:rPr lang="en-US" sz="1800" dirty="0">
                <a:solidFill>
                  <a:srgbClr val="1F2937"/>
                </a:solidFill>
                <a:latin typeface="맑은 고딕" pitchFamily="34" charset="0"/>
                <a:ea typeface="맑은 고딕" pitchFamily="34" charset="-122"/>
                <a:cs typeface="맑은 고딕" pitchFamily="34" charset="-120"/>
              </a:rPr>
              <a:t>일 맡기기 · 예약(예정됨)</a:t>
            </a:r>
            <a:endParaRPr lang="en-US" sz="1800" dirty="0"/>
          </a:p>
          <a:p>
            <a:pPr indent="0" marL="0">
              <a:buNone/>
            </a:pPr>
            <a:r>
              <a:rPr lang="en-US" sz="1800" dirty="0">
                <a:solidFill>
                  <a:srgbClr val="1F2937"/>
                </a:solidFill>
                <a:latin typeface="맑은 고딕" pitchFamily="34" charset="0"/>
                <a:ea typeface="맑은 고딕" pitchFamily="34" charset="-122"/>
                <a:cs typeface="맑은 고딕" pitchFamily="34" charset="-120"/>
              </a:rPr>
              <a:t>휴대폰·웹에서도 이어서 확인</a:t>
            </a:r>
            <a:endParaRPr lang="en-US" sz="1800" dirty="0"/>
          </a:p>
        </p:txBody>
      </p:sp>
      <p:sp>
        <p:nvSpPr>
          <p:cNvPr id="18" name="Shape 13"/>
          <p:cNvSpPr/>
          <p:nvPr/>
        </p:nvSpPr>
        <p:spPr>
          <a:xfrm>
            <a:off x="6446520" y="2377440"/>
            <a:ext cx="4892040" cy="1508760"/>
          </a:xfrm>
          <a:prstGeom prst="roundRect">
            <a:avLst>
              <a:gd name="adj" fmla="val 7273"/>
            </a:avLst>
          </a:prstGeom>
          <a:solidFill>
            <a:srgbClr val="FFFFFF"/>
          </a:solidFill>
          <a:ln w="19050">
            <a:solidFill>
              <a:srgbClr val="E8590C"/>
            </a:solidFill>
            <a:prstDash val="solid"/>
          </a:ln>
        </p:spPr>
      </p:sp>
      <p:sp>
        <p:nvSpPr>
          <p:cNvPr id="19" name="Text 14"/>
          <p:cNvSpPr txBox="1"/>
          <p:nvPr/>
        </p:nvSpPr>
        <p:spPr>
          <a:xfrm>
            <a:off x="6720840" y="2514600"/>
            <a:ext cx="4389120" cy="502920"/>
          </a:xfrm>
          <a:prstGeom prst="rect">
            <a:avLst/>
          </a:prstGeom>
          <a:noFill/>
          <a:ln/>
        </p:spPr>
        <p:txBody>
          <a:bodyPr wrap="square" lIns="0" tIns="0" rIns="0" bIns="0" rtlCol="0" anchor="ctr"/>
          <a:lstStyle/>
          <a:p>
            <a:pPr indent="0" marL="0">
              <a:buNone/>
            </a:pPr>
            <a:r>
              <a:rPr lang="en-US" sz="2400" b="1" dirty="0">
                <a:solidFill>
                  <a:srgbClr val="E8590C"/>
                </a:solidFill>
                <a:latin typeface="맑은 고딕" pitchFamily="34" charset="0"/>
                <a:ea typeface="맑은 고딕" pitchFamily="34" charset="-122"/>
                <a:cs typeface="맑은 고딕" pitchFamily="34" charset="-120"/>
              </a:rPr>
              <a:t>Code 탭</a:t>
            </a:r>
            <a:endParaRPr lang="en-US" sz="2400" dirty="0"/>
          </a:p>
        </p:txBody>
      </p:sp>
      <p:sp>
        <p:nvSpPr>
          <p:cNvPr id="20" name="Text 15"/>
          <p:cNvSpPr txBox="1"/>
          <p:nvPr/>
        </p:nvSpPr>
        <p:spPr>
          <a:xfrm>
            <a:off x="6720840" y="3063240"/>
            <a:ext cx="4389120" cy="685800"/>
          </a:xfrm>
          <a:prstGeom prst="rect">
            <a:avLst/>
          </a:prstGeom>
          <a:noFill/>
          <a:ln/>
        </p:spPr>
        <p:txBody>
          <a:bodyPr wrap="square" lIns="0" tIns="0" rIns="0" bIns="0" rtlCol="0" anchor="t"/>
          <a:lstStyle/>
          <a:p>
            <a:pPr indent="0" marL="0">
              <a:buNone/>
            </a:pPr>
            <a:r>
              <a:rPr lang="en-US" sz="1800" dirty="0">
                <a:solidFill>
                  <a:srgbClr val="1F2937"/>
                </a:solidFill>
                <a:latin typeface="맑은 고딕" pitchFamily="34" charset="0"/>
                <a:ea typeface="맑은 고딕" pitchFamily="34" charset="-122"/>
                <a:cs typeface="맑은 고딕" pitchFamily="34" charset="-120"/>
              </a:rPr>
              <a:t>말로 시키는 건 같음</a:t>
            </a:r>
            <a:endParaRPr lang="en-US" sz="1800" dirty="0"/>
          </a:p>
          <a:p>
            <a:pPr indent="0" marL="0">
              <a:buNone/>
            </a:pPr>
            <a:r>
              <a:rPr lang="en-US" sz="1800" dirty="0">
                <a:solidFill>
                  <a:srgbClr val="1F2937"/>
                </a:solidFill>
                <a:latin typeface="맑은 고딕" pitchFamily="34" charset="0"/>
                <a:ea typeface="맑은 고딕" pitchFamily="34" charset="-122"/>
                <a:cs typeface="맑은 고딕" pitchFamily="34" charset="-120"/>
              </a:rPr>
              <a:t>내 폴더·엑셀·MCP를 직접 다룸</a:t>
            </a:r>
            <a:endParaRPr lang="en-US" sz="1800" dirty="0"/>
          </a:p>
        </p:txBody>
      </p:sp>
      <p:sp>
        <p:nvSpPr>
          <p:cNvPr id="21" name="Shape 16"/>
          <p:cNvSpPr/>
          <p:nvPr/>
        </p:nvSpPr>
        <p:spPr>
          <a:xfrm>
            <a:off x="6446520" y="4069080"/>
            <a:ext cx="4892040" cy="1508760"/>
          </a:xfrm>
          <a:prstGeom prst="roundRect">
            <a:avLst>
              <a:gd name="adj" fmla="val 7273"/>
            </a:avLst>
          </a:prstGeom>
          <a:solidFill>
            <a:srgbClr val="FFFFFF"/>
          </a:solidFill>
          <a:ln w="19050">
            <a:solidFill>
              <a:srgbClr val="E8590C"/>
            </a:solidFill>
            <a:prstDash val="solid"/>
          </a:ln>
        </p:spPr>
      </p:sp>
      <p:sp>
        <p:nvSpPr>
          <p:cNvPr id="22" name="Text 17"/>
          <p:cNvSpPr txBox="1"/>
          <p:nvPr/>
        </p:nvSpPr>
        <p:spPr>
          <a:xfrm>
            <a:off x="6720840" y="4206240"/>
            <a:ext cx="4389120" cy="502920"/>
          </a:xfrm>
          <a:prstGeom prst="rect">
            <a:avLst/>
          </a:prstGeom>
          <a:noFill/>
          <a:ln/>
        </p:spPr>
        <p:txBody>
          <a:bodyPr wrap="square" lIns="0" tIns="0" rIns="0" bIns="0" rtlCol="0" anchor="ctr"/>
          <a:lstStyle/>
          <a:p>
            <a:pPr indent="0" marL="0">
              <a:buNone/>
            </a:pPr>
            <a:r>
              <a:rPr lang="en-US" sz="2400" b="1" dirty="0">
                <a:solidFill>
                  <a:srgbClr val="E8590C"/>
                </a:solidFill>
                <a:latin typeface="맑은 고딕" pitchFamily="34" charset="0"/>
                <a:ea typeface="맑은 고딕" pitchFamily="34" charset="-122"/>
                <a:cs typeface="맑은 고딕" pitchFamily="34" charset="-120"/>
              </a:rPr>
              <a:t>Code 루틴</a:t>
            </a:r>
            <a:endParaRPr lang="en-US" sz="2400" dirty="0"/>
          </a:p>
        </p:txBody>
      </p:sp>
      <p:sp>
        <p:nvSpPr>
          <p:cNvPr id="23" name="Text 18"/>
          <p:cNvSpPr txBox="1"/>
          <p:nvPr/>
        </p:nvSpPr>
        <p:spPr>
          <a:xfrm>
            <a:off x="6720840" y="4754880"/>
            <a:ext cx="4389120" cy="685800"/>
          </a:xfrm>
          <a:prstGeom prst="rect">
            <a:avLst/>
          </a:prstGeom>
          <a:noFill/>
          <a:ln/>
        </p:spPr>
        <p:txBody>
          <a:bodyPr wrap="square" lIns="0" tIns="0" rIns="0" bIns="0" rtlCol="0" anchor="t"/>
          <a:lstStyle/>
          <a:p>
            <a:pPr indent="0" marL="0">
              <a:buNone/>
            </a:pPr>
            <a:r>
              <a:rPr lang="en-US" sz="1800" dirty="0">
                <a:solidFill>
                  <a:srgbClr val="1F2937"/>
                </a:solidFill>
                <a:latin typeface="맑은 고딕" pitchFamily="34" charset="0"/>
                <a:ea typeface="맑은 고딕" pitchFamily="34" charset="-122"/>
                <a:cs typeface="맑은 고딕" pitchFamily="34" charset="-120"/>
              </a:rPr>
              <a:t>Code 탭에서 거는 예약</a:t>
            </a:r>
            <a:endParaRPr lang="en-US" sz="1800" dirty="0"/>
          </a:p>
          <a:p>
            <a:pPr indent="0" marL="0">
              <a:buNone/>
            </a:pPr>
            <a:r>
              <a:rPr lang="en-US" sz="1800" dirty="0">
                <a:solidFill>
                  <a:srgbClr val="1F2937"/>
                </a:solidFill>
                <a:latin typeface="맑은 고딕" pitchFamily="34" charset="0"/>
                <a:ea typeface="맑은 고딕" pitchFamily="34" charset="-122"/>
                <a:cs typeface="맑은 고딕" pitchFamily="34" charset="-120"/>
              </a:rPr>
              <a:t>정해진 시각에 내 PC에서 실행</a:t>
            </a:r>
            <a:endParaRPr lang="en-US" sz="1800" dirty="0"/>
          </a:p>
        </p:txBody>
      </p:sp>
      <p:sp>
        <p:nvSpPr>
          <p:cNvPr id="24" name="Text 19"/>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800" dirty="0">
                <a:solidFill>
                  <a:srgbClr val="6B7280"/>
                </a:solidFill>
                <a:latin typeface="맑은 고딕" pitchFamily="34" charset="0"/>
                <a:ea typeface="맑은 고딕" pitchFamily="34" charset="-122"/>
                <a:cs typeface="맑은 고딕" pitchFamily="34" charset="-120"/>
              </a:rPr>
              <a:t>※ 「Code」는 이름일 뿐입니다. 명령어 창(검은 창)을 쓰지 않습니다</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01168"/>
            <a:ext cx="1143000" cy="329184"/>
          </a:xfrm>
          <a:prstGeom prst="roundRect">
            <a:avLst>
              <a:gd name="adj" fmla="val 27778"/>
            </a:avLst>
          </a:prstGeom>
          <a:solidFill>
            <a:srgbClr val="1F3A5F"/>
          </a:solidFill>
          <a:ln/>
        </p:spPr>
        <p:txBody>
          <a:bodyPr wrap="square" lIns="25400" tIns="25400" rIns="25400" bIns="2540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개념</a:t>
            </a:r>
            <a:endParaRPr lang="en-US" sz="1300" dirty="0"/>
          </a:p>
        </p:txBody>
      </p:sp>
      <p:sp>
        <p:nvSpPr>
          <p:cNvPr id="3" name="Text 1"/>
          <p:cNvSpPr txBox="1"/>
          <p:nvPr/>
        </p:nvSpPr>
        <p:spPr>
          <a:xfrm>
            <a:off x="10607040" y="6400800"/>
            <a:ext cx="1005840" cy="274320"/>
          </a:xfrm>
          <a:prstGeom prst="rect">
            <a:avLst/>
          </a:prstGeom>
          <a:noFill/>
          <a:ln/>
        </p:spPr>
        <p:txBody>
          <a:bodyPr wrap="square" lIns="0" tIns="0" rIns="0" bIns="0" rtlCol="0" anchor="ctr"/>
          <a:lstStyle/>
          <a:p>
            <a:pPr algn="r" indent="0" marL="0">
              <a:buNone/>
            </a:pPr>
            <a:r>
              <a:rPr lang="en-US" sz="1200" dirty="0">
                <a:solidFill>
                  <a:srgbClr val="6B7280"/>
                </a:solidFill>
                <a:latin typeface="맑은 고딕" pitchFamily="34" charset="0"/>
                <a:ea typeface="맑은 고딕" pitchFamily="34" charset="-122"/>
                <a:cs typeface="맑은 고딕" pitchFamily="34" charset="-120"/>
              </a:rPr>
              <a:t>4 / 14</a:t>
            </a:r>
            <a:endParaRPr lang="en-US" sz="1200" dirty="0"/>
          </a:p>
        </p:txBody>
      </p:sp>
      <p:sp>
        <p:nvSpPr>
          <p:cNvPr id="4"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000" b="1" dirty="0">
                <a:solidFill>
                  <a:srgbClr val="1F3A5F"/>
                </a:solidFill>
                <a:latin typeface="맑은 고딕" pitchFamily="34" charset="0"/>
                <a:ea typeface="맑은 고딕" pitchFamily="34" charset="-122"/>
                <a:cs typeface="맑은 고딕" pitchFamily="34" charset="-120"/>
              </a:rPr>
              <a:t>예전에는 PC 한 대 안, 지금은 「전화선」으로 이어진 두 곳</a:t>
            </a:r>
            <a:endParaRPr lang="en-US" sz="3000" dirty="0"/>
          </a:p>
        </p:txBody>
      </p:sp>
      <p:sp>
        <p:nvSpPr>
          <p:cNvPr id="6" name="Text 3"/>
          <p:cNvSpPr txBox="1"/>
          <p:nvPr/>
        </p:nvSpPr>
        <p:spPr>
          <a:xfrm>
            <a:off x="548640" y="1554480"/>
            <a:ext cx="3931920" cy="411480"/>
          </a:xfrm>
          <a:prstGeom prst="rect">
            <a:avLst/>
          </a:prstGeom>
          <a:noFill/>
          <a:ln/>
        </p:spPr>
        <p:txBody>
          <a:bodyPr wrap="square" lIns="0" tIns="0" rIns="0" bIns="0" rtlCol="0" anchor="ctr"/>
          <a:lstStyle/>
          <a:p>
            <a:pPr indent="0" marL="0">
              <a:buNone/>
            </a:pPr>
            <a:r>
              <a:rPr lang="en-US" sz="2000" b="1" dirty="0">
                <a:solidFill>
                  <a:srgbClr val="6B7280"/>
                </a:solidFill>
                <a:latin typeface="맑은 고딕" pitchFamily="34" charset="0"/>
                <a:ea typeface="맑은 고딕" pitchFamily="34" charset="-122"/>
                <a:cs typeface="맑은 고딕" pitchFamily="34" charset="-120"/>
              </a:rPr>
              <a:t>예전에 배운 그림</a:t>
            </a:r>
            <a:endParaRPr lang="en-US" sz="2000" dirty="0"/>
          </a:p>
        </p:txBody>
      </p:sp>
      <p:sp>
        <p:nvSpPr>
          <p:cNvPr id="7" name="Shape 4"/>
          <p:cNvSpPr/>
          <p:nvPr/>
        </p:nvSpPr>
        <p:spPr>
          <a:xfrm>
            <a:off x="548640" y="2011680"/>
            <a:ext cx="3931920" cy="3566160"/>
          </a:xfrm>
          <a:prstGeom prst="roundRect">
            <a:avLst>
              <a:gd name="adj" fmla="val 3077"/>
            </a:avLst>
          </a:prstGeom>
          <a:solidFill>
            <a:srgbClr val="EEF2F7"/>
          </a:solidFill>
          <a:ln w="25400">
            <a:solidFill>
              <a:srgbClr val="1F3A5F"/>
            </a:solidFill>
            <a:prstDash val="solid"/>
          </a:ln>
        </p:spPr>
      </p:sp>
      <p:pic>
        <p:nvPicPr>
          <p:cNvPr id="8" name="Image 0" descr="preencoded.png">    </p:cNvPr>
          <p:cNvPicPr>
            <a:picLocks noChangeAspect="1"/>
          </p:cNvPicPr>
          <p:nvPr/>
        </p:nvPicPr>
        <p:blipFill>
          <a:blip r:embed="rId1"/>
          <a:stretch>
            <a:fillRect/>
          </a:stretch>
        </p:blipFill>
        <p:spPr>
          <a:xfrm>
            <a:off x="777240" y="2194560"/>
            <a:ext cx="502920" cy="502920"/>
          </a:xfrm>
          <a:prstGeom prst="rect">
            <a:avLst/>
          </a:prstGeom>
        </p:spPr>
      </p:pic>
      <p:sp>
        <p:nvSpPr>
          <p:cNvPr id="9" name="Text 5"/>
          <p:cNvSpPr txBox="1"/>
          <p:nvPr/>
        </p:nvSpPr>
        <p:spPr>
          <a:xfrm>
            <a:off x="1371600" y="2194560"/>
            <a:ext cx="2286000" cy="502920"/>
          </a:xfrm>
          <a:prstGeom prst="rect">
            <a:avLst/>
          </a:prstGeom>
          <a:noFill/>
          <a:ln/>
        </p:spPr>
        <p:txBody>
          <a:bodyPr wrap="square" lIns="0" tIns="0" rIns="0" bIns="0" rtlCol="0" anchor="ctr"/>
          <a:lstStyle/>
          <a:p>
            <a:pPr indent="0" marL="0">
              <a:buNone/>
            </a:pPr>
            <a:r>
              <a:rPr lang="en-US" sz="2200" b="1" dirty="0">
                <a:solidFill>
                  <a:srgbClr val="1F3A5F"/>
                </a:solidFill>
                <a:latin typeface="맑은 고딕" pitchFamily="34" charset="0"/>
                <a:ea typeface="맑은 고딕" pitchFamily="34" charset="-122"/>
                <a:cs typeface="맑은 고딕" pitchFamily="34" charset="-120"/>
              </a:rPr>
              <a:t>내 PC</a:t>
            </a:r>
            <a:endParaRPr lang="en-US" sz="2200" dirty="0"/>
          </a:p>
        </p:txBody>
      </p:sp>
      <p:sp>
        <p:nvSpPr>
          <p:cNvPr id="10" name="Text 6"/>
          <p:cNvSpPr txBox="1"/>
          <p:nvPr/>
        </p:nvSpPr>
        <p:spPr>
          <a:xfrm>
            <a:off x="868680" y="2971800"/>
            <a:ext cx="3291840" cy="731520"/>
          </a:xfrm>
          <a:prstGeom prst="roundRect">
            <a:avLst>
              <a:gd name="adj" fmla="val 12500"/>
            </a:avLst>
          </a:prstGeom>
          <a:solidFill>
            <a:srgbClr val="1F3A5F"/>
          </a:solidFill>
          <a:ln/>
        </p:spPr>
        <p:txBody>
          <a:bodyPr wrap="square" lIns="25400" tIns="25400" rIns="25400" bIns="25400" rtlCol="0" anchor="ctr"/>
          <a:lstStyle/>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Cowork</a:t>
            </a:r>
            <a:endParaRPr lang="en-US" sz="2200" dirty="0"/>
          </a:p>
        </p:txBody>
      </p:sp>
      <p:sp>
        <p:nvSpPr>
          <p:cNvPr id="11" name="Text 7"/>
          <p:cNvSpPr txBox="1"/>
          <p:nvPr/>
        </p:nvSpPr>
        <p:spPr>
          <a:xfrm>
            <a:off x="868680" y="3977640"/>
            <a:ext cx="3291840" cy="731520"/>
          </a:xfrm>
          <a:prstGeom prst="roundRect">
            <a:avLst>
              <a:gd name="adj" fmla="val 12500"/>
            </a:avLst>
          </a:prstGeom>
          <a:solidFill>
            <a:srgbClr val="FFFFFF"/>
          </a:solidFill>
          <a:ln/>
        </p:spPr>
        <p:txBody>
          <a:bodyPr wrap="square" lIns="25400" tIns="25400" rIns="25400" bIns="25400" rtlCol="0" anchor="ctr"/>
          <a:lstStyle/>
          <a:p>
            <a:pPr algn="ctr" indent="0" marL="0">
              <a:buNone/>
            </a:pPr>
            <a:r>
              <a:rPr lang="en-US" sz="2000" b="1" dirty="0">
                <a:solidFill>
                  <a:srgbClr val="1F3A5F"/>
                </a:solidFill>
                <a:latin typeface="맑은 고딕" pitchFamily="34" charset="0"/>
                <a:ea typeface="맑은 고딕" pitchFamily="34" charset="-122"/>
                <a:cs typeface="맑은 고딕" pitchFamily="34" charset="-120"/>
              </a:rPr>
              <a:t>폴더 · 엑셀 · MCP</a:t>
            </a:r>
            <a:endParaRPr lang="en-US" sz="2000" dirty="0"/>
          </a:p>
        </p:txBody>
      </p:sp>
      <p:sp>
        <p:nvSpPr>
          <p:cNvPr id="12" name="Text 8"/>
          <p:cNvSpPr txBox="1"/>
          <p:nvPr/>
        </p:nvSpPr>
        <p:spPr>
          <a:xfrm>
            <a:off x="548640" y="5715000"/>
            <a:ext cx="3931920" cy="411480"/>
          </a:xfrm>
          <a:prstGeom prst="rect">
            <a:avLst/>
          </a:prstGeom>
          <a:noFill/>
          <a:ln/>
        </p:spPr>
        <p:txBody>
          <a:bodyPr wrap="square" lIns="0" tIns="0" rIns="0" bIns="0" rtlCol="0" anchor="ctr"/>
          <a:lstStyle/>
          <a:p>
            <a:pPr algn="ctr" indent="0" marL="0">
              <a:buNone/>
            </a:pPr>
            <a:r>
              <a:rPr lang="en-US" sz="2000" dirty="0">
                <a:solidFill>
                  <a:srgbClr val="6B7280"/>
                </a:solidFill>
                <a:latin typeface="맑은 고딕" pitchFamily="34" charset="0"/>
                <a:ea typeface="맑은 고딕" pitchFamily="34" charset="-122"/>
                <a:cs typeface="맑은 고딕" pitchFamily="34" charset="-120"/>
              </a:rPr>
              <a:t>전부 한 컴퓨터 안</a:t>
            </a:r>
            <a:endParaRPr lang="en-US" sz="2000" dirty="0"/>
          </a:p>
        </p:txBody>
      </p:sp>
      <p:sp>
        <p:nvSpPr>
          <p:cNvPr id="13" name="Shape 9"/>
          <p:cNvSpPr/>
          <p:nvPr/>
        </p:nvSpPr>
        <p:spPr>
          <a:xfrm>
            <a:off x="4663440" y="3474720"/>
            <a:ext cx="685800" cy="640080"/>
          </a:xfrm>
          <a:prstGeom prst="rightArrow">
            <a:avLst/>
          </a:prstGeom>
          <a:solidFill>
            <a:srgbClr val="E8590C"/>
          </a:solidFill>
          <a:ln w="12700">
            <a:solidFill>
              <a:srgbClr val="E8590C"/>
            </a:solidFill>
            <a:prstDash val="solid"/>
          </a:ln>
        </p:spPr>
      </p:sp>
      <p:sp>
        <p:nvSpPr>
          <p:cNvPr id="14" name="Text 10"/>
          <p:cNvSpPr txBox="1"/>
          <p:nvPr/>
        </p:nvSpPr>
        <p:spPr>
          <a:xfrm>
            <a:off x="5577840" y="1554480"/>
            <a:ext cx="2743200" cy="411480"/>
          </a:xfrm>
          <a:prstGeom prst="rect">
            <a:avLst/>
          </a:prstGeom>
          <a:noFill/>
          <a:ln/>
        </p:spPr>
        <p:txBody>
          <a:bodyPr wrap="square" lIns="0" tIns="0" rIns="0" bIns="0" rtlCol="0" anchor="ctr"/>
          <a:lstStyle/>
          <a:p>
            <a:pPr indent="0" marL="0">
              <a:buNone/>
            </a:pPr>
            <a:r>
              <a:rPr lang="en-US" sz="2000" b="1" dirty="0">
                <a:solidFill>
                  <a:srgbClr val="E8590C"/>
                </a:solidFill>
                <a:latin typeface="맑은 고딕" pitchFamily="34" charset="0"/>
                <a:ea typeface="맑은 고딕" pitchFamily="34" charset="-122"/>
                <a:cs typeface="맑은 고딕" pitchFamily="34" charset="-120"/>
              </a:rPr>
              <a:t>지금</a:t>
            </a:r>
            <a:endParaRPr lang="en-US" sz="2000" dirty="0"/>
          </a:p>
        </p:txBody>
      </p:sp>
      <p:sp>
        <p:nvSpPr>
          <p:cNvPr id="15" name="Shape 11"/>
          <p:cNvSpPr/>
          <p:nvPr/>
        </p:nvSpPr>
        <p:spPr>
          <a:xfrm>
            <a:off x="5577840" y="2011680"/>
            <a:ext cx="3200400" cy="1828800"/>
          </a:xfrm>
          <a:prstGeom prst="roundRect">
            <a:avLst>
              <a:gd name="adj" fmla="val 6000"/>
            </a:avLst>
          </a:prstGeom>
          <a:solidFill>
            <a:srgbClr val="EEF2F7"/>
          </a:solidFill>
          <a:ln w="25400">
            <a:solidFill>
              <a:srgbClr val="1F3A5F"/>
            </a:solidFill>
            <a:prstDash val="solid"/>
          </a:ln>
        </p:spPr>
      </p:sp>
      <p:pic>
        <p:nvPicPr>
          <p:cNvPr id="16" name="Image 1" descr="preencoded.png">    </p:cNvPr>
          <p:cNvPicPr>
            <a:picLocks noChangeAspect="1"/>
          </p:cNvPicPr>
          <p:nvPr/>
        </p:nvPicPr>
        <p:blipFill>
          <a:blip r:embed="rId2"/>
          <a:stretch>
            <a:fillRect/>
          </a:stretch>
        </p:blipFill>
        <p:spPr>
          <a:xfrm>
            <a:off x="5760720" y="2148840"/>
            <a:ext cx="548640" cy="548640"/>
          </a:xfrm>
          <a:prstGeom prst="rect">
            <a:avLst/>
          </a:prstGeom>
        </p:spPr>
      </p:pic>
      <p:sp>
        <p:nvSpPr>
          <p:cNvPr id="17" name="Text 12"/>
          <p:cNvSpPr txBox="1"/>
          <p:nvPr/>
        </p:nvSpPr>
        <p:spPr>
          <a:xfrm>
            <a:off x="6400800" y="2148840"/>
            <a:ext cx="2286000" cy="548640"/>
          </a:xfrm>
          <a:prstGeom prst="rect">
            <a:avLst/>
          </a:prstGeom>
          <a:noFill/>
          <a:ln/>
        </p:spPr>
        <p:txBody>
          <a:bodyPr wrap="square" lIns="0" tIns="0" rIns="0" bIns="0" rtlCol="0" anchor="ctr"/>
          <a:lstStyle/>
          <a:p>
            <a:pPr indent="0" marL="0">
              <a:buNone/>
            </a:pPr>
            <a:r>
              <a:rPr lang="en-US" sz="2200" b="1" dirty="0">
                <a:solidFill>
                  <a:srgbClr val="1F3A5F"/>
                </a:solidFill>
                <a:latin typeface="맑은 고딕" pitchFamily="34" charset="0"/>
                <a:ea typeface="맑은 고딕" pitchFamily="34" charset="-122"/>
                <a:cs typeface="맑은 고딕" pitchFamily="34" charset="-120"/>
              </a:rPr>
              <a:t>인터넷 너머</a:t>
            </a:r>
            <a:endParaRPr lang="en-US" sz="2200" dirty="0"/>
          </a:p>
        </p:txBody>
      </p:sp>
      <p:sp>
        <p:nvSpPr>
          <p:cNvPr id="18" name="Text 13"/>
          <p:cNvSpPr txBox="1"/>
          <p:nvPr/>
        </p:nvSpPr>
        <p:spPr>
          <a:xfrm>
            <a:off x="5852160" y="2880360"/>
            <a:ext cx="2651760" cy="731520"/>
          </a:xfrm>
          <a:prstGeom prst="roundRect">
            <a:avLst>
              <a:gd name="adj" fmla="val 12500"/>
            </a:avLst>
          </a:prstGeom>
          <a:solidFill>
            <a:srgbClr val="1F3A5F"/>
          </a:solidFill>
          <a:ln/>
        </p:spPr>
        <p:txBody>
          <a:bodyPr wrap="square" lIns="25400" tIns="25400" rIns="25400" bIns="2540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Cowork · 채팅</a:t>
            </a:r>
            <a:endParaRPr lang="en-US" sz="2000" dirty="0"/>
          </a:p>
        </p:txBody>
      </p:sp>
      <p:sp>
        <p:nvSpPr>
          <p:cNvPr id="19" name="Shape 14"/>
          <p:cNvSpPr/>
          <p:nvPr/>
        </p:nvSpPr>
        <p:spPr>
          <a:xfrm>
            <a:off x="8458200" y="4069080"/>
            <a:ext cx="3154680" cy="2194560"/>
          </a:xfrm>
          <a:prstGeom prst="roundRect">
            <a:avLst>
              <a:gd name="adj" fmla="val 5000"/>
            </a:avLst>
          </a:prstGeom>
          <a:solidFill>
            <a:srgbClr val="FDF0E8"/>
          </a:solidFill>
          <a:ln w="25400">
            <a:solidFill>
              <a:srgbClr val="E8590C"/>
            </a:solidFill>
            <a:prstDash val="solid"/>
          </a:ln>
        </p:spPr>
      </p:sp>
      <p:pic>
        <p:nvPicPr>
          <p:cNvPr id="20" name="Image 2" descr="preencoded.png">    </p:cNvPr>
          <p:cNvPicPr>
            <a:picLocks noChangeAspect="1"/>
          </p:cNvPicPr>
          <p:nvPr/>
        </p:nvPicPr>
        <p:blipFill>
          <a:blip r:embed="rId3"/>
          <a:stretch>
            <a:fillRect/>
          </a:stretch>
        </p:blipFill>
        <p:spPr>
          <a:xfrm>
            <a:off x="8641080" y="4206240"/>
            <a:ext cx="502920" cy="502920"/>
          </a:xfrm>
          <a:prstGeom prst="rect">
            <a:avLst/>
          </a:prstGeom>
        </p:spPr>
      </p:pic>
      <p:sp>
        <p:nvSpPr>
          <p:cNvPr id="21" name="Text 15"/>
          <p:cNvSpPr txBox="1"/>
          <p:nvPr/>
        </p:nvSpPr>
        <p:spPr>
          <a:xfrm>
            <a:off x="9235440" y="4206240"/>
            <a:ext cx="2194560" cy="502920"/>
          </a:xfrm>
          <a:prstGeom prst="rect">
            <a:avLst/>
          </a:prstGeom>
          <a:noFill/>
          <a:ln/>
        </p:spPr>
        <p:txBody>
          <a:bodyPr wrap="square" lIns="0" tIns="0" rIns="0" bIns="0" rtlCol="0" anchor="ctr"/>
          <a:lstStyle/>
          <a:p>
            <a:pPr indent="0" marL="0">
              <a:buNone/>
            </a:pPr>
            <a:r>
              <a:rPr lang="en-US" sz="2200" b="1" dirty="0">
                <a:solidFill>
                  <a:srgbClr val="E8590C"/>
                </a:solidFill>
                <a:latin typeface="맑은 고딕" pitchFamily="34" charset="0"/>
                <a:ea typeface="맑은 고딕" pitchFamily="34" charset="-122"/>
                <a:cs typeface="맑은 고딕" pitchFamily="34" charset="-120"/>
              </a:rPr>
              <a:t>내 PC</a:t>
            </a:r>
            <a:endParaRPr lang="en-US" sz="2200" dirty="0"/>
          </a:p>
        </p:txBody>
      </p:sp>
      <p:sp>
        <p:nvSpPr>
          <p:cNvPr id="22" name="Text 16"/>
          <p:cNvSpPr txBox="1"/>
          <p:nvPr/>
        </p:nvSpPr>
        <p:spPr>
          <a:xfrm>
            <a:off x="8686800" y="4846320"/>
            <a:ext cx="2697480" cy="594360"/>
          </a:xfrm>
          <a:prstGeom prst="roundRect">
            <a:avLst>
              <a:gd name="adj" fmla="val 15385"/>
            </a:avLst>
          </a:prstGeom>
          <a:solidFill>
            <a:srgbClr val="E8590C"/>
          </a:solidFill>
          <a:ln/>
        </p:spPr>
        <p:txBody>
          <a:bodyPr wrap="square" lIns="25400" tIns="25400" rIns="25400" bIns="25400" rtlCol="0" anchor="ct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Code 탭 · Code 루틴</a:t>
            </a:r>
            <a:endParaRPr lang="en-US" sz="1700" dirty="0"/>
          </a:p>
        </p:txBody>
      </p:sp>
      <p:sp>
        <p:nvSpPr>
          <p:cNvPr id="23" name="Text 17"/>
          <p:cNvSpPr txBox="1"/>
          <p:nvPr/>
        </p:nvSpPr>
        <p:spPr>
          <a:xfrm>
            <a:off x="8686800" y="5532120"/>
            <a:ext cx="2697480" cy="594360"/>
          </a:xfrm>
          <a:prstGeom prst="roundRect">
            <a:avLst>
              <a:gd name="adj" fmla="val 15385"/>
            </a:avLst>
          </a:prstGeom>
          <a:solidFill>
            <a:srgbClr val="FFFFFF"/>
          </a:solidFill>
          <a:ln/>
        </p:spPr>
        <p:txBody>
          <a:bodyPr wrap="square" lIns="25400" tIns="25400" rIns="25400" bIns="25400" rtlCol="0" anchor="ctr"/>
          <a:lstStyle/>
          <a:p>
            <a:pPr algn="ctr" indent="0" marL="0">
              <a:buNone/>
            </a:pPr>
            <a:r>
              <a:rPr lang="en-US" sz="1700" b="1" dirty="0">
                <a:solidFill>
                  <a:srgbClr val="E8590C"/>
                </a:solidFill>
                <a:latin typeface="맑은 고딕" pitchFamily="34" charset="0"/>
                <a:ea typeface="맑은 고딕" pitchFamily="34" charset="-122"/>
                <a:cs typeface="맑은 고딕" pitchFamily="34" charset="-120"/>
              </a:rPr>
              <a:t>폴더 · 엑셀 · MCP</a:t>
            </a:r>
            <a:endParaRPr lang="en-US" sz="1700" dirty="0"/>
          </a:p>
        </p:txBody>
      </p:sp>
      <p:sp>
        <p:nvSpPr>
          <p:cNvPr id="24" name="Shape 18"/>
          <p:cNvSpPr/>
          <p:nvPr/>
        </p:nvSpPr>
        <p:spPr>
          <a:xfrm>
            <a:off x="7178040" y="3840480"/>
            <a:ext cx="1280160" cy="1371600"/>
          </a:xfrm>
          <a:prstGeom prst="line">
            <a:avLst/>
          </a:prstGeom>
          <a:noFill/>
          <a:ln w="38100">
            <a:solidFill>
              <a:srgbClr val="E8590C"/>
            </a:solidFill>
            <a:prstDash val="dash"/>
          </a:ln>
        </p:spPr>
      </p:sp>
      <p:sp>
        <p:nvSpPr>
          <p:cNvPr id="25" name="Text 19"/>
          <p:cNvSpPr txBox="1"/>
          <p:nvPr/>
        </p:nvSpPr>
        <p:spPr>
          <a:xfrm>
            <a:off x="5577840" y="4343400"/>
            <a:ext cx="2011680" cy="914400"/>
          </a:xfrm>
          <a:prstGeom prst="rect">
            <a:avLst/>
          </a:prstGeom>
          <a:noFill/>
          <a:ln/>
        </p:spPr>
        <p:txBody>
          <a:bodyPr wrap="square" lIns="0" tIns="0" rIns="0" bIns="0" rtlCol="0" anchor="ctr"/>
          <a:lstStyle/>
          <a:p>
            <a:pPr indent="0" marL="0">
              <a:buNone/>
            </a:pPr>
            <a:r>
              <a:rPr lang="en-US" sz="2000" b="1" dirty="0">
                <a:solidFill>
                  <a:srgbClr val="E8590C"/>
                </a:solidFill>
                <a:latin typeface="맑은 고딕" pitchFamily="34" charset="0"/>
                <a:ea typeface="맑은 고딕" pitchFamily="34" charset="-122"/>
                <a:cs typeface="맑은 고딕" pitchFamily="34" charset="-120"/>
              </a:rPr>
              <a:t>데스크탑 앱</a:t>
            </a:r>
            <a:endParaRPr lang="en-US" sz="2000" dirty="0"/>
          </a:p>
          <a:p>
            <a:pPr indent="0" marL="0">
              <a:buNone/>
            </a:pPr>
            <a:r>
              <a:rPr lang="en-US" sz="2000" b="1" dirty="0">
                <a:solidFill>
                  <a:srgbClr val="E8590C"/>
                </a:solidFill>
                <a:latin typeface="맑은 고딕" pitchFamily="34" charset="0"/>
                <a:ea typeface="맑은 고딕" pitchFamily="34" charset="-122"/>
                <a:cs typeface="맑은 고딕" pitchFamily="34" charset="-120"/>
              </a:rPr>
              <a:t>= 전화선</a:t>
            </a:r>
            <a:endParaRPr lang="en-US" sz="2000" dirty="0"/>
          </a:p>
        </p:txBody>
      </p:sp>
      <p:sp>
        <p:nvSpPr>
          <p:cNvPr id="26" name="Text 20"/>
          <p:cNvSpPr txBox="1"/>
          <p:nvPr/>
        </p:nvSpPr>
        <p:spPr>
          <a:xfrm>
            <a:off x="5577840" y="5349240"/>
            <a:ext cx="2743200" cy="822960"/>
          </a:xfrm>
          <a:prstGeom prst="rect">
            <a:avLst/>
          </a:prstGeom>
          <a:noFill/>
          <a:ln/>
        </p:spPr>
        <p:txBody>
          <a:bodyPr wrap="square" lIns="0" tIns="0" rIns="0" bIns="0" rtlCol="0" anchor="ctr"/>
          <a:lstStyle/>
          <a:p>
            <a:pPr indent="0" marL="0">
              <a:buNone/>
            </a:pPr>
            <a:r>
              <a:rPr lang="en-US" sz="1800" dirty="0">
                <a:solidFill>
                  <a:srgbClr val="6B7280"/>
                </a:solidFill>
                <a:latin typeface="맑은 고딕" pitchFamily="34" charset="0"/>
                <a:ea typeface="맑은 고딕" pitchFamily="34" charset="-122"/>
                <a:cs typeface="맑은 고딕" pitchFamily="34" charset="-120"/>
              </a:rPr>
              <a:t>앱을 닫으면</a:t>
            </a:r>
            <a:endParaRPr lang="en-US" sz="1800" dirty="0"/>
          </a:p>
          <a:p>
            <a:pPr indent="0" marL="0">
              <a:buNone/>
            </a:pPr>
            <a:r>
              <a:rPr lang="en-US" sz="1800" dirty="0">
                <a:solidFill>
                  <a:srgbClr val="6B7280"/>
                </a:solidFill>
                <a:latin typeface="맑은 고딕" pitchFamily="34" charset="0"/>
                <a:ea typeface="맑은 고딕" pitchFamily="34" charset="-122"/>
                <a:cs typeface="맑은 고딕" pitchFamily="34" charset="-120"/>
              </a:rPr>
              <a:t>내 파일에 손 못 댐</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01168"/>
            <a:ext cx="1143000" cy="329184"/>
          </a:xfrm>
          <a:prstGeom prst="roundRect">
            <a:avLst>
              <a:gd name="adj" fmla="val 27778"/>
            </a:avLst>
          </a:prstGeom>
          <a:solidFill>
            <a:srgbClr val="1F3A5F"/>
          </a:solidFill>
          <a:ln/>
        </p:spPr>
        <p:txBody>
          <a:bodyPr wrap="square" lIns="25400" tIns="25400" rIns="25400" bIns="2540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개념</a:t>
            </a:r>
            <a:endParaRPr lang="en-US" sz="1300" dirty="0"/>
          </a:p>
        </p:txBody>
      </p:sp>
      <p:sp>
        <p:nvSpPr>
          <p:cNvPr id="3" name="Text 1"/>
          <p:cNvSpPr txBox="1"/>
          <p:nvPr/>
        </p:nvSpPr>
        <p:spPr>
          <a:xfrm>
            <a:off x="10607040" y="6400800"/>
            <a:ext cx="1005840" cy="274320"/>
          </a:xfrm>
          <a:prstGeom prst="rect">
            <a:avLst/>
          </a:prstGeom>
          <a:noFill/>
          <a:ln/>
        </p:spPr>
        <p:txBody>
          <a:bodyPr wrap="square" lIns="0" tIns="0" rIns="0" bIns="0" rtlCol="0" anchor="ctr"/>
          <a:lstStyle/>
          <a:p>
            <a:pPr algn="r" indent="0" marL="0">
              <a:buNone/>
            </a:pPr>
            <a:r>
              <a:rPr lang="en-US" sz="1200" dirty="0">
                <a:solidFill>
                  <a:srgbClr val="6B7280"/>
                </a:solidFill>
                <a:latin typeface="맑은 고딕" pitchFamily="34" charset="0"/>
                <a:ea typeface="맑은 고딕" pitchFamily="34" charset="-122"/>
                <a:cs typeface="맑은 고딕" pitchFamily="34" charset="-120"/>
              </a:rPr>
              <a:t>5 / 14</a:t>
            </a:r>
            <a:endParaRPr lang="en-US" sz="1200" dirty="0"/>
          </a:p>
        </p:txBody>
      </p:sp>
      <p:sp>
        <p:nvSpPr>
          <p:cNvPr id="4"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000" b="1" dirty="0">
                <a:solidFill>
                  <a:srgbClr val="1F3A5F"/>
                </a:solidFill>
                <a:latin typeface="맑은 고딕" pitchFamily="34" charset="0"/>
                <a:ea typeface="맑은 고딕" pitchFamily="34" charset="-122"/>
                <a:cs typeface="맑은 고딕" pitchFamily="34" charset="-120"/>
              </a:rPr>
              <a:t>2026년 7월 공지 뒤 차례로 바뀌고 있습니다</a:t>
            </a:r>
            <a:endParaRPr lang="en-US" sz="3000" dirty="0"/>
          </a:p>
        </p:txBody>
      </p:sp>
      <p:sp>
        <p:nvSpPr>
          <p:cNvPr id="6" name="Shape 3"/>
          <p:cNvSpPr/>
          <p:nvPr/>
        </p:nvSpPr>
        <p:spPr>
          <a:xfrm>
            <a:off x="1097280" y="2514600"/>
            <a:ext cx="9966960" cy="0"/>
          </a:xfrm>
          <a:prstGeom prst="line">
            <a:avLst/>
          </a:prstGeom>
          <a:noFill/>
          <a:ln w="50800">
            <a:solidFill>
              <a:srgbClr val="CBD5E1"/>
            </a:solidFill>
            <a:prstDash val="solid"/>
          </a:ln>
        </p:spPr>
      </p:sp>
      <p:sp>
        <p:nvSpPr>
          <p:cNvPr id="7" name="Shape 4"/>
          <p:cNvSpPr/>
          <p:nvPr/>
        </p:nvSpPr>
        <p:spPr>
          <a:xfrm>
            <a:off x="1554480" y="2286000"/>
            <a:ext cx="457200" cy="457200"/>
          </a:xfrm>
          <a:prstGeom prst="ellipse">
            <a:avLst/>
          </a:prstGeom>
          <a:solidFill>
            <a:srgbClr val="1F3A5F"/>
          </a:solidFill>
          <a:ln w="38100">
            <a:solidFill>
              <a:srgbClr val="FFFFFF"/>
            </a:solidFill>
            <a:prstDash val="solid"/>
          </a:ln>
        </p:spPr>
      </p:sp>
      <p:sp>
        <p:nvSpPr>
          <p:cNvPr id="8" name="Text 5"/>
          <p:cNvSpPr txBox="1"/>
          <p:nvPr/>
        </p:nvSpPr>
        <p:spPr>
          <a:xfrm>
            <a:off x="548640" y="1691640"/>
            <a:ext cx="2468880" cy="457200"/>
          </a:xfrm>
          <a:prstGeom prst="rect">
            <a:avLst/>
          </a:prstGeom>
          <a:noFill/>
          <a:ln/>
        </p:spPr>
        <p:txBody>
          <a:bodyPr wrap="square" lIns="0" tIns="0" rIns="0" bIns="0" rtlCol="0" anchor="ctr"/>
          <a:lstStyle/>
          <a:p>
            <a:pPr algn="ctr" indent="0" marL="0">
              <a:buNone/>
            </a:pPr>
            <a:r>
              <a:rPr lang="en-US" sz="2200" b="1" dirty="0">
                <a:solidFill>
                  <a:srgbClr val="1F3A5F"/>
                </a:solidFill>
                <a:latin typeface="맑은 고딕" pitchFamily="34" charset="0"/>
                <a:ea typeface="맑은 고딕" pitchFamily="34" charset="-122"/>
                <a:cs typeface="맑은 고딕" pitchFamily="34" charset="-120"/>
              </a:rPr>
              <a:t>2026-07-07</a:t>
            </a:r>
            <a:endParaRPr lang="en-US" sz="2200" dirty="0"/>
          </a:p>
        </p:txBody>
      </p:sp>
      <p:sp>
        <p:nvSpPr>
          <p:cNvPr id="9" name="Shape 6"/>
          <p:cNvSpPr/>
          <p:nvPr/>
        </p:nvSpPr>
        <p:spPr>
          <a:xfrm>
            <a:off x="548640" y="3017520"/>
            <a:ext cx="2468880" cy="2148840"/>
          </a:xfrm>
          <a:prstGeom prst="roundRect">
            <a:avLst>
              <a:gd name="adj" fmla="val 5106"/>
            </a:avLst>
          </a:prstGeom>
          <a:solidFill>
            <a:srgbClr val="EEF2F7"/>
          </a:solidFill>
          <a:ln w="12700">
            <a:solidFill>
              <a:srgbClr val="EEF2F7"/>
            </a:solidFill>
            <a:prstDash val="solid"/>
          </a:ln>
        </p:spPr>
      </p:sp>
      <p:sp>
        <p:nvSpPr>
          <p:cNvPr id="10" name="Text 7"/>
          <p:cNvSpPr txBox="1"/>
          <p:nvPr/>
        </p:nvSpPr>
        <p:spPr>
          <a:xfrm>
            <a:off x="685800" y="3154680"/>
            <a:ext cx="2194560" cy="457200"/>
          </a:xfrm>
          <a:prstGeom prst="rect">
            <a:avLst/>
          </a:prstGeom>
          <a:noFill/>
          <a:ln/>
        </p:spPr>
        <p:txBody>
          <a:bodyPr wrap="square" lIns="0" tIns="0" rIns="0" bIns="0" rtlCol="0" anchor="ctr"/>
          <a:lstStyle/>
          <a:p>
            <a:pPr algn="ctr" indent="0" marL="0">
              <a:buNone/>
            </a:pPr>
            <a:r>
              <a:rPr lang="en-US" sz="2000" b="1" dirty="0">
                <a:solidFill>
                  <a:srgbClr val="1F3A5F"/>
                </a:solidFill>
                <a:latin typeface="맑은 고딕" pitchFamily="34" charset="0"/>
                <a:ea typeface="맑은 고딕" pitchFamily="34" charset="-122"/>
                <a:cs typeface="맑은 고딕" pitchFamily="34" charset="-120"/>
              </a:rPr>
              <a:t>공식 공지</a:t>
            </a:r>
            <a:endParaRPr lang="en-US" sz="2000" dirty="0"/>
          </a:p>
        </p:txBody>
      </p:sp>
      <p:sp>
        <p:nvSpPr>
          <p:cNvPr id="11" name="Text 8"/>
          <p:cNvSpPr txBox="1"/>
          <p:nvPr/>
        </p:nvSpPr>
        <p:spPr>
          <a:xfrm>
            <a:off x="685800" y="3703320"/>
            <a:ext cx="2194560" cy="1280160"/>
          </a:xfrm>
          <a:prstGeom prst="rect">
            <a:avLst/>
          </a:prstGeom>
          <a:noFill/>
          <a:ln/>
        </p:spPr>
        <p:txBody>
          <a:bodyPr wrap="square" lIns="0" tIns="0" rIns="0" bIns="0" rtlCol="0" anchor="t"/>
          <a:lstStyle/>
          <a:p>
            <a:pPr algn="ctr" indent="0" marL="0">
              <a:buNone/>
            </a:pPr>
            <a:r>
              <a:rPr lang="en-US" sz="1800" dirty="0">
                <a:solidFill>
                  <a:srgbClr val="1F2937"/>
                </a:solidFill>
                <a:latin typeface="맑은 고딕" pitchFamily="34" charset="0"/>
                <a:ea typeface="맑은 고딕" pitchFamily="34" charset="-122"/>
                <a:cs typeface="맑은 고딕" pitchFamily="34" charset="-120"/>
              </a:rPr>
              <a:t>Cowork 원격 실행</a:t>
            </a:r>
            <a:endParaRPr lang="en-US" sz="1800" dirty="0"/>
          </a:p>
          <a:p>
            <a:pPr algn="ctr" indent="0" marL="0">
              <a:buNone/>
            </a:pPr>
            <a:r>
              <a:rPr lang="en-US" sz="1800" dirty="0">
                <a:solidFill>
                  <a:srgbClr val="1F2937"/>
                </a:solidFill>
                <a:latin typeface="맑은 고딕" pitchFamily="34" charset="0"/>
                <a:ea typeface="맑은 고딕" pitchFamily="34" charset="-122"/>
                <a:cs typeface="맑은 고딕" pitchFamily="34" charset="-120"/>
              </a:rPr>
              <a:t>(베타)</a:t>
            </a:r>
            <a:endParaRPr lang="en-US" sz="1800" dirty="0"/>
          </a:p>
        </p:txBody>
      </p:sp>
      <p:sp>
        <p:nvSpPr>
          <p:cNvPr id="12" name="Shape 9"/>
          <p:cNvSpPr/>
          <p:nvPr/>
        </p:nvSpPr>
        <p:spPr>
          <a:xfrm>
            <a:off x="4389120" y="2286000"/>
            <a:ext cx="457200" cy="457200"/>
          </a:xfrm>
          <a:prstGeom prst="ellipse">
            <a:avLst/>
          </a:prstGeom>
          <a:solidFill>
            <a:srgbClr val="1F3A5F"/>
          </a:solidFill>
          <a:ln w="38100">
            <a:solidFill>
              <a:srgbClr val="FFFFFF"/>
            </a:solidFill>
            <a:prstDash val="solid"/>
          </a:ln>
        </p:spPr>
      </p:sp>
      <p:sp>
        <p:nvSpPr>
          <p:cNvPr id="13" name="Text 10"/>
          <p:cNvSpPr txBox="1"/>
          <p:nvPr/>
        </p:nvSpPr>
        <p:spPr>
          <a:xfrm>
            <a:off x="3383280" y="1691640"/>
            <a:ext cx="2468880" cy="457200"/>
          </a:xfrm>
          <a:prstGeom prst="rect">
            <a:avLst/>
          </a:prstGeom>
          <a:noFill/>
          <a:ln/>
        </p:spPr>
        <p:txBody>
          <a:bodyPr wrap="square" lIns="0" tIns="0" rIns="0" bIns="0" rtlCol="0" anchor="ctr"/>
          <a:lstStyle/>
          <a:p>
            <a:pPr algn="ctr" indent="0" marL="0">
              <a:buNone/>
            </a:pPr>
            <a:r>
              <a:rPr lang="en-US" sz="2200" b="1" dirty="0">
                <a:solidFill>
                  <a:srgbClr val="1F3A5F"/>
                </a:solidFill>
                <a:latin typeface="맑은 고딕" pitchFamily="34" charset="0"/>
                <a:ea typeface="맑은 고딕" pitchFamily="34" charset="-122"/>
                <a:cs typeface="맑은 고딕" pitchFamily="34" charset="-120"/>
              </a:rPr>
              <a:t>이후 몇 주</a:t>
            </a:r>
            <a:endParaRPr lang="en-US" sz="2200" dirty="0"/>
          </a:p>
        </p:txBody>
      </p:sp>
      <p:sp>
        <p:nvSpPr>
          <p:cNvPr id="14" name="Shape 11"/>
          <p:cNvSpPr/>
          <p:nvPr/>
        </p:nvSpPr>
        <p:spPr>
          <a:xfrm>
            <a:off x="3383280" y="3017520"/>
            <a:ext cx="2468880" cy="2148840"/>
          </a:xfrm>
          <a:prstGeom prst="roundRect">
            <a:avLst>
              <a:gd name="adj" fmla="val 5106"/>
            </a:avLst>
          </a:prstGeom>
          <a:solidFill>
            <a:srgbClr val="EEF2F7"/>
          </a:solidFill>
          <a:ln w="12700">
            <a:solidFill>
              <a:srgbClr val="EEF2F7"/>
            </a:solidFill>
            <a:prstDash val="solid"/>
          </a:ln>
        </p:spPr>
      </p:sp>
      <p:sp>
        <p:nvSpPr>
          <p:cNvPr id="15" name="Text 12"/>
          <p:cNvSpPr txBox="1"/>
          <p:nvPr/>
        </p:nvSpPr>
        <p:spPr>
          <a:xfrm>
            <a:off x="3520440" y="3154680"/>
            <a:ext cx="2194560" cy="457200"/>
          </a:xfrm>
          <a:prstGeom prst="rect">
            <a:avLst/>
          </a:prstGeom>
          <a:noFill/>
          <a:ln/>
        </p:spPr>
        <p:txBody>
          <a:bodyPr wrap="square" lIns="0" tIns="0" rIns="0" bIns="0" rtlCol="0" anchor="ctr"/>
          <a:lstStyle/>
          <a:p>
            <a:pPr algn="ctr" indent="0" marL="0">
              <a:buNone/>
            </a:pPr>
            <a:r>
              <a:rPr lang="en-US" sz="2000" b="1" dirty="0">
                <a:solidFill>
                  <a:srgbClr val="1F3A5F"/>
                </a:solidFill>
                <a:latin typeface="맑은 고딕" pitchFamily="34" charset="0"/>
                <a:ea typeface="맑은 고딕" pitchFamily="34" charset="-122"/>
                <a:cs typeface="맑은 고딕" pitchFamily="34" charset="-120"/>
              </a:rPr>
              <a:t>차례로 적용</a:t>
            </a:r>
            <a:endParaRPr lang="en-US" sz="2000" dirty="0"/>
          </a:p>
        </p:txBody>
      </p:sp>
      <p:sp>
        <p:nvSpPr>
          <p:cNvPr id="16" name="Text 13"/>
          <p:cNvSpPr txBox="1"/>
          <p:nvPr/>
        </p:nvSpPr>
        <p:spPr>
          <a:xfrm>
            <a:off x="3520440" y="3703320"/>
            <a:ext cx="2194560" cy="1280160"/>
          </a:xfrm>
          <a:prstGeom prst="rect">
            <a:avLst/>
          </a:prstGeom>
          <a:noFill/>
          <a:ln/>
        </p:spPr>
        <p:txBody>
          <a:bodyPr wrap="square" lIns="0" tIns="0" rIns="0" bIns="0" rtlCol="0" anchor="t"/>
          <a:lstStyle/>
          <a:p>
            <a:pPr algn="ctr" indent="0" marL="0">
              <a:buNone/>
            </a:pPr>
            <a:r>
              <a:rPr lang="en-US" sz="1800" dirty="0">
                <a:solidFill>
                  <a:srgbClr val="1F2937"/>
                </a:solidFill>
                <a:latin typeface="맑은 고딕" pitchFamily="34" charset="0"/>
                <a:ea typeface="맑은 고딕" pitchFamily="34" charset="-122"/>
                <a:cs typeface="맑은 고딕" pitchFamily="34" charset="-120"/>
              </a:rPr>
              <a:t>Max 요금제부터</a:t>
            </a:r>
            <a:endParaRPr lang="en-US" sz="1800" dirty="0"/>
          </a:p>
          <a:p>
            <a:pPr algn="ctr" indent="0" marL="0">
              <a:buNone/>
            </a:pPr>
            <a:r>
              <a:rPr lang="en-US" sz="1800" dirty="0">
                <a:solidFill>
                  <a:srgbClr val="1F2937"/>
                </a:solidFill>
                <a:latin typeface="맑은 고딕" pitchFamily="34" charset="0"/>
                <a:ea typeface="맑은 고딕" pitchFamily="34" charset="-122"/>
                <a:cs typeface="맑은 고딕" pitchFamily="34" charset="-120"/>
              </a:rPr>
              <a:t>사람마다 시점 다름</a:t>
            </a:r>
            <a:endParaRPr lang="en-US" sz="1800" dirty="0"/>
          </a:p>
        </p:txBody>
      </p:sp>
      <p:sp>
        <p:nvSpPr>
          <p:cNvPr id="17" name="Shape 14"/>
          <p:cNvSpPr/>
          <p:nvPr/>
        </p:nvSpPr>
        <p:spPr>
          <a:xfrm>
            <a:off x="7223760" y="2286000"/>
            <a:ext cx="457200" cy="457200"/>
          </a:xfrm>
          <a:prstGeom prst="ellipse">
            <a:avLst/>
          </a:prstGeom>
          <a:solidFill>
            <a:srgbClr val="E8590C"/>
          </a:solidFill>
          <a:ln w="38100">
            <a:solidFill>
              <a:srgbClr val="FFFFFF"/>
            </a:solidFill>
            <a:prstDash val="solid"/>
          </a:ln>
        </p:spPr>
      </p:sp>
      <p:sp>
        <p:nvSpPr>
          <p:cNvPr id="18" name="Text 15"/>
          <p:cNvSpPr txBox="1"/>
          <p:nvPr/>
        </p:nvSpPr>
        <p:spPr>
          <a:xfrm>
            <a:off x="6217920" y="1691640"/>
            <a:ext cx="2468880" cy="457200"/>
          </a:xfrm>
          <a:prstGeom prst="rect">
            <a:avLst/>
          </a:prstGeom>
          <a:noFill/>
          <a:ln/>
        </p:spPr>
        <p:txBody>
          <a:bodyPr wrap="square" lIns="0" tIns="0" rIns="0" bIns="0" rtlCol="0" anchor="ctr"/>
          <a:lstStyle/>
          <a:p>
            <a:pPr algn="ctr" indent="0" marL="0">
              <a:buNone/>
            </a:pPr>
            <a:r>
              <a:rPr lang="en-US" sz="2200" b="1" dirty="0">
                <a:solidFill>
                  <a:srgbClr val="E8590C"/>
                </a:solidFill>
                <a:latin typeface="맑은 고딕" pitchFamily="34" charset="0"/>
                <a:ea typeface="맑은 고딕" pitchFamily="34" charset="-122"/>
                <a:cs typeface="맑은 고딕" pitchFamily="34" charset="-120"/>
              </a:rPr>
              <a:t>2026-10-07</a:t>
            </a:r>
            <a:endParaRPr lang="en-US" sz="2200" dirty="0"/>
          </a:p>
        </p:txBody>
      </p:sp>
      <p:sp>
        <p:nvSpPr>
          <p:cNvPr id="19" name="Shape 16"/>
          <p:cNvSpPr/>
          <p:nvPr/>
        </p:nvSpPr>
        <p:spPr>
          <a:xfrm>
            <a:off x="6217920" y="3017520"/>
            <a:ext cx="2468880" cy="2148840"/>
          </a:xfrm>
          <a:prstGeom prst="roundRect">
            <a:avLst>
              <a:gd name="adj" fmla="val 5106"/>
            </a:avLst>
          </a:prstGeom>
          <a:solidFill>
            <a:srgbClr val="FDF0E8"/>
          </a:solidFill>
          <a:ln w="12700">
            <a:solidFill>
              <a:srgbClr val="FDF0E8"/>
            </a:solidFill>
            <a:prstDash val="solid"/>
          </a:ln>
        </p:spPr>
      </p:sp>
      <p:sp>
        <p:nvSpPr>
          <p:cNvPr id="20" name="Text 17"/>
          <p:cNvSpPr txBox="1"/>
          <p:nvPr/>
        </p:nvSpPr>
        <p:spPr>
          <a:xfrm>
            <a:off x="6355080" y="3154680"/>
            <a:ext cx="2194560" cy="457200"/>
          </a:xfrm>
          <a:prstGeom prst="rect">
            <a:avLst/>
          </a:prstGeom>
          <a:noFill/>
          <a:ln/>
        </p:spPr>
        <p:txBody>
          <a:bodyPr wrap="square" lIns="0" tIns="0" rIns="0" bIns="0" rtlCol="0" anchor="ctr"/>
          <a:lstStyle/>
          <a:p>
            <a:pPr algn="ctr" indent="0" marL="0">
              <a:buNone/>
            </a:pPr>
            <a:r>
              <a:rPr lang="en-US" sz="2000" b="1" dirty="0">
                <a:solidFill>
                  <a:srgbClr val="E8590C"/>
                </a:solidFill>
                <a:latin typeface="맑은 고딕" pitchFamily="34" charset="0"/>
                <a:ea typeface="맑은 고딕" pitchFamily="34" charset="-122"/>
                <a:cs typeface="맑은 고딕" pitchFamily="34" charset="-120"/>
              </a:rPr>
              <a:t>강사 PC</a:t>
            </a:r>
            <a:endParaRPr lang="en-US" sz="2000" dirty="0"/>
          </a:p>
        </p:txBody>
      </p:sp>
      <p:sp>
        <p:nvSpPr>
          <p:cNvPr id="21" name="Text 18"/>
          <p:cNvSpPr txBox="1"/>
          <p:nvPr/>
        </p:nvSpPr>
        <p:spPr>
          <a:xfrm>
            <a:off x="6355080" y="3703320"/>
            <a:ext cx="2194560" cy="1280160"/>
          </a:xfrm>
          <a:prstGeom prst="rect">
            <a:avLst/>
          </a:prstGeom>
          <a:noFill/>
          <a:ln/>
        </p:spPr>
        <p:txBody>
          <a:bodyPr wrap="square" lIns="0" tIns="0" rIns="0" bIns="0" rtlCol="0" anchor="t"/>
          <a:lstStyle/>
          <a:p>
            <a:pPr algn="ctr" indent="0" marL="0">
              <a:buNone/>
            </a:pPr>
            <a:r>
              <a:rPr lang="en-US" sz="1800" dirty="0">
                <a:solidFill>
                  <a:srgbClr val="1F2937"/>
                </a:solidFill>
                <a:latin typeface="맑은 고딕" pitchFamily="34" charset="0"/>
                <a:ea typeface="맑은 고딕" pitchFamily="34" charset="-122"/>
                <a:cs typeface="맑은 고딕" pitchFamily="34" charset="-120"/>
              </a:rPr>
              <a:t>예약 작업이</a:t>
            </a:r>
            <a:endParaRPr lang="en-US" sz="1800" dirty="0"/>
          </a:p>
          <a:p>
            <a:pPr algn="ctr" indent="0" marL="0">
              <a:buNone/>
            </a:pPr>
            <a:r>
              <a:rPr lang="en-US" sz="1800" dirty="0">
                <a:solidFill>
                  <a:srgbClr val="1F2937"/>
                </a:solidFill>
                <a:latin typeface="맑은 고딕" pitchFamily="34" charset="0"/>
                <a:ea typeface="맑은 고딕" pitchFamily="34" charset="-122"/>
                <a:cs typeface="맑은 고딕" pitchFamily="34" charset="-120"/>
              </a:rPr>
              <a:t>처음 클라우드에서 실행</a:t>
            </a:r>
            <a:endParaRPr lang="en-US" sz="1800" dirty="0"/>
          </a:p>
        </p:txBody>
      </p:sp>
      <p:sp>
        <p:nvSpPr>
          <p:cNvPr id="22" name="Shape 19"/>
          <p:cNvSpPr/>
          <p:nvPr/>
        </p:nvSpPr>
        <p:spPr>
          <a:xfrm>
            <a:off x="10058400" y="2286000"/>
            <a:ext cx="457200" cy="457200"/>
          </a:xfrm>
          <a:prstGeom prst="ellipse">
            <a:avLst/>
          </a:prstGeom>
          <a:solidFill>
            <a:srgbClr val="6B7280"/>
          </a:solidFill>
          <a:ln w="38100">
            <a:solidFill>
              <a:srgbClr val="FFFFFF"/>
            </a:solidFill>
            <a:prstDash val="solid"/>
          </a:ln>
        </p:spPr>
      </p:sp>
      <p:sp>
        <p:nvSpPr>
          <p:cNvPr id="23" name="Text 20"/>
          <p:cNvSpPr txBox="1"/>
          <p:nvPr/>
        </p:nvSpPr>
        <p:spPr>
          <a:xfrm>
            <a:off x="9052560" y="1691640"/>
            <a:ext cx="2468880" cy="457200"/>
          </a:xfrm>
          <a:prstGeom prst="rect">
            <a:avLst/>
          </a:prstGeom>
          <a:noFill/>
          <a:ln/>
        </p:spPr>
        <p:txBody>
          <a:bodyPr wrap="square" lIns="0" tIns="0" rIns="0" bIns="0" rtlCol="0" anchor="ctr"/>
          <a:lstStyle/>
          <a:p>
            <a:pPr algn="ctr" indent="0" marL="0">
              <a:buNone/>
            </a:pPr>
            <a:r>
              <a:rPr lang="en-US" sz="2200" b="1" dirty="0">
                <a:solidFill>
                  <a:srgbClr val="6B7280"/>
                </a:solidFill>
                <a:latin typeface="맑은 고딕" pitchFamily="34" charset="0"/>
                <a:ea typeface="맑은 고딕" pitchFamily="34" charset="-122"/>
                <a:cs typeface="맑은 고딕" pitchFamily="34" charset="-120"/>
              </a:rPr>
              <a:t>2026-10-15</a:t>
            </a:r>
            <a:endParaRPr lang="en-US" sz="2200" dirty="0"/>
          </a:p>
        </p:txBody>
      </p:sp>
      <p:sp>
        <p:nvSpPr>
          <p:cNvPr id="24" name="Shape 21"/>
          <p:cNvSpPr/>
          <p:nvPr/>
        </p:nvSpPr>
        <p:spPr>
          <a:xfrm>
            <a:off x="9052560" y="3017520"/>
            <a:ext cx="2468880" cy="2148840"/>
          </a:xfrm>
          <a:prstGeom prst="roundRect">
            <a:avLst>
              <a:gd name="adj" fmla="val 5106"/>
            </a:avLst>
          </a:prstGeom>
          <a:solidFill>
            <a:srgbClr val="EEF2F7"/>
          </a:solidFill>
          <a:ln w="12700">
            <a:solidFill>
              <a:srgbClr val="EEF2F7"/>
            </a:solidFill>
            <a:prstDash val="solid"/>
          </a:ln>
        </p:spPr>
      </p:sp>
      <p:sp>
        <p:nvSpPr>
          <p:cNvPr id="25" name="Text 22"/>
          <p:cNvSpPr txBox="1"/>
          <p:nvPr/>
        </p:nvSpPr>
        <p:spPr>
          <a:xfrm>
            <a:off x="9189720" y="3154680"/>
            <a:ext cx="2194560" cy="457200"/>
          </a:xfrm>
          <a:prstGeom prst="rect">
            <a:avLst/>
          </a:prstGeom>
          <a:noFill/>
          <a:ln/>
        </p:spPr>
        <p:txBody>
          <a:bodyPr wrap="square" lIns="0" tIns="0" rIns="0" bIns="0" rtlCol="0" anchor="ctr"/>
          <a:lstStyle/>
          <a:p>
            <a:pPr algn="ctr" indent="0" marL="0">
              <a:buNone/>
            </a:pPr>
            <a:r>
              <a:rPr lang="en-US" sz="2000" b="1" dirty="0">
                <a:solidFill>
                  <a:srgbClr val="6B7280"/>
                </a:solidFill>
                <a:latin typeface="맑은 고딕" pitchFamily="34" charset="0"/>
                <a:ea typeface="맑은 고딕" pitchFamily="34" charset="-122"/>
                <a:cs typeface="맑은 고딕" pitchFamily="34" charset="-120"/>
              </a:rPr>
              <a:t>공식 문서 재확인</a:t>
            </a:r>
            <a:endParaRPr lang="en-US" sz="2000" dirty="0"/>
          </a:p>
        </p:txBody>
      </p:sp>
      <p:sp>
        <p:nvSpPr>
          <p:cNvPr id="26" name="Text 23"/>
          <p:cNvSpPr txBox="1"/>
          <p:nvPr/>
        </p:nvSpPr>
        <p:spPr>
          <a:xfrm>
            <a:off x="9189720" y="3703320"/>
            <a:ext cx="2194560" cy="1280160"/>
          </a:xfrm>
          <a:prstGeom prst="rect">
            <a:avLst/>
          </a:prstGeom>
          <a:noFill/>
          <a:ln/>
        </p:spPr>
        <p:txBody>
          <a:bodyPr wrap="square" lIns="0" tIns="0" rIns="0" bIns="0" rtlCol="0" anchor="t"/>
          <a:lstStyle/>
          <a:p>
            <a:pPr algn="ctr" indent="0" marL="0">
              <a:buNone/>
            </a:pPr>
            <a:r>
              <a:rPr lang="en-US" sz="1800" dirty="0">
                <a:solidFill>
                  <a:srgbClr val="1F2937"/>
                </a:solidFill>
                <a:latin typeface="맑은 고딕" pitchFamily="34" charset="0"/>
                <a:ea typeface="맑은 고딕" pitchFamily="34" charset="-122"/>
                <a:cs typeface="맑은 고딕" pitchFamily="34" charset="-120"/>
              </a:rPr>
              <a:t>오늘 교재 내용의</a:t>
            </a:r>
            <a:endParaRPr lang="en-US" sz="1800" dirty="0"/>
          </a:p>
          <a:p>
            <a:pPr algn="ctr" indent="0" marL="0">
              <a:buNone/>
            </a:pPr>
            <a:r>
              <a:rPr lang="en-US" sz="1800" dirty="0">
                <a:solidFill>
                  <a:srgbClr val="1F2937"/>
                </a:solidFill>
                <a:latin typeface="맑은 고딕" pitchFamily="34" charset="0"/>
                <a:ea typeface="맑은 고딕" pitchFamily="34" charset="-122"/>
                <a:cs typeface="맑은 고딕" pitchFamily="34" charset="-120"/>
              </a:rPr>
              <a:t>기준일</a:t>
            </a:r>
            <a:endParaRPr lang="en-US" sz="1800" dirty="0"/>
          </a:p>
        </p:txBody>
      </p:sp>
      <p:sp>
        <p:nvSpPr>
          <p:cNvPr id="27" name="Shape 24"/>
          <p:cNvSpPr/>
          <p:nvPr/>
        </p:nvSpPr>
        <p:spPr>
          <a:xfrm>
            <a:off x="548640" y="5440680"/>
            <a:ext cx="11064240" cy="731520"/>
          </a:xfrm>
          <a:prstGeom prst="roundRect">
            <a:avLst>
              <a:gd name="adj" fmla="val 15000"/>
            </a:avLst>
          </a:prstGeom>
          <a:solidFill>
            <a:srgbClr val="FFFFFF"/>
          </a:solidFill>
          <a:ln w="25400">
            <a:solidFill>
              <a:srgbClr val="E8590C"/>
            </a:solidFill>
            <a:prstDash val="solid"/>
          </a:ln>
        </p:spPr>
      </p:sp>
      <p:sp>
        <p:nvSpPr>
          <p:cNvPr id="28" name="Text 25"/>
          <p:cNvSpPr txBox="1"/>
          <p:nvPr/>
        </p:nvSpPr>
        <p:spPr>
          <a:xfrm>
            <a:off x="822960" y="5440680"/>
            <a:ext cx="10607040" cy="731520"/>
          </a:xfrm>
          <a:prstGeom prst="rect">
            <a:avLst/>
          </a:prstGeom>
          <a:noFill/>
          <a:ln/>
        </p:spPr>
        <p:txBody>
          <a:bodyPr wrap="square" lIns="0" tIns="0" rIns="0" bIns="0" rtlCol="0" anchor="ctr"/>
          <a:lstStyle/>
          <a:p>
            <a:pPr indent="0" marL="0">
              <a:buNone/>
            </a:pPr>
            <a:r>
              <a:rPr lang="en-US" sz="1900" b="1" dirty="0">
                <a:solidFill>
                  <a:srgbClr val="E8590C"/>
                </a:solidFill>
                <a:latin typeface="맑은 고딕" pitchFamily="34" charset="0"/>
                <a:ea typeface="맑은 고딕" pitchFamily="34" charset="-122"/>
                <a:cs typeface="맑은 고딕" pitchFamily="34" charset="-120"/>
              </a:rPr>
              <a:t>여러분 PC는 아직 예전 방식일 수 있지만, 새 방식으로 습관을 들여 두는 것이 안전합니다</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01168"/>
            <a:ext cx="1143000" cy="329184"/>
          </a:xfrm>
          <a:prstGeom prst="roundRect">
            <a:avLst>
              <a:gd name="adj" fmla="val 27778"/>
            </a:avLst>
          </a:prstGeom>
          <a:solidFill>
            <a:srgbClr val="1F3A5F"/>
          </a:solidFill>
          <a:ln/>
        </p:spPr>
        <p:txBody>
          <a:bodyPr wrap="square" lIns="25400" tIns="25400" rIns="25400" bIns="2540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개념</a:t>
            </a:r>
            <a:endParaRPr lang="en-US" sz="1300" dirty="0"/>
          </a:p>
        </p:txBody>
      </p:sp>
      <p:sp>
        <p:nvSpPr>
          <p:cNvPr id="3" name="Text 1"/>
          <p:cNvSpPr txBox="1"/>
          <p:nvPr/>
        </p:nvSpPr>
        <p:spPr>
          <a:xfrm>
            <a:off x="10607040" y="6400800"/>
            <a:ext cx="1005840" cy="274320"/>
          </a:xfrm>
          <a:prstGeom prst="rect">
            <a:avLst/>
          </a:prstGeom>
          <a:noFill/>
          <a:ln/>
        </p:spPr>
        <p:txBody>
          <a:bodyPr wrap="square" lIns="0" tIns="0" rIns="0" bIns="0" rtlCol="0" anchor="ctr"/>
          <a:lstStyle/>
          <a:p>
            <a:pPr algn="r" indent="0" marL="0">
              <a:buNone/>
            </a:pPr>
            <a:r>
              <a:rPr lang="en-US" sz="1200" dirty="0">
                <a:solidFill>
                  <a:srgbClr val="6B7280"/>
                </a:solidFill>
                <a:latin typeface="맑은 고딕" pitchFamily="34" charset="0"/>
                <a:ea typeface="맑은 고딕" pitchFamily="34" charset="-122"/>
                <a:cs typeface="맑은 고딕" pitchFamily="34" charset="-120"/>
              </a:rPr>
              <a:t>6 / 14</a:t>
            </a:r>
            <a:endParaRPr lang="en-US" sz="1200" dirty="0"/>
          </a:p>
        </p:txBody>
      </p:sp>
      <p:sp>
        <p:nvSpPr>
          <p:cNvPr id="4"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000" b="1" dirty="0">
                <a:solidFill>
                  <a:srgbClr val="1F3A5F"/>
                </a:solidFill>
                <a:latin typeface="맑은 고딕" pitchFamily="34" charset="0"/>
                <a:ea typeface="맑은 고딕" pitchFamily="34" charset="-122"/>
                <a:cs typeface="맑은 고딕" pitchFamily="34" charset="-120"/>
              </a:rPr>
              <a:t>Cowork는 재택 직원, Code 탭은 출근한 직원입니다</a:t>
            </a:r>
            <a:endParaRPr lang="en-US" sz="3000" dirty="0"/>
          </a:p>
        </p:txBody>
      </p:sp>
      <p:sp>
        <p:nvSpPr>
          <p:cNvPr id="6" name="Shape 3"/>
          <p:cNvSpPr/>
          <p:nvPr/>
        </p:nvSpPr>
        <p:spPr>
          <a:xfrm>
            <a:off x="548640" y="1554480"/>
            <a:ext cx="5349240" cy="3657600"/>
          </a:xfrm>
          <a:prstGeom prst="roundRect">
            <a:avLst>
              <a:gd name="adj" fmla="val 3000"/>
            </a:avLst>
          </a:prstGeom>
          <a:solidFill>
            <a:srgbClr val="EEF2F7"/>
          </a:solidFill>
          <a:ln w="12700">
            <a:solidFill>
              <a:srgbClr val="EEF2F7"/>
            </a:solidFill>
            <a:prstDash val="solid"/>
          </a:ln>
        </p:spPr>
      </p:sp>
      <p:sp>
        <p:nvSpPr>
          <p:cNvPr id="7" name="Shape 4"/>
          <p:cNvSpPr/>
          <p:nvPr/>
        </p:nvSpPr>
        <p:spPr>
          <a:xfrm>
            <a:off x="868680" y="1737360"/>
            <a:ext cx="1005840" cy="1005840"/>
          </a:xfrm>
          <a:prstGeom prst="ellipse">
            <a:avLst/>
          </a:prstGeom>
          <a:solidFill>
            <a:srgbClr val="1F3A5F"/>
          </a:solidFill>
          <a:ln w="12700">
            <a:solidFill>
              <a:srgbClr val="1F3A5F"/>
            </a:solidFill>
            <a:prstDash val="solid"/>
          </a:ln>
        </p:spPr>
      </p:sp>
      <p:pic>
        <p:nvPicPr>
          <p:cNvPr id="8" name="Image 0" descr="preencoded.png">    </p:cNvPr>
          <p:cNvPicPr>
            <a:picLocks noChangeAspect="1"/>
          </p:cNvPicPr>
          <p:nvPr/>
        </p:nvPicPr>
        <p:blipFill>
          <a:blip r:embed="rId1"/>
          <a:stretch>
            <a:fillRect/>
          </a:stretch>
        </p:blipFill>
        <p:spPr>
          <a:xfrm>
            <a:off x="1100023" y="1968703"/>
            <a:ext cx="543154" cy="543154"/>
          </a:xfrm>
          <a:prstGeom prst="rect">
            <a:avLst/>
          </a:prstGeom>
        </p:spPr>
      </p:pic>
      <p:sp>
        <p:nvSpPr>
          <p:cNvPr id="9" name="Text 5"/>
          <p:cNvSpPr txBox="1"/>
          <p:nvPr/>
        </p:nvSpPr>
        <p:spPr>
          <a:xfrm>
            <a:off x="2057400" y="1783080"/>
            <a:ext cx="3657600" cy="914400"/>
          </a:xfrm>
          <a:prstGeom prst="rect">
            <a:avLst/>
          </a:prstGeom>
          <a:noFill/>
          <a:ln/>
        </p:spPr>
        <p:txBody>
          <a:bodyPr wrap="square" lIns="0" tIns="0" rIns="0" bIns="0" rtlCol="0" anchor="ctr"/>
          <a:lstStyle/>
          <a:p>
            <a:pPr indent="0" marL="0">
              <a:buNone/>
            </a:pPr>
            <a:r>
              <a:rPr lang="en-US" sz="2400" b="1" dirty="0">
                <a:solidFill>
                  <a:srgbClr val="1F3A5F"/>
                </a:solidFill>
                <a:latin typeface="맑은 고딕" pitchFamily="34" charset="0"/>
                <a:ea typeface="맑은 고딕" pitchFamily="34" charset="-122"/>
                <a:cs typeface="맑은 고딕" pitchFamily="34" charset="-120"/>
              </a:rPr>
              <a:t>Cowork</a:t>
            </a:r>
            <a:endParaRPr lang="en-US" sz="2400" dirty="0"/>
          </a:p>
          <a:p>
            <a:pPr indent="0" marL="0">
              <a:buNone/>
            </a:pPr>
            <a:r>
              <a:rPr lang="en-US" sz="2400" b="1" dirty="0">
                <a:solidFill>
                  <a:srgbClr val="1F3A5F"/>
                </a:solidFill>
                <a:latin typeface="맑은 고딕" pitchFamily="34" charset="0"/>
                <a:ea typeface="맑은 고딕" pitchFamily="34" charset="-122"/>
                <a:cs typeface="맑은 고딕" pitchFamily="34" charset="-120"/>
              </a:rPr>
              <a:t>= 재택근무 직원</a:t>
            </a:r>
            <a:endParaRPr lang="en-US" sz="2400" dirty="0"/>
          </a:p>
        </p:txBody>
      </p:sp>
      <p:sp>
        <p:nvSpPr>
          <p:cNvPr id="10" name="Text 6"/>
          <p:cNvSpPr txBox="1"/>
          <p:nvPr/>
        </p:nvSpPr>
        <p:spPr>
          <a:xfrm>
            <a:off x="914400" y="2926080"/>
            <a:ext cx="4754880" cy="13716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rgbClr val="1F2937"/>
                </a:solidFill>
                <a:latin typeface="맑은 고딕" pitchFamily="34" charset="0"/>
                <a:ea typeface="맑은 고딕" pitchFamily="34" charset="-122"/>
                <a:cs typeface="맑은 고딕" pitchFamily="34" charset="-120"/>
              </a:rPr>
              <a:t>일은 자기 집(인터넷 너머)에서</a:t>
            </a:r>
            <a:endParaRPr lang="en-US" sz="2000" dirty="0"/>
          </a:p>
          <a:p>
            <a:pPr marL="342900" indent="-342900">
              <a:spcAft>
                <a:spcPts val="600"/>
              </a:spcAft>
              <a:buSzPct val="100000"/>
              <a:buChar char="•"/>
            </a:pPr>
            <a:r>
              <a:rPr lang="en-US" sz="2000" dirty="0">
                <a:solidFill>
                  <a:srgbClr val="1F2937"/>
                </a:solidFill>
                <a:latin typeface="맑은 고딕" pitchFamily="34" charset="0"/>
                <a:ea typeface="맑은 고딕" pitchFamily="34" charset="-122"/>
                <a:cs typeface="맑은 고딕" pitchFamily="34" charset="-120"/>
              </a:rPr>
              <a:t>내 서랍은 전화(앱)로 빌려 감</a:t>
            </a:r>
            <a:endParaRPr lang="en-US" sz="2000" dirty="0"/>
          </a:p>
          <a:p>
            <a:pPr marL="342900" indent="-342900">
              <a:spcAft>
                <a:spcPts val="600"/>
              </a:spcAft>
              <a:buSzPct val="100000"/>
              <a:buChar char="•"/>
            </a:pPr>
            <a:r>
              <a:rPr lang="en-US" sz="2000" dirty="0">
                <a:solidFill>
                  <a:srgbClr val="1F2937"/>
                </a:solidFill>
                <a:latin typeface="맑은 고딕" pitchFamily="34" charset="0"/>
                <a:ea typeface="맑은 고딕" pitchFamily="34" charset="-122"/>
                <a:cs typeface="맑은 고딕" pitchFamily="34" charset="-120"/>
              </a:rPr>
              <a:t>휴대폰으로 진행 상황 확인 가능</a:t>
            </a:r>
            <a:endParaRPr lang="en-US" sz="2000" dirty="0"/>
          </a:p>
        </p:txBody>
      </p:sp>
      <p:sp>
        <p:nvSpPr>
          <p:cNvPr id="11" name="Text 7"/>
          <p:cNvSpPr txBox="1"/>
          <p:nvPr/>
        </p:nvSpPr>
        <p:spPr>
          <a:xfrm>
            <a:off x="914400" y="4434840"/>
            <a:ext cx="4754880" cy="548640"/>
          </a:xfrm>
          <a:prstGeom prst="rect">
            <a:avLst/>
          </a:prstGeom>
          <a:noFill/>
          <a:ln/>
        </p:spPr>
        <p:txBody>
          <a:bodyPr wrap="square" lIns="0" tIns="0" rIns="0" bIns="0" rtlCol="0" anchor="ctr"/>
          <a:lstStyle/>
          <a:p>
            <a:pPr indent="0" marL="0">
              <a:buNone/>
            </a:pPr>
            <a:r>
              <a:rPr lang="en-US" sz="1800" b="1" dirty="0">
                <a:solidFill>
                  <a:srgbClr val="6B7280"/>
                </a:solidFill>
                <a:latin typeface="맑은 고딕" pitchFamily="34" charset="0"/>
                <a:ea typeface="맑은 고딕" pitchFamily="34" charset="-122"/>
                <a:cs typeface="맑은 고딕" pitchFamily="34" charset="-120"/>
              </a:rPr>
              <a:t>약점: 전화 끊기면 서랍을 못 엶</a:t>
            </a:r>
            <a:endParaRPr lang="en-US" sz="1800" dirty="0"/>
          </a:p>
        </p:txBody>
      </p:sp>
      <p:sp>
        <p:nvSpPr>
          <p:cNvPr id="12" name="Shape 8"/>
          <p:cNvSpPr/>
          <p:nvPr/>
        </p:nvSpPr>
        <p:spPr>
          <a:xfrm>
            <a:off x="6263640" y="1554480"/>
            <a:ext cx="5349240" cy="3657600"/>
          </a:xfrm>
          <a:prstGeom prst="roundRect">
            <a:avLst>
              <a:gd name="adj" fmla="val 3000"/>
            </a:avLst>
          </a:prstGeom>
          <a:solidFill>
            <a:srgbClr val="FDF0E8"/>
          </a:solidFill>
          <a:ln w="12700">
            <a:solidFill>
              <a:srgbClr val="FDF0E8"/>
            </a:solidFill>
            <a:prstDash val="solid"/>
          </a:ln>
        </p:spPr>
      </p:sp>
      <p:sp>
        <p:nvSpPr>
          <p:cNvPr id="13" name="Shape 9"/>
          <p:cNvSpPr/>
          <p:nvPr/>
        </p:nvSpPr>
        <p:spPr>
          <a:xfrm>
            <a:off x="6583680" y="1737360"/>
            <a:ext cx="1005840" cy="1005840"/>
          </a:xfrm>
          <a:prstGeom prst="ellipse">
            <a:avLst/>
          </a:prstGeom>
          <a:solidFill>
            <a:srgbClr val="E8590C"/>
          </a:solidFill>
          <a:ln w="12700">
            <a:solidFill>
              <a:srgbClr val="E8590C"/>
            </a:solidFill>
            <a:prstDash val="solid"/>
          </a:ln>
        </p:spPr>
      </p:sp>
      <p:pic>
        <p:nvPicPr>
          <p:cNvPr id="14" name="Image 1" descr="preencoded.png">    </p:cNvPr>
          <p:cNvPicPr>
            <a:picLocks noChangeAspect="1"/>
          </p:cNvPicPr>
          <p:nvPr/>
        </p:nvPicPr>
        <p:blipFill>
          <a:blip r:embed="rId2"/>
          <a:stretch>
            <a:fillRect/>
          </a:stretch>
        </p:blipFill>
        <p:spPr>
          <a:xfrm>
            <a:off x="6815023" y="1968703"/>
            <a:ext cx="543154" cy="543154"/>
          </a:xfrm>
          <a:prstGeom prst="rect">
            <a:avLst/>
          </a:prstGeom>
        </p:spPr>
      </p:pic>
      <p:sp>
        <p:nvSpPr>
          <p:cNvPr id="15" name="Text 10"/>
          <p:cNvSpPr txBox="1"/>
          <p:nvPr/>
        </p:nvSpPr>
        <p:spPr>
          <a:xfrm>
            <a:off x="7772400" y="1783080"/>
            <a:ext cx="3657600" cy="914400"/>
          </a:xfrm>
          <a:prstGeom prst="rect">
            <a:avLst/>
          </a:prstGeom>
          <a:noFill/>
          <a:ln/>
        </p:spPr>
        <p:txBody>
          <a:bodyPr wrap="square" lIns="0" tIns="0" rIns="0" bIns="0" rtlCol="0" anchor="ctr"/>
          <a:lstStyle/>
          <a:p>
            <a:pPr indent="0" marL="0">
              <a:buNone/>
            </a:pPr>
            <a:r>
              <a:rPr lang="en-US" sz="2400" b="1" dirty="0">
                <a:solidFill>
                  <a:srgbClr val="E8590C"/>
                </a:solidFill>
                <a:latin typeface="맑은 고딕" pitchFamily="34" charset="0"/>
                <a:ea typeface="맑은 고딕" pitchFamily="34" charset="-122"/>
                <a:cs typeface="맑은 고딕" pitchFamily="34" charset="-120"/>
              </a:rPr>
              <a:t>Code 탭</a:t>
            </a:r>
            <a:endParaRPr lang="en-US" sz="2400" dirty="0"/>
          </a:p>
          <a:p>
            <a:pPr indent="0" marL="0">
              <a:buNone/>
            </a:pPr>
            <a:r>
              <a:rPr lang="en-US" sz="2400" b="1" dirty="0">
                <a:solidFill>
                  <a:srgbClr val="E8590C"/>
                </a:solidFill>
                <a:latin typeface="맑은 고딕" pitchFamily="34" charset="0"/>
                <a:ea typeface="맑은 고딕" pitchFamily="34" charset="-122"/>
                <a:cs typeface="맑은 고딕" pitchFamily="34" charset="-120"/>
              </a:rPr>
              <a:t>= 출근한 직원</a:t>
            </a:r>
            <a:endParaRPr lang="en-US" sz="2400" dirty="0"/>
          </a:p>
        </p:txBody>
      </p:sp>
      <p:sp>
        <p:nvSpPr>
          <p:cNvPr id="16" name="Text 11"/>
          <p:cNvSpPr txBox="1"/>
          <p:nvPr/>
        </p:nvSpPr>
        <p:spPr>
          <a:xfrm>
            <a:off x="6629400" y="2926080"/>
            <a:ext cx="4754880" cy="13716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rgbClr val="1F2937"/>
                </a:solidFill>
                <a:latin typeface="맑은 고딕" pitchFamily="34" charset="0"/>
                <a:ea typeface="맑은 고딕" pitchFamily="34" charset="-122"/>
                <a:cs typeface="맑은 고딕" pitchFamily="34" charset="-120"/>
              </a:rPr>
              <a:t>내 책상(PC)에 앉아서</a:t>
            </a:r>
            <a:endParaRPr lang="en-US" sz="2000" dirty="0"/>
          </a:p>
          <a:p>
            <a:pPr marL="342900" indent="-342900">
              <a:spcAft>
                <a:spcPts val="600"/>
              </a:spcAft>
              <a:buSzPct val="100000"/>
              <a:buChar char="•"/>
            </a:pPr>
            <a:r>
              <a:rPr lang="en-US" sz="2000" dirty="0">
                <a:solidFill>
                  <a:srgbClr val="1F2937"/>
                </a:solidFill>
                <a:latin typeface="맑은 고딕" pitchFamily="34" charset="0"/>
                <a:ea typeface="맑은 고딕" pitchFamily="34" charset="-122"/>
                <a:cs typeface="맑은 고딕" pitchFamily="34" charset="-120"/>
              </a:rPr>
              <a:t>서랍(폴더)을 직접 열고</a:t>
            </a:r>
            <a:endParaRPr lang="en-US" sz="2000" dirty="0"/>
          </a:p>
          <a:p>
            <a:pPr marL="342900" indent="-342900">
              <a:spcAft>
                <a:spcPts val="600"/>
              </a:spcAft>
              <a:buSzPct val="100000"/>
              <a:buChar char="•"/>
            </a:pPr>
            <a:r>
              <a:rPr lang="en-US" sz="2000" dirty="0">
                <a:solidFill>
                  <a:srgbClr val="1F2937"/>
                </a:solidFill>
                <a:latin typeface="맑은 고딕" pitchFamily="34" charset="0"/>
                <a:ea typeface="맑은 고딕" pitchFamily="34" charset="-122"/>
                <a:cs typeface="맑은 고딕" pitchFamily="34" charset="-120"/>
              </a:rPr>
              <a:t>엑셀도 직접 켬</a:t>
            </a:r>
            <a:endParaRPr lang="en-US" sz="2000" dirty="0"/>
          </a:p>
        </p:txBody>
      </p:sp>
      <p:sp>
        <p:nvSpPr>
          <p:cNvPr id="17" name="Text 12"/>
          <p:cNvSpPr txBox="1"/>
          <p:nvPr/>
        </p:nvSpPr>
        <p:spPr>
          <a:xfrm>
            <a:off x="6629400" y="4434840"/>
            <a:ext cx="4754880" cy="548640"/>
          </a:xfrm>
          <a:prstGeom prst="rect">
            <a:avLst/>
          </a:prstGeom>
          <a:noFill/>
          <a:ln/>
        </p:spPr>
        <p:txBody>
          <a:bodyPr wrap="square" lIns="0" tIns="0" rIns="0" bIns="0" rtlCol="0" anchor="ctr"/>
          <a:lstStyle/>
          <a:p>
            <a:pPr indent="0" marL="0">
              <a:buNone/>
            </a:pPr>
            <a:r>
              <a:rPr lang="en-US" sz="1800" b="1" dirty="0">
                <a:solidFill>
                  <a:srgbClr val="6B7280"/>
                </a:solidFill>
                <a:latin typeface="맑은 고딕" pitchFamily="34" charset="0"/>
                <a:ea typeface="맑은 고딕" pitchFamily="34" charset="-122"/>
                <a:cs typeface="맑은 고딕" pitchFamily="34" charset="-120"/>
              </a:rPr>
              <a:t>약점: 사무실(PC)이 열려 있어야 함</a:t>
            </a:r>
            <a:endParaRPr lang="en-US" sz="1800" dirty="0"/>
          </a:p>
        </p:txBody>
      </p:sp>
      <p:sp>
        <p:nvSpPr>
          <p:cNvPr id="18" name="Text 13"/>
          <p:cNvSpPr txBox="1"/>
          <p:nvPr/>
        </p:nvSpPr>
        <p:spPr>
          <a:xfrm>
            <a:off x="548640" y="5440680"/>
            <a:ext cx="5349240" cy="731520"/>
          </a:xfrm>
          <a:prstGeom prst="roundRect">
            <a:avLst>
              <a:gd name="adj" fmla="val 12500"/>
            </a:avLst>
          </a:prstGeom>
          <a:solidFill>
            <a:srgbClr val="1F3A5F"/>
          </a:solidFill>
          <a:ln/>
        </p:spPr>
        <p:txBody>
          <a:bodyPr wrap="square" lIns="25400" tIns="25400" rIns="25400" bIns="2540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앱 꺼짐 · PC 잠듦 = 전화 끊김</a:t>
            </a:r>
            <a:endParaRPr lang="en-US" sz="2000" dirty="0"/>
          </a:p>
        </p:txBody>
      </p:sp>
      <p:sp>
        <p:nvSpPr>
          <p:cNvPr id="19" name="Text 14"/>
          <p:cNvSpPr txBox="1"/>
          <p:nvPr/>
        </p:nvSpPr>
        <p:spPr>
          <a:xfrm>
            <a:off x="6263640" y="5440680"/>
            <a:ext cx="5349240" cy="731520"/>
          </a:xfrm>
          <a:prstGeom prst="roundRect">
            <a:avLst>
              <a:gd name="adj" fmla="val 12500"/>
            </a:avLst>
          </a:prstGeom>
          <a:solidFill>
            <a:srgbClr val="E8590C"/>
          </a:solidFill>
          <a:ln/>
        </p:spPr>
        <p:txBody>
          <a:bodyPr wrap="square" lIns="25400" tIns="25400" rIns="25400" bIns="2540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전화가 필요 없음 = 끊길 일 없음</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01168"/>
            <a:ext cx="1143000" cy="329184"/>
          </a:xfrm>
          <a:prstGeom prst="roundRect">
            <a:avLst>
              <a:gd name="adj" fmla="val 27778"/>
            </a:avLst>
          </a:prstGeom>
          <a:solidFill>
            <a:srgbClr val="1F3A5F"/>
          </a:solidFill>
          <a:ln/>
        </p:spPr>
        <p:txBody>
          <a:bodyPr wrap="square" lIns="25400" tIns="25400" rIns="25400" bIns="2540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개념</a:t>
            </a:r>
            <a:endParaRPr lang="en-US" sz="1300" dirty="0"/>
          </a:p>
        </p:txBody>
      </p:sp>
      <p:sp>
        <p:nvSpPr>
          <p:cNvPr id="3" name="Text 1"/>
          <p:cNvSpPr txBox="1"/>
          <p:nvPr/>
        </p:nvSpPr>
        <p:spPr>
          <a:xfrm>
            <a:off x="10607040" y="6400800"/>
            <a:ext cx="1005840" cy="274320"/>
          </a:xfrm>
          <a:prstGeom prst="rect">
            <a:avLst/>
          </a:prstGeom>
          <a:noFill/>
          <a:ln/>
        </p:spPr>
        <p:txBody>
          <a:bodyPr wrap="square" lIns="0" tIns="0" rIns="0" bIns="0" rtlCol="0" anchor="ctr"/>
          <a:lstStyle/>
          <a:p>
            <a:pPr algn="r" indent="0" marL="0">
              <a:buNone/>
            </a:pPr>
            <a:r>
              <a:rPr lang="en-US" sz="1200" dirty="0">
                <a:solidFill>
                  <a:srgbClr val="6B7280"/>
                </a:solidFill>
                <a:latin typeface="맑은 고딕" pitchFamily="34" charset="0"/>
                <a:ea typeface="맑은 고딕" pitchFamily="34" charset="-122"/>
                <a:cs typeface="맑은 고딕" pitchFamily="34" charset="-120"/>
              </a:rPr>
              <a:t>7 / 14</a:t>
            </a:r>
            <a:endParaRPr lang="en-US" sz="1200" dirty="0"/>
          </a:p>
        </p:txBody>
      </p:sp>
      <p:sp>
        <p:nvSpPr>
          <p:cNvPr id="4"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000" b="1" dirty="0">
                <a:solidFill>
                  <a:srgbClr val="1F3A5F"/>
                </a:solidFill>
                <a:latin typeface="맑은 고딕" pitchFamily="34" charset="0"/>
                <a:ea typeface="맑은 고딕" pitchFamily="34" charset="-122"/>
                <a:cs typeface="맑은 고딕" pitchFamily="34" charset="-120"/>
              </a:rPr>
              <a:t>이 네 가지는 지금도 데스크탑 앱이 켜져 있어야 합니다</a:t>
            </a:r>
            <a:endParaRPr lang="en-US" sz="3000" dirty="0"/>
          </a:p>
        </p:txBody>
      </p:sp>
      <p:sp>
        <p:nvSpPr>
          <p:cNvPr id="6" name="Shape 3"/>
          <p:cNvSpPr/>
          <p:nvPr/>
        </p:nvSpPr>
        <p:spPr>
          <a:xfrm>
            <a:off x="548640" y="1600200"/>
            <a:ext cx="2606040" cy="3108960"/>
          </a:xfrm>
          <a:prstGeom prst="roundRect">
            <a:avLst>
              <a:gd name="adj" fmla="val 4211"/>
            </a:avLst>
          </a:prstGeom>
          <a:solidFill>
            <a:srgbClr val="EEF2F7"/>
          </a:solidFill>
          <a:ln w="12700">
            <a:solidFill>
              <a:srgbClr val="EEF2F7"/>
            </a:solidFill>
            <a:prstDash val="solid"/>
          </a:ln>
        </p:spPr>
      </p:sp>
      <p:sp>
        <p:nvSpPr>
          <p:cNvPr id="7" name="Shape 4"/>
          <p:cNvSpPr/>
          <p:nvPr/>
        </p:nvSpPr>
        <p:spPr>
          <a:xfrm>
            <a:off x="1325880" y="1783080"/>
            <a:ext cx="1051560" cy="1051560"/>
          </a:xfrm>
          <a:prstGeom prst="ellipse">
            <a:avLst/>
          </a:prstGeom>
          <a:solidFill>
            <a:srgbClr val="1F3A5F"/>
          </a:solidFill>
          <a:ln w="12700">
            <a:solidFill>
              <a:srgbClr val="1F3A5F"/>
            </a:solidFill>
            <a:prstDash val="solid"/>
          </a:ln>
        </p:spPr>
      </p:sp>
      <p:pic>
        <p:nvPicPr>
          <p:cNvPr id="8" name="Image 0" descr="preencoded.png">    </p:cNvPr>
          <p:cNvPicPr>
            <a:picLocks noChangeAspect="1"/>
          </p:cNvPicPr>
          <p:nvPr/>
        </p:nvPicPr>
        <p:blipFill>
          <a:blip r:embed="rId1"/>
          <a:stretch>
            <a:fillRect/>
          </a:stretch>
        </p:blipFill>
        <p:spPr>
          <a:xfrm>
            <a:off x="1567739" y="2024939"/>
            <a:ext cx="567842" cy="567842"/>
          </a:xfrm>
          <a:prstGeom prst="rect">
            <a:avLst/>
          </a:prstGeom>
        </p:spPr>
      </p:pic>
      <p:sp>
        <p:nvSpPr>
          <p:cNvPr id="9" name="Text 5"/>
          <p:cNvSpPr txBox="1"/>
          <p:nvPr/>
        </p:nvSpPr>
        <p:spPr>
          <a:xfrm>
            <a:off x="640080" y="2971800"/>
            <a:ext cx="2423160" cy="502920"/>
          </a:xfrm>
          <a:prstGeom prst="rect">
            <a:avLst/>
          </a:prstGeom>
          <a:noFill/>
          <a:ln/>
        </p:spPr>
        <p:txBody>
          <a:bodyPr wrap="square" lIns="0" tIns="0" rIns="0" bIns="0" rtlCol="0" anchor="ctr"/>
          <a:lstStyle/>
          <a:p>
            <a:pPr algn="ctr" indent="0" marL="0">
              <a:buNone/>
            </a:pPr>
            <a:r>
              <a:rPr lang="en-US" sz="2100" b="1" dirty="0">
                <a:solidFill>
                  <a:srgbClr val="1F3A5F"/>
                </a:solidFill>
                <a:latin typeface="맑은 고딕" pitchFamily="34" charset="0"/>
                <a:ea typeface="맑은 고딕" pitchFamily="34" charset="-122"/>
                <a:cs typeface="맑은 고딕" pitchFamily="34" charset="-120"/>
              </a:rPr>
              <a:t>내 폴더 파일</a:t>
            </a:r>
            <a:endParaRPr lang="en-US" sz="2100" dirty="0"/>
          </a:p>
        </p:txBody>
      </p:sp>
      <p:sp>
        <p:nvSpPr>
          <p:cNvPr id="10" name="Text 6"/>
          <p:cNvSpPr txBox="1"/>
          <p:nvPr/>
        </p:nvSpPr>
        <p:spPr>
          <a:xfrm>
            <a:off x="685800" y="3520440"/>
            <a:ext cx="2331720" cy="1051560"/>
          </a:xfrm>
          <a:prstGeom prst="rect">
            <a:avLst/>
          </a:prstGeom>
          <a:noFill/>
          <a:ln/>
        </p:spPr>
        <p:txBody>
          <a:bodyPr wrap="square" lIns="0" tIns="0" rIns="0" bIns="0" rtlCol="0" anchor="t"/>
          <a:lstStyle/>
          <a:p>
            <a:pPr algn="ctr" indent="0" marL="0">
              <a:buNone/>
            </a:pPr>
            <a:r>
              <a:rPr lang="en-US" sz="1700" dirty="0">
                <a:solidFill>
                  <a:srgbClr val="1F2937"/>
                </a:solidFill>
                <a:latin typeface="맑은 고딕" pitchFamily="34" charset="0"/>
                <a:ea typeface="맑은 고딕" pitchFamily="34" charset="-122"/>
                <a:cs typeface="맑은 고딕" pitchFamily="34" charset="-120"/>
              </a:rPr>
              <a:t>연결한 폴더만,</a:t>
            </a:r>
            <a:endParaRPr lang="en-US" sz="1700" dirty="0"/>
          </a:p>
          <a:p>
            <a:pPr algn="ctr" indent="0" marL="0">
              <a:buNone/>
            </a:pPr>
            <a:r>
              <a:rPr lang="en-US" sz="1700" dirty="0">
                <a:solidFill>
                  <a:srgbClr val="1F2937"/>
                </a:solidFill>
                <a:latin typeface="맑은 고딕" pitchFamily="34" charset="0"/>
                <a:ea typeface="맑은 고딕" pitchFamily="34" charset="-122"/>
                <a:cs typeface="맑은 고딕" pitchFamily="34" charset="-120"/>
              </a:rPr>
              <a:t>앱이 열려 있을 때만</a:t>
            </a:r>
            <a:endParaRPr lang="en-US" sz="1700" dirty="0"/>
          </a:p>
        </p:txBody>
      </p:sp>
      <p:sp>
        <p:nvSpPr>
          <p:cNvPr id="11" name="Shape 7"/>
          <p:cNvSpPr/>
          <p:nvPr/>
        </p:nvSpPr>
        <p:spPr>
          <a:xfrm>
            <a:off x="3383280" y="1600200"/>
            <a:ext cx="2606040" cy="3108960"/>
          </a:xfrm>
          <a:prstGeom prst="roundRect">
            <a:avLst>
              <a:gd name="adj" fmla="val 4211"/>
            </a:avLst>
          </a:prstGeom>
          <a:solidFill>
            <a:srgbClr val="EEF2F7"/>
          </a:solidFill>
          <a:ln w="12700">
            <a:solidFill>
              <a:srgbClr val="EEF2F7"/>
            </a:solidFill>
            <a:prstDash val="solid"/>
          </a:ln>
        </p:spPr>
      </p:sp>
      <p:sp>
        <p:nvSpPr>
          <p:cNvPr id="12" name="Shape 8"/>
          <p:cNvSpPr/>
          <p:nvPr/>
        </p:nvSpPr>
        <p:spPr>
          <a:xfrm>
            <a:off x="4160520" y="1783080"/>
            <a:ext cx="1051560" cy="1051560"/>
          </a:xfrm>
          <a:prstGeom prst="ellipse">
            <a:avLst/>
          </a:prstGeom>
          <a:solidFill>
            <a:srgbClr val="1F3A5F"/>
          </a:solidFill>
          <a:ln w="12700">
            <a:solidFill>
              <a:srgbClr val="1F3A5F"/>
            </a:solidFill>
            <a:prstDash val="solid"/>
          </a:ln>
        </p:spPr>
      </p:sp>
      <p:pic>
        <p:nvPicPr>
          <p:cNvPr id="13" name="Image 1" descr="preencoded.png">    </p:cNvPr>
          <p:cNvPicPr>
            <a:picLocks noChangeAspect="1"/>
          </p:cNvPicPr>
          <p:nvPr/>
        </p:nvPicPr>
        <p:blipFill>
          <a:blip r:embed="rId2"/>
          <a:stretch>
            <a:fillRect/>
          </a:stretch>
        </p:blipFill>
        <p:spPr>
          <a:xfrm>
            <a:off x="4402379" y="2024939"/>
            <a:ext cx="567842" cy="567842"/>
          </a:xfrm>
          <a:prstGeom prst="rect">
            <a:avLst/>
          </a:prstGeom>
        </p:spPr>
      </p:pic>
      <p:sp>
        <p:nvSpPr>
          <p:cNvPr id="14" name="Text 9"/>
          <p:cNvSpPr txBox="1"/>
          <p:nvPr/>
        </p:nvSpPr>
        <p:spPr>
          <a:xfrm>
            <a:off x="3474720" y="2971800"/>
            <a:ext cx="2423160" cy="502920"/>
          </a:xfrm>
          <a:prstGeom prst="rect">
            <a:avLst/>
          </a:prstGeom>
          <a:noFill/>
          <a:ln/>
        </p:spPr>
        <p:txBody>
          <a:bodyPr wrap="square" lIns="0" tIns="0" rIns="0" bIns="0" rtlCol="0" anchor="ctr"/>
          <a:lstStyle/>
          <a:p>
            <a:pPr algn="ctr" indent="0" marL="0">
              <a:buNone/>
            </a:pPr>
            <a:r>
              <a:rPr lang="en-US" sz="2100" b="1" dirty="0">
                <a:solidFill>
                  <a:srgbClr val="1F3A5F"/>
                </a:solidFill>
                <a:latin typeface="맑은 고딕" pitchFamily="34" charset="0"/>
                <a:ea typeface="맑은 고딕" pitchFamily="34" charset="-122"/>
                <a:cs typeface="맑은 고딕" pitchFamily="34" charset="-120"/>
              </a:rPr>
              <a:t>PC에 붙인 MCP</a:t>
            </a:r>
            <a:endParaRPr lang="en-US" sz="2100" dirty="0"/>
          </a:p>
        </p:txBody>
      </p:sp>
      <p:sp>
        <p:nvSpPr>
          <p:cNvPr id="15" name="Text 10"/>
          <p:cNvSpPr txBox="1"/>
          <p:nvPr/>
        </p:nvSpPr>
        <p:spPr>
          <a:xfrm>
            <a:off x="3520440" y="3520440"/>
            <a:ext cx="2331720" cy="1051560"/>
          </a:xfrm>
          <a:prstGeom prst="rect">
            <a:avLst/>
          </a:prstGeom>
          <a:noFill/>
          <a:ln/>
        </p:spPr>
        <p:txBody>
          <a:bodyPr wrap="square" lIns="0" tIns="0" rIns="0" bIns="0" rtlCol="0" anchor="t"/>
          <a:lstStyle/>
          <a:p>
            <a:pPr algn="ctr" indent="0" marL="0">
              <a:buNone/>
            </a:pPr>
            <a:r>
              <a:rPr lang="en-US" sz="1700" dirty="0">
                <a:solidFill>
                  <a:srgbClr val="1F2937"/>
                </a:solidFill>
                <a:latin typeface="맑은 고딕" pitchFamily="34" charset="0"/>
                <a:ea typeface="맑은 고딕" pitchFamily="34" charset="-122"/>
                <a:cs typeface="맑은 고딕" pitchFamily="34" charset="-120"/>
              </a:rPr>
              <a:t>설정 파일로 붙인</a:t>
            </a:r>
            <a:endParaRPr lang="en-US" sz="1700" dirty="0"/>
          </a:p>
          <a:p>
            <a:pPr algn="ctr" indent="0" marL="0">
              <a:buNone/>
            </a:pPr>
            <a:r>
              <a:rPr lang="en-US" sz="1700" dirty="0">
                <a:solidFill>
                  <a:srgbClr val="1F2937"/>
                </a:solidFill>
                <a:latin typeface="맑은 고딕" pitchFamily="34" charset="0"/>
                <a:ea typeface="맑은 고딕" pitchFamily="34" charset="-122"/>
                <a:cs typeface="맑은 고딕" pitchFamily="34" charset="-120"/>
              </a:rPr>
              <a:t>로컬 커넥터·플러그인</a:t>
            </a:r>
            <a:endParaRPr lang="en-US" sz="1700" dirty="0"/>
          </a:p>
        </p:txBody>
      </p:sp>
      <p:sp>
        <p:nvSpPr>
          <p:cNvPr id="16" name="Shape 11"/>
          <p:cNvSpPr/>
          <p:nvPr/>
        </p:nvSpPr>
        <p:spPr>
          <a:xfrm>
            <a:off x="6217920" y="1600200"/>
            <a:ext cx="2606040" cy="3108960"/>
          </a:xfrm>
          <a:prstGeom prst="roundRect">
            <a:avLst>
              <a:gd name="adj" fmla="val 4211"/>
            </a:avLst>
          </a:prstGeom>
          <a:solidFill>
            <a:srgbClr val="EEF2F7"/>
          </a:solidFill>
          <a:ln w="12700">
            <a:solidFill>
              <a:srgbClr val="EEF2F7"/>
            </a:solidFill>
            <a:prstDash val="solid"/>
          </a:ln>
        </p:spPr>
      </p:sp>
      <p:sp>
        <p:nvSpPr>
          <p:cNvPr id="17" name="Shape 12"/>
          <p:cNvSpPr/>
          <p:nvPr/>
        </p:nvSpPr>
        <p:spPr>
          <a:xfrm>
            <a:off x="6995160" y="1783080"/>
            <a:ext cx="1051560" cy="1051560"/>
          </a:xfrm>
          <a:prstGeom prst="ellipse">
            <a:avLst/>
          </a:prstGeom>
          <a:solidFill>
            <a:srgbClr val="1F3A5F"/>
          </a:solidFill>
          <a:ln w="12700">
            <a:solidFill>
              <a:srgbClr val="1F3A5F"/>
            </a:solidFill>
            <a:prstDash val="solid"/>
          </a:ln>
        </p:spPr>
      </p:sp>
      <p:pic>
        <p:nvPicPr>
          <p:cNvPr id="18" name="Image 2" descr="preencoded.png">    </p:cNvPr>
          <p:cNvPicPr>
            <a:picLocks noChangeAspect="1"/>
          </p:cNvPicPr>
          <p:nvPr/>
        </p:nvPicPr>
        <p:blipFill>
          <a:blip r:embed="rId3"/>
          <a:stretch>
            <a:fillRect/>
          </a:stretch>
        </p:blipFill>
        <p:spPr>
          <a:xfrm>
            <a:off x="7237019" y="2024939"/>
            <a:ext cx="567842" cy="567842"/>
          </a:xfrm>
          <a:prstGeom prst="rect">
            <a:avLst/>
          </a:prstGeom>
        </p:spPr>
      </p:pic>
      <p:sp>
        <p:nvSpPr>
          <p:cNvPr id="19" name="Text 13"/>
          <p:cNvSpPr txBox="1"/>
          <p:nvPr/>
        </p:nvSpPr>
        <p:spPr>
          <a:xfrm>
            <a:off x="6309360" y="2971800"/>
            <a:ext cx="2423160" cy="502920"/>
          </a:xfrm>
          <a:prstGeom prst="rect">
            <a:avLst/>
          </a:prstGeom>
          <a:noFill/>
          <a:ln/>
        </p:spPr>
        <p:txBody>
          <a:bodyPr wrap="square" lIns="0" tIns="0" rIns="0" bIns="0" rtlCol="0" anchor="ctr"/>
          <a:lstStyle/>
          <a:p>
            <a:pPr algn="ctr" indent="0" marL="0">
              <a:buNone/>
            </a:pPr>
            <a:r>
              <a:rPr lang="en-US" sz="2100" b="1" dirty="0">
                <a:solidFill>
                  <a:srgbClr val="1F3A5F"/>
                </a:solidFill>
                <a:latin typeface="맑은 고딕" pitchFamily="34" charset="0"/>
                <a:ea typeface="맑은 고딕" pitchFamily="34" charset="-122"/>
                <a:cs typeface="맑은 고딕" pitchFamily="34" charset="-120"/>
              </a:rPr>
              <a:t>브라우저 조작</a:t>
            </a:r>
            <a:endParaRPr lang="en-US" sz="2100" dirty="0"/>
          </a:p>
        </p:txBody>
      </p:sp>
      <p:sp>
        <p:nvSpPr>
          <p:cNvPr id="20" name="Text 14"/>
          <p:cNvSpPr txBox="1"/>
          <p:nvPr/>
        </p:nvSpPr>
        <p:spPr>
          <a:xfrm>
            <a:off x="6355080" y="3520440"/>
            <a:ext cx="2331720" cy="1051560"/>
          </a:xfrm>
          <a:prstGeom prst="rect">
            <a:avLst/>
          </a:prstGeom>
          <a:noFill/>
          <a:ln/>
        </p:spPr>
        <p:txBody>
          <a:bodyPr wrap="square" lIns="0" tIns="0" rIns="0" bIns="0" rtlCol="0" anchor="t"/>
          <a:lstStyle/>
          <a:p>
            <a:pPr algn="ctr" indent="0" marL="0">
              <a:buNone/>
            </a:pPr>
            <a:r>
              <a:rPr lang="en-US" sz="1700" dirty="0">
                <a:solidFill>
                  <a:srgbClr val="1F2937"/>
                </a:solidFill>
                <a:latin typeface="맑은 고딕" pitchFamily="34" charset="0"/>
                <a:ea typeface="맑은 고딕" pitchFamily="34" charset="-122"/>
                <a:cs typeface="맑은 고딕" pitchFamily="34" charset="-120"/>
              </a:rPr>
              <a:t>내 크롬을</a:t>
            </a:r>
            <a:endParaRPr lang="en-US" sz="1700" dirty="0"/>
          </a:p>
          <a:p>
            <a:pPr algn="ctr" indent="0" marL="0">
              <a:buNone/>
            </a:pPr>
            <a:r>
              <a:rPr lang="en-US" sz="1700" dirty="0">
                <a:solidFill>
                  <a:srgbClr val="1F2937"/>
                </a:solidFill>
                <a:latin typeface="맑은 고딕" pitchFamily="34" charset="0"/>
                <a:ea typeface="맑은 고딕" pitchFamily="34" charset="-122"/>
                <a:cs typeface="맑은 고딕" pitchFamily="34" charset="-120"/>
              </a:rPr>
              <a:t>Claude가 움직일 때</a:t>
            </a:r>
            <a:endParaRPr lang="en-US" sz="1700" dirty="0"/>
          </a:p>
        </p:txBody>
      </p:sp>
      <p:sp>
        <p:nvSpPr>
          <p:cNvPr id="21" name="Shape 15"/>
          <p:cNvSpPr/>
          <p:nvPr/>
        </p:nvSpPr>
        <p:spPr>
          <a:xfrm>
            <a:off x="9052560" y="1600200"/>
            <a:ext cx="2606040" cy="3108960"/>
          </a:xfrm>
          <a:prstGeom prst="roundRect">
            <a:avLst>
              <a:gd name="adj" fmla="val 4211"/>
            </a:avLst>
          </a:prstGeom>
          <a:solidFill>
            <a:srgbClr val="EEF2F7"/>
          </a:solidFill>
          <a:ln w="12700">
            <a:solidFill>
              <a:srgbClr val="EEF2F7"/>
            </a:solidFill>
            <a:prstDash val="solid"/>
          </a:ln>
        </p:spPr>
      </p:sp>
      <p:sp>
        <p:nvSpPr>
          <p:cNvPr id="22" name="Shape 16"/>
          <p:cNvSpPr/>
          <p:nvPr/>
        </p:nvSpPr>
        <p:spPr>
          <a:xfrm>
            <a:off x="9829800" y="1783080"/>
            <a:ext cx="1051560" cy="1051560"/>
          </a:xfrm>
          <a:prstGeom prst="ellipse">
            <a:avLst/>
          </a:prstGeom>
          <a:solidFill>
            <a:srgbClr val="1F3A5F"/>
          </a:solidFill>
          <a:ln w="12700">
            <a:solidFill>
              <a:srgbClr val="1F3A5F"/>
            </a:solidFill>
            <a:prstDash val="solid"/>
          </a:ln>
        </p:spPr>
      </p:sp>
      <p:pic>
        <p:nvPicPr>
          <p:cNvPr id="23" name="Image 3" descr="preencoded.png">    </p:cNvPr>
          <p:cNvPicPr>
            <a:picLocks noChangeAspect="1"/>
          </p:cNvPicPr>
          <p:nvPr/>
        </p:nvPicPr>
        <p:blipFill>
          <a:blip r:embed="rId4"/>
          <a:stretch>
            <a:fillRect/>
          </a:stretch>
        </p:blipFill>
        <p:spPr>
          <a:xfrm>
            <a:off x="10071659" y="2024939"/>
            <a:ext cx="567842" cy="567842"/>
          </a:xfrm>
          <a:prstGeom prst="rect">
            <a:avLst/>
          </a:prstGeom>
        </p:spPr>
      </p:pic>
      <p:sp>
        <p:nvSpPr>
          <p:cNvPr id="24" name="Text 17"/>
          <p:cNvSpPr txBox="1"/>
          <p:nvPr/>
        </p:nvSpPr>
        <p:spPr>
          <a:xfrm>
            <a:off x="9144000" y="2971800"/>
            <a:ext cx="2423160" cy="502920"/>
          </a:xfrm>
          <a:prstGeom prst="rect">
            <a:avLst/>
          </a:prstGeom>
          <a:noFill/>
          <a:ln/>
        </p:spPr>
        <p:txBody>
          <a:bodyPr wrap="square" lIns="0" tIns="0" rIns="0" bIns="0" rtlCol="0" anchor="ctr"/>
          <a:lstStyle/>
          <a:p>
            <a:pPr algn="ctr" indent="0" marL="0">
              <a:buNone/>
            </a:pPr>
            <a:r>
              <a:rPr lang="en-US" sz="2100" b="1" dirty="0">
                <a:solidFill>
                  <a:srgbClr val="1F3A5F"/>
                </a:solidFill>
                <a:latin typeface="맑은 고딕" pitchFamily="34" charset="0"/>
                <a:ea typeface="맑은 고딕" pitchFamily="34" charset="-122"/>
                <a:cs typeface="맑은 고딕" pitchFamily="34" charset="-120"/>
              </a:rPr>
              <a:t>컴퓨터 사용</a:t>
            </a:r>
            <a:endParaRPr lang="en-US" sz="2100" dirty="0"/>
          </a:p>
        </p:txBody>
      </p:sp>
      <p:sp>
        <p:nvSpPr>
          <p:cNvPr id="25" name="Text 18"/>
          <p:cNvSpPr txBox="1"/>
          <p:nvPr/>
        </p:nvSpPr>
        <p:spPr>
          <a:xfrm>
            <a:off x="9189720" y="3520440"/>
            <a:ext cx="2331720" cy="1051560"/>
          </a:xfrm>
          <a:prstGeom prst="rect">
            <a:avLst/>
          </a:prstGeom>
          <a:noFill/>
          <a:ln/>
        </p:spPr>
        <p:txBody>
          <a:bodyPr wrap="square" lIns="0" tIns="0" rIns="0" bIns="0" rtlCol="0" anchor="t"/>
          <a:lstStyle/>
          <a:p>
            <a:pPr algn="ctr" indent="0" marL="0">
              <a:buNone/>
            </a:pPr>
            <a:r>
              <a:rPr lang="en-US" sz="1700" dirty="0">
                <a:solidFill>
                  <a:srgbClr val="1F2937"/>
                </a:solidFill>
                <a:latin typeface="맑은 고딕" pitchFamily="34" charset="0"/>
                <a:ea typeface="맑은 고딕" pitchFamily="34" charset="-122"/>
                <a:cs typeface="맑은 고딕" pitchFamily="34" charset="-120"/>
              </a:rPr>
              <a:t>내 화면을 클릭·입력할 때</a:t>
            </a:r>
            <a:endParaRPr lang="en-US" sz="1700" dirty="0"/>
          </a:p>
        </p:txBody>
      </p:sp>
      <p:sp>
        <p:nvSpPr>
          <p:cNvPr id="26" name="Shape 19"/>
          <p:cNvSpPr/>
          <p:nvPr/>
        </p:nvSpPr>
        <p:spPr>
          <a:xfrm>
            <a:off x="548640" y="4937760"/>
            <a:ext cx="11064240" cy="1234440"/>
          </a:xfrm>
          <a:prstGeom prst="roundRect">
            <a:avLst>
              <a:gd name="adj" fmla="val 8889"/>
            </a:avLst>
          </a:prstGeom>
          <a:solidFill>
            <a:srgbClr val="FDF0E8"/>
          </a:solidFill>
          <a:ln w="25400">
            <a:solidFill>
              <a:srgbClr val="E8590C"/>
            </a:solidFill>
            <a:prstDash val="solid"/>
          </a:ln>
        </p:spPr>
      </p:sp>
      <p:pic>
        <p:nvPicPr>
          <p:cNvPr id="27" name="Image 4" descr="preencoded.png">    </p:cNvPr>
          <p:cNvPicPr>
            <a:picLocks noChangeAspect="1"/>
          </p:cNvPicPr>
          <p:nvPr/>
        </p:nvPicPr>
        <p:blipFill>
          <a:blip r:embed="rId5"/>
          <a:stretch>
            <a:fillRect/>
          </a:stretch>
        </p:blipFill>
        <p:spPr>
          <a:xfrm>
            <a:off x="822960" y="5257800"/>
            <a:ext cx="548640" cy="548640"/>
          </a:xfrm>
          <a:prstGeom prst="rect">
            <a:avLst/>
          </a:prstGeom>
        </p:spPr>
      </p:pic>
      <p:sp>
        <p:nvSpPr>
          <p:cNvPr id="28" name="Text 20"/>
          <p:cNvSpPr txBox="1"/>
          <p:nvPr/>
        </p:nvSpPr>
        <p:spPr>
          <a:xfrm>
            <a:off x="1600200" y="4983480"/>
            <a:ext cx="9875520" cy="1143000"/>
          </a:xfrm>
          <a:prstGeom prst="rect">
            <a:avLst/>
          </a:prstGeom>
          <a:noFill/>
          <a:ln/>
        </p:spPr>
        <p:txBody>
          <a:bodyPr wrap="square" lIns="0" tIns="0" rIns="0" bIns="0" rtlCol="0" anchor="ctr"/>
          <a:lstStyle/>
          <a:p>
            <a:pPr indent="0" marL="0">
              <a:buNone/>
            </a:pPr>
            <a:r>
              <a:rPr lang="en-US" sz="2000" b="1" dirty="0">
                <a:solidFill>
                  <a:srgbClr val="1F2937"/>
                </a:solidFill>
                <a:latin typeface="맑은 고딕" pitchFamily="34" charset="0"/>
                <a:ea typeface="맑은 고딕" pitchFamily="34" charset="-122"/>
                <a:cs typeface="맑은 고딕" pitchFamily="34" charset="-120"/>
              </a:rPr>
              <a:t>실거래가 · 법령 · DB · 엑셀 MCP는 거의 다 「PC에 붙인 MCP」입니다</a:t>
            </a:r>
            <a:endParaRPr lang="en-US" sz="2000" dirty="0"/>
          </a:p>
          <a:p>
            <a:pPr indent="0" marL="0">
              <a:buNone/>
            </a:pPr>
            <a:r>
              <a:rPr lang="en-US" sz="2000" b="1" dirty="0">
                <a:solidFill>
                  <a:srgbClr val="E8590C"/>
                </a:solidFill>
                <a:latin typeface="맑은 고딕" pitchFamily="34" charset="0"/>
                <a:ea typeface="맑은 고딕" pitchFamily="34" charset="-122"/>
                <a:cs typeface="맑은 고딕" pitchFamily="34" charset="-120"/>
              </a:rPr>
              <a:t>앱이 꺼지면 한꺼번에 멈춥니다</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01168"/>
            <a:ext cx="1143000" cy="329184"/>
          </a:xfrm>
          <a:prstGeom prst="roundRect">
            <a:avLst>
              <a:gd name="adj" fmla="val 27778"/>
            </a:avLst>
          </a:prstGeom>
          <a:solidFill>
            <a:srgbClr val="E8590C"/>
          </a:solidFill>
          <a:ln/>
        </p:spPr>
        <p:txBody>
          <a:bodyPr wrap="square" lIns="25400" tIns="25400" rIns="25400" bIns="2540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문제</a:t>
            </a:r>
            <a:endParaRPr lang="en-US" sz="1300" dirty="0"/>
          </a:p>
        </p:txBody>
      </p:sp>
      <p:sp>
        <p:nvSpPr>
          <p:cNvPr id="3" name="Text 1"/>
          <p:cNvSpPr txBox="1"/>
          <p:nvPr/>
        </p:nvSpPr>
        <p:spPr>
          <a:xfrm>
            <a:off x="10607040" y="6400800"/>
            <a:ext cx="1005840" cy="274320"/>
          </a:xfrm>
          <a:prstGeom prst="rect">
            <a:avLst/>
          </a:prstGeom>
          <a:noFill/>
          <a:ln/>
        </p:spPr>
        <p:txBody>
          <a:bodyPr wrap="square" lIns="0" tIns="0" rIns="0" bIns="0" rtlCol="0" anchor="ctr"/>
          <a:lstStyle/>
          <a:p>
            <a:pPr algn="r" indent="0" marL="0">
              <a:buNone/>
            </a:pPr>
            <a:r>
              <a:rPr lang="en-US" sz="1200" dirty="0">
                <a:solidFill>
                  <a:srgbClr val="6B7280"/>
                </a:solidFill>
                <a:latin typeface="맑은 고딕" pitchFamily="34" charset="0"/>
                <a:ea typeface="맑은 고딕" pitchFamily="34" charset="-122"/>
                <a:cs typeface="맑은 고딕" pitchFamily="34" charset="-120"/>
              </a:rPr>
              <a:t>8 / 14</a:t>
            </a:r>
            <a:endParaRPr lang="en-US" sz="1200" dirty="0"/>
          </a:p>
        </p:txBody>
      </p:sp>
      <p:sp>
        <p:nvSpPr>
          <p:cNvPr id="4"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000" b="1" dirty="0">
                <a:solidFill>
                  <a:srgbClr val="1F3A5F"/>
                </a:solidFill>
                <a:latin typeface="맑은 고딕" pitchFamily="34" charset="0"/>
                <a:ea typeface="맑은 고딕" pitchFamily="34" charset="-122"/>
                <a:cs typeface="맑은 고딕" pitchFamily="34" charset="-120"/>
              </a:rPr>
              <a:t>연결이 끊기면 도구가 통째로 사라집니다</a:t>
            </a:r>
            <a:endParaRPr lang="en-US" sz="3000" dirty="0"/>
          </a:p>
        </p:txBody>
      </p:sp>
      <p:sp>
        <p:nvSpPr>
          <p:cNvPr id="6" name="Shape 3"/>
          <p:cNvSpPr/>
          <p:nvPr/>
        </p:nvSpPr>
        <p:spPr>
          <a:xfrm>
            <a:off x="548640" y="1645920"/>
            <a:ext cx="2514600" cy="2194560"/>
          </a:xfrm>
          <a:prstGeom prst="roundRect">
            <a:avLst>
              <a:gd name="adj" fmla="val 5000"/>
            </a:avLst>
          </a:prstGeom>
          <a:solidFill>
            <a:srgbClr val="EEF2F7"/>
          </a:solidFill>
          <a:ln w="19050">
            <a:solidFill>
              <a:srgbClr val="1F3A5F"/>
            </a:solidFill>
            <a:prstDash val="solid"/>
          </a:ln>
        </p:spPr>
      </p:sp>
      <p:pic>
        <p:nvPicPr>
          <p:cNvPr id="7" name="Image 0" descr="preencoded.png">    </p:cNvPr>
          <p:cNvPicPr>
            <a:picLocks noChangeAspect="1"/>
          </p:cNvPicPr>
          <p:nvPr/>
        </p:nvPicPr>
        <p:blipFill>
          <a:blip r:embed="rId1"/>
          <a:stretch>
            <a:fillRect/>
          </a:stretch>
        </p:blipFill>
        <p:spPr>
          <a:xfrm>
            <a:off x="1508760" y="1828800"/>
            <a:ext cx="594360" cy="594360"/>
          </a:xfrm>
          <a:prstGeom prst="rect">
            <a:avLst/>
          </a:prstGeom>
        </p:spPr>
      </p:pic>
      <p:sp>
        <p:nvSpPr>
          <p:cNvPr id="8" name="Text 4"/>
          <p:cNvSpPr txBox="1"/>
          <p:nvPr/>
        </p:nvSpPr>
        <p:spPr>
          <a:xfrm>
            <a:off x="640080" y="2606040"/>
            <a:ext cx="2331720" cy="1097280"/>
          </a:xfrm>
          <a:prstGeom prst="rect">
            <a:avLst/>
          </a:prstGeom>
          <a:noFill/>
          <a:ln/>
        </p:spPr>
        <p:txBody>
          <a:bodyPr wrap="square" lIns="0" tIns="0" rIns="0" bIns="0" rtlCol="0" anchor="ctr"/>
          <a:lstStyle/>
          <a:p>
            <a:pPr algn="ctr" indent="0" marL="0">
              <a:buNone/>
            </a:pPr>
            <a:r>
              <a:rPr lang="en-US" sz="1900" b="1" dirty="0">
                <a:solidFill>
                  <a:srgbClr val="1F2937"/>
                </a:solidFill>
                <a:latin typeface="맑은 고딕" pitchFamily="34" charset="0"/>
                <a:ea typeface="맑은 고딕" pitchFamily="34" charset="-122"/>
                <a:cs typeface="맑은 고딕" pitchFamily="34" charset="-120"/>
              </a:rPr>
              <a:t>PC 잠듦 /</a:t>
            </a:r>
            <a:endParaRPr lang="en-US" sz="1900" dirty="0"/>
          </a:p>
          <a:p>
            <a:pPr algn="ctr" indent="0" marL="0">
              <a:buNone/>
            </a:pPr>
            <a:r>
              <a:rPr lang="en-US" sz="1900" b="1" dirty="0">
                <a:solidFill>
                  <a:srgbClr val="1F2937"/>
                </a:solidFill>
                <a:latin typeface="맑은 고딕" pitchFamily="34" charset="0"/>
                <a:ea typeface="맑은 고딕" pitchFamily="34" charset="-122"/>
                <a:cs typeface="맑은 고딕" pitchFamily="34" charset="-120"/>
              </a:rPr>
              <a:t>앱 연결 끊김</a:t>
            </a:r>
            <a:endParaRPr lang="en-US" sz="1900" dirty="0"/>
          </a:p>
        </p:txBody>
      </p:sp>
      <p:sp>
        <p:nvSpPr>
          <p:cNvPr id="9" name="Shape 5"/>
          <p:cNvSpPr/>
          <p:nvPr/>
        </p:nvSpPr>
        <p:spPr>
          <a:xfrm>
            <a:off x="3099816" y="2587752"/>
            <a:ext cx="274320" cy="310896"/>
          </a:xfrm>
          <a:prstGeom prst="rightArrow">
            <a:avLst/>
          </a:prstGeom>
          <a:solidFill>
            <a:srgbClr val="6B7280"/>
          </a:solidFill>
          <a:ln w="12700">
            <a:solidFill>
              <a:srgbClr val="6B7280"/>
            </a:solidFill>
            <a:prstDash val="solid"/>
          </a:ln>
        </p:spPr>
      </p:sp>
      <p:sp>
        <p:nvSpPr>
          <p:cNvPr id="10" name="Shape 6"/>
          <p:cNvSpPr/>
          <p:nvPr/>
        </p:nvSpPr>
        <p:spPr>
          <a:xfrm>
            <a:off x="3401568" y="1645920"/>
            <a:ext cx="2514600" cy="2194560"/>
          </a:xfrm>
          <a:prstGeom prst="roundRect">
            <a:avLst>
              <a:gd name="adj" fmla="val 5000"/>
            </a:avLst>
          </a:prstGeom>
          <a:solidFill>
            <a:srgbClr val="EEF2F7"/>
          </a:solidFill>
          <a:ln w="19050">
            <a:solidFill>
              <a:srgbClr val="1F3A5F"/>
            </a:solidFill>
            <a:prstDash val="solid"/>
          </a:ln>
        </p:spPr>
      </p:sp>
      <p:pic>
        <p:nvPicPr>
          <p:cNvPr id="11" name="Image 1" descr="preencoded.png">    </p:cNvPr>
          <p:cNvPicPr>
            <a:picLocks noChangeAspect="1"/>
          </p:cNvPicPr>
          <p:nvPr/>
        </p:nvPicPr>
        <p:blipFill>
          <a:blip r:embed="rId2"/>
          <a:stretch>
            <a:fillRect/>
          </a:stretch>
        </p:blipFill>
        <p:spPr>
          <a:xfrm>
            <a:off x="4361688" y="1828800"/>
            <a:ext cx="594360" cy="594360"/>
          </a:xfrm>
          <a:prstGeom prst="rect">
            <a:avLst/>
          </a:prstGeom>
        </p:spPr>
      </p:pic>
      <p:sp>
        <p:nvSpPr>
          <p:cNvPr id="12" name="Text 7"/>
          <p:cNvSpPr txBox="1"/>
          <p:nvPr/>
        </p:nvSpPr>
        <p:spPr>
          <a:xfrm>
            <a:off x="3493008" y="2606040"/>
            <a:ext cx="2331720" cy="1097280"/>
          </a:xfrm>
          <a:prstGeom prst="rect">
            <a:avLst/>
          </a:prstGeom>
          <a:noFill/>
          <a:ln/>
        </p:spPr>
        <p:txBody>
          <a:bodyPr wrap="square" lIns="0" tIns="0" rIns="0" bIns="0" rtlCol="0" anchor="ctr"/>
          <a:lstStyle/>
          <a:p>
            <a:pPr algn="ctr" indent="0" marL="0">
              <a:buNone/>
            </a:pPr>
            <a:r>
              <a:rPr lang="en-US" sz="1900" b="1" dirty="0">
                <a:solidFill>
                  <a:srgbClr val="1F2937"/>
                </a:solidFill>
                <a:latin typeface="맑은 고딕" pitchFamily="34" charset="0"/>
                <a:ea typeface="맑은 고딕" pitchFamily="34" charset="-122"/>
                <a:cs typeface="맑은 고딕" pitchFamily="34" charset="-120"/>
              </a:rPr>
              <a:t>DB·엑셀·법령·실거래가</a:t>
            </a:r>
            <a:endParaRPr lang="en-US" sz="1900" dirty="0"/>
          </a:p>
          <a:p>
            <a:pPr algn="ctr" indent="0" marL="0">
              <a:buNone/>
            </a:pPr>
            <a:r>
              <a:rPr lang="en-US" sz="1900" b="1" dirty="0">
                <a:solidFill>
                  <a:srgbClr val="1F2937"/>
                </a:solidFill>
                <a:latin typeface="맑은 고딕" pitchFamily="34" charset="0"/>
                <a:ea typeface="맑은 고딕" pitchFamily="34" charset="-122"/>
                <a:cs typeface="맑은 고딕" pitchFamily="34" charset="-120"/>
              </a:rPr>
              <a:t>도구 한꺼번에 빠짐</a:t>
            </a:r>
            <a:endParaRPr lang="en-US" sz="1900" dirty="0"/>
          </a:p>
        </p:txBody>
      </p:sp>
      <p:sp>
        <p:nvSpPr>
          <p:cNvPr id="13" name="Shape 8"/>
          <p:cNvSpPr/>
          <p:nvPr/>
        </p:nvSpPr>
        <p:spPr>
          <a:xfrm>
            <a:off x="5952744" y="2587752"/>
            <a:ext cx="274320" cy="310896"/>
          </a:xfrm>
          <a:prstGeom prst="rightArrow">
            <a:avLst/>
          </a:prstGeom>
          <a:solidFill>
            <a:srgbClr val="6B7280"/>
          </a:solidFill>
          <a:ln w="12700">
            <a:solidFill>
              <a:srgbClr val="6B7280"/>
            </a:solidFill>
            <a:prstDash val="solid"/>
          </a:ln>
        </p:spPr>
      </p:sp>
      <p:sp>
        <p:nvSpPr>
          <p:cNvPr id="14" name="Shape 9"/>
          <p:cNvSpPr/>
          <p:nvPr/>
        </p:nvSpPr>
        <p:spPr>
          <a:xfrm>
            <a:off x="6254496" y="1645920"/>
            <a:ext cx="2514600" cy="2194560"/>
          </a:xfrm>
          <a:prstGeom prst="roundRect">
            <a:avLst>
              <a:gd name="adj" fmla="val 5000"/>
            </a:avLst>
          </a:prstGeom>
          <a:solidFill>
            <a:srgbClr val="FDF0E8"/>
          </a:solidFill>
          <a:ln w="19050">
            <a:solidFill>
              <a:srgbClr val="E8590C"/>
            </a:solidFill>
            <a:prstDash val="solid"/>
          </a:ln>
        </p:spPr>
      </p:sp>
      <p:pic>
        <p:nvPicPr>
          <p:cNvPr id="15" name="Image 2" descr="preencoded.png">    </p:cNvPr>
          <p:cNvPicPr>
            <a:picLocks noChangeAspect="1"/>
          </p:cNvPicPr>
          <p:nvPr/>
        </p:nvPicPr>
        <p:blipFill>
          <a:blip r:embed="rId3"/>
          <a:stretch>
            <a:fillRect/>
          </a:stretch>
        </p:blipFill>
        <p:spPr>
          <a:xfrm>
            <a:off x="7214616" y="1828800"/>
            <a:ext cx="594360" cy="594360"/>
          </a:xfrm>
          <a:prstGeom prst="rect">
            <a:avLst/>
          </a:prstGeom>
        </p:spPr>
      </p:pic>
      <p:sp>
        <p:nvSpPr>
          <p:cNvPr id="16" name="Text 10"/>
          <p:cNvSpPr txBox="1"/>
          <p:nvPr/>
        </p:nvSpPr>
        <p:spPr>
          <a:xfrm>
            <a:off x="6345936" y="2606040"/>
            <a:ext cx="2331720" cy="1097280"/>
          </a:xfrm>
          <a:prstGeom prst="rect">
            <a:avLst/>
          </a:prstGeom>
          <a:noFill/>
          <a:ln/>
        </p:spPr>
        <p:txBody>
          <a:bodyPr wrap="square" lIns="0" tIns="0" rIns="0" bIns="0" rtlCol="0" anchor="ctr"/>
          <a:lstStyle/>
          <a:p>
            <a:pPr algn="ctr" indent="0" marL="0">
              <a:buNone/>
            </a:pPr>
            <a:r>
              <a:rPr lang="en-US" sz="1900" b="1" dirty="0">
                <a:solidFill>
                  <a:srgbClr val="1F2937"/>
                </a:solidFill>
                <a:latin typeface="맑은 고딕" pitchFamily="34" charset="0"/>
                <a:ea typeface="맑은 고딕" pitchFamily="34" charset="-122"/>
                <a:cs typeface="맑은 고딕" pitchFamily="34" charset="-120"/>
              </a:rPr>
              <a:t>Claude가 숫자를</a:t>
            </a:r>
            <a:endParaRPr lang="en-US" sz="1900" dirty="0"/>
          </a:p>
          <a:p>
            <a:pPr algn="ctr" indent="0" marL="0">
              <a:buNone/>
            </a:pPr>
            <a:r>
              <a:rPr lang="en-US" sz="1900" b="1" dirty="0">
                <a:solidFill>
                  <a:srgbClr val="1F2937"/>
                </a:solidFill>
                <a:latin typeface="맑은 고딕" pitchFamily="34" charset="0"/>
                <a:ea typeface="맑은 고딕" pitchFamily="34" charset="-122"/>
                <a:cs typeface="맑은 고딕" pitchFamily="34" charset="-120"/>
              </a:rPr>
              <a:t>기억으로 채움</a:t>
            </a:r>
            <a:endParaRPr lang="en-US" sz="1900" dirty="0"/>
          </a:p>
        </p:txBody>
      </p:sp>
      <p:sp>
        <p:nvSpPr>
          <p:cNvPr id="17" name="Shape 11"/>
          <p:cNvSpPr/>
          <p:nvPr/>
        </p:nvSpPr>
        <p:spPr>
          <a:xfrm>
            <a:off x="8805672" y="2587752"/>
            <a:ext cx="274320" cy="310896"/>
          </a:xfrm>
          <a:prstGeom prst="rightArrow">
            <a:avLst/>
          </a:prstGeom>
          <a:solidFill>
            <a:srgbClr val="6B7280"/>
          </a:solidFill>
          <a:ln w="12700">
            <a:solidFill>
              <a:srgbClr val="6B7280"/>
            </a:solidFill>
            <a:prstDash val="solid"/>
          </a:ln>
        </p:spPr>
      </p:sp>
      <p:sp>
        <p:nvSpPr>
          <p:cNvPr id="18" name="Shape 12"/>
          <p:cNvSpPr/>
          <p:nvPr/>
        </p:nvSpPr>
        <p:spPr>
          <a:xfrm>
            <a:off x="9107424" y="1645920"/>
            <a:ext cx="2514600" cy="2194560"/>
          </a:xfrm>
          <a:prstGeom prst="roundRect">
            <a:avLst>
              <a:gd name="adj" fmla="val 5000"/>
            </a:avLst>
          </a:prstGeom>
          <a:solidFill>
            <a:srgbClr val="FDF0E8"/>
          </a:solidFill>
          <a:ln w="19050">
            <a:solidFill>
              <a:srgbClr val="E8590C"/>
            </a:solidFill>
            <a:prstDash val="solid"/>
          </a:ln>
        </p:spPr>
      </p:sp>
      <p:pic>
        <p:nvPicPr>
          <p:cNvPr id="19" name="Image 3" descr="preencoded.png">    </p:cNvPr>
          <p:cNvPicPr>
            <a:picLocks noChangeAspect="1"/>
          </p:cNvPicPr>
          <p:nvPr/>
        </p:nvPicPr>
        <p:blipFill>
          <a:blip r:embed="rId4"/>
          <a:stretch>
            <a:fillRect/>
          </a:stretch>
        </p:blipFill>
        <p:spPr>
          <a:xfrm>
            <a:off x="10067544" y="1828800"/>
            <a:ext cx="594360" cy="594360"/>
          </a:xfrm>
          <a:prstGeom prst="rect">
            <a:avLst/>
          </a:prstGeom>
        </p:spPr>
      </p:pic>
      <p:sp>
        <p:nvSpPr>
          <p:cNvPr id="20" name="Text 13"/>
          <p:cNvSpPr txBox="1"/>
          <p:nvPr/>
        </p:nvSpPr>
        <p:spPr>
          <a:xfrm>
            <a:off x="9198864" y="2606040"/>
            <a:ext cx="2331720" cy="1097280"/>
          </a:xfrm>
          <a:prstGeom prst="rect">
            <a:avLst/>
          </a:prstGeom>
          <a:noFill/>
          <a:ln/>
        </p:spPr>
        <p:txBody>
          <a:bodyPr wrap="square" lIns="0" tIns="0" rIns="0" bIns="0" rtlCol="0" anchor="ctr"/>
          <a:lstStyle/>
          <a:p>
            <a:pPr algn="ctr" indent="0" marL="0">
              <a:buNone/>
            </a:pPr>
            <a:r>
              <a:rPr lang="en-US" sz="1900" b="1" dirty="0">
                <a:solidFill>
                  <a:srgbClr val="1F2937"/>
                </a:solidFill>
                <a:latin typeface="맑은 고딕" pitchFamily="34" charset="0"/>
                <a:ea typeface="맑은 고딕" pitchFamily="34" charset="-122"/>
                <a:cs typeface="맑은 고딕" pitchFamily="34" charset="-120"/>
              </a:rPr>
              <a:t>그럴듯하지만</a:t>
            </a:r>
            <a:endParaRPr lang="en-US" sz="1900" dirty="0"/>
          </a:p>
          <a:p>
            <a:pPr algn="ctr" indent="0" marL="0">
              <a:buNone/>
            </a:pPr>
            <a:r>
              <a:rPr lang="en-US" sz="1900" b="1" dirty="0">
                <a:solidFill>
                  <a:srgbClr val="1F2937"/>
                </a:solidFill>
                <a:latin typeface="맑은 고딕" pitchFamily="34" charset="0"/>
                <a:ea typeface="맑은 고딕" pitchFamily="34" charset="-122"/>
                <a:cs typeface="맑은 고딕" pitchFamily="34" charset="-120"/>
              </a:rPr>
              <a:t>틀린 분석</a:t>
            </a:r>
            <a:endParaRPr lang="en-US" sz="1900" dirty="0"/>
          </a:p>
        </p:txBody>
      </p:sp>
      <p:sp>
        <p:nvSpPr>
          <p:cNvPr id="21" name="Text 14"/>
          <p:cNvSpPr txBox="1"/>
          <p:nvPr/>
        </p:nvSpPr>
        <p:spPr>
          <a:xfrm>
            <a:off x="548640" y="4114800"/>
            <a:ext cx="5486400" cy="457200"/>
          </a:xfrm>
          <a:prstGeom prst="rect">
            <a:avLst/>
          </a:prstGeom>
          <a:noFill/>
          <a:ln/>
        </p:spPr>
        <p:txBody>
          <a:bodyPr wrap="square" lIns="0" tIns="0" rIns="0" bIns="0" rtlCol="0" anchor="ctr"/>
          <a:lstStyle/>
          <a:p>
            <a:pPr indent="0" marL="0">
              <a:buNone/>
            </a:pPr>
            <a:r>
              <a:rPr lang="en-US" sz="2200" b="1" dirty="0">
                <a:solidFill>
                  <a:srgbClr val="1F3A5F"/>
                </a:solidFill>
                <a:latin typeface="맑은 고딕" pitchFamily="34" charset="0"/>
                <a:ea typeface="맑은 고딕" pitchFamily="34" charset="-122"/>
                <a:cs typeface="맑은 고딕" pitchFamily="34" charset="-120"/>
              </a:rPr>
              <a:t>이렇게 확인합니다</a:t>
            </a:r>
            <a:endParaRPr lang="en-US" sz="2200" dirty="0"/>
          </a:p>
        </p:txBody>
      </p:sp>
      <p:sp>
        <p:nvSpPr>
          <p:cNvPr id="22" name="Text 15"/>
          <p:cNvSpPr txBox="1"/>
          <p:nvPr/>
        </p:nvSpPr>
        <p:spPr>
          <a:xfrm>
            <a:off x="548640" y="4663440"/>
            <a:ext cx="5394960" cy="685800"/>
          </a:xfrm>
          <a:prstGeom prst="roundRect">
            <a:avLst>
              <a:gd name="adj" fmla="val 13333"/>
            </a:avLst>
          </a:prstGeom>
          <a:solidFill>
            <a:srgbClr val="EEF2F7"/>
          </a:solidFill>
          <a:ln w="19050">
            <a:solidFill>
              <a:srgbClr val="1F3A5F"/>
            </a:solidFill>
          </a:ln>
        </p:spPr>
        <p:txBody>
          <a:bodyPr wrap="square" lIns="25400" tIns="25400" rIns="25400" bIns="25400" rtlCol="0" anchor="ctr"/>
          <a:lstStyle/>
          <a:p>
            <a:pPr algn="ctr" indent="0" marL="0">
              <a:buNone/>
            </a:pPr>
            <a:r>
              <a:rPr lang="en-US" sz="1900" b="1" dirty="0">
                <a:solidFill>
                  <a:srgbClr val="1F3A5F"/>
                </a:solidFill>
                <a:latin typeface="맑은 고딕" pitchFamily="34" charset="0"/>
                <a:ea typeface="맑은 고딕" pitchFamily="34" charset="-122"/>
                <a:cs typeface="맑은 고딕" pitchFamily="34" charset="-120"/>
              </a:rPr>
              <a:t>Cowork : 입력창 왼쪽 + → Connectors</a:t>
            </a:r>
            <a:endParaRPr lang="en-US" sz="1900" dirty="0"/>
          </a:p>
        </p:txBody>
      </p:sp>
      <p:sp>
        <p:nvSpPr>
          <p:cNvPr id="23" name="Text 16"/>
          <p:cNvSpPr txBox="1"/>
          <p:nvPr/>
        </p:nvSpPr>
        <p:spPr>
          <a:xfrm>
            <a:off x="6217920" y="4663440"/>
            <a:ext cx="5394960" cy="685800"/>
          </a:xfrm>
          <a:prstGeom prst="roundRect">
            <a:avLst>
              <a:gd name="adj" fmla="val 13333"/>
            </a:avLst>
          </a:prstGeom>
          <a:solidFill>
            <a:srgbClr val="FDF0E8"/>
          </a:solidFill>
          <a:ln w="19050">
            <a:solidFill>
              <a:srgbClr val="E8590C"/>
            </a:solidFill>
          </a:ln>
        </p:spPr>
        <p:txBody>
          <a:bodyPr wrap="square" lIns="25400" tIns="25400" rIns="25400" bIns="25400" rtlCol="0" anchor="ctr"/>
          <a:lstStyle/>
          <a:p>
            <a:pPr algn="ctr" indent="0" marL="0">
              <a:buNone/>
            </a:pPr>
            <a:r>
              <a:rPr lang="en-US" sz="1900" b="1" dirty="0">
                <a:solidFill>
                  <a:srgbClr val="E8590C"/>
                </a:solidFill>
                <a:latin typeface="맑은 고딕" pitchFamily="34" charset="0"/>
                <a:ea typeface="맑은 고딕" pitchFamily="34" charset="-122"/>
                <a:cs typeface="맑은 고딕" pitchFamily="34" charset="-120"/>
              </a:rPr>
              <a:t>Code 탭 : 입력창에  /mcp</a:t>
            </a:r>
            <a:endParaRPr lang="en-US" sz="1900" dirty="0"/>
          </a:p>
        </p:txBody>
      </p:sp>
      <p:sp>
        <p:nvSpPr>
          <p:cNvPr id="24" name="Text 17"/>
          <p:cNvSpPr txBox="1"/>
          <p:nvPr/>
        </p:nvSpPr>
        <p:spPr>
          <a:xfrm>
            <a:off x="548640" y="5577840"/>
            <a:ext cx="11064240" cy="457200"/>
          </a:xfrm>
          <a:prstGeom prst="rect">
            <a:avLst/>
          </a:prstGeom>
          <a:noFill/>
          <a:ln/>
        </p:spPr>
        <p:txBody>
          <a:bodyPr wrap="square" lIns="0" tIns="0" rIns="0" bIns="0" rtlCol="0" anchor="ctr"/>
          <a:lstStyle/>
          <a:p>
            <a:pPr indent="0" marL="0">
              <a:buNone/>
            </a:pPr>
            <a:r>
              <a:rPr lang="en-US" sz="2000" b="1" dirty="0">
                <a:solidFill>
                  <a:srgbClr val="1F2937"/>
                </a:solidFill>
                <a:latin typeface="맑은 고딕" pitchFamily="34" charset="0"/>
                <a:ea typeface="맑은 고딕" pitchFamily="34" charset="-122"/>
                <a:cs typeface="맑은 고딕" pitchFamily="34" charset="-120"/>
              </a:rPr>
              <a:t>요청에 덧붙이기 : 「도구가 없으면 추측하지 말고 멈춰서 알려줘」</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01168"/>
            <a:ext cx="1143000" cy="329184"/>
          </a:xfrm>
          <a:prstGeom prst="roundRect">
            <a:avLst>
              <a:gd name="adj" fmla="val 27778"/>
            </a:avLst>
          </a:prstGeom>
          <a:solidFill>
            <a:srgbClr val="E8590C"/>
          </a:solidFill>
          <a:ln/>
        </p:spPr>
        <p:txBody>
          <a:bodyPr wrap="square" lIns="25400" tIns="25400" rIns="25400" bIns="2540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문제</a:t>
            </a:r>
            <a:endParaRPr lang="en-US" sz="1300" dirty="0"/>
          </a:p>
        </p:txBody>
      </p:sp>
      <p:sp>
        <p:nvSpPr>
          <p:cNvPr id="3" name="Text 1"/>
          <p:cNvSpPr txBox="1"/>
          <p:nvPr/>
        </p:nvSpPr>
        <p:spPr>
          <a:xfrm>
            <a:off x="10607040" y="6400800"/>
            <a:ext cx="1005840" cy="274320"/>
          </a:xfrm>
          <a:prstGeom prst="rect">
            <a:avLst/>
          </a:prstGeom>
          <a:noFill/>
          <a:ln/>
        </p:spPr>
        <p:txBody>
          <a:bodyPr wrap="square" lIns="0" tIns="0" rIns="0" bIns="0" rtlCol="0" anchor="ctr"/>
          <a:lstStyle/>
          <a:p>
            <a:pPr algn="r" indent="0" marL="0">
              <a:buNone/>
            </a:pPr>
            <a:r>
              <a:rPr lang="en-US" sz="1200" dirty="0">
                <a:solidFill>
                  <a:srgbClr val="6B7280"/>
                </a:solidFill>
                <a:latin typeface="맑은 고딕" pitchFamily="34" charset="0"/>
                <a:ea typeface="맑은 고딕" pitchFamily="34" charset="-122"/>
                <a:cs typeface="맑은 고딕" pitchFamily="34" charset="-120"/>
              </a:rPr>
              <a:t>9 / 14</a:t>
            </a:r>
            <a:endParaRPr lang="en-US" sz="1200" dirty="0"/>
          </a:p>
        </p:txBody>
      </p:sp>
      <p:sp>
        <p:nvSpPr>
          <p:cNvPr id="4"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000" b="1" dirty="0">
                <a:solidFill>
                  <a:srgbClr val="1F3A5F"/>
                </a:solidFill>
                <a:latin typeface="맑은 고딕" pitchFamily="34" charset="0"/>
                <a:ea typeface="맑은 고딕" pitchFamily="34" charset="-122"/>
                <a:cs typeface="맑은 고딕" pitchFamily="34" charset="-120"/>
              </a:rPr>
              <a:t>Cowork를 거치면 엑셀·DB 파일 작업이 자주 깨집니다</a:t>
            </a:r>
            <a:endParaRPr lang="en-US" sz="3000" dirty="0"/>
          </a:p>
        </p:txBody>
      </p:sp>
      <p:sp>
        <p:nvSpPr>
          <p:cNvPr id="6" name="Shape 3"/>
          <p:cNvSpPr/>
          <p:nvPr/>
        </p:nvSpPr>
        <p:spPr>
          <a:xfrm>
            <a:off x="548640" y="1554480"/>
            <a:ext cx="5440680" cy="2148840"/>
          </a:xfrm>
          <a:prstGeom prst="roundRect">
            <a:avLst>
              <a:gd name="adj" fmla="val 5106"/>
            </a:avLst>
          </a:prstGeom>
          <a:solidFill>
            <a:srgbClr val="FDF0E8"/>
          </a:solidFill>
          <a:ln w="19050">
            <a:solidFill>
              <a:srgbClr val="E8590C"/>
            </a:solidFill>
            <a:prstDash val="solid"/>
          </a:ln>
        </p:spPr>
      </p:sp>
      <p:sp>
        <p:nvSpPr>
          <p:cNvPr id="7" name="Shape 4"/>
          <p:cNvSpPr/>
          <p:nvPr/>
        </p:nvSpPr>
        <p:spPr>
          <a:xfrm>
            <a:off x="822960" y="1874520"/>
            <a:ext cx="914400" cy="914400"/>
          </a:xfrm>
          <a:prstGeom prst="ellipse">
            <a:avLst/>
          </a:prstGeom>
          <a:solidFill>
            <a:srgbClr val="E8590C"/>
          </a:solidFill>
          <a:ln w="12700">
            <a:solidFill>
              <a:srgbClr val="E8590C"/>
            </a:solidFill>
            <a:prstDash val="solid"/>
          </a:ln>
        </p:spPr>
      </p:sp>
      <p:pic>
        <p:nvPicPr>
          <p:cNvPr id="8" name="Image 0" descr="preencoded.png">    </p:cNvPr>
          <p:cNvPicPr>
            <a:picLocks noChangeAspect="1"/>
          </p:cNvPicPr>
          <p:nvPr/>
        </p:nvPicPr>
        <p:blipFill>
          <a:blip r:embed="rId1"/>
          <a:stretch>
            <a:fillRect/>
          </a:stretch>
        </p:blipFill>
        <p:spPr>
          <a:xfrm>
            <a:off x="1033272" y="2084832"/>
            <a:ext cx="493776" cy="493776"/>
          </a:xfrm>
          <a:prstGeom prst="rect">
            <a:avLst/>
          </a:prstGeom>
        </p:spPr>
      </p:pic>
      <p:sp>
        <p:nvSpPr>
          <p:cNvPr id="9" name="Text 5"/>
          <p:cNvSpPr txBox="1"/>
          <p:nvPr/>
        </p:nvSpPr>
        <p:spPr>
          <a:xfrm>
            <a:off x="1965960" y="1737360"/>
            <a:ext cx="3840480" cy="502920"/>
          </a:xfrm>
          <a:prstGeom prst="rect">
            <a:avLst/>
          </a:prstGeom>
          <a:noFill/>
          <a:ln/>
        </p:spPr>
        <p:txBody>
          <a:bodyPr wrap="square" lIns="0" tIns="0" rIns="0" bIns="0" rtlCol="0" anchor="ctr"/>
          <a:lstStyle/>
          <a:p>
            <a:pPr indent="0" marL="0">
              <a:buNone/>
            </a:pPr>
            <a:r>
              <a:rPr lang="en-US" sz="2100" b="1" dirty="0">
                <a:solidFill>
                  <a:srgbClr val="E8590C"/>
                </a:solidFill>
                <a:latin typeface="맑은 고딕" pitchFamily="34" charset="0"/>
                <a:ea typeface="맑은 고딕" pitchFamily="34" charset="-122"/>
                <a:cs typeface="맑은 고딕" pitchFamily="34" charset="-120"/>
              </a:rPr>
              <a:t>엑셀이 안 만들어짐</a:t>
            </a:r>
            <a:endParaRPr lang="en-US" sz="2100" dirty="0"/>
          </a:p>
        </p:txBody>
      </p:sp>
      <p:sp>
        <p:nvSpPr>
          <p:cNvPr id="10" name="Text 6"/>
          <p:cNvSpPr txBox="1"/>
          <p:nvPr/>
        </p:nvSpPr>
        <p:spPr>
          <a:xfrm>
            <a:off x="1965960" y="2286000"/>
            <a:ext cx="3840480" cy="1325880"/>
          </a:xfrm>
          <a:prstGeom prst="rect">
            <a:avLst/>
          </a:prstGeom>
          <a:noFill/>
          <a:ln/>
        </p:spPr>
        <p:txBody>
          <a:bodyPr wrap="square" lIns="0" tIns="0" rIns="0" bIns="0" rtlCol="0" anchor="t"/>
          <a:lstStyle/>
          <a:p>
            <a:pPr indent="0" marL="0">
              <a:buNone/>
            </a:pPr>
            <a:r>
              <a:rPr lang="en-US" sz="1700" dirty="0">
                <a:solidFill>
                  <a:srgbClr val="1F2937"/>
                </a:solidFill>
                <a:latin typeface="맑은 고딕" pitchFamily="34" charset="0"/>
                <a:ea typeface="맑은 고딕" pitchFamily="34" charset="-122"/>
                <a:cs typeface="맑은 고딕" pitchFamily="34" charset="-120"/>
              </a:rPr>
              <a:t>표·슬라이서·피벗이</a:t>
            </a:r>
            <a:endParaRPr lang="en-US" sz="1700" dirty="0"/>
          </a:p>
          <a:p>
            <a:pPr indent="0" marL="0">
              <a:buNone/>
            </a:pPr>
            <a:r>
              <a:rPr lang="en-US" sz="1700" dirty="0">
                <a:solidFill>
                  <a:srgbClr val="1F2937"/>
                </a:solidFill>
                <a:latin typeface="맑은 고딕" pitchFamily="34" charset="0"/>
                <a:ea typeface="맑은 고딕" pitchFamily="34" charset="-122"/>
                <a:cs typeface="맑은 고딕" pitchFamily="34" charset="-120"/>
              </a:rPr>
              <a:t>「session_id is required」로</a:t>
            </a:r>
            <a:endParaRPr lang="en-US" sz="1700" dirty="0"/>
          </a:p>
          <a:p>
            <a:pPr indent="0" marL="0">
              <a:buNone/>
            </a:pPr>
            <a:r>
              <a:rPr lang="en-US" sz="1700" dirty="0">
                <a:solidFill>
                  <a:srgbClr val="1F2937"/>
                </a:solidFill>
                <a:latin typeface="맑은 고딕" pitchFamily="34" charset="0"/>
                <a:ea typeface="맑은 고딕" pitchFamily="34" charset="-122"/>
                <a:cs typeface="맑은 고딕" pitchFamily="34" charset="-120"/>
              </a:rPr>
              <a:t>전부 실패 → 엑셀 0개</a:t>
            </a:r>
            <a:endParaRPr lang="en-US" sz="1700" dirty="0"/>
          </a:p>
        </p:txBody>
      </p:sp>
      <p:sp>
        <p:nvSpPr>
          <p:cNvPr id="11" name="Shape 7"/>
          <p:cNvSpPr/>
          <p:nvPr/>
        </p:nvSpPr>
        <p:spPr>
          <a:xfrm>
            <a:off x="6172200" y="1554480"/>
            <a:ext cx="5440680" cy="2148840"/>
          </a:xfrm>
          <a:prstGeom prst="roundRect">
            <a:avLst>
              <a:gd name="adj" fmla="val 5106"/>
            </a:avLst>
          </a:prstGeom>
          <a:solidFill>
            <a:srgbClr val="FDF0E8"/>
          </a:solidFill>
          <a:ln w="19050">
            <a:solidFill>
              <a:srgbClr val="E8590C"/>
            </a:solidFill>
            <a:prstDash val="solid"/>
          </a:ln>
        </p:spPr>
      </p:sp>
      <p:sp>
        <p:nvSpPr>
          <p:cNvPr id="12" name="Shape 8"/>
          <p:cNvSpPr/>
          <p:nvPr/>
        </p:nvSpPr>
        <p:spPr>
          <a:xfrm>
            <a:off x="6446520" y="1874520"/>
            <a:ext cx="914400" cy="914400"/>
          </a:xfrm>
          <a:prstGeom prst="ellipse">
            <a:avLst/>
          </a:prstGeom>
          <a:solidFill>
            <a:srgbClr val="E8590C"/>
          </a:solidFill>
          <a:ln w="12700">
            <a:solidFill>
              <a:srgbClr val="E8590C"/>
            </a:solidFill>
            <a:prstDash val="solid"/>
          </a:ln>
        </p:spPr>
      </p:sp>
      <p:pic>
        <p:nvPicPr>
          <p:cNvPr id="13" name="Image 1" descr="preencoded.png">    </p:cNvPr>
          <p:cNvPicPr>
            <a:picLocks noChangeAspect="1"/>
          </p:cNvPicPr>
          <p:nvPr/>
        </p:nvPicPr>
        <p:blipFill>
          <a:blip r:embed="rId2"/>
          <a:stretch>
            <a:fillRect/>
          </a:stretch>
        </p:blipFill>
        <p:spPr>
          <a:xfrm>
            <a:off x="6656832" y="2084832"/>
            <a:ext cx="493776" cy="493776"/>
          </a:xfrm>
          <a:prstGeom prst="rect">
            <a:avLst/>
          </a:prstGeom>
        </p:spPr>
      </p:pic>
      <p:sp>
        <p:nvSpPr>
          <p:cNvPr id="14" name="Text 9"/>
          <p:cNvSpPr txBox="1"/>
          <p:nvPr/>
        </p:nvSpPr>
        <p:spPr>
          <a:xfrm>
            <a:off x="7589520" y="1737360"/>
            <a:ext cx="3840480" cy="502920"/>
          </a:xfrm>
          <a:prstGeom prst="rect">
            <a:avLst/>
          </a:prstGeom>
          <a:noFill/>
          <a:ln/>
        </p:spPr>
        <p:txBody>
          <a:bodyPr wrap="square" lIns="0" tIns="0" rIns="0" bIns="0" rtlCol="0" anchor="ctr"/>
          <a:lstStyle/>
          <a:p>
            <a:pPr indent="0" marL="0">
              <a:buNone/>
            </a:pPr>
            <a:r>
              <a:rPr lang="en-US" sz="2100" b="1" dirty="0">
                <a:solidFill>
                  <a:srgbClr val="E8590C"/>
                </a:solidFill>
                <a:latin typeface="맑은 고딕" pitchFamily="34" charset="0"/>
                <a:ea typeface="맑은 고딕" pitchFamily="34" charset="-122"/>
                <a:cs typeface="맑은 고딕" pitchFamily="34" charset="-120"/>
              </a:rPr>
              <a:t>숨은 엑셀이 파일을 잡음</a:t>
            </a:r>
            <a:endParaRPr lang="en-US" sz="2100" dirty="0"/>
          </a:p>
        </p:txBody>
      </p:sp>
      <p:sp>
        <p:nvSpPr>
          <p:cNvPr id="15" name="Text 10"/>
          <p:cNvSpPr txBox="1"/>
          <p:nvPr/>
        </p:nvSpPr>
        <p:spPr>
          <a:xfrm>
            <a:off x="7589520" y="2286000"/>
            <a:ext cx="3840480" cy="1325880"/>
          </a:xfrm>
          <a:prstGeom prst="rect">
            <a:avLst/>
          </a:prstGeom>
          <a:noFill/>
          <a:ln/>
        </p:spPr>
        <p:txBody>
          <a:bodyPr wrap="square" lIns="0" tIns="0" rIns="0" bIns="0" rtlCol="0" anchor="t"/>
          <a:lstStyle/>
          <a:p>
            <a:pPr indent="0" marL="0">
              <a:buNone/>
            </a:pPr>
            <a:r>
              <a:rPr lang="en-US" sz="1700" dirty="0">
                <a:solidFill>
                  <a:srgbClr val="1F2937"/>
                </a:solidFill>
                <a:latin typeface="맑은 고딕" pitchFamily="34" charset="0"/>
                <a:ea typeface="맑은 고딕" pitchFamily="34" charset="-122"/>
                <a:cs typeface="맑은 고딕" pitchFamily="34" charset="-120"/>
              </a:rPr>
              <a:t>닫기 명령도 실패</a:t>
            </a:r>
            <a:endParaRPr lang="en-US" sz="1700" dirty="0"/>
          </a:p>
          <a:p>
            <a:pPr indent="0" marL="0">
              <a:buNone/>
            </a:pPr>
            <a:r>
              <a:rPr lang="en-US" sz="1700" dirty="0">
                <a:solidFill>
                  <a:srgbClr val="1F2937"/>
                </a:solidFill>
                <a:latin typeface="맑은 고딕" pitchFamily="34" charset="0"/>
                <a:ea typeface="맑은 고딕" pitchFamily="34" charset="-122"/>
                <a:cs typeface="맑은 고딕" pitchFamily="34" charset="-120"/>
              </a:rPr>
              <a:t>→ 보이지 않는 엑셀과</a:t>
            </a:r>
            <a:endParaRPr lang="en-US" sz="1700" dirty="0"/>
          </a:p>
          <a:p>
            <a:pPr indent="0" marL="0">
              <a:buNone/>
            </a:pPr>
            <a:r>
              <a:rPr lang="en-US" sz="1700" dirty="0">
                <a:solidFill>
                  <a:srgbClr val="1F2937"/>
                </a:solidFill>
                <a:latin typeface="맑은 고딕" pitchFamily="34" charset="0"/>
                <a:ea typeface="맑은 고딕" pitchFamily="34" charset="-122"/>
                <a:cs typeface="맑은 고딕" pitchFamily="34" charset="-120"/>
              </a:rPr>
              <a:t>~$ 잠금 파일이 남음</a:t>
            </a:r>
            <a:endParaRPr lang="en-US" sz="1700" dirty="0"/>
          </a:p>
        </p:txBody>
      </p:sp>
      <p:sp>
        <p:nvSpPr>
          <p:cNvPr id="16" name="Shape 11"/>
          <p:cNvSpPr/>
          <p:nvPr/>
        </p:nvSpPr>
        <p:spPr>
          <a:xfrm>
            <a:off x="548640" y="3886200"/>
            <a:ext cx="5440680" cy="2148840"/>
          </a:xfrm>
          <a:prstGeom prst="roundRect">
            <a:avLst>
              <a:gd name="adj" fmla="val 5106"/>
            </a:avLst>
          </a:prstGeom>
          <a:solidFill>
            <a:srgbClr val="FDF0E8"/>
          </a:solidFill>
          <a:ln w="19050">
            <a:solidFill>
              <a:srgbClr val="E8590C"/>
            </a:solidFill>
            <a:prstDash val="solid"/>
          </a:ln>
        </p:spPr>
      </p:sp>
      <p:sp>
        <p:nvSpPr>
          <p:cNvPr id="17" name="Shape 12"/>
          <p:cNvSpPr/>
          <p:nvPr/>
        </p:nvSpPr>
        <p:spPr>
          <a:xfrm>
            <a:off x="822960" y="4206240"/>
            <a:ext cx="914400" cy="914400"/>
          </a:xfrm>
          <a:prstGeom prst="ellipse">
            <a:avLst/>
          </a:prstGeom>
          <a:solidFill>
            <a:srgbClr val="E8590C"/>
          </a:solidFill>
          <a:ln w="12700">
            <a:solidFill>
              <a:srgbClr val="E8590C"/>
            </a:solidFill>
            <a:prstDash val="solid"/>
          </a:ln>
        </p:spPr>
      </p:sp>
      <p:pic>
        <p:nvPicPr>
          <p:cNvPr id="18" name="Image 2" descr="preencoded.png">    </p:cNvPr>
          <p:cNvPicPr>
            <a:picLocks noChangeAspect="1"/>
          </p:cNvPicPr>
          <p:nvPr/>
        </p:nvPicPr>
        <p:blipFill>
          <a:blip r:embed="rId3"/>
          <a:stretch>
            <a:fillRect/>
          </a:stretch>
        </p:blipFill>
        <p:spPr>
          <a:xfrm>
            <a:off x="1033272" y="4416552"/>
            <a:ext cx="493776" cy="493776"/>
          </a:xfrm>
          <a:prstGeom prst="rect">
            <a:avLst/>
          </a:prstGeom>
        </p:spPr>
      </p:pic>
      <p:sp>
        <p:nvSpPr>
          <p:cNvPr id="19" name="Text 13"/>
          <p:cNvSpPr txBox="1"/>
          <p:nvPr/>
        </p:nvSpPr>
        <p:spPr>
          <a:xfrm>
            <a:off x="1965960" y="4069080"/>
            <a:ext cx="3840480" cy="502920"/>
          </a:xfrm>
          <a:prstGeom prst="rect">
            <a:avLst/>
          </a:prstGeom>
          <a:noFill/>
          <a:ln/>
        </p:spPr>
        <p:txBody>
          <a:bodyPr wrap="square" lIns="0" tIns="0" rIns="0" bIns="0" rtlCol="0" anchor="ctr"/>
          <a:lstStyle/>
          <a:p>
            <a:pPr indent="0" marL="0">
              <a:buNone/>
            </a:pPr>
            <a:r>
              <a:rPr lang="en-US" sz="2100" b="1" dirty="0">
                <a:solidFill>
                  <a:srgbClr val="E8590C"/>
                </a:solidFill>
                <a:latin typeface="맑은 고딕" pitchFamily="34" charset="0"/>
                <a:ea typeface="맑은 고딕" pitchFamily="34" charset="-122"/>
                <a:cs typeface="맑은 고딕" pitchFamily="34" charset="-120"/>
              </a:rPr>
              <a:t>DB 파일이 망가짐</a:t>
            </a:r>
            <a:endParaRPr lang="en-US" sz="2100" dirty="0"/>
          </a:p>
        </p:txBody>
      </p:sp>
      <p:sp>
        <p:nvSpPr>
          <p:cNvPr id="20" name="Text 14"/>
          <p:cNvSpPr txBox="1"/>
          <p:nvPr/>
        </p:nvSpPr>
        <p:spPr>
          <a:xfrm>
            <a:off x="1965960" y="4617720"/>
            <a:ext cx="3840480" cy="1325880"/>
          </a:xfrm>
          <a:prstGeom prst="rect">
            <a:avLst/>
          </a:prstGeom>
          <a:noFill/>
          <a:ln/>
        </p:spPr>
        <p:txBody>
          <a:bodyPr wrap="square" lIns="0" tIns="0" rIns="0" bIns="0" rtlCol="0" anchor="t"/>
          <a:lstStyle/>
          <a:p>
            <a:pPr indent="0" marL="0">
              <a:buNone/>
            </a:pPr>
            <a:r>
              <a:rPr lang="en-US" sz="1700" dirty="0">
                <a:solidFill>
                  <a:srgbClr val="1F2937"/>
                </a:solidFill>
                <a:latin typeface="맑은 고딕" pitchFamily="34" charset="0"/>
                <a:ea typeface="맑은 고딕" pitchFamily="34" charset="-122"/>
                <a:cs typeface="맑은 고딕" pitchFamily="34" charset="-120"/>
              </a:rPr>
              <a:t>원격으로 쓰다가</a:t>
            </a:r>
            <a:endParaRPr lang="en-US" sz="1700" dirty="0"/>
          </a:p>
          <a:p>
            <a:pPr indent="0" marL="0">
              <a:buNone/>
            </a:pPr>
            <a:r>
              <a:rPr lang="en-US" sz="1700" dirty="0">
                <a:solidFill>
                  <a:srgbClr val="1F2937"/>
                </a:solidFill>
                <a:latin typeface="맑은 고딕" pitchFamily="34" charset="0"/>
                <a:ea typeface="맑은 고딕" pitchFamily="34" charset="-122"/>
                <a:cs typeface="맑은 고딕" pitchFamily="34" charset="-120"/>
              </a:rPr>
              <a:t>「disk I/O error」</a:t>
            </a:r>
            <a:endParaRPr lang="en-US" sz="1700" dirty="0"/>
          </a:p>
          <a:p>
            <a:pPr indent="0" marL="0">
              <a:buNone/>
            </a:pPr>
            <a:r>
              <a:rPr lang="en-US" sz="1700" dirty="0">
                <a:solidFill>
                  <a:srgbClr val="1F2937"/>
                </a:solidFill>
                <a:latin typeface="맑은 고딕" pitchFamily="34" charset="0"/>
                <a:ea typeface="맑은 고딕" pitchFamily="34" charset="-122"/>
                <a:cs typeface="맑은 고딕" pitchFamily="34" charset="-120"/>
              </a:rPr>
              <a:t>→ 파일이 0바이트</a:t>
            </a:r>
            <a:endParaRPr lang="en-US" sz="1700" dirty="0"/>
          </a:p>
        </p:txBody>
      </p:sp>
      <p:sp>
        <p:nvSpPr>
          <p:cNvPr id="21" name="Shape 15"/>
          <p:cNvSpPr/>
          <p:nvPr/>
        </p:nvSpPr>
        <p:spPr>
          <a:xfrm>
            <a:off x="6172200" y="3886200"/>
            <a:ext cx="5440680" cy="2148840"/>
          </a:xfrm>
          <a:prstGeom prst="roundRect">
            <a:avLst>
              <a:gd name="adj" fmla="val 5106"/>
            </a:avLst>
          </a:prstGeom>
          <a:solidFill>
            <a:srgbClr val="EEF2F7"/>
          </a:solidFill>
          <a:ln w="19050">
            <a:solidFill>
              <a:srgbClr val="1F3A5F"/>
            </a:solidFill>
            <a:prstDash val="solid"/>
          </a:ln>
        </p:spPr>
      </p:sp>
      <p:sp>
        <p:nvSpPr>
          <p:cNvPr id="22" name="Shape 16"/>
          <p:cNvSpPr/>
          <p:nvPr/>
        </p:nvSpPr>
        <p:spPr>
          <a:xfrm>
            <a:off x="6446520" y="4206240"/>
            <a:ext cx="914400" cy="914400"/>
          </a:xfrm>
          <a:prstGeom prst="ellipse">
            <a:avLst/>
          </a:prstGeom>
          <a:solidFill>
            <a:srgbClr val="1F3A5F"/>
          </a:solidFill>
          <a:ln w="12700">
            <a:solidFill>
              <a:srgbClr val="1F3A5F"/>
            </a:solidFill>
            <a:prstDash val="solid"/>
          </a:ln>
        </p:spPr>
      </p:sp>
      <p:pic>
        <p:nvPicPr>
          <p:cNvPr id="23" name="Image 3" descr="preencoded.png">    </p:cNvPr>
          <p:cNvPicPr>
            <a:picLocks noChangeAspect="1"/>
          </p:cNvPicPr>
          <p:nvPr/>
        </p:nvPicPr>
        <p:blipFill>
          <a:blip r:embed="rId4"/>
          <a:stretch>
            <a:fillRect/>
          </a:stretch>
        </p:blipFill>
        <p:spPr>
          <a:xfrm>
            <a:off x="6656832" y="4416552"/>
            <a:ext cx="493776" cy="493776"/>
          </a:xfrm>
          <a:prstGeom prst="rect">
            <a:avLst/>
          </a:prstGeom>
        </p:spPr>
      </p:pic>
      <p:sp>
        <p:nvSpPr>
          <p:cNvPr id="24" name="Text 17"/>
          <p:cNvSpPr txBox="1"/>
          <p:nvPr/>
        </p:nvSpPr>
        <p:spPr>
          <a:xfrm>
            <a:off x="7589520" y="4069080"/>
            <a:ext cx="3840480" cy="502920"/>
          </a:xfrm>
          <a:prstGeom prst="rect">
            <a:avLst/>
          </a:prstGeom>
          <a:noFill/>
          <a:ln/>
        </p:spPr>
        <p:txBody>
          <a:bodyPr wrap="square" lIns="0" tIns="0" rIns="0" bIns="0" rtlCol="0" anchor="ctr"/>
          <a:lstStyle/>
          <a:p>
            <a:pPr indent="0" marL="0">
              <a:buNone/>
            </a:pPr>
            <a:r>
              <a:rPr lang="en-US" sz="2100" b="1" dirty="0">
                <a:solidFill>
                  <a:srgbClr val="1F3A5F"/>
                </a:solidFill>
                <a:latin typeface="맑은 고딕" pitchFamily="34" charset="0"/>
                <a:ea typeface="맑은 고딕" pitchFamily="34" charset="-122"/>
                <a:cs typeface="맑은 고딕" pitchFamily="34" charset="-120"/>
              </a:rPr>
              <a:t>클라우드 파일은 임시</a:t>
            </a:r>
            <a:endParaRPr lang="en-US" sz="2100" dirty="0"/>
          </a:p>
        </p:txBody>
      </p:sp>
      <p:sp>
        <p:nvSpPr>
          <p:cNvPr id="25" name="Text 18"/>
          <p:cNvSpPr txBox="1"/>
          <p:nvPr/>
        </p:nvSpPr>
        <p:spPr>
          <a:xfrm>
            <a:off x="7589520" y="4617720"/>
            <a:ext cx="3840480" cy="1325880"/>
          </a:xfrm>
          <a:prstGeom prst="rect">
            <a:avLst/>
          </a:prstGeom>
          <a:noFill/>
          <a:ln/>
        </p:spPr>
        <p:txBody>
          <a:bodyPr wrap="square" lIns="0" tIns="0" rIns="0" bIns="0" rtlCol="0" anchor="t"/>
          <a:lstStyle/>
          <a:p>
            <a:pPr indent="0" marL="0">
              <a:buNone/>
            </a:pPr>
            <a:r>
              <a:rPr lang="en-US" sz="1700" dirty="0">
                <a:solidFill>
                  <a:srgbClr val="1F2937"/>
                </a:solidFill>
                <a:latin typeface="맑은 고딕" pitchFamily="34" charset="0"/>
                <a:ea typeface="맑은 고딕" pitchFamily="34" charset="-122"/>
                <a:cs typeface="맑은 고딕" pitchFamily="34" charset="-120"/>
              </a:rPr>
              <a:t>내 PC로 보내지 않은</a:t>
            </a:r>
            <a:endParaRPr lang="en-US" sz="1700" dirty="0"/>
          </a:p>
          <a:p>
            <a:pPr indent="0" marL="0">
              <a:buNone/>
            </a:pPr>
            <a:r>
              <a:rPr lang="en-US" sz="1700" dirty="0">
                <a:solidFill>
                  <a:srgbClr val="1F2937"/>
                </a:solidFill>
                <a:latin typeface="맑은 고딕" pitchFamily="34" charset="0"/>
                <a:ea typeface="맑은 고딕" pitchFamily="34" charset="-122"/>
                <a:cs typeface="맑은 고딕" pitchFamily="34" charset="-120"/>
              </a:rPr>
              <a:t>파일은 세션이 끝나면</a:t>
            </a:r>
            <a:endParaRPr lang="en-US" sz="1700" dirty="0"/>
          </a:p>
          <a:p>
            <a:pPr indent="0" marL="0">
              <a:buNone/>
            </a:pPr>
            <a:r>
              <a:rPr lang="en-US" sz="1700" dirty="0">
                <a:solidFill>
                  <a:srgbClr val="1F2937"/>
                </a:solidFill>
                <a:latin typeface="맑은 고딕" pitchFamily="34" charset="0"/>
                <a:ea typeface="맑은 고딕" pitchFamily="34" charset="-122"/>
                <a:cs typeface="맑은 고딕" pitchFamily="34" charset="-120"/>
              </a:rPr>
              <a:t>사라짐</a:t>
            </a:r>
            <a:endParaRPr lang="en-US" sz="1700" dirty="0"/>
          </a:p>
        </p:txBody>
      </p:sp>
      <p:sp>
        <p:nvSpPr>
          <p:cNvPr id="26" name="Text 19"/>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100" dirty="0">
                <a:solidFill>
                  <a:srgbClr val="6B7280"/>
                </a:solidFill>
                <a:latin typeface="맑은 고딕" pitchFamily="34" charset="0"/>
                <a:ea typeface="맑은 고딕" pitchFamily="34" charset="-122"/>
                <a:cs typeface="맑은 고딕" pitchFamily="34" charset="-120"/>
              </a:rPr>
              <a:t>강사 PC 실측 2026-08 · 10-07 · 10-13 · 10-14</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01168"/>
            <a:ext cx="1143000" cy="329184"/>
          </a:xfrm>
          <a:prstGeom prst="roundRect">
            <a:avLst>
              <a:gd name="adj" fmla="val 27778"/>
            </a:avLst>
          </a:prstGeom>
          <a:solidFill>
            <a:srgbClr val="E8590C"/>
          </a:solidFill>
          <a:ln/>
        </p:spPr>
        <p:txBody>
          <a:bodyPr wrap="square" lIns="25400" tIns="25400" rIns="25400" bIns="2540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문제</a:t>
            </a:r>
            <a:endParaRPr lang="en-US" sz="1300" dirty="0"/>
          </a:p>
        </p:txBody>
      </p:sp>
      <p:sp>
        <p:nvSpPr>
          <p:cNvPr id="3" name="Text 1"/>
          <p:cNvSpPr txBox="1"/>
          <p:nvPr/>
        </p:nvSpPr>
        <p:spPr>
          <a:xfrm>
            <a:off x="10607040" y="6400800"/>
            <a:ext cx="1005840" cy="274320"/>
          </a:xfrm>
          <a:prstGeom prst="rect">
            <a:avLst/>
          </a:prstGeom>
          <a:noFill/>
          <a:ln/>
        </p:spPr>
        <p:txBody>
          <a:bodyPr wrap="square" lIns="0" tIns="0" rIns="0" bIns="0" rtlCol="0" anchor="ctr"/>
          <a:lstStyle/>
          <a:p>
            <a:pPr algn="r" indent="0" marL="0">
              <a:buNone/>
            </a:pPr>
            <a:r>
              <a:rPr lang="en-US" sz="1200" dirty="0">
                <a:solidFill>
                  <a:srgbClr val="6B7280"/>
                </a:solidFill>
                <a:latin typeface="맑은 고딕" pitchFamily="34" charset="0"/>
                <a:ea typeface="맑은 고딕" pitchFamily="34" charset="-122"/>
                <a:cs typeface="맑은 고딕" pitchFamily="34" charset="-120"/>
              </a:rPr>
              <a:t>10 / 14</a:t>
            </a:r>
            <a:endParaRPr lang="en-US" sz="1200" dirty="0"/>
          </a:p>
        </p:txBody>
      </p:sp>
      <p:sp>
        <p:nvSpPr>
          <p:cNvPr id="4"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000" b="1" dirty="0">
                <a:solidFill>
                  <a:srgbClr val="1F3A5F"/>
                </a:solidFill>
                <a:latin typeface="맑은 고딕" pitchFamily="34" charset="0"/>
                <a:ea typeface="맑은 고딕" pitchFamily="34" charset="-122"/>
                <a:cs typeface="맑은 고딕" pitchFamily="34" charset="-120"/>
              </a:rPr>
              <a:t>가장 위험한 것: 기록은 「성공」인데 파일이 없다</a:t>
            </a:r>
            <a:endParaRPr lang="en-US" sz="3000" dirty="0"/>
          </a:p>
        </p:txBody>
      </p:sp>
      <p:sp>
        <p:nvSpPr>
          <p:cNvPr id="6" name="Text 3"/>
          <p:cNvSpPr txBox="1"/>
          <p:nvPr/>
        </p:nvSpPr>
        <p:spPr>
          <a:xfrm>
            <a:off x="548640" y="1600200"/>
            <a:ext cx="1783080" cy="1371600"/>
          </a:xfrm>
          <a:prstGeom prst="rect">
            <a:avLst/>
          </a:prstGeom>
          <a:noFill/>
          <a:ln/>
        </p:spPr>
        <p:txBody>
          <a:bodyPr wrap="square" lIns="0" tIns="0" rIns="0" bIns="0" rtlCol="0" anchor="ctr"/>
          <a:lstStyle/>
          <a:p>
            <a:pPr indent="0" marL="0">
              <a:buNone/>
            </a:pPr>
            <a:r>
              <a:rPr lang="en-US" sz="2200" b="1" dirty="0">
                <a:solidFill>
                  <a:srgbClr val="1F3A5F"/>
                </a:solidFill>
                <a:latin typeface="맑은 고딕" pitchFamily="34" charset="0"/>
                <a:ea typeface="맑은 고딕" pitchFamily="34" charset="-122"/>
                <a:cs typeface="맑은 고딕" pitchFamily="34" charset="-120"/>
              </a:rPr>
              <a:t>Cowork</a:t>
            </a:r>
            <a:endParaRPr lang="en-US" sz="2200" dirty="0"/>
          </a:p>
          <a:p>
            <a:pPr indent="0" marL="0">
              <a:buNone/>
            </a:pPr>
            <a:r>
              <a:rPr lang="en-US" sz="2200" b="1" dirty="0">
                <a:solidFill>
                  <a:srgbClr val="1F3A5F"/>
                </a:solidFill>
                <a:latin typeface="맑은 고딕" pitchFamily="34" charset="0"/>
                <a:ea typeface="맑은 고딕" pitchFamily="34" charset="-122"/>
                <a:cs typeface="맑은 고딕" pitchFamily="34" charset="-120"/>
              </a:rPr>
              <a:t>예약</a:t>
            </a:r>
            <a:endParaRPr lang="en-US" sz="2200" dirty="0"/>
          </a:p>
        </p:txBody>
      </p:sp>
      <p:sp>
        <p:nvSpPr>
          <p:cNvPr id="7" name="Shape 4"/>
          <p:cNvSpPr/>
          <p:nvPr/>
        </p:nvSpPr>
        <p:spPr>
          <a:xfrm>
            <a:off x="2514600" y="1600200"/>
            <a:ext cx="1965960" cy="1371600"/>
          </a:xfrm>
          <a:prstGeom prst="roundRect">
            <a:avLst>
              <a:gd name="adj" fmla="val 8000"/>
            </a:avLst>
          </a:prstGeom>
          <a:solidFill>
            <a:srgbClr val="EEF2F7"/>
          </a:solidFill>
          <a:ln w="19050">
            <a:solidFill>
              <a:srgbClr val="1F3A5F"/>
            </a:solidFill>
            <a:prstDash val="solid"/>
          </a:ln>
        </p:spPr>
      </p:sp>
      <p:pic>
        <p:nvPicPr>
          <p:cNvPr id="8" name="Image 0" descr="preencoded.png">    </p:cNvPr>
          <p:cNvPicPr>
            <a:picLocks noChangeAspect="1"/>
          </p:cNvPicPr>
          <p:nvPr/>
        </p:nvPicPr>
        <p:blipFill>
          <a:blip r:embed="rId1"/>
          <a:stretch>
            <a:fillRect/>
          </a:stretch>
        </p:blipFill>
        <p:spPr>
          <a:xfrm>
            <a:off x="3296412" y="1719072"/>
            <a:ext cx="402336" cy="402336"/>
          </a:xfrm>
          <a:prstGeom prst="rect">
            <a:avLst/>
          </a:prstGeom>
        </p:spPr>
      </p:pic>
      <p:sp>
        <p:nvSpPr>
          <p:cNvPr id="9" name="Text 5"/>
          <p:cNvSpPr txBox="1"/>
          <p:nvPr/>
        </p:nvSpPr>
        <p:spPr>
          <a:xfrm>
            <a:off x="2587752" y="2167128"/>
            <a:ext cx="1819656" cy="731520"/>
          </a:xfrm>
          <a:prstGeom prst="rect">
            <a:avLst/>
          </a:prstGeom>
          <a:noFill/>
          <a:ln/>
        </p:spPr>
        <p:txBody>
          <a:bodyPr wrap="square" lIns="0" tIns="0" rIns="0" bIns="0" rtlCol="0" anchor="ctr"/>
          <a:lstStyle/>
          <a:p>
            <a:pPr algn="ctr" indent="0" marL="0">
              <a:buNone/>
            </a:pPr>
            <a:r>
              <a:rPr lang="en-US" sz="1700" b="1" dirty="0">
                <a:solidFill>
                  <a:srgbClr val="1F2937"/>
                </a:solidFill>
                <a:latin typeface="맑은 고딕" pitchFamily="34" charset="0"/>
                <a:ea typeface="맑은 고딕" pitchFamily="34" charset="-122"/>
                <a:cs typeface="맑은 고딕" pitchFamily="34" charset="-120"/>
              </a:rPr>
              <a:t>월 10:00</a:t>
            </a:r>
            <a:endParaRPr lang="en-US" sz="1700" dirty="0"/>
          </a:p>
          <a:p>
            <a:pPr algn="ctr" indent="0" marL="0">
              <a:buNone/>
            </a:pPr>
            <a:r>
              <a:rPr lang="en-US" sz="1700" b="1" dirty="0">
                <a:solidFill>
                  <a:srgbClr val="1F2937"/>
                </a:solidFill>
                <a:latin typeface="맑은 고딕" pitchFamily="34" charset="0"/>
                <a:ea typeface="맑은 고딕" pitchFamily="34" charset="-122"/>
                <a:cs typeface="맑은 고딕" pitchFamily="34" charset="-120"/>
              </a:rPr>
              <a:t>예약 시각</a:t>
            </a:r>
            <a:endParaRPr lang="en-US" sz="1700" dirty="0"/>
          </a:p>
        </p:txBody>
      </p:sp>
      <p:sp>
        <p:nvSpPr>
          <p:cNvPr id="10" name="Shape 6"/>
          <p:cNvSpPr/>
          <p:nvPr/>
        </p:nvSpPr>
        <p:spPr>
          <a:xfrm>
            <a:off x="4535424" y="2148840"/>
            <a:ext cx="210312" cy="274320"/>
          </a:xfrm>
          <a:prstGeom prst="rightArrow">
            <a:avLst/>
          </a:prstGeom>
          <a:solidFill>
            <a:srgbClr val="6B7280"/>
          </a:solidFill>
          <a:ln w="12700">
            <a:solidFill>
              <a:srgbClr val="6B7280"/>
            </a:solidFill>
            <a:prstDash val="solid"/>
          </a:ln>
        </p:spPr>
      </p:sp>
      <p:sp>
        <p:nvSpPr>
          <p:cNvPr id="11" name="Shape 7"/>
          <p:cNvSpPr/>
          <p:nvPr/>
        </p:nvSpPr>
        <p:spPr>
          <a:xfrm>
            <a:off x="4800600" y="1600200"/>
            <a:ext cx="1965960" cy="1371600"/>
          </a:xfrm>
          <a:prstGeom prst="roundRect">
            <a:avLst>
              <a:gd name="adj" fmla="val 8000"/>
            </a:avLst>
          </a:prstGeom>
          <a:solidFill>
            <a:srgbClr val="EEF2F7"/>
          </a:solidFill>
          <a:ln w="19050">
            <a:solidFill>
              <a:srgbClr val="1F3A5F"/>
            </a:solidFill>
            <a:prstDash val="solid"/>
          </a:ln>
        </p:spPr>
      </p:sp>
      <p:pic>
        <p:nvPicPr>
          <p:cNvPr id="12" name="Image 1" descr="preencoded.png">    </p:cNvPr>
          <p:cNvPicPr>
            <a:picLocks noChangeAspect="1"/>
          </p:cNvPicPr>
          <p:nvPr/>
        </p:nvPicPr>
        <p:blipFill>
          <a:blip r:embed="rId2"/>
          <a:stretch>
            <a:fillRect/>
          </a:stretch>
        </p:blipFill>
        <p:spPr>
          <a:xfrm>
            <a:off x="5582412" y="1719072"/>
            <a:ext cx="402336" cy="402336"/>
          </a:xfrm>
          <a:prstGeom prst="rect">
            <a:avLst/>
          </a:prstGeom>
        </p:spPr>
      </p:pic>
      <p:sp>
        <p:nvSpPr>
          <p:cNvPr id="13" name="Text 8"/>
          <p:cNvSpPr txBox="1"/>
          <p:nvPr/>
        </p:nvSpPr>
        <p:spPr>
          <a:xfrm>
            <a:off x="4873752" y="2167128"/>
            <a:ext cx="1819656" cy="731520"/>
          </a:xfrm>
          <a:prstGeom prst="rect">
            <a:avLst/>
          </a:prstGeom>
          <a:noFill/>
          <a:ln/>
        </p:spPr>
        <p:txBody>
          <a:bodyPr wrap="square" lIns="0" tIns="0" rIns="0" bIns="0" rtlCol="0" anchor="ctr"/>
          <a:lstStyle/>
          <a:p>
            <a:pPr algn="ctr" indent="0" marL="0">
              <a:buNone/>
            </a:pPr>
            <a:r>
              <a:rPr lang="en-US" sz="1700" b="1" dirty="0">
                <a:solidFill>
                  <a:srgbClr val="1F2937"/>
                </a:solidFill>
                <a:latin typeface="맑은 고딕" pitchFamily="34" charset="0"/>
                <a:ea typeface="맑은 고딕" pitchFamily="34" charset="-122"/>
                <a:cs typeface="맑은 고딕" pitchFamily="34" charset="-120"/>
              </a:rPr>
              <a:t>PC가</a:t>
            </a:r>
            <a:endParaRPr lang="en-US" sz="1700" dirty="0"/>
          </a:p>
          <a:p>
            <a:pPr algn="ctr" indent="0" marL="0">
              <a:buNone/>
            </a:pPr>
            <a:r>
              <a:rPr lang="en-US" sz="1700" b="1" dirty="0">
                <a:solidFill>
                  <a:srgbClr val="1F2937"/>
                </a:solidFill>
                <a:latin typeface="맑은 고딕" pitchFamily="34" charset="0"/>
                <a:ea typeface="맑은 고딕" pitchFamily="34" charset="-122"/>
                <a:cs typeface="맑은 고딕" pitchFamily="34" charset="-120"/>
              </a:rPr>
              <a:t>꺼져 있음</a:t>
            </a:r>
            <a:endParaRPr lang="en-US" sz="1700" dirty="0"/>
          </a:p>
        </p:txBody>
      </p:sp>
      <p:sp>
        <p:nvSpPr>
          <p:cNvPr id="14" name="Shape 9"/>
          <p:cNvSpPr/>
          <p:nvPr/>
        </p:nvSpPr>
        <p:spPr>
          <a:xfrm>
            <a:off x="6821424" y="2148840"/>
            <a:ext cx="210312" cy="274320"/>
          </a:xfrm>
          <a:prstGeom prst="rightArrow">
            <a:avLst/>
          </a:prstGeom>
          <a:solidFill>
            <a:srgbClr val="6B7280"/>
          </a:solidFill>
          <a:ln w="12700">
            <a:solidFill>
              <a:srgbClr val="6B7280"/>
            </a:solidFill>
            <a:prstDash val="solid"/>
          </a:ln>
        </p:spPr>
      </p:sp>
      <p:sp>
        <p:nvSpPr>
          <p:cNvPr id="15" name="Shape 10"/>
          <p:cNvSpPr/>
          <p:nvPr/>
        </p:nvSpPr>
        <p:spPr>
          <a:xfrm>
            <a:off x="7086600" y="1600200"/>
            <a:ext cx="1965960" cy="1371600"/>
          </a:xfrm>
          <a:prstGeom prst="roundRect">
            <a:avLst>
              <a:gd name="adj" fmla="val 8000"/>
            </a:avLst>
          </a:prstGeom>
          <a:solidFill>
            <a:srgbClr val="EEF2F7"/>
          </a:solidFill>
          <a:ln w="19050">
            <a:solidFill>
              <a:srgbClr val="1F3A5F"/>
            </a:solidFill>
            <a:prstDash val="solid"/>
          </a:ln>
        </p:spPr>
      </p:sp>
      <p:pic>
        <p:nvPicPr>
          <p:cNvPr id="16" name="Image 2" descr="preencoded.png">    </p:cNvPr>
          <p:cNvPicPr>
            <a:picLocks noChangeAspect="1"/>
          </p:cNvPicPr>
          <p:nvPr/>
        </p:nvPicPr>
        <p:blipFill>
          <a:blip r:embed="rId3"/>
          <a:stretch>
            <a:fillRect/>
          </a:stretch>
        </p:blipFill>
        <p:spPr>
          <a:xfrm>
            <a:off x="7868412" y="1719072"/>
            <a:ext cx="402336" cy="402336"/>
          </a:xfrm>
          <a:prstGeom prst="rect">
            <a:avLst/>
          </a:prstGeom>
        </p:spPr>
      </p:pic>
      <p:sp>
        <p:nvSpPr>
          <p:cNvPr id="17" name="Text 11"/>
          <p:cNvSpPr txBox="1"/>
          <p:nvPr/>
        </p:nvSpPr>
        <p:spPr>
          <a:xfrm>
            <a:off x="7159752" y="2167128"/>
            <a:ext cx="1819656" cy="731520"/>
          </a:xfrm>
          <a:prstGeom prst="rect">
            <a:avLst/>
          </a:prstGeom>
          <a:noFill/>
          <a:ln/>
        </p:spPr>
        <p:txBody>
          <a:bodyPr wrap="square" lIns="0" tIns="0" rIns="0" bIns="0" rtlCol="0" anchor="ctr"/>
          <a:lstStyle/>
          <a:p>
            <a:pPr algn="ctr" indent="0" marL="0">
              <a:buNone/>
            </a:pPr>
            <a:r>
              <a:rPr lang="en-US" sz="1700" b="1" dirty="0">
                <a:solidFill>
                  <a:srgbClr val="1F2937"/>
                </a:solidFill>
                <a:latin typeface="맑은 고딕" pitchFamily="34" charset="0"/>
                <a:ea typeface="맑은 고딕" pitchFamily="34" charset="-122"/>
                <a:cs typeface="맑은 고딕" pitchFamily="34" charset="-120"/>
              </a:rPr>
              <a:t>클라우드에서 돌고</a:t>
            </a:r>
            <a:endParaRPr lang="en-US" sz="1700" dirty="0"/>
          </a:p>
          <a:p>
            <a:pPr algn="ctr" indent="0" marL="0">
              <a:buNone/>
            </a:pPr>
            <a:r>
              <a:rPr lang="en-US" sz="1700" b="1" dirty="0">
                <a:solidFill>
                  <a:srgbClr val="1F2937"/>
                </a:solidFill>
                <a:latin typeface="맑은 고딕" pitchFamily="34" charset="0"/>
                <a:ea typeface="맑은 고딕" pitchFamily="34" charset="-122"/>
                <a:cs typeface="맑은 고딕" pitchFamily="34" charset="-120"/>
              </a:rPr>
              <a:t>기록은 「성공」</a:t>
            </a:r>
            <a:endParaRPr lang="en-US" sz="1700" dirty="0"/>
          </a:p>
        </p:txBody>
      </p:sp>
      <p:sp>
        <p:nvSpPr>
          <p:cNvPr id="18" name="Shape 12"/>
          <p:cNvSpPr/>
          <p:nvPr/>
        </p:nvSpPr>
        <p:spPr>
          <a:xfrm>
            <a:off x="9107424" y="2148840"/>
            <a:ext cx="210312" cy="274320"/>
          </a:xfrm>
          <a:prstGeom prst="rightArrow">
            <a:avLst/>
          </a:prstGeom>
          <a:solidFill>
            <a:srgbClr val="6B7280"/>
          </a:solidFill>
          <a:ln w="12700">
            <a:solidFill>
              <a:srgbClr val="6B7280"/>
            </a:solidFill>
            <a:prstDash val="solid"/>
          </a:ln>
        </p:spPr>
      </p:sp>
      <p:sp>
        <p:nvSpPr>
          <p:cNvPr id="19" name="Shape 13"/>
          <p:cNvSpPr/>
          <p:nvPr/>
        </p:nvSpPr>
        <p:spPr>
          <a:xfrm>
            <a:off x="9372600" y="1600200"/>
            <a:ext cx="1965960" cy="1371600"/>
          </a:xfrm>
          <a:prstGeom prst="roundRect">
            <a:avLst>
              <a:gd name="adj" fmla="val 8000"/>
            </a:avLst>
          </a:prstGeom>
          <a:solidFill>
            <a:srgbClr val="E8590C"/>
          </a:solidFill>
          <a:ln w="19050">
            <a:solidFill>
              <a:srgbClr val="E8590C"/>
            </a:solidFill>
            <a:prstDash val="solid"/>
          </a:ln>
        </p:spPr>
      </p:sp>
      <p:pic>
        <p:nvPicPr>
          <p:cNvPr id="20" name="Image 3" descr="preencoded.png">    </p:cNvPr>
          <p:cNvPicPr>
            <a:picLocks noChangeAspect="1"/>
          </p:cNvPicPr>
          <p:nvPr/>
        </p:nvPicPr>
        <p:blipFill>
          <a:blip r:embed="rId4"/>
          <a:stretch>
            <a:fillRect/>
          </a:stretch>
        </p:blipFill>
        <p:spPr>
          <a:xfrm>
            <a:off x="10154412" y="1719072"/>
            <a:ext cx="402336" cy="402336"/>
          </a:xfrm>
          <a:prstGeom prst="rect">
            <a:avLst/>
          </a:prstGeom>
        </p:spPr>
      </p:pic>
      <p:sp>
        <p:nvSpPr>
          <p:cNvPr id="21" name="Text 14"/>
          <p:cNvSpPr txBox="1"/>
          <p:nvPr/>
        </p:nvSpPr>
        <p:spPr>
          <a:xfrm>
            <a:off x="9445752" y="2167128"/>
            <a:ext cx="1819656"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내 폴더에</a:t>
            </a:r>
            <a:endParaRPr lang="en-US" sz="1700" dirty="0"/>
          </a:p>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엑셀 없음</a:t>
            </a:r>
            <a:endParaRPr lang="en-US" sz="1700" dirty="0"/>
          </a:p>
        </p:txBody>
      </p:sp>
      <p:sp>
        <p:nvSpPr>
          <p:cNvPr id="22" name="Text 15"/>
          <p:cNvSpPr txBox="1"/>
          <p:nvPr/>
        </p:nvSpPr>
        <p:spPr>
          <a:xfrm>
            <a:off x="548640" y="3291840"/>
            <a:ext cx="1783080" cy="1371600"/>
          </a:xfrm>
          <a:prstGeom prst="rect">
            <a:avLst/>
          </a:prstGeom>
          <a:noFill/>
          <a:ln/>
        </p:spPr>
        <p:txBody>
          <a:bodyPr wrap="square" lIns="0" tIns="0" rIns="0" bIns="0" rtlCol="0" anchor="ctr"/>
          <a:lstStyle/>
          <a:p>
            <a:pPr indent="0" marL="0">
              <a:buNone/>
            </a:pPr>
            <a:r>
              <a:rPr lang="en-US" sz="2200" b="1" dirty="0">
                <a:solidFill>
                  <a:srgbClr val="E8590C"/>
                </a:solidFill>
                <a:latin typeface="맑은 고딕" pitchFamily="34" charset="0"/>
                <a:ea typeface="맑은 고딕" pitchFamily="34" charset="-122"/>
                <a:cs typeface="맑은 고딕" pitchFamily="34" charset="-120"/>
              </a:rPr>
              <a:t>Code</a:t>
            </a:r>
            <a:endParaRPr lang="en-US" sz="2200" dirty="0"/>
          </a:p>
          <a:p>
            <a:pPr indent="0" marL="0">
              <a:buNone/>
            </a:pPr>
            <a:r>
              <a:rPr lang="en-US" sz="2200" b="1" dirty="0">
                <a:solidFill>
                  <a:srgbClr val="E8590C"/>
                </a:solidFill>
                <a:latin typeface="맑은 고딕" pitchFamily="34" charset="0"/>
                <a:ea typeface="맑은 고딕" pitchFamily="34" charset="-122"/>
                <a:cs typeface="맑은 고딕" pitchFamily="34" charset="-120"/>
              </a:rPr>
              <a:t>루틴</a:t>
            </a:r>
            <a:endParaRPr lang="en-US" sz="2200" dirty="0"/>
          </a:p>
        </p:txBody>
      </p:sp>
      <p:sp>
        <p:nvSpPr>
          <p:cNvPr id="23" name="Shape 16"/>
          <p:cNvSpPr/>
          <p:nvPr/>
        </p:nvSpPr>
        <p:spPr>
          <a:xfrm>
            <a:off x="2514600" y="3291840"/>
            <a:ext cx="1965960" cy="1371600"/>
          </a:xfrm>
          <a:prstGeom prst="roundRect">
            <a:avLst>
              <a:gd name="adj" fmla="val 8000"/>
            </a:avLst>
          </a:prstGeom>
          <a:solidFill>
            <a:srgbClr val="FDF0E8"/>
          </a:solidFill>
          <a:ln w="19050">
            <a:solidFill>
              <a:srgbClr val="E8590C"/>
            </a:solidFill>
            <a:prstDash val="solid"/>
          </a:ln>
        </p:spPr>
      </p:sp>
      <p:pic>
        <p:nvPicPr>
          <p:cNvPr id="24" name="Image 4" descr="preencoded.png">    </p:cNvPr>
          <p:cNvPicPr>
            <a:picLocks noChangeAspect="1"/>
          </p:cNvPicPr>
          <p:nvPr/>
        </p:nvPicPr>
        <p:blipFill>
          <a:blip r:embed="rId5"/>
          <a:stretch>
            <a:fillRect/>
          </a:stretch>
        </p:blipFill>
        <p:spPr>
          <a:xfrm>
            <a:off x="3296412" y="3410712"/>
            <a:ext cx="402336" cy="402336"/>
          </a:xfrm>
          <a:prstGeom prst="rect">
            <a:avLst/>
          </a:prstGeom>
        </p:spPr>
      </p:pic>
      <p:sp>
        <p:nvSpPr>
          <p:cNvPr id="25" name="Text 17"/>
          <p:cNvSpPr txBox="1"/>
          <p:nvPr/>
        </p:nvSpPr>
        <p:spPr>
          <a:xfrm>
            <a:off x="2587752" y="3858768"/>
            <a:ext cx="1819656" cy="731520"/>
          </a:xfrm>
          <a:prstGeom prst="rect">
            <a:avLst/>
          </a:prstGeom>
          <a:noFill/>
          <a:ln/>
        </p:spPr>
        <p:txBody>
          <a:bodyPr wrap="square" lIns="0" tIns="0" rIns="0" bIns="0" rtlCol="0" anchor="ctr"/>
          <a:lstStyle/>
          <a:p>
            <a:pPr algn="ctr" indent="0" marL="0">
              <a:buNone/>
            </a:pPr>
            <a:r>
              <a:rPr lang="en-US" sz="1700" b="1" dirty="0">
                <a:solidFill>
                  <a:srgbClr val="1F2937"/>
                </a:solidFill>
                <a:latin typeface="맑은 고딕" pitchFamily="34" charset="0"/>
                <a:ea typeface="맑은 고딕" pitchFamily="34" charset="-122"/>
                <a:cs typeface="맑은 고딕" pitchFamily="34" charset="-120"/>
              </a:rPr>
              <a:t>월 10:00</a:t>
            </a:r>
            <a:endParaRPr lang="en-US" sz="1700" dirty="0"/>
          </a:p>
          <a:p>
            <a:pPr algn="ctr" indent="0" marL="0">
              <a:buNone/>
            </a:pPr>
            <a:r>
              <a:rPr lang="en-US" sz="1700" b="1" dirty="0">
                <a:solidFill>
                  <a:srgbClr val="1F2937"/>
                </a:solidFill>
                <a:latin typeface="맑은 고딕" pitchFamily="34" charset="0"/>
                <a:ea typeface="맑은 고딕" pitchFamily="34" charset="-122"/>
                <a:cs typeface="맑은 고딕" pitchFamily="34" charset="-120"/>
              </a:rPr>
              <a:t>예약 시각</a:t>
            </a:r>
            <a:endParaRPr lang="en-US" sz="1700" dirty="0"/>
          </a:p>
        </p:txBody>
      </p:sp>
      <p:sp>
        <p:nvSpPr>
          <p:cNvPr id="26" name="Shape 18"/>
          <p:cNvSpPr/>
          <p:nvPr/>
        </p:nvSpPr>
        <p:spPr>
          <a:xfrm>
            <a:off x="4535424" y="3840480"/>
            <a:ext cx="210312" cy="274320"/>
          </a:xfrm>
          <a:prstGeom prst="rightArrow">
            <a:avLst/>
          </a:prstGeom>
          <a:solidFill>
            <a:srgbClr val="6B7280"/>
          </a:solidFill>
          <a:ln w="12700">
            <a:solidFill>
              <a:srgbClr val="6B7280"/>
            </a:solidFill>
            <a:prstDash val="solid"/>
          </a:ln>
        </p:spPr>
      </p:sp>
      <p:sp>
        <p:nvSpPr>
          <p:cNvPr id="27" name="Shape 19"/>
          <p:cNvSpPr/>
          <p:nvPr/>
        </p:nvSpPr>
        <p:spPr>
          <a:xfrm>
            <a:off x="4800600" y="3291840"/>
            <a:ext cx="1965960" cy="1371600"/>
          </a:xfrm>
          <a:prstGeom prst="roundRect">
            <a:avLst>
              <a:gd name="adj" fmla="val 8000"/>
            </a:avLst>
          </a:prstGeom>
          <a:solidFill>
            <a:srgbClr val="FDF0E8"/>
          </a:solidFill>
          <a:ln w="19050">
            <a:solidFill>
              <a:srgbClr val="E8590C"/>
            </a:solidFill>
            <a:prstDash val="solid"/>
          </a:ln>
        </p:spPr>
      </p:sp>
      <p:pic>
        <p:nvPicPr>
          <p:cNvPr id="28" name="Image 5" descr="preencoded.png">    </p:cNvPr>
          <p:cNvPicPr>
            <a:picLocks noChangeAspect="1"/>
          </p:cNvPicPr>
          <p:nvPr/>
        </p:nvPicPr>
        <p:blipFill>
          <a:blip r:embed="rId6"/>
          <a:stretch>
            <a:fillRect/>
          </a:stretch>
        </p:blipFill>
        <p:spPr>
          <a:xfrm>
            <a:off x="5582412" y="3410712"/>
            <a:ext cx="402336" cy="402336"/>
          </a:xfrm>
          <a:prstGeom prst="rect">
            <a:avLst/>
          </a:prstGeom>
        </p:spPr>
      </p:pic>
      <p:sp>
        <p:nvSpPr>
          <p:cNvPr id="29" name="Text 20"/>
          <p:cNvSpPr txBox="1"/>
          <p:nvPr/>
        </p:nvSpPr>
        <p:spPr>
          <a:xfrm>
            <a:off x="4873752" y="3858768"/>
            <a:ext cx="1819656" cy="731520"/>
          </a:xfrm>
          <a:prstGeom prst="rect">
            <a:avLst/>
          </a:prstGeom>
          <a:noFill/>
          <a:ln/>
        </p:spPr>
        <p:txBody>
          <a:bodyPr wrap="square" lIns="0" tIns="0" rIns="0" bIns="0" rtlCol="0" anchor="ctr"/>
          <a:lstStyle/>
          <a:p>
            <a:pPr algn="ctr" indent="0" marL="0">
              <a:buNone/>
            </a:pPr>
            <a:r>
              <a:rPr lang="en-US" sz="1700" b="1" dirty="0">
                <a:solidFill>
                  <a:srgbClr val="1F2937"/>
                </a:solidFill>
                <a:latin typeface="맑은 고딕" pitchFamily="34" charset="0"/>
                <a:ea typeface="맑은 고딕" pitchFamily="34" charset="-122"/>
                <a:cs typeface="맑은 고딕" pitchFamily="34" charset="-120"/>
              </a:rPr>
              <a:t>PC 잠듦</a:t>
            </a:r>
            <a:endParaRPr lang="en-US" sz="1700" dirty="0"/>
          </a:p>
          <a:p>
            <a:pPr algn="ctr" indent="0" marL="0">
              <a:buNone/>
            </a:pPr>
            <a:r>
              <a:rPr lang="en-US" sz="1700" b="1" dirty="0">
                <a:solidFill>
                  <a:srgbClr val="1F2937"/>
                </a:solidFill>
                <a:latin typeface="맑은 고딕" pitchFamily="34" charset="0"/>
                <a:ea typeface="맑은 고딕" pitchFamily="34" charset="-122"/>
                <a:cs typeface="맑은 고딕" pitchFamily="34" charset="-120"/>
              </a:rPr>
              <a:t>→ 건너뜀</a:t>
            </a:r>
            <a:endParaRPr lang="en-US" sz="1700" dirty="0"/>
          </a:p>
        </p:txBody>
      </p:sp>
      <p:sp>
        <p:nvSpPr>
          <p:cNvPr id="30" name="Shape 21"/>
          <p:cNvSpPr/>
          <p:nvPr/>
        </p:nvSpPr>
        <p:spPr>
          <a:xfrm>
            <a:off x="6821424" y="3840480"/>
            <a:ext cx="210312" cy="274320"/>
          </a:xfrm>
          <a:prstGeom prst="rightArrow">
            <a:avLst/>
          </a:prstGeom>
          <a:solidFill>
            <a:srgbClr val="6B7280"/>
          </a:solidFill>
          <a:ln w="12700">
            <a:solidFill>
              <a:srgbClr val="6B7280"/>
            </a:solidFill>
            <a:prstDash val="solid"/>
          </a:ln>
        </p:spPr>
      </p:sp>
      <p:sp>
        <p:nvSpPr>
          <p:cNvPr id="31" name="Shape 22"/>
          <p:cNvSpPr/>
          <p:nvPr/>
        </p:nvSpPr>
        <p:spPr>
          <a:xfrm>
            <a:off x="7086600" y="3291840"/>
            <a:ext cx="1965960" cy="1371600"/>
          </a:xfrm>
          <a:prstGeom prst="roundRect">
            <a:avLst>
              <a:gd name="adj" fmla="val 8000"/>
            </a:avLst>
          </a:prstGeom>
          <a:solidFill>
            <a:srgbClr val="FDF0E8"/>
          </a:solidFill>
          <a:ln w="19050">
            <a:solidFill>
              <a:srgbClr val="E8590C"/>
            </a:solidFill>
            <a:prstDash val="solid"/>
          </a:ln>
        </p:spPr>
      </p:sp>
      <p:pic>
        <p:nvPicPr>
          <p:cNvPr id="32" name="Image 6" descr="preencoded.png">    </p:cNvPr>
          <p:cNvPicPr>
            <a:picLocks noChangeAspect="1"/>
          </p:cNvPicPr>
          <p:nvPr/>
        </p:nvPicPr>
        <p:blipFill>
          <a:blip r:embed="rId7"/>
          <a:stretch>
            <a:fillRect/>
          </a:stretch>
        </p:blipFill>
        <p:spPr>
          <a:xfrm>
            <a:off x="7868412" y="3410712"/>
            <a:ext cx="402336" cy="402336"/>
          </a:xfrm>
          <a:prstGeom prst="rect">
            <a:avLst/>
          </a:prstGeom>
        </p:spPr>
      </p:pic>
      <p:sp>
        <p:nvSpPr>
          <p:cNvPr id="33" name="Text 23"/>
          <p:cNvSpPr txBox="1"/>
          <p:nvPr/>
        </p:nvSpPr>
        <p:spPr>
          <a:xfrm>
            <a:off x="7159752" y="3858768"/>
            <a:ext cx="1819656" cy="731520"/>
          </a:xfrm>
          <a:prstGeom prst="rect">
            <a:avLst/>
          </a:prstGeom>
          <a:noFill/>
          <a:ln/>
        </p:spPr>
        <p:txBody>
          <a:bodyPr wrap="square" lIns="0" tIns="0" rIns="0" bIns="0" rtlCol="0" anchor="ctr"/>
          <a:lstStyle/>
          <a:p>
            <a:pPr algn="ctr" indent="0" marL="0">
              <a:buNone/>
            </a:pPr>
            <a:r>
              <a:rPr lang="en-US" sz="1700" b="1" dirty="0">
                <a:solidFill>
                  <a:srgbClr val="1F2937"/>
                </a:solidFill>
                <a:latin typeface="맑은 고딕" pitchFamily="34" charset="0"/>
                <a:ea typeface="맑은 고딕" pitchFamily="34" charset="-122"/>
                <a:cs typeface="맑은 고딕" pitchFamily="34" charset="-120"/>
              </a:rPr>
              <a:t>PC 깨면</a:t>
            </a:r>
            <a:endParaRPr lang="en-US" sz="1700" dirty="0"/>
          </a:p>
          <a:p>
            <a:pPr algn="ctr" indent="0" marL="0">
              <a:buNone/>
            </a:pPr>
            <a:r>
              <a:rPr lang="en-US" sz="1700" b="1" dirty="0">
                <a:solidFill>
                  <a:srgbClr val="1F2937"/>
                </a:solidFill>
                <a:latin typeface="맑은 고딕" pitchFamily="34" charset="0"/>
                <a:ea typeface="맑은 고딕" pitchFamily="34" charset="-122"/>
                <a:cs typeface="맑은 고딕" pitchFamily="34" charset="-120"/>
              </a:rPr>
              <a:t>최근 1회 따라잡기</a:t>
            </a:r>
            <a:endParaRPr lang="en-US" sz="1700" dirty="0"/>
          </a:p>
        </p:txBody>
      </p:sp>
      <p:sp>
        <p:nvSpPr>
          <p:cNvPr id="34" name="Shape 24"/>
          <p:cNvSpPr/>
          <p:nvPr/>
        </p:nvSpPr>
        <p:spPr>
          <a:xfrm>
            <a:off x="9107424" y="3840480"/>
            <a:ext cx="210312" cy="274320"/>
          </a:xfrm>
          <a:prstGeom prst="rightArrow">
            <a:avLst/>
          </a:prstGeom>
          <a:solidFill>
            <a:srgbClr val="6B7280"/>
          </a:solidFill>
          <a:ln w="12700">
            <a:solidFill>
              <a:srgbClr val="6B7280"/>
            </a:solidFill>
            <a:prstDash val="solid"/>
          </a:ln>
        </p:spPr>
      </p:sp>
      <p:sp>
        <p:nvSpPr>
          <p:cNvPr id="35" name="Shape 25"/>
          <p:cNvSpPr/>
          <p:nvPr/>
        </p:nvSpPr>
        <p:spPr>
          <a:xfrm>
            <a:off x="9372600" y="3291840"/>
            <a:ext cx="1965960" cy="1371600"/>
          </a:xfrm>
          <a:prstGeom prst="roundRect">
            <a:avLst>
              <a:gd name="adj" fmla="val 8000"/>
            </a:avLst>
          </a:prstGeom>
          <a:solidFill>
            <a:srgbClr val="1F3A5F"/>
          </a:solidFill>
          <a:ln w="19050">
            <a:solidFill>
              <a:srgbClr val="1F3A5F"/>
            </a:solidFill>
            <a:prstDash val="solid"/>
          </a:ln>
        </p:spPr>
      </p:sp>
      <p:pic>
        <p:nvPicPr>
          <p:cNvPr id="36" name="Image 7" descr="preencoded.png">    </p:cNvPr>
          <p:cNvPicPr>
            <a:picLocks noChangeAspect="1"/>
          </p:cNvPicPr>
          <p:nvPr/>
        </p:nvPicPr>
        <p:blipFill>
          <a:blip r:embed="rId8"/>
          <a:stretch>
            <a:fillRect/>
          </a:stretch>
        </p:blipFill>
        <p:spPr>
          <a:xfrm>
            <a:off x="10154412" y="3410712"/>
            <a:ext cx="402336" cy="402336"/>
          </a:xfrm>
          <a:prstGeom prst="rect">
            <a:avLst/>
          </a:prstGeom>
        </p:spPr>
      </p:pic>
      <p:sp>
        <p:nvSpPr>
          <p:cNvPr id="37" name="Text 26"/>
          <p:cNvSpPr txBox="1"/>
          <p:nvPr/>
        </p:nvSpPr>
        <p:spPr>
          <a:xfrm>
            <a:off x="9445752" y="3858768"/>
            <a:ext cx="1819656"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안 돌았으면</a:t>
            </a:r>
            <a:endParaRPr lang="en-US" sz="1700" dirty="0"/>
          </a:p>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안 돌았다고 보임</a:t>
            </a:r>
            <a:endParaRPr lang="en-US" sz="1700" dirty="0"/>
          </a:p>
        </p:txBody>
      </p:sp>
      <p:sp>
        <p:nvSpPr>
          <p:cNvPr id="38" name="Shape 27"/>
          <p:cNvSpPr/>
          <p:nvPr/>
        </p:nvSpPr>
        <p:spPr>
          <a:xfrm>
            <a:off x="548640" y="5029200"/>
            <a:ext cx="11064240" cy="1143000"/>
          </a:xfrm>
          <a:prstGeom prst="roundRect">
            <a:avLst>
              <a:gd name="adj" fmla="val 9600"/>
            </a:avLst>
          </a:prstGeom>
          <a:solidFill>
            <a:srgbClr val="FDF0E8"/>
          </a:solidFill>
          <a:ln w="31750">
            <a:solidFill>
              <a:srgbClr val="E8590C"/>
            </a:solidFill>
            <a:prstDash val="solid"/>
          </a:ln>
        </p:spPr>
      </p:sp>
      <p:pic>
        <p:nvPicPr>
          <p:cNvPr id="39" name="Image 8" descr="preencoded.png">    </p:cNvPr>
          <p:cNvPicPr>
            <a:picLocks noChangeAspect="1"/>
          </p:cNvPicPr>
          <p:nvPr/>
        </p:nvPicPr>
        <p:blipFill>
          <a:blip r:embed="rId9"/>
          <a:stretch>
            <a:fillRect/>
          </a:stretch>
        </p:blipFill>
        <p:spPr>
          <a:xfrm>
            <a:off x="868680" y="5321808"/>
            <a:ext cx="548640" cy="548640"/>
          </a:xfrm>
          <a:prstGeom prst="rect">
            <a:avLst/>
          </a:prstGeom>
        </p:spPr>
      </p:pic>
      <p:sp>
        <p:nvSpPr>
          <p:cNvPr id="40" name="Text 28"/>
          <p:cNvSpPr txBox="1"/>
          <p:nvPr/>
        </p:nvSpPr>
        <p:spPr>
          <a:xfrm>
            <a:off x="1645920" y="5029200"/>
            <a:ext cx="9784080" cy="1143000"/>
          </a:xfrm>
          <a:prstGeom prst="rect">
            <a:avLst/>
          </a:prstGeom>
          <a:noFill/>
          <a:ln/>
        </p:spPr>
        <p:txBody>
          <a:bodyPr wrap="square" lIns="0" tIns="0" rIns="0" bIns="0" rtlCol="0" anchor="ctr"/>
          <a:lstStyle/>
          <a:p>
            <a:pPr indent="0" marL="0">
              <a:buNone/>
            </a:pPr>
            <a:r>
              <a:rPr lang="en-US" sz="2200" b="1" dirty="0">
                <a:solidFill>
                  <a:srgbClr val="E8590C"/>
                </a:solidFill>
                <a:latin typeface="맑은 고딕" pitchFamily="34" charset="0"/>
                <a:ea typeface="맑은 고딕" pitchFamily="34" charset="-122"/>
                <a:cs typeface="맑은 고딕" pitchFamily="34" charset="-120"/>
              </a:rPr>
              <a:t>「성공」 = 돌았다.  결과가 나왔다는 뜻이 아닙니다</a:t>
            </a:r>
            <a:endParaRPr lang="en-US" sz="2200" dirty="0"/>
          </a:p>
          <a:p>
            <a:pPr indent="0" marL="0">
              <a:buNone/>
            </a:pPr>
            <a:r>
              <a:rPr lang="en-US" sz="1900" b="1" dirty="0">
                <a:solidFill>
                  <a:srgbClr val="1F2937"/>
                </a:solidFill>
                <a:latin typeface="맑은 고딕" pitchFamily="34" charset="0"/>
                <a:ea typeface="맑은 고딕" pitchFamily="34" charset="-122"/>
                <a:cs typeface="맑은 고딕" pitchFamily="34" charset="-120"/>
              </a:rPr>
              <a:t>폴더를 열어 파일이 있는지, 수정 시각이 오늘인지 봅니다</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01168"/>
            <a:ext cx="1143000" cy="329184"/>
          </a:xfrm>
          <a:prstGeom prst="roundRect">
            <a:avLst>
              <a:gd name="adj" fmla="val 27778"/>
            </a:avLst>
          </a:prstGeom>
          <a:solidFill>
            <a:srgbClr val="1F3A5F"/>
          </a:solidFill>
          <a:ln/>
        </p:spPr>
        <p:txBody>
          <a:bodyPr wrap="square" lIns="25400" tIns="25400" rIns="25400" bIns="2540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해결</a:t>
            </a:r>
            <a:endParaRPr lang="en-US" sz="1300" dirty="0"/>
          </a:p>
        </p:txBody>
      </p:sp>
      <p:sp>
        <p:nvSpPr>
          <p:cNvPr id="3" name="Text 1"/>
          <p:cNvSpPr txBox="1"/>
          <p:nvPr/>
        </p:nvSpPr>
        <p:spPr>
          <a:xfrm>
            <a:off x="10607040" y="6400800"/>
            <a:ext cx="1005840" cy="274320"/>
          </a:xfrm>
          <a:prstGeom prst="rect">
            <a:avLst/>
          </a:prstGeom>
          <a:noFill/>
          <a:ln/>
        </p:spPr>
        <p:txBody>
          <a:bodyPr wrap="square" lIns="0" tIns="0" rIns="0" bIns="0" rtlCol="0" anchor="ctr"/>
          <a:lstStyle/>
          <a:p>
            <a:pPr algn="r" indent="0" marL="0">
              <a:buNone/>
            </a:pPr>
            <a:r>
              <a:rPr lang="en-US" sz="1200" dirty="0">
                <a:solidFill>
                  <a:srgbClr val="6B7280"/>
                </a:solidFill>
                <a:latin typeface="맑은 고딕" pitchFamily="34" charset="0"/>
                <a:ea typeface="맑은 고딕" pitchFamily="34" charset="-122"/>
                <a:cs typeface="맑은 고딕" pitchFamily="34" charset="-120"/>
              </a:rPr>
              <a:t>11 / 14</a:t>
            </a:r>
            <a:endParaRPr lang="en-US" sz="1200" dirty="0"/>
          </a:p>
        </p:txBody>
      </p:sp>
      <p:sp>
        <p:nvSpPr>
          <p:cNvPr id="4"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000" b="1" dirty="0">
                <a:solidFill>
                  <a:srgbClr val="1F3A5F"/>
                </a:solidFill>
                <a:latin typeface="맑은 고딕" pitchFamily="34" charset="0"/>
                <a:ea typeface="맑은 고딕" pitchFamily="34" charset="-122"/>
                <a:cs typeface="맑은 고딕" pitchFamily="34" charset="-120"/>
              </a:rPr>
              <a:t>Code 탭은 내 PC에서 직접 돌아 이 문제를 피합니다</a:t>
            </a:r>
            <a:endParaRPr lang="en-US" sz="3000" dirty="0"/>
          </a:p>
        </p:txBody>
      </p:sp>
      <p:sp>
        <p:nvSpPr>
          <p:cNvPr id="6" name="Shape 3"/>
          <p:cNvSpPr/>
          <p:nvPr/>
        </p:nvSpPr>
        <p:spPr>
          <a:xfrm>
            <a:off x="548640" y="1554480"/>
            <a:ext cx="3520440" cy="2240280"/>
          </a:xfrm>
          <a:prstGeom prst="roundRect">
            <a:avLst>
              <a:gd name="adj" fmla="val 4898"/>
            </a:avLst>
          </a:prstGeom>
          <a:solidFill>
            <a:srgbClr val="FDF0E8"/>
          </a:solidFill>
          <a:ln w="12700">
            <a:solidFill>
              <a:srgbClr val="FDF0E8"/>
            </a:solidFill>
            <a:prstDash val="solid"/>
          </a:ln>
        </p:spPr>
      </p:sp>
      <p:sp>
        <p:nvSpPr>
          <p:cNvPr id="7" name="Shape 4"/>
          <p:cNvSpPr/>
          <p:nvPr/>
        </p:nvSpPr>
        <p:spPr>
          <a:xfrm>
            <a:off x="822960" y="1737360"/>
            <a:ext cx="822960" cy="822960"/>
          </a:xfrm>
          <a:prstGeom prst="ellipse">
            <a:avLst/>
          </a:prstGeom>
          <a:solidFill>
            <a:srgbClr val="E8590C"/>
          </a:solidFill>
          <a:ln w="12700">
            <a:solidFill>
              <a:srgbClr val="E8590C"/>
            </a:solidFill>
            <a:prstDash val="solid"/>
          </a:ln>
        </p:spPr>
      </p:sp>
      <p:pic>
        <p:nvPicPr>
          <p:cNvPr id="8" name="Image 0" descr="preencoded.png">    </p:cNvPr>
          <p:cNvPicPr>
            <a:picLocks noChangeAspect="1"/>
          </p:cNvPicPr>
          <p:nvPr/>
        </p:nvPicPr>
        <p:blipFill>
          <a:blip r:embed="rId1"/>
          <a:stretch>
            <a:fillRect/>
          </a:stretch>
        </p:blipFill>
        <p:spPr>
          <a:xfrm>
            <a:off x="1012241" y="1926641"/>
            <a:ext cx="444398" cy="444398"/>
          </a:xfrm>
          <a:prstGeom prst="rect">
            <a:avLst/>
          </a:prstGeom>
        </p:spPr>
      </p:pic>
      <p:sp>
        <p:nvSpPr>
          <p:cNvPr id="9" name="Text 5"/>
          <p:cNvSpPr txBox="1"/>
          <p:nvPr/>
        </p:nvSpPr>
        <p:spPr>
          <a:xfrm>
            <a:off x="1783080" y="1783080"/>
            <a:ext cx="2194560" cy="731520"/>
          </a:xfrm>
          <a:prstGeom prst="rect">
            <a:avLst/>
          </a:prstGeom>
          <a:noFill/>
          <a:ln/>
        </p:spPr>
        <p:txBody>
          <a:bodyPr wrap="square" lIns="0" tIns="0" rIns="0" bIns="0" rtlCol="0" anchor="ctr"/>
          <a:lstStyle/>
          <a:p>
            <a:pPr indent="0" marL="0">
              <a:buNone/>
            </a:pPr>
            <a:r>
              <a:rPr lang="en-US" sz="2100" b="1" dirty="0">
                <a:solidFill>
                  <a:srgbClr val="E8590C"/>
                </a:solidFill>
                <a:latin typeface="맑은 고딕" pitchFamily="34" charset="0"/>
                <a:ea typeface="맑은 고딕" pitchFamily="34" charset="-122"/>
                <a:cs typeface="맑은 고딕" pitchFamily="34" charset="-120"/>
              </a:rPr>
              <a:t>내 PC에서 직접</a:t>
            </a:r>
            <a:endParaRPr lang="en-US" sz="2100" dirty="0"/>
          </a:p>
        </p:txBody>
      </p:sp>
      <p:sp>
        <p:nvSpPr>
          <p:cNvPr id="10" name="Text 6"/>
          <p:cNvSpPr txBox="1"/>
          <p:nvPr/>
        </p:nvSpPr>
        <p:spPr>
          <a:xfrm>
            <a:off x="822960" y="2697480"/>
            <a:ext cx="3108960" cy="1005840"/>
          </a:xfrm>
          <a:prstGeom prst="rect">
            <a:avLst/>
          </a:prstGeom>
          <a:noFill/>
          <a:ln/>
        </p:spPr>
        <p:txBody>
          <a:bodyPr wrap="square" lIns="0" tIns="0" rIns="0" bIns="0" rtlCol="0" anchor="t"/>
          <a:lstStyle/>
          <a:p>
            <a:pPr indent="0" marL="0">
              <a:buNone/>
            </a:pPr>
            <a:r>
              <a:rPr lang="en-US" sz="1700" dirty="0">
                <a:solidFill>
                  <a:srgbClr val="1F2937"/>
                </a:solidFill>
                <a:latin typeface="맑은 고딕" pitchFamily="34" charset="0"/>
                <a:ea typeface="맑은 고딕" pitchFamily="34" charset="-122"/>
                <a:cs typeface="맑은 고딕" pitchFamily="34" charset="-120"/>
              </a:rPr>
              <a:t>내 파일과 도구에</a:t>
            </a:r>
            <a:endParaRPr lang="en-US" sz="1700" dirty="0"/>
          </a:p>
          <a:p>
            <a:pPr indent="0" marL="0">
              <a:buNone/>
            </a:pPr>
            <a:r>
              <a:rPr lang="en-US" sz="1700" dirty="0">
                <a:solidFill>
                  <a:srgbClr val="1F2937"/>
                </a:solidFill>
                <a:latin typeface="맑은 고딕" pitchFamily="34" charset="0"/>
                <a:ea typeface="맑은 고딕" pitchFamily="34" charset="-122"/>
                <a:cs typeface="맑은 고딕" pitchFamily="34" charset="-120"/>
              </a:rPr>
              <a:t>직접 접근 (공식 문서)</a:t>
            </a:r>
            <a:endParaRPr lang="en-US" sz="1700" dirty="0"/>
          </a:p>
        </p:txBody>
      </p:sp>
      <p:sp>
        <p:nvSpPr>
          <p:cNvPr id="11" name="Shape 7"/>
          <p:cNvSpPr/>
          <p:nvPr/>
        </p:nvSpPr>
        <p:spPr>
          <a:xfrm>
            <a:off x="4297680" y="1554480"/>
            <a:ext cx="3520440" cy="2240280"/>
          </a:xfrm>
          <a:prstGeom prst="roundRect">
            <a:avLst>
              <a:gd name="adj" fmla="val 4898"/>
            </a:avLst>
          </a:prstGeom>
          <a:solidFill>
            <a:srgbClr val="FDF0E8"/>
          </a:solidFill>
          <a:ln w="12700">
            <a:solidFill>
              <a:srgbClr val="FDF0E8"/>
            </a:solidFill>
            <a:prstDash val="solid"/>
          </a:ln>
        </p:spPr>
      </p:sp>
      <p:sp>
        <p:nvSpPr>
          <p:cNvPr id="12" name="Shape 8"/>
          <p:cNvSpPr/>
          <p:nvPr/>
        </p:nvSpPr>
        <p:spPr>
          <a:xfrm>
            <a:off x="4572000" y="1737360"/>
            <a:ext cx="822960" cy="822960"/>
          </a:xfrm>
          <a:prstGeom prst="ellipse">
            <a:avLst/>
          </a:prstGeom>
          <a:solidFill>
            <a:srgbClr val="E8590C"/>
          </a:solidFill>
          <a:ln w="12700">
            <a:solidFill>
              <a:srgbClr val="E8590C"/>
            </a:solidFill>
            <a:prstDash val="solid"/>
          </a:ln>
        </p:spPr>
      </p:sp>
      <p:pic>
        <p:nvPicPr>
          <p:cNvPr id="13" name="Image 1" descr="preencoded.png">    </p:cNvPr>
          <p:cNvPicPr>
            <a:picLocks noChangeAspect="1"/>
          </p:cNvPicPr>
          <p:nvPr/>
        </p:nvPicPr>
        <p:blipFill>
          <a:blip r:embed="rId2"/>
          <a:stretch>
            <a:fillRect/>
          </a:stretch>
        </p:blipFill>
        <p:spPr>
          <a:xfrm>
            <a:off x="4761281" y="1926641"/>
            <a:ext cx="444398" cy="444398"/>
          </a:xfrm>
          <a:prstGeom prst="rect">
            <a:avLst/>
          </a:prstGeom>
        </p:spPr>
      </p:pic>
      <p:sp>
        <p:nvSpPr>
          <p:cNvPr id="14" name="Text 9"/>
          <p:cNvSpPr txBox="1"/>
          <p:nvPr/>
        </p:nvSpPr>
        <p:spPr>
          <a:xfrm>
            <a:off x="5532120" y="1783080"/>
            <a:ext cx="2194560" cy="731520"/>
          </a:xfrm>
          <a:prstGeom prst="rect">
            <a:avLst/>
          </a:prstGeom>
          <a:noFill/>
          <a:ln/>
        </p:spPr>
        <p:txBody>
          <a:bodyPr wrap="square" lIns="0" tIns="0" rIns="0" bIns="0" rtlCol="0" anchor="ctr"/>
          <a:lstStyle/>
          <a:p>
            <a:pPr indent="0" marL="0">
              <a:buNone/>
            </a:pPr>
            <a:r>
              <a:rPr lang="en-US" sz="2100" b="1" dirty="0">
                <a:solidFill>
                  <a:srgbClr val="E8590C"/>
                </a:solidFill>
                <a:latin typeface="맑은 고딕" pitchFamily="34" charset="0"/>
                <a:ea typeface="맑은 고딕" pitchFamily="34" charset="-122"/>
                <a:cs typeface="맑은 고딕" pitchFamily="34" charset="-120"/>
              </a:rPr>
              <a:t>설정 파일 그대로</a:t>
            </a:r>
            <a:endParaRPr lang="en-US" sz="2100" dirty="0"/>
          </a:p>
        </p:txBody>
      </p:sp>
      <p:sp>
        <p:nvSpPr>
          <p:cNvPr id="15" name="Text 10"/>
          <p:cNvSpPr txBox="1"/>
          <p:nvPr/>
        </p:nvSpPr>
        <p:spPr>
          <a:xfrm>
            <a:off x="4572000" y="2697480"/>
            <a:ext cx="3108960" cy="1005840"/>
          </a:xfrm>
          <a:prstGeom prst="rect">
            <a:avLst/>
          </a:prstGeom>
          <a:noFill/>
          <a:ln/>
        </p:spPr>
        <p:txBody>
          <a:bodyPr wrap="square" lIns="0" tIns="0" rIns="0" bIns="0" rtlCol="0" anchor="t"/>
          <a:lstStyle/>
          <a:p>
            <a:pPr indent="0" marL="0">
              <a:buNone/>
            </a:pPr>
            <a:r>
              <a:rPr lang="en-US" sz="1700" dirty="0">
                <a:solidFill>
                  <a:srgbClr val="1F2937"/>
                </a:solidFill>
                <a:latin typeface="맑은 고딕" pitchFamily="34" charset="0"/>
                <a:ea typeface="맑은 고딕" pitchFamily="34" charset="-122"/>
                <a:cs typeface="맑은 고딕" pitchFamily="34" charset="-120"/>
              </a:rPr>
              <a:t>설정 파일의 MCP를</a:t>
            </a:r>
            <a:endParaRPr lang="en-US" sz="1700" dirty="0"/>
          </a:p>
          <a:p>
            <a:pPr indent="0" marL="0">
              <a:buNone/>
            </a:pPr>
            <a:r>
              <a:rPr lang="en-US" sz="1700" dirty="0">
                <a:solidFill>
                  <a:srgbClr val="1F2937"/>
                </a:solidFill>
                <a:latin typeface="맑은 고딕" pitchFamily="34" charset="0"/>
                <a:ea typeface="맑은 고딕" pitchFamily="34" charset="-122"/>
                <a:cs typeface="맑은 고딕" pitchFamily="34" charset="-120"/>
              </a:rPr>
              <a:t>Code 탭도 그대로 불러옴</a:t>
            </a:r>
            <a:endParaRPr lang="en-US" sz="1700" dirty="0"/>
          </a:p>
        </p:txBody>
      </p:sp>
      <p:sp>
        <p:nvSpPr>
          <p:cNvPr id="16" name="Shape 11"/>
          <p:cNvSpPr/>
          <p:nvPr/>
        </p:nvSpPr>
        <p:spPr>
          <a:xfrm>
            <a:off x="8046720" y="1554480"/>
            <a:ext cx="3520440" cy="2240280"/>
          </a:xfrm>
          <a:prstGeom prst="roundRect">
            <a:avLst>
              <a:gd name="adj" fmla="val 4898"/>
            </a:avLst>
          </a:prstGeom>
          <a:solidFill>
            <a:srgbClr val="FDF0E8"/>
          </a:solidFill>
          <a:ln w="12700">
            <a:solidFill>
              <a:srgbClr val="FDF0E8"/>
            </a:solidFill>
            <a:prstDash val="solid"/>
          </a:ln>
        </p:spPr>
      </p:sp>
      <p:sp>
        <p:nvSpPr>
          <p:cNvPr id="17" name="Shape 12"/>
          <p:cNvSpPr/>
          <p:nvPr/>
        </p:nvSpPr>
        <p:spPr>
          <a:xfrm>
            <a:off x="8321040" y="1737360"/>
            <a:ext cx="822960" cy="822960"/>
          </a:xfrm>
          <a:prstGeom prst="ellipse">
            <a:avLst/>
          </a:prstGeom>
          <a:solidFill>
            <a:srgbClr val="E8590C"/>
          </a:solidFill>
          <a:ln w="12700">
            <a:solidFill>
              <a:srgbClr val="E8590C"/>
            </a:solidFill>
            <a:prstDash val="solid"/>
          </a:ln>
        </p:spPr>
      </p:sp>
      <p:pic>
        <p:nvPicPr>
          <p:cNvPr id="18" name="Image 2" descr="preencoded.png">    </p:cNvPr>
          <p:cNvPicPr>
            <a:picLocks noChangeAspect="1"/>
          </p:cNvPicPr>
          <p:nvPr/>
        </p:nvPicPr>
        <p:blipFill>
          <a:blip r:embed="rId3"/>
          <a:stretch>
            <a:fillRect/>
          </a:stretch>
        </p:blipFill>
        <p:spPr>
          <a:xfrm>
            <a:off x="8510321" y="1926641"/>
            <a:ext cx="444398" cy="444398"/>
          </a:xfrm>
          <a:prstGeom prst="rect">
            <a:avLst/>
          </a:prstGeom>
        </p:spPr>
      </p:pic>
      <p:sp>
        <p:nvSpPr>
          <p:cNvPr id="19" name="Text 13"/>
          <p:cNvSpPr txBox="1"/>
          <p:nvPr/>
        </p:nvSpPr>
        <p:spPr>
          <a:xfrm>
            <a:off x="9281160" y="1783080"/>
            <a:ext cx="2194560" cy="731520"/>
          </a:xfrm>
          <a:prstGeom prst="rect">
            <a:avLst/>
          </a:prstGeom>
          <a:noFill/>
          <a:ln/>
        </p:spPr>
        <p:txBody>
          <a:bodyPr wrap="square" lIns="0" tIns="0" rIns="0" bIns="0" rtlCol="0" anchor="ctr"/>
          <a:lstStyle/>
          <a:p>
            <a:pPr indent="0" marL="0">
              <a:buNone/>
            </a:pPr>
            <a:r>
              <a:rPr lang="en-US" sz="2100" b="1" dirty="0">
                <a:solidFill>
                  <a:srgbClr val="E8590C"/>
                </a:solidFill>
                <a:latin typeface="맑은 고딕" pitchFamily="34" charset="0"/>
                <a:ea typeface="맑은 고딕" pitchFamily="34" charset="-122"/>
                <a:cs typeface="맑은 고딕" pitchFamily="34" charset="-120"/>
              </a:rPr>
              <a:t>엑셀 작업 성공</a:t>
            </a:r>
            <a:endParaRPr lang="en-US" sz="2100" dirty="0"/>
          </a:p>
        </p:txBody>
      </p:sp>
      <p:sp>
        <p:nvSpPr>
          <p:cNvPr id="20" name="Text 14"/>
          <p:cNvSpPr txBox="1"/>
          <p:nvPr/>
        </p:nvSpPr>
        <p:spPr>
          <a:xfrm>
            <a:off x="8321040" y="2697480"/>
            <a:ext cx="3108960" cy="1005840"/>
          </a:xfrm>
          <a:prstGeom prst="rect">
            <a:avLst/>
          </a:prstGeom>
          <a:noFill/>
          <a:ln/>
        </p:spPr>
        <p:txBody>
          <a:bodyPr wrap="square" lIns="0" tIns="0" rIns="0" bIns="0" rtlCol="0" anchor="t"/>
          <a:lstStyle/>
          <a:p>
            <a:pPr indent="0" marL="0">
              <a:buNone/>
            </a:pPr>
            <a:r>
              <a:rPr lang="en-US" sz="1700" dirty="0">
                <a:solidFill>
                  <a:srgbClr val="1F2937"/>
                </a:solidFill>
                <a:latin typeface="맑은 고딕" pitchFamily="34" charset="0"/>
                <a:ea typeface="맑은 고딕" pitchFamily="34" charset="-122"/>
                <a:cs typeface="맑은 고딕" pitchFamily="34" charset="-120"/>
              </a:rPr>
              <a:t>Cowork에서 실패하던</a:t>
            </a:r>
            <a:endParaRPr lang="en-US" sz="1700" dirty="0"/>
          </a:p>
          <a:p>
            <a:pPr indent="0" marL="0">
              <a:buNone/>
            </a:pPr>
            <a:r>
              <a:rPr lang="en-US" sz="1700" dirty="0">
                <a:solidFill>
                  <a:srgbClr val="1F2937"/>
                </a:solidFill>
                <a:latin typeface="맑은 고딕" pitchFamily="34" charset="0"/>
                <a:ea typeface="맑은 고딕" pitchFamily="34" charset="-122"/>
                <a:cs typeface="맑은 고딕" pitchFamily="34" charset="-120"/>
              </a:rPr>
              <a:t>9단계가 전부 성공 (실측)</a:t>
            </a:r>
            <a:endParaRPr lang="en-US" sz="1700" dirty="0"/>
          </a:p>
        </p:txBody>
      </p:sp>
      <p:sp>
        <p:nvSpPr>
          <p:cNvPr id="21" name="Text 15"/>
          <p:cNvSpPr txBox="1"/>
          <p:nvPr/>
        </p:nvSpPr>
        <p:spPr>
          <a:xfrm>
            <a:off x="548640" y="4023360"/>
            <a:ext cx="11064240" cy="411480"/>
          </a:xfrm>
          <a:prstGeom prst="rect">
            <a:avLst/>
          </a:prstGeom>
          <a:noFill/>
          <a:ln/>
        </p:spPr>
        <p:txBody>
          <a:bodyPr wrap="square" lIns="0" tIns="0" rIns="0" bIns="0" rtlCol="0" anchor="ctr"/>
          <a:lstStyle/>
          <a:p>
            <a:pPr indent="0" marL="0">
              <a:buNone/>
            </a:pPr>
            <a:r>
              <a:rPr lang="en-US" sz="2000" b="1" dirty="0">
                <a:solidFill>
                  <a:srgbClr val="1F3A5F"/>
                </a:solidFill>
                <a:latin typeface="맑은 고딕" pitchFamily="34" charset="0"/>
                <a:ea typeface="맑은 고딕" pitchFamily="34" charset="-122"/>
                <a:cs typeface="맑은 고딕" pitchFamily="34" charset="-120"/>
              </a:rPr>
              <a:t>Code 루틴으로 돌린 엑셀 9단계 (강사 PC 2026-10-14)</a:t>
            </a:r>
            <a:endParaRPr lang="en-US" sz="2000" dirty="0"/>
          </a:p>
        </p:txBody>
      </p:sp>
      <p:sp>
        <p:nvSpPr>
          <p:cNvPr id="22" name="Shape 16"/>
          <p:cNvSpPr/>
          <p:nvPr/>
        </p:nvSpPr>
        <p:spPr>
          <a:xfrm>
            <a:off x="548640" y="4572000"/>
            <a:ext cx="2103120" cy="658368"/>
          </a:xfrm>
          <a:prstGeom prst="roundRect">
            <a:avLst>
              <a:gd name="adj" fmla="val 16667"/>
            </a:avLst>
          </a:prstGeom>
          <a:solidFill>
            <a:srgbClr val="EEF2F7"/>
          </a:solidFill>
          <a:ln w="12700">
            <a:solidFill>
              <a:srgbClr val="1F3A5F"/>
            </a:solidFill>
            <a:prstDash val="solid"/>
          </a:ln>
        </p:spPr>
      </p:sp>
      <p:pic>
        <p:nvPicPr>
          <p:cNvPr id="23" name="Image 3" descr="preencoded.png">    </p:cNvPr>
          <p:cNvPicPr>
            <a:picLocks noChangeAspect="1"/>
          </p:cNvPicPr>
          <p:nvPr/>
        </p:nvPicPr>
        <p:blipFill>
          <a:blip r:embed="rId4"/>
          <a:stretch>
            <a:fillRect/>
          </a:stretch>
        </p:blipFill>
        <p:spPr>
          <a:xfrm>
            <a:off x="685800" y="4754880"/>
            <a:ext cx="292608" cy="292608"/>
          </a:xfrm>
          <a:prstGeom prst="rect">
            <a:avLst/>
          </a:prstGeom>
        </p:spPr>
      </p:pic>
      <p:sp>
        <p:nvSpPr>
          <p:cNvPr id="24" name="Text 17"/>
          <p:cNvSpPr txBox="1"/>
          <p:nvPr/>
        </p:nvSpPr>
        <p:spPr>
          <a:xfrm>
            <a:off x="1051560" y="4572000"/>
            <a:ext cx="1554480" cy="658368"/>
          </a:xfrm>
          <a:prstGeom prst="rect">
            <a:avLst/>
          </a:prstGeom>
          <a:noFill/>
          <a:ln/>
        </p:spPr>
        <p:txBody>
          <a:bodyPr wrap="square" lIns="0" tIns="0" rIns="0" bIns="0" rtlCol="0" anchor="ctr"/>
          <a:lstStyle/>
          <a:p>
            <a:pPr indent="0" marL="0">
              <a:buNone/>
            </a:pPr>
            <a:r>
              <a:rPr lang="en-US" sz="1700" b="1" dirty="0">
                <a:solidFill>
                  <a:srgbClr val="1F3A5F"/>
                </a:solidFill>
                <a:latin typeface="맑은 고딕" pitchFamily="34" charset="0"/>
                <a:ea typeface="맑은 고딕" pitchFamily="34" charset="-122"/>
                <a:cs typeface="맑은 고딕" pitchFamily="34" charset="-120"/>
              </a:rPr>
              <a:t>새 통합문서</a:t>
            </a:r>
            <a:endParaRPr lang="en-US" sz="1700" dirty="0"/>
          </a:p>
        </p:txBody>
      </p:sp>
      <p:sp>
        <p:nvSpPr>
          <p:cNvPr id="25" name="Shape 18"/>
          <p:cNvSpPr/>
          <p:nvPr/>
        </p:nvSpPr>
        <p:spPr>
          <a:xfrm>
            <a:off x="2779776" y="4572000"/>
            <a:ext cx="2103120" cy="658368"/>
          </a:xfrm>
          <a:prstGeom prst="roundRect">
            <a:avLst>
              <a:gd name="adj" fmla="val 16667"/>
            </a:avLst>
          </a:prstGeom>
          <a:solidFill>
            <a:srgbClr val="EEF2F7"/>
          </a:solidFill>
          <a:ln w="12700">
            <a:solidFill>
              <a:srgbClr val="1F3A5F"/>
            </a:solidFill>
            <a:prstDash val="solid"/>
          </a:ln>
        </p:spPr>
      </p:sp>
      <p:pic>
        <p:nvPicPr>
          <p:cNvPr id="26" name="Image 4" descr="preencoded.png">    </p:cNvPr>
          <p:cNvPicPr>
            <a:picLocks noChangeAspect="1"/>
          </p:cNvPicPr>
          <p:nvPr/>
        </p:nvPicPr>
        <p:blipFill>
          <a:blip r:embed="rId5"/>
          <a:stretch>
            <a:fillRect/>
          </a:stretch>
        </p:blipFill>
        <p:spPr>
          <a:xfrm>
            <a:off x="2916936" y="4754880"/>
            <a:ext cx="292608" cy="292608"/>
          </a:xfrm>
          <a:prstGeom prst="rect">
            <a:avLst/>
          </a:prstGeom>
        </p:spPr>
      </p:pic>
      <p:sp>
        <p:nvSpPr>
          <p:cNvPr id="27" name="Text 19"/>
          <p:cNvSpPr txBox="1"/>
          <p:nvPr/>
        </p:nvSpPr>
        <p:spPr>
          <a:xfrm>
            <a:off x="3282696" y="4572000"/>
            <a:ext cx="1554480" cy="658368"/>
          </a:xfrm>
          <a:prstGeom prst="rect">
            <a:avLst/>
          </a:prstGeom>
          <a:noFill/>
          <a:ln/>
        </p:spPr>
        <p:txBody>
          <a:bodyPr wrap="square" lIns="0" tIns="0" rIns="0" bIns="0" rtlCol="0" anchor="ctr"/>
          <a:lstStyle/>
          <a:p>
            <a:pPr indent="0" marL="0">
              <a:buNone/>
            </a:pPr>
            <a:r>
              <a:rPr lang="en-US" sz="1700" b="1" dirty="0">
                <a:solidFill>
                  <a:srgbClr val="1F3A5F"/>
                </a:solidFill>
                <a:latin typeface="맑은 고딕" pitchFamily="34" charset="0"/>
                <a:ea typeface="맑은 고딕" pitchFamily="34" charset="-122"/>
                <a:cs typeface="맑은 고딕" pitchFamily="34" charset="-120"/>
              </a:rPr>
              <a:t>데이터 넣기</a:t>
            </a:r>
            <a:endParaRPr lang="en-US" sz="1700" dirty="0"/>
          </a:p>
        </p:txBody>
      </p:sp>
      <p:sp>
        <p:nvSpPr>
          <p:cNvPr id="28" name="Shape 20"/>
          <p:cNvSpPr/>
          <p:nvPr/>
        </p:nvSpPr>
        <p:spPr>
          <a:xfrm>
            <a:off x="5010912" y="4572000"/>
            <a:ext cx="2103120" cy="658368"/>
          </a:xfrm>
          <a:prstGeom prst="roundRect">
            <a:avLst>
              <a:gd name="adj" fmla="val 16667"/>
            </a:avLst>
          </a:prstGeom>
          <a:solidFill>
            <a:srgbClr val="EEF2F7"/>
          </a:solidFill>
          <a:ln w="12700">
            <a:solidFill>
              <a:srgbClr val="1F3A5F"/>
            </a:solidFill>
            <a:prstDash val="solid"/>
          </a:ln>
        </p:spPr>
      </p:sp>
      <p:pic>
        <p:nvPicPr>
          <p:cNvPr id="29" name="Image 5" descr="preencoded.png">    </p:cNvPr>
          <p:cNvPicPr>
            <a:picLocks noChangeAspect="1"/>
          </p:cNvPicPr>
          <p:nvPr/>
        </p:nvPicPr>
        <p:blipFill>
          <a:blip r:embed="rId6"/>
          <a:stretch>
            <a:fillRect/>
          </a:stretch>
        </p:blipFill>
        <p:spPr>
          <a:xfrm>
            <a:off x="5148072" y="4754880"/>
            <a:ext cx="292608" cy="292608"/>
          </a:xfrm>
          <a:prstGeom prst="rect">
            <a:avLst/>
          </a:prstGeom>
        </p:spPr>
      </p:pic>
      <p:sp>
        <p:nvSpPr>
          <p:cNvPr id="30" name="Text 21"/>
          <p:cNvSpPr txBox="1"/>
          <p:nvPr/>
        </p:nvSpPr>
        <p:spPr>
          <a:xfrm>
            <a:off x="5513832" y="4572000"/>
            <a:ext cx="1554480" cy="658368"/>
          </a:xfrm>
          <a:prstGeom prst="rect">
            <a:avLst/>
          </a:prstGeom>
          <a:noFill/>
          <a:ln/>
        </p:spPr>
        <p:txBody>
          <a:bodyPr wrap="square" lIns="0" tIns="0" rIns="0" bIns="0" rtlCol="0" anchor="ctr"/>
          <a:lstStyle/>
          <a:p>
            <a:pPr indent="0" marL="0">
              <a:buNone/>
            </a:pPr>
            <a:r>
              <a:rPr lang="en-US" sz="1700" b="1" dirty="0">
                <a:solidFill>
                  <a:srgbClr val="1F3A5F"/>
                </a:solidFill>
                <a:latin typeface="맑은 고딕" pitchFamily="34" charset="0"/>
                <a:ea typeface="맑은 고딕" pitchFamily="34" charset="-122"/>
                <a:cs typeface="맑은 고딕" pitchFamily="34" charset="-120"/>
              </a:rPr>
              <a:t>표 만들기</a:t>
            </a:r>
            <a:endParaRPr lang="en-US" sz="1700" dirty="0"/>
          </a:p>
        </p:txBody>
      </p:sp>
      <p:sp>
        <p:nvSpPr>
          <p:cNvPr id="31" name="Shape 22"/>
          <p:cNvSpPr/>
          <p:nvPr/>
        </p:nvSpPr>
        <p:spPr>
          <a:xfrm>
            <a:off x="7242048" y="4572000"/>
            <a:ext cx="2103120" cy="658368"/>
          </a:xfrm>
          <a:prstGeom prst="roundRect">
            <a:avLst>
              <a:gd name="adj" fmla="val 16667"/>
            </a:avLst>
          </a:prstGeom>
          <a:solidFill>
            <a:srgbClr val="EEF2F7"/>
          </a:solidFill>
          <a:ln w="12700">
            <a:solidFill>
              <a:srgbClr val="1F3A5F"/>
            </a:solidFill>
            <a:prstDash val="solid"/>
          </a:ln>
        </p:spPr>
      </p:sp>
      <p:pic>
        <p:nvPicPr>
          <p:cNvPr id="32" name="Image 6" descr="preencoded.png">    </p:cNvPr>
          <p:cNvPicPr>
            <a:picLocks noChangeAspect="1"/>
          </p:cNvPicPr>
          <p:nvPr/>
        </p:nvPicPr>
        <p:blipFill>
          <a:blip r:embed="rId7"/>
          <a:stretch>
            <a:fillRect/>
          </a:stretch>
        </p:blipFill>
        <p:spPr>
          <a:xfrm>
            <a:off x="7379208" y="4754880"/>
            <a:ext cx="292608" cy="292608"/>
          </a:xfrm>
          <a:prstGeom prst="rect">
            <a:avLst/>
          </a:prstGeom>
        </p:spPr>
      </p:pic>
      <p:sp>
        <p:nvSpPr>
          <p:cNvPr id="33" name="Text 23"/>
          <p:cNvSpPr txBox="1"/>
          <p:nvPr/>
        </p:nvSpPr>
        <p:spPr>
          <a:xfrm>
            <a:off x="7744968" y="4572000"/>
            <a:ext cx="1554480" cy="658368"/>
          </a:xfrm>
          <a:prstGeom prst="rect">
            <a:avLst/>
          </a:prstGeom>
          <a:noFill/>
          <a:ln/>
        </p:spPr>
        <p:txBody>
          <a:bodyPr wrap="square" lIns="0" tIns="0" rIns="0" bIns="0" rtlCol="0" anchor="ctr"/>
          <a:lstStyle/>
          <a:p>
            <a:pPr indent="0" marL="0">
              <a:buNone/>
            </a:pPr>
            <a:r>
              <a:rPr lang="en-US" sz="1700" b="1" dirty="0">
                <a:solidFill>
                  <a:srgbClr val="1F3A5F"/>
                </a:solidFill>
                <a:latin typeface="맑은 고딕" pitchFamily="34" charset="0"/>
                <a:ea typeface="맑은 고딕" pitchFamily="34" charset="-122"/>
                <a:cs typeface="맑은 고딕" pitchFamily="34" charset="-120"/>
              </a:rPr>
              <a:t>슬라이서</a:t>
            </a:r>
            <a:endParaRPr lang="en-US" sz="1700" dirty="0"/>
          </a:p>
        </p:txBody>
      </p:sp>
      <p:sp>
        <p:nvSpPr>
          <p:cNvPr id="34" name="Shape 24"/>
          <p:cNvSpPr/>
          <p:nvPr/>
        </p:nvSpPr>
        <p:spPr>
          <a:xfrm>
            <a:off x="9473184" y="4572000"/>
            <a:ext cx="2103120" cy="658368"/>
          </a:xfrm>
          <a:prstGeom prst="roundRect">
            <a:avLst>
              <a:gd name="adj" fmla="val 16667"/>
            </a:avLst>
          </a:prstGeom>
          <a:solidFill>
            <a:srgbClr val="EEF2F7"/>
          </a:solidFill>
          <a:ln w="12700">
            <a:solidFill>
              <a:srgbClr val="1F3A5F"/>
            </a:solidFill>
            <a:prstDash val="solid"/>
          </a:ln>
        </p:spPr>
      </p:sp>
      <p:pic>
        <p:nvPicPr>
          <p:cNvPr id="35" name="Image 7" descr="preencoded.png">    </p:cNvPr>
          <p:cNvPicPr>
            <a:picLocks noChangeAspect="1"/>
          </p:cNvPicPr>
          <p:nvPr/>
        </p:nvPicPr>
        <p:blipFill>
          <a:blip r:embed="rId8"/>
          <a:stretch>
            <a:fillRect/>
          </a:stretch>
        </p:blipFill>
        <p:spPr>
          <a:xfrm>
            <a:off x="9610344" y="4754880"/>
            <a:ext cx="292608" cy="292608"/>
          </a:xfrm>
          <a:prstGeom prst="rect">
            <a:avLst/>
          </a:prstGeom>
        </p:spPr>
      </p:pic>
      <p:sp>
        <p:nvSpPr>
          <p:cNvPr id="36" name="Text 25"/>
          <p:cNvSpPr txBox="1"/>
          <p:nvPr/>
        </p:nvSpPr>
        <p:spPr>
          <a:xfrm>
            <a:off x="9976104" y="4572000"/>
            <a:ext cx="1554480" cy="658368"/>
          </a:xfrm>
          <a:prstGeom prst="rect">
            <a:avLst/>
          </a:prstGeom>
          <a:noFill/>
          <a:ln/>
        </p:spPr>
        <p:txBody>
          <a:bodyPr wrap="square" lIns="0" tIns="0" rIns="0" bIns="0" rtlCol="0" anchor="ctr"/>
          <a:lstStyle/>
          <a:p>
            <a:pPr indent="0" marL="0">
              <a:buNone/>
            </a:pPr>
            <a:r>
              <a:rPr lang="en-US" sz="1700" b="1" dirty="0">
                <a:solidFill>
                  <a:srgbClr val="1F3A5F"/>
                </a:solidFill>
                <a:latin typeface="맑은 고딕" pitchFamily="34" charset="0"/>
                <a:ea typeface="맑은 고딕" pitchFamily="34" charset="-122"/>
                <a:cs typeface="맑은 고딕" pitchFamily="34" charset="-120"/>
              </a:rPr>
              <a:t>피벗</a:t>
            </a:r>
            <a:endParaRPr lang="en-US" sz="1700" dirty="0"/>
          </a:p>
        </p:txBody>
      </p:sp>
      <p:sp>
        <p:nvSpPr>
          <p:cNvPr id="37" name="Shape 26"/>
          <p:cNvSpPr/>
          <p:nvPr/>
        </p:nvSpPr>
        <p:spPr>
          <a:xfrm>
            <a:off x="548640" y="5376672"/>
            <a:ext cx="2103120" cy="658368"/>
          </a:xfrm>
          <a:prstGeom prst="roundRect">
            <a:avLst>
              <a:gd name="adj" fmla="val 16667"/>
            </a:avLst>
          </a:prstGeom>
          <a:solidFill>
            <a:srgbClr val="EEF2F7"/>
          </a:solidFill>
          <a:ln w="12700">
            <a:solidFill>
              <a:srgbClr val="1F3A5F"/>
            </a:solidFill>
            <a:prstDash val="solid"/>
          </a:ln>
        </p:spPr>
      </p:sp>
      <p:pic>
        <p:nvPicPr>
          <p:cNvPr id="38" name="Image 8" descr="preencoded.png">    </p:cNvPr>
          <p:cNvPicPr>
            <a:picLocks noChangeAspect="1"/>
          </p:cNvPicPr>
          <p:nvPr/>
        </p:nvPicPr>
        <p:blipFill>
          <a:blip r:embed="rId9"/>
          <a:stretch>
            <a:fillRect/>
          </a:stretch>
        </p:blipFill>
        <p:spPr>
          <a:xfrm>
            <a:off x="685800" y="5559552"/>
            <a:ext cx="292608" cy="292608"/>
          </a:xfrm>
          <a:prstGeom prst="rect">
            <a:avLst/>
          </a:prstGeom>
        </p:spPr>
      </p:pic>
      <p:sp>
        <p:nvSpPr>
          <p:cNvPr id="39" name="Text 27"/>
          <p:cNvSpPr txBox="1"/>
          <p:nvPr/>
        </p:nvSpPr>
        <p:spPr>
          <a:xfrm>
            <a:off x="1051560" y="5376672"/>
            <a:ext cx="1554480" cy="658368"/>
          </a:xfrm>
          <a:prstGeom prst="rect">
            <a:avLst/>
          </a:prstGeom>
          <a:noFill/>
          <a:ln/>
        </p:spPr>
        <p:txBody>
          <a:bodyPr wrap="square" lIns="0" tIns="0" rIns="0" bIns="0" rtlCol="0" anchor="ctr"/>
          <a:lstStyle/>
          <a:p>
            <a:pPr indent="0" marL="0">
              <a:buNone/>
            </a:pPr>
            <a:r>
              <a:rPr lang="en-US" sz="1700" b="1" dirty="0">
                <a:solidFill>
                  <a:srgbClr val="1F3A5F"/>
                </a:solidFill>
                <a:latin typeface="맑은 고딕" pitchFamily="34" charset="0"/>
                <a:ea typeface="맑은 고딕" pitchFamily="34" charset="-122"/>
                <a:cs typeface="맑은 고딕" pitchFamily="34" charset="-120"/>
              </a:rPr>
              <a:t>다시 읽기</a:t>
            </a:r>
            <a:endParaRPr lang="en-US" sz="1700" dirty="0"/>
          </a:p>
        </p:txBody>
      </p:sp>
      <p:sp>
        <p:nvSpPr>
          <p:cNvPr id="40" name="Shape 28"/>
          <p:cNvSpPr/>
          <p:nvPr/>
        </p:nvSpPr>
        <p:spPr>
          <a:xfrm>
            <a:off x="2779776" y="5376672"/>
            <a:ext cx="2103120" cy="658368"/>
          </a:xfrm>
          <a:prstGeom prst="roundRect">
            <a:avLst>
              <a:gd name="adj" fmla="val 16667"/>
            </a:avLst>
          </a:prstGeom>
          <a:solidFill>
            <a:srgbClr val="EEF2F7"/>
          </a:solidFill>
          <a:ln w="12700">
            <a:solidFill>
              <a:srgbClr val="1F3A5F"/>
            </a:solidFill>
            <a:prstDash val="solid"/>
          </a:ln>
        </p:spPr>
      </p:sp>
      <p:pic>
        <p:nvPicPr>
          <p:cNvPr id="41" name="Image 9" descr="preencoded.png">    </p:cNvPr>
          <p:cNvPicPr>
            <a:picLocks noChangeAspect="1"/>
          </p:cNvPicPr>
          <p:nvPr/>
        </p:nvPicPr>
        <p:blipFill>
          <a:blip r:embed="rId10"/>
          <a:stretch>
            <a:fillRect/>
          </a:stretch>
        </p:blipFill>
        <p:spPr>
          <a:xfrm>
            <a:off x="2916936" y="5559552"/>
            <a:ext cx="292608" cy="292608"/>
          </a:xfrm>
          <a:prstGeom prst="rect">
            <a:avLst/>
          </a:prstGeom>
        </p:spPr>
      </p:pic>
      <p:sp>
        <p:nvSpPr>
          <p:cNvPr id="42" name="Text 29"/>
          <p:cNvSpPr txBox="1"/>
          <p:nvPr/>
        </p:nvSpPr>
        <p:spPr>
          <a:xfrm>
            <a:off x="3282696" y="5376672"/>
            <a:ext cx="1554480" cy="658368"/>
          </a:xfrm>
          <a:prstGeom prst="rect">
            <a:avLst/>
          </a:prstGeom>
          <a:noFill/>
          <a:ln/>
        </p:spPr>
        <p:txBody>
          <a:bodyPr wrap="square" lIns="0" tIns="0" rIns="0" bIns="0" rtlCol="0" anchor="ctr"/>
          <a:lstStyle/>
          <a:p>
            <a:pPr indent="0" marL="0">
              <a:buNone/>
            </a:pPr>
            <a:r>
              <a:rPr lang="en-US" sz="1700" b="1" dirty="0">
                <a:solidFill>
                  <a:srgbClr val="1F3A5F"/>
                </a:solidFill>
                <a:latin typeface="맑은 고딕" pitchFamily="34" charset="0"/>
                <a:ea typeface="맑은 고딕" pitchFamily="34" charset="-122"/>
                <a:cs typeface="맑은 고딕" pitchFamily="34" charset="-120"/>
              </a:rPr>
              <a:t>스크린샷</a:t>
            </a:r>
            <a:endParaRPr lang="en-US" sz="1700" dirty="0"/>
          </a:p>
        </p:txBody>
      </p:sp>
      <p:sp>
        <p:nvSpPr>
          <p:cNvPr id="43" name="Shape 30"/>
          <p:cNvSpPr/>
          <p:nvPr/>
        </p:nvSpPr>
        <p:spPr>
          <a:xfrm>
            <a:off x="5010912" y="5376672"/>
            <a:ext cx="2103120" cy="658368"/>
          </a:xfrm>
          <a:prstGeom prst="roundRect">
            <a:avLst>
              <a:gd name="adj" fmla="val 16667"/>
            </a:avLst>
          </a:prstGeom>
          <a:solidFill>
            <a:srgbClr val="EEF2F7"/>
          </a:solidFill>
          <a:ln w="12700">
            <a:solidFill>
              <a:srgbClr val="1F3A5F"/>
            </a:solidFill>
            <a:prstDash val="solid"/>
          </a:ln>
        </p:spPr>
      </p:sp>
      <p:pic>
        <p:nvPicPr>
          <p:cNvPr id="44" name="Image 10" descr="preencoded.png">    </p:cNvPr>
          <p:cNvPicPr>
            <a:picLocks noChangeAspect="1"/>
          </p:cNvPicPr>
          <p:nvPr/>
        </p:nvPicPr>
        <p:blipFill>
          <a:blip r:embed="rId11"/>
          <a:stretch>
            <a:fillRect/>
          </a:stretch>
        </p:blipFill>
        <p:spPr>
          <a:xfrm>
            <a:off x="5148072" y="5559552"/>
            <a:ext cx="292608" cy="292608"/>
          </a:xfrm>
          <a:prstGeom prst="rect">
            <a:avLst/>
          </a:prstGeom>
        </p:spPr>
      </p:pic>
      <p:sp>
        <p:nvSpPr>
          <p:cNvPr id="45" name="Text 31"/>
          <p:cNvSpPr txBox="1"/>
          <p:nvPr/>
        </p:nvSpPr>
        <p:spPr>
          <a:xfrm>
            <a:off x="5513832" y="5376672"/>
            <a:ext cx="1554480" cy="658368"/>
          </a:xfrm>
          <a:prstGeom prst="rect">
            <a:avLst/>
          </a:prstGeom>
          <a:noFill/>
          <a:ln/>
        </p:spPr>
        <p:txBody>
          <a:bodyPr wrap="square" lIns="0" tIns="0" rIns="0" bIns="0" rtlCol="0" anchor="ctr"/>
          <a:lstStyle/>
          <a:p>
            <a:pPr indent="0" marL="0">
              <a:buNone/>
            </a:pPr>
            <a:r>
              <a:rPr lang="en-US" sz="1700" b="1" dirty="0">
                <a:solidFill>
                  <a:srgbClr val="1F3A5F"/>
                </a:solidFill>
                <a:latin typeface="맑은 고딕" pitchFamily="34" charset="0"/>
                <a:ea typeface="맑은 고딕" pitchFamily="34" charset="-122"/>
                <a:cs typeface="맑은 고딕" pitchFamily="34" charset="-120"/>
              </a:rPr>
              <a:t>저장</a:t>
            </a:r>
            <a:endParaRPr lang="en-US" sz="1700" dirty="0"/>
          </a:p>
        </p:txBody>
      </p:sp>
      <p:sp>
        <p:nvSpPr>
          <p:cNvPr id="46" name="Shape 32"/>
          <p:cNvSpPr/>
          <p:nvPr/>
        </p:nvSpPr>
        <p:spPr>
          <a:xfrm>
            <a:off x="7242048" y="5376672"/>
            <a:ext cx="2103120" cy="658368"/>
          </a:xfrm>
          <a:prstGeom prst="roundRect">
            <a:avLst>
              <a:gd name="adj" fmla="val 16667"/>
            </a:avLst>
          </a:prstGeom>
          <a:solidFill>
            <a:srgbClr val="EEF2F7"/>
          </a:solidFill>
          <a:ln w="12700">
            <a:solidFill>
              <a:srgbClr val="1F3A5F"/>
            </a:solidFill>
            <a:prstDash val="solid"/>
          </a:ln>
        </p:spPr>
      </p:sp>
      <p:pic>
        <p:nvPicPr>
          <p:cNvPr id="47" name="Image 11" descr="preencoded.png">    </p:cNvPr>
          <p:cNvPicPr>
            <a:picLocks noChangeAspect="1"/>
          </p:cNvPicPr>
          <p:nvPr/>
        </p:nvPicPr>
        <p:blipFill>
          <a:blip r:embed="rId12"/>
          <a:stretch>
            <a:fillRect/>
          </a:stretch>
        </p:blipFill>
        <p:spPr>
          <a:xfrm>
            <a:off x="7379208" y="5559552"/>
            <a:ext cx="292608" cy="292608"/>
          </a:xfrm>
          <a:prstGeom prst="rect">
            <a:avLst/>
          </a:prstGeom>
        </p:spPr>
      </p:pic>
      <p:sp>
        <p:nvSpPr>
          <p:cNvPr id="48" name="Text 33"/>
          <p:cNvSpPr txBox="1"/>
          <p:nvPr/>
        </p:nvSpPr>
        <p:spPr>
          <a:xfrm>
            <a:off x="7744968" y="5376672"/>
            <a:ext cx="1554480" cy="658368"/>
          </a:xfrm>
          <a:prstGeom prst="rect">
            <a:avLst/>
          </a:prstGeom>
          <a:noFill/>
          <a:ln/>
        </p:spPr>
        <p:txBody>
          <a:bodyPr wrap="square" lIns="0" tIns="0" rIns="0" bIns="0" rtlCol="0" anchor="ctr"/>
          <a:lstStyle/>
          <a:p>
            <a:pPr indent="0" marL="0">
              <a:buNone/>
            </a:pPr>
            <a:r>
              <a:rPr lang="en-US" sz="1700" b="1" dirty="0">
                <a:solidFill>
                  <a:srgbClr val="1F3A5F"/>
                </a:solidFill>
                <a:latin typeface="맑은 고딕" pitchFamily="34" charset="0"/>
                <a:ea typeface="맑은 고딕" pitchFamily="34" charset="-122"/>
                <a:cs typeface="맑은 고딕" pitchFamily="34" charset="-120"/>
              </a:rPr>
              <a:t>다시 열기</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01168"/>
            <a:ext cx="1143000" cy="329184"/>
          </a:xfrm>
          <a:prstGeom prst="roundRect">
            <a:avLst>
              <a:gd name="adj" fmla="val 27778"/>
            </a:avLst>
          </a:prstGeom>
          <a:solidFill>
            <a:srgbClr val="1F3A5F"/>
          </a:solidFill>
          <a:ln/>
        </p:spPr>
        <p:txBody>
          <a:bodyPr wrap="square" lIns="25400" tIns="25400" rIns="25400" bIns="2540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해결</a:t>
            </a:r>
            <a:endParaRPr lang="en-US" sz="1300" dirty="0"/>
          </a:p>
        </p:txBody>
      </p:sp>
      <p:sp>
        <p:nvSpPr>
          <p:cNvPr id="3" name="Text 1"/>
          <p:cNvSpPr txBox="1"/>
          <p:nvPr/>
        </p:nvSpPr>
        <p:spPr>
          <a:xfrm>
            <a:off x="10607040" y="6400800"/>
            <a:ext cx="1005840" cy="274320"/>
          </a:xfrm>
          <a:prstGeom prst="rect">
            <a:avLst/>
          </a:prstGeom>
          <a:noFill/>
          <a:ln/>
        </p:spPr>
        <p:txBody>
          <a:bodyPr wrap="square" lIns="0" tIns="0" rIns="0" bIns="0" rtlCol="0" anchor="ctr"/>
          <a:lstStyle/>
          <a:p>
            <a:pPr algn="r" indent="0" marL="0">
              <a:buNone/>
            </a:pPr>
            <a:r>
              <a:rPr lang="en-US" sz="1200" dirty="0">
                <a:solidFill>
                  <a:srgbClr val="6B7280"/>
                </a:solidFill>
                <a:latin typeface="맑은 고딕" pitchFamily="34" charset="0"/>
                <a:ea typeface="맑은 고딕" pitchFamily="34" charset="-122"/>
                <a:cs typeface="맑은 고딕" pitchFamily="34" charset="-120"/>
              </a:rPr>
              <a:t>12 / 14</a:t>
            </a:r>
            <a:endParaRPr lang="en-US" sz="1200" dirty="0"/>
          </a:p>
        </p:txBody>
      </p:sp>
      <p:sp>
        <p:nvSpPr>
          <p:cNvPr id="4"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000" b="1" dirty="0">
                <a:solidFill>
                  <a:srgbClr val="1F3A5F"/>
                </a:solidFill>
                <a:latin typeface="맑은 고딕" pitchFamily="34" charset="0"/>
                <a:ea typeface="맑은 고딕" pitchFamily="34" charset="-122"/>
                <a:cs typeface="맑은 고딕" pitchFamily="34" charset="-120"/>
              </a:rPr>
              <a:t>세 가지를 한 표로 비교합니다</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286000"/>
                <a:gridCol w="2926080"/>
                <a:gridCol w="2926080"/>
                <a:gridCol w="2926080"/>
              </a:tblGrid>
              <a:tr h="548640">
                <a:tc>
                  <a:txBody>
                    <a:bodyPr/>
                    <a:lstStyle/>
                    <a:p>
                      <a:pPr indent="0" marL="0">
                        <a:buNone/>
                      </a:pP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Cowork 대화·예약</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F3A5F"/>
                    </a:solidFill>
                  </a:tcPr>
                </a:tc>
                <a:tc>
                  <a:txBody>
                    <a:bodyP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Code 탭 대화</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590C"/>
                    </a:solidFill>
                  </a:tcPr>
                </a:tc>
                <a:tc>
                  <a:txBody>
                    <a:bodyP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Code 루틴</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590C"/>
                    </a:solidFill>
                  </a:tcPr>
                </a:tc>
              </a:tr>
              <a:tr h="548640">
                <a:tc>
                  <a:txBody>
                    <a:bodyPr/>
                    <a:lstStyle/>
                    <a:p>
                      <a:pPr indent="0" marL="0">
                        <a:buNone/>
                      </a:pPr>
                      <a:r>
                        <a:rPr lang="en-US" sz="1800" b="1" dirty="0">
                          <a:solidFill>
                            <a:srgbClr val="1F3A5F"/>
                          </a:solidFill>
                          <a:latin typeface="맑은 고딕" pitchFamily="34" charset="0"/>
                          <a:ea typeface="맑은 고딕" pitchFamily="34" charset="-122"/>
                          <a:cs typeface="맑은 고딕" pitchFamily="34" charset="-120"/>
                        </a:rPr>
                        <a:t>어디서 도나</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7"/>
                    </a:solidFill>
                  </a:tcPr>
                </a:tc>
                <a:tc>
                  <a:txBody>
                    <a:bodyPr/>
                    <a:lstStyle/>
                    <a:p>
                      <a:pPr indent="0" marL="0">
                        <a:buNone/>
                      </a:pPr>
                      <a:r>
                        <a:rPr lang="en-US" sz="1800" dirty="0">
                          <a:solidFill>
                            <a:srgbClr val="1F2937"/>
                          </a:solidFill>
                          <a:latin typeface="맑은 고딕" pitchFamily="34" charset="0"/>
                          <a:ea typeface="맑은 고딕" pitchFamily="34" charset="-122"/>
                          <a:cs typeface="맑은 고딕" pitchFamily="34" charset="-120"/>
                        </a:rPr>
                        <a:t>인터넷 너머</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800" dirty="0">
                          <a:solidFill>
                            <a:srgbClr val="1F2937"/>
                          </a:solidFill>
                          <a:latin typeface="맑은 고딕" pitchFamily="34" charset="0"/>
                          <a:ea typeface="맑은 고딕" pitchFamily="34" charset="-122"/>
                          <a:cs typeface="맑은 고딕" pitchFamily="34" charset="-120"/>
                        </a:rPr>
                        <a:t>내 PC</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800" dirty="0">
                          <a:solidFill>
                            <a:srgbClr val="1F2937"/>
                          </a:solidFill>
                          <a:latin typeface="맑은 고딕" pitchFamily="34" charset="0"/>
                          <a:ea typeface="맑은 고딕" pitchFamily="34" charset="-122"/>
                          <a:cs typeface="맑은 고딕" pitchFamily="34" charset="-120"/>
                        </a:rPr>
                        <a:t>내 PC</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594360">
                <a:tc>
                  <a:txBody>
                    <a:bodyPr/>
                    <a:lstStyle/>
                    <a:p>
                      <a:pPr indent="0" marL="0">
                        <a:buNone/>
                      </a:pPr>
                      <a:r>
                        <a:rPr lang="en-US" sz="1800" b="1" dirty="0">
                          <a:solidFill>
                            <a:srgbClr val="1F3A5F"/>
                          </a:solidFill>
                          <a:latin typeface="맑은 고딕" pitchFamily="34" charset="0"/>
                          <a:ea typeface="맑은 고딕" pitchFamily="34" charset="-122"/>
                          <a:cs typeface="맑은 고딕" pitchFamily="34" charset="-120"/>
                        </a:rPr>
                        <a:t>PC가 꺼져 있으면</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7"/>
                    </a:solidFill>
                  </a:tcPr>
                </a:tc>
                <a:tc>
                  <a:txBody>
                    <a:bodyPr/>
                    <a:lstStyle/>
                    <a:p>
                      <a:pPr indent="0" marL="0">
                        <a:buNone/>
                      </a:pPr>
                      <a:r>
                        <a:rPr lang="en-US" sz="1800" dirty="0">
                          <a:solidFill>
                            <a:srgbClr val="1F2937"/>
                          </a:solidFill>
                          <a:latin typeface="맑은 고딕" pitchFamily="34" charset="0"/>
                          <a:ea typeface="맑은 고딕" pitchFamily="34" charset="-122"/>
                          <a:cs typeface="맑은 고딕" pitchFamily="34" charset="-120"/>
                        </a:rPr>
                        <a:t>돌지만 내 파일 못 닿음</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800" dirty="0">
                          <a:solidFill>
                            <a:srgbClr val="1F2937"/>
                          </a:solidFill>
                          <a:latin typeface="맑은 고딕" pitchFamily="34" charset="0"/>
                          <a:ea typeface="맑은 고딕" pitchFamily="34" charset="-122"/>
                          <a:cs typeface="맑은 고딕" pitchFamily="34" charset="-120"/>
                        </a:rPr>
                        <a:t>안 돎</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800" dirty="0">
                          <a:solidFill>
                            <a:srgbClr val="1F2937"/>
                          </a:solidFill>
                          <a:latin typeface="맑은 고딕" pitchFamily="34" charset="0"/>
                          <a:ea typeface="맑은 고딕" pitchFamily="34" charset="-122"/>
                          <a:cs typeface="맑은 고딕" pitchFamily="34" charset="-120"/>
                        </a:rPr>
                        <a:t>건너뜀 → 깨면 1회</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548640">
                <a:tc>
                  <a:txBody>
                    <a:bodyPr/>
                    <a:lstStyle/>
                    <a:p>
                      <a:pPr indent="0" marL="0">
                        <a:buNone/>
                      </a:pPr>
                      <a:r>
                        <a:rPr lang="en-US" sz="1800" b="1" dirty="0">
                          <a:solidFill>
                            <a:srgbClr val="1F3A5F"/>
                          </a:solidFill>
                          <a:latin typeface="맑은 고딕" pitchFamily="34" charset="0"/>
                          <a:ea typeface="맑은 고딕" pitchFamily="34" charset="-122"/>
                          <a:cs typeface="맑은 고딕" pitchFamily="34" charset="-120"/>
                        </a:rPr>
                        <a:t>PC의 MCP</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7"/>
                    </a:solidFill>
                  </a:tcPr>
                </a:tc>
                <a:tc>
                  <a:txBody>
                    <a:bodyPr/>
                    <a:lstStyle/>
                    <a:p>
                      <a:pPr indent="0" marL="0">
                        <a:buNone/>
                      </a:pPr>
                      <a:r>
                        <a:rPr lang="en-US" sz="1800" dirty="0">
                          <a:solidFill>
                            <a:srgbClr val="1F2937"/>
                          </a:solidFill>
                          <a:latin typeface="맑은 고딕" pitchFamily="34" charset="0"/>
                          <a:ea typeface="맑은 고딕" pitchFamily="34" charset="-122"/>
                          <a:cs typeface="맑은 고딕" pitchFamily="34" charset="-120"/>
                        </a:rPr>
                        <a:t>앱이 켜져 있을 때만</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800" dirty="0">
                          <a:solidFill>
                            <a:srgbClr val="1F2937"/>
                          </a:solidFill>
                          <a:latin typeface="맑은 고딕" pitchFamily="34" charset="0"/>
                          <a:ea typeface="맑은 고딕" pitchFamily="34" charset="-122"/>
                          <a:cs typeface="맑은 고딕" pitchFamily="34" charset="-120"/>
                        </a:rPr>
                        <a:t>늘 붙음</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800" dirty="0">
                          <a:solidFill>
                            <a:srgbClr val="1F2937"/>
                          </a:solidFill>
                          <a:latin typeface="맑은 고딕" pitchFamily="34" charset="0"/>
                          <a:ea typeface="맑은 고딕" pitchFamily="34" charset="-122"/>
                          <a:cs typeface="맑은 고딕" pitchFamily="34" charset="-120"/>
                        </a:rPr>
                        <a:t>늘 붙음</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960120">
                <a:tc>
                  <a:txBody>
                    <a:bodyPr/>
                    <a:lstStyle/>
                    <a:p>
                      <a:pPr indent="0" marL="0">
                        <a:buNone/>
                      </a:pPr>
                      <a:r>
                        <a:rPr lang="en-US" sz="1800" b="1" dirty="0">
                          <a:solidFill>
                            <a:srgbClr val="1F3A5F"/>
                          </a:solidFill>
                          <a:latin typeface="맑은 고딕" pitchFamily="34" charset="0"/>
                          <a:ea typeface="맑은 고딕" pitchFamily="34" charset="-122"/>
                          <a:cs typeface="맑은 고딕" pitchFamily="34" charset="-120"/>
                        </a:rPr>
                        <a:t>잘 맞는 일</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7"/>
                    </a:solidFill>
                  </a:tcPr>
                </a:tc>
                <a:tc>
                  <a:txBody>
                    <a:bodyPr/>
                    <a:lstStyle/>
                    <a:p>
                      <a:pPr indent="0" marL="0">
                        <a:buNone/>
                      </a:pPr>
                      <a:r>
                        <a:rPr lang="en-US" sz="1800" dirty="0">
                          <a:solidFill>
                            <a:srgbClr val="1F2937"/>
                          </a:solidFill>
                          <a:latin typeface="맑은 고딕" pitchFamily="34" charset="0"/>
                          <a:ea typeface="맑은 고딕" pitchFamily="34" charset="-122"/>
                          <a:cs typeface="맑은 고딕" pitchFamily="34" charset="-120"/>
                        </a:rPr>
                        <a:t>질문·요약·웹 검색</a:t>
                      </a:r>
                      <a:endParaRPr lang="en-US" sz="1800" dirty="0">
                        <a:latin typeface="맑은 고딕" charset="0"/>
                        <a:ea typeface="맑은 고딕" charset="0"/>
                        <a:cs typeface="맑은 고딕" charset="0"/>
                      </a:endParaRPr>
                    </a:p>
                    <a:p>
                      <a:pPr indent="0" marL="0">
                        <a:buNone/>
                      </a:pPr>
                      <a:r>
                        <a:rPr lang="en-US" sz="1800" dirty="0">
                          <a:solidFill>
                            <a:srgbClr val="1F2937"/>
                          </a:solidFill>
                          <a:latin typeface="맑은 고딕" pitchFamily="34" charset="0"/>
                          <a:ea typeface="맑은 고딕" pitchFamily="34" charset="-122"/>
                          <a:cs typeface="맑은 고딕" pitchFamily="34" charset="-120"/>
                        </a:rPr>
                        <a:t>휴대폰에서 확인</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800" dirty="0">
                          <a:solidFill>
                            <a:srgbClr val="1F2937"/>
                          </a:solidFill>
                          <a:latin typeface="맑은 고딕" pitchFamily="34" charset="0"/>
                          <a:ea typeface="맑은 고딕" pitchFamily="34" charset="-122"/>
                          <a:cs typeface="맑은 고딕" pitchFamily="34" charset="-120"/>
                        </a:rPr>
                        <a:t>서류 분석</a:t>
                      </a:r>
                      <a:endParaRPr lang="en-US" sz="1800" dirty="0">
                        <a:latin typeface="맑은 고딕" charset="0"/>
                        <a:ea typeface="맑은 고딕" charset="0"/>
                        <a:cs typeface="맑은 고딕" charset="0"/>
                      </a:endParaRPr>
                    </a:p>
                    <a:p>
                      <a:pPr indent="0" marL="0">
                        <a:buNone/>
                      </a:pPr>
                      <a:r>
                        <a:rPr lang="en-US" sz="1800" dirty="0">
                          <a:solidFill>
                            <a:srgbClr val="1F2937"/>
                          </a:solidFill>
                          <a:latin typeface="맑은 고딕" pitchFamily="34" charset="0"/>
                          <a:ea typeface="맑은 고딕" pitchFamily="34" charset="-122"/>
                          <a:cs typeface="맑은 고딕" pitchFamily="34" charset="-120"/>
                        </a:rPr>
                        <a:t>엑셀·PPTX 만들기</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800" dirty="0">
                          <a:solidFill>
                            <a:srgbClr val="1F2937"/>
                          </a:solidFill>
                          <a:latin typeface="맑은 고딕" pitchFamily="34" charset="0"/>
                          <a:ea typeface="맑은 고딕" pitchFamily="34" charset="-122"/>
                          <a:cs typeface="맑은 고딕" pitchFamily="34" charset="-120"/>
                        </a:rPr>
                        <a:t>매주 수집·월간 적재</a:t>
                      </a:r>
                      <a:endParaRPr lang="en-US" sz="1800" dirty="0">
                        <a:latin typeface="맑은 고딕" charset="0"/>
                        <a:ea typeface="맑은 고딕" charset="0"/>
                        <a:cs typeface="맑은 고딕" charset="0"/>
                      </a:endParaRPr>
                    </a:p>
                    <a:p>
                      <a:pPr indent="0" marL="0">
                        <a:buNone/>
                      </a:pPr>
                      <a:r>
                        <a:rPr lang="en-US" sz="1800" dirty="0">
                          <a:solidFill>
                            <a:srgbClr val="1F2937"/>
                          </a:solidFill>
                          <a:latin typeface="맑은 고딕" pitchFamily="34" charset="0"/>
                          <a:ea typeface="맑은 고딕" pitchFamily="34" charset="-122"/>
                          <a:cs typeface="맑은 고딕" pitchFamily="34" charset="-120"/>
                        </a:rPr>
                        <a:t>같은 정기 PC 작업</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914400">
                <a:tc>
                  <a:txBody>
                    <a:bodyPr/>
                    <a:lstStyle/>
                    <a:p>
                      <a:pPr indent="0" marL="0">
                        <a:buNone/>
                      </a:pPr>
                      <a:r>
                        <a:rPr lang="en-US" sz="1800" b="1" dirty="0">
                          <a:solidFill>
                            <a:srgbClr val="1F3A5F"/>
                          </a:solidFill>
                          <a:latin typeface="맑은 고딕" pitchFamily="34" charset="0"/>
                          <a:ea typeface="맑은 고딕" pitchFamily="34" charset="-122"/>
                          <a:cs typeface="맑은 고딕" pitchFamily="34" charset="-120"/>
                        </a:rPr>
                        <a:t>약점</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7"/>
                    </a:solidFill>
                  </a:tcPr>
                </a:tc>
                <a:tc>
                  <a:txBody>
                    <a:bodyPr/>
                    <a:lstStyle/>
                    <a:p>
                      <a:pPr indent="0" marL="0">
                        <a:buNone/>
                      </a:pPr>
                      <a:r>
                        <a:rPr lang="en-US" sz="1800" dirty="0">
                          <a:solidFill>
                            <a:srgbClr val="1F2937"/>
                          </a:solidFill>
                          <a:latin typeface="맑은 고딕" pitchFamily="34" charset="0"/>
                          <a:ea typeface="맑은 고딕" pitchFamily="34" charset="-122"/>
                          <a:cs typeface="맑은 고딕" pitchFamily="34" charset="-120"/>
                        </a:rPr>
                        <a:t>연결 끊김·엑셀 오류</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800" dirty="0">
                          <a:solidFill>
                            <a:srgbClr val="1F2937"/>
                          </a:solidFill>
                          <a:latin typeface="맑은 고딕" pitchFamily="34" charset="0"/>
                          <a:ea typeface="맑은 고딕" pitchFamily="34" charset="-122"/>
                          <a:cs typeface="맑은 고딕" pitchFamily="34" charset="-120"/>
                        </a:rPr>
                        <a:t>앱에서만 씀</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800" dirty="0">
                          <a:solidFill>
                            <a:srgbClr val="1F2937"/>
                          </a:solidFill>
                          <a:latin typeface="맑은 고딕" pitchFamily="34" charset="0"/>
                          <a:ea typeface="맑은 고딕" pitchFamily="34" charset="-122"/>
                          <a:cs typeface="맑은 고딕" pitchFamily="34" charset="-120"/>
                        </a:rPr>
                        <a:t>앱 켜짐·PC 깸 필요</a:t>
                      </a:r>
                      <a:endParaRPr lang="en-US" sz="1800" dirty="0">
                        <a:latin typeface="맑은 고딕" charset="0"/>
                        <a:ea typeface="맑은 고딕" charset="0"/>
                        <a:cs typeface="맑은 고딕" charset="0"/>
                      </a:endParaRPr>
                    </a:p>
                    <a:p>
                      <a:pPr indent="0" marL="0">
                        <a:buNone/>
                      </a:pPr>
                      <a:r>
                        <a:rPr lang="en-US" sz="1800" dirty="0">
                          <a:solidFill>
                            <a:srgbClr val="1F2937"/>
                          </a:solidFill>
                          <a:latin typeface="맑은 고딕" pitchFamily="34" charset="0"/>
                          <a:ea typeface="맑은 고딕" pitchFamily="34" charset="-122"/>
                          <a:cs typeface="맑은 고딕" pitchFamily="34" charset="-120"/>
                        </a:rPr>
                        <a:t>폴더 하나만 고름</a:t>
                      </a:r>
                      <a:endParaRPr lang="en-US" sz="1800" dirty="0">
                        <a:latin typeface="맑은 고딕" charset="0"/>
                        <a:ea typeface="맑은 고딕" charset="0"/>
                        <a:cs typeface="맑은 고딕" charset="0"/>
                      </a:endParaRPr>
                    </a:p>
                  </a:txBody>
                  <a:tcPr marL="101600" marR="101600" marT="50800" marB="508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
        <p:nvSpPr>
          <p:cNvPr id="7" name="Shape 3"/>
          <p:cNvSpPr/>
          <p:nvPr/>
        </p:nvSpPr>
        <p:spPr>
          <a:xfrm>
            <a:off x="548640" y="5715000"/>
            <a:ext cx="11064240" cy="548640"/>
          </a:xfrm>
          <a:prstGeom prst="roundRect">
            <a:avLst>
              <a:gd name="adj" fmla="val 20000"/>
            </a:avLst>
          </a:prstGeom>
          <a:solidFill>
            <a:srgbClr val="FDF0E8"/>
          </a:solidFill>
          <a:ln w="19050">
            <a:solidFill>
              <a:srgbClr val="E8590C"/>
            </a:solidFill>
            <a:prstDash val="solid"/>
          </a:ln>
        </p:spPr>
      </p:sp>
      <p:sp>
        <p:nvSpPr>
          <p:cNvPr id="8" name="Text 4"/>
          <p:cNvSpPr txBox="1"/>
          <p:nvPr/>
        </p:nvSpPr>
        <p:spPr>
          <a:xfrm>
            <a:off x="777240" y="5715000"/>
            <a:ext cx="10698480" cy="548640"/>
          </a:xfrm>
          <a:prstGeom prst="rect">
            <a:avLst/>
          </a:prstGeom>
          <a:noFill/>
          <a:ln/>
        </p:spPr>
        <p:txBody>
          <a:bodyPr wrap="square" lIns="0" tIns="0" rIns="0" bIns="0" rtlCol="0" anchor="ctr"/>
          <a:lstStyle/>
          <a:p>
            <a:pPr indent="0" marL="0">
              <a:buNone/>
            </a:pPr>
            <a:r>
              <a:rPr lang="en-US" sz="1800" b="1" dirty="0">
                <a:solidFill>
                  <a:srgbClr val="E8590C"/>
                </a:solidFill>
                <a:latin typeface="맑은 고딕" pitchFamily="34" charset="0"/>
                <a:ea typeface="맑은 고딕" pitchFamily="34" charset="-122"/>
                <a:cs typeface="맑은 고딕" pitchFamily="34" charset="-120"/>
              </a:rPr>
              <a:t>Code 루틴은 New routine → 반드시 「Local」 (Remote는 클라우드라 내 파일에 못 닿음)</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01168"/>
            <a:ext cx="1143000" cy="329184"/>
          </a:xfrm>
          <a:prstGeom prst="roundRect">
            <a:avLst>
              <a:gd name="adj" fmla="val 27778"/>
            </a:avLst>
          </a:prstGeom>
          <a:solidFill>
            <a:srgbClr val="1F3A5F"/>
          </a:solidFill>
          <a:ln/>
        </p:spPr>
        <p:txBody>
          <a:bodyPr wrap="square" lIns="25400" tIns="25400" rIns="25400" bIns="2540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해결</a:t>
            </a:r>
            <a:endParaRPr lang="en-US" sz="1300" dirty="0"/>
          </a:p>
        </p:txBody>
      </p:sp>
      <p:sp>
        <p:nvSpPr>
          <p:cNvPr id="3" name="Text 1"/>
          <p:cNvSpPr txBox="1"/>
          <p:nvPr/>
        </p:nvSpPr>
        <p:spPr>
          <a:xfrm>
            <a:off x="10607040" y="6400800"/>
            <a:ext cx="1005840" cy="274320"/>
          </a:xfrm>
          <a:prstGeom prst="rect">
            <a:avLst/>
          </a:prstGeom>
          <a:noFill/>
          <a:ln/>
        </p:spPr>
        <p:txBody>
          <a:bodyPr wrap="square" lIns="0" tIns="0" rIns="0" bIns="0" rtlCol="0" anchor="ctr"/>
          <a:lstStyle/>
          <a:p>
            <a:pPr algn="r" indent="0" marL="0">
              <a:buNone/>
            </a:pPr>
            <a:r>
              <a:rPr lang="en-US" sz="1200" dirty="0">
                <a:solidFill>
                  <a:srgbClr val="6B7280"/>
                </a:solidFill>
                <a:latin typeface="맑은 고딕" pitchFamily="34" charset="0"/>
                <a:ea typeface="맑은 고딕" pitchFamily="34" charset="-122"/>
                <a:cs typeface="맑은 고딕" pitchFamily="34" charset="-120"/>
              </a:rPr>
              <a:t>13 / 14</a:t>
            </a:r>
            <a:endParaRPr lang="en-US" sz="1200" dirty="0"/>
          </a:p>
        </p:txBody>
      </p:sp>
      <p:sp>
        <p:nvSpPr>
          <p:cNvPr id="4"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000" b="1" dirty="0">
                <a:solidFill>
                  <a:srgbClr val="1F3A5F"/>
                </a:solidFill>
                <a:latin typeface="맑은 고딕" pitchFamily="34" charset="0"/>
                <a:ea typeface="맑은 고딕" pitchFamily="34" charset="-122"/>
                <a:cs typeface="맑은 고딕" pitchFamily="34" charset="-120"/>
              </a:rPr>
              <a:t>질문 두 개로 어디서 할지 정합니다</a:t>
            </a:r>
            <a:endParaRPr lang="en-US" sz="3000" dirty="0"/>
          </a:p>
        </p:txBody>
      </p:sp>
      <p:sp>
        <p:nvSpPr>
          <p:cNvPr id="6" name="Text 3"/>
          <p:cNvSpPr txBox="1"/>
          <p:nvPr/>
        </p:nvSpPr>
        <p:spPr>
          <a:xfrm>
            <a:off x="2651760" y="1554480"/>
            <a:ext cx="6858000" cy="731520"/>
          </a:xfrm>
          <a:prstGeom prst="roundRect">
            <a:avLst>
              <a:gd name="adj" fmla="val 12500"/>
            </a:avLst>
          </a:prstGeom>
          <a:solidFill>
            <a:srgbClr val="1F3A5F"/>
          </a:solidFill>
          <a:ln/>
        </p:spPr>
        <p:txBody>
          <a:bodyPr wrap="square" lIns="25400" tIns="25400" rIns="25400" bIns="25400" rtlCol="0" anchor="ctr"/>
          <a:lstStyle/>
          <a:p>
            <a:pPr algn="ctr" indent="0" marL="0">
              <a:buNone/>
            </a:pPr>
            <a:r>
              <a:rPr lang="en-US" sz="2100" b="1" dirty="0">
                <a:solidFill>
                  <a:srgbClr val="FFFFFF"/>
                </a:solidFill>
                <a:latin typeface="맑은 고딕" pitchFamily="34" charset="0"/>
                <a:ea typeface="맑은 고딕" pitchFamily="34" charset="-122"/>
                <a:cs typeface="맑은 고딕" pitchFamily="34" charset="-120"/>
              </a:rPr>
              <a:t>Q1. 내 PC의 파일 · 엑셀 · MCP를 만지나요?</a:t>
            </a:r>
            <a:endParaRPr lang="en-US" sz="2100" dirty="0"/>
          </a:p>
        </p:txBody>
      </p:sp>
      <p:sp>
        <p:nvSpPr>
          <p:cNvPr id="7" name="Shape 4"/>
          <p:cNvSpPr/>
          <p:nvPr/>
        </p:nvSpPr>
        <p:spPr>
          <a:xfrm flipH="1">
            <a:off x="3337560" y="2286000"/>
            <a:ext cx="1828800" cy="457200"/>
          </a:xfrm>
          <a:prstGeom prst="line">
            <a:avLst/>
          </a:prstGeom>
          <a:noFill/>
          <a:ln w="31750">
            <a:solidFill>
              <a:srgbClr val="6B7280"/>
            </a:solidFill>
            <a:prstDash val="solid"/>
          </a:ln>
        </p:spPr>
      </p:sp>
      <p:sp>
        <p:nvSpPr>
          <p:cNvPr id="8" name="Shape 5"/>
          <p:cNvSpPr/>
          <p:nvPr/>
        </p:nvSpPr>
        <p:spPr>
          <a:xfrm>
            <a:off x="6995160" y="2286000"/>
            <a:ext cx="1828800" cy="457200"/>
          </a:xfrm>
          <a:prstGeom prst="line">
            <a:avLst/>
          </a:prstGeom>
          <a:noFill/>
          <a:ln w="31750">
            <a:solidFill>
              <a:srgbClr val="6B7280"/>
            </a:solidFill>
            <a:prstDash val="solid"/>
          </a:ln>
        </p:spPr>
      </p:sp>
      <p:sp>
        <p:nvSpPr>
          <p:cNvPr id="9" name="Text 6"/>
          <p:cNvSpPr txBox="1"/>
          <p:nvPr/>
        </p:nvSpPr>
        <p:spPr>
          <a:xfrm>
            <a:off x="2834640" y="2240280"/>
            <a:ext cx="1371600" cy="365760"/>
          </a:xfrm>
          <a:prstGeom prst="rect">
            <a:avLst/>
          </a:prstGeom>
          <a:noFill/>
          <a:ln/>
        </p:spPr>
        <p:txBody>
          <a:bodyPr wrap="square" lIns="0" tIns="0" rIns="0" bIns="0" rtlCol="0" anchor="ctr"/>
          <a:lstStyle/>
          <a:p>
            <a:pPr indent="0" marL="0">
              <a:buNone/>
            </a:pPr>
            <a:r>
              <a:rPr lang="en-US" sz="1800" b="1" dirty="0">
                <a:solidFill>
                  <a:srgbClr val="1F3A5F"/>
                </a:solidFill>
                <a:latin typeface="맑은 고딕" pitchFamily="34" charset="0"/>
                <a:ea typeface="맑은 고딕" pitchFamily="34" charset="-122"/>
                <a:cs typeface="맑은 고딕" pitchFamily="34" charset="-120"/>
              </a:rPr>
              <a:t>아니요</a:t>
            </a:r>
            <a:endParaRPr lang="en-US" sz="1800" dirty="0"/>
          </a:p>
        </p:txBody>
      </p:sp>
      <p:sp>
        <p:nvSpPr>
          <p:cNvPr id="10" name="Text 7"/>
          <p:cNvSpPr txBox="1"/>
          <p:nvPr/>
        </p:nvSpPr>
        <p:spPr>
          <a:xfrm>
            <a:off x="8778240" y="2240280"/>
            <a:ext cx="914400" cy="365760"/>
          </a:xfrm>
          <a:prstGeom prst="rect">
            <a:avLst/>
          </a:prstGeom>
          <a:noFill/>
          <a:ln/>
        </p:spPr>
        <p:txBody>
          <a:bodyPr wrap="square" lIns="0" tIns="0" rIns="0" bIns="0" rtlCol="0" anchor="ctr"/>
          <a:lstStyle/>
          <a:p>
            <a:pPr algn="r" indent="0" marL="0">
              <a:buNone/>
            </a:pPr>
            <a:r>
              <a:rPr lang="en-US" sz="1800" b="1" dirty="0">
                <a:solidFill>
                  <a:srgbClr val="E8590C"/>
                </a:solidFill>
                <a:latin typeface="맑은 고딕" pitchFamily="34" charset="0"/>
                <a:ea typeface="맑은 고딕" pitchFamily="34" charset="-122"/>
                <a:cs typeface="맑은 고딕" pitchFamily="34" charset="-120"/>
              </a:rPr>
              <a:t>예</a:t>
            </a:r>
            <a:endParaRPr lang="en-US" sz="1800" dirty="0"/>
          </a:p>
        </p:txBody>
      </p:sp>
      <p:sp>
        <p:nvSpPr>
          <p:cNvPr id="11" name="Text 8"/>
          <p:cNvSpPr txBox="1"/>
          <p:nvPr/>
        </p:nvSpPr>
        <p:spPr>
          <a:xfrm>
            <a:off x="548640" y="2788920"/>
            <a:ext cx="5394960" cy="594360"/>
          </a:xfrm>
          <a:prstGeom prst="roundRect">
            <a:avLst>
              <a:gd name="adj" fmla="val 15385"/>
            </a:avLst>
          </a:prstGeom>
          <a:solidFill>
            <a:srgbClr val="EEF2F7"/>
          </a:solidFill>
          <a:ln w="19050">
            <a:solidFill>
              <a:srgbClr val="1F3A5F"/>
            </a:solidFill>
          </a:ln>
        </p:spPr>
        <p:txBody>
          <a:bodyPr wrap="square" lIns="25400" tIns="25400" rIns="25400" bIns="25400" rtlCol="0" anchor="ctr"/>
          <a:lstStyle/>
          <a:p>
            <a:pPr algn="ctr" indent="0" marL="0">
              <a:buNone/>
            </a:pPr>
            <a:r>
              <a:rPr lang="en-US" sz="1800" b="1" dirty="0">
                <a:solidFill>
                  <a:srgbClr val="1F3A5F"/>
                </a:solidFill>
                <a:latin typeface="맑은 고딕" pitchFamily="34" charset="0"/>
                <a:ea typeface="맑은 고딕" pitchFamily="34" charset="-122"/>
                <a:cs typeface="맑은 고딕" pitchFamily="34" charset="-120"/>
              </a:rPr>
              <a:t>Q2. 정해진 시간에 반복하나요?</a:t>
            </a:r>
            <a:endParaRPr lang="en-US" sz="1800" dirty="0"/>
          </a:p>
        </p:txBody>
      </p:sp>
      <p:sp>
        <p:nvSpPr>
          <p:cNvPr id="12" name="Text 9"/>
          <p:cNvSpPr txBox="1"/>
          <p:nvPr/>
        </p:nvSpPr>
        <p:spPr>
          <a:xfrm>
            <a:off x="548640" y="3474720"/>
            <a:ext cx="2606040" cy="320040"/>
          </a:xfrm>
          <a:prstGeom prst="rect">
            <a:avLst/>
          </a:prstGeom>
          <a:noFill/>
          <a:ln/>
        </p:spPr>
        <p:txBody>
          <a:bodyPr wrap="square" lIns="0" tIns="0" rIns="0" bIns="0" rtlCol="0" anchor="ctr"/>
          <a:lstStyle/>
          <a:p>
            <a:pPr algn="ctr" indent="0" marL="0">
              <a:buNone/>
            </a:pPr>
            <a:r>
              <a:rPr lang="en-US" sz="1600" b="1" dirty="0">
                <a:solidFill>
                  <a:srgbClr val="6B7280"/>
                </a:solidFill>
                <a:latin typeface="맑은 고딕" pitchFamily="34" charset="0"/>
                <a:ea typeface="맑은 고딕" pitchFamily="34" charset="-122"/>
                <a:cs typeface="맑은 고딕" pitchFamily="34" charset="-120"/>
              </a:rPr>
              <a:t>아니요</a:t>
            </a:r>
            <a:endParaRPr lang="en-US" sz="1600" dirty="0"/>
          </a:p>
        </p:txBody>
      </p:sp>
      <p:sp>
        <p:nvSpPr>
          <p:cNvPr id="13" name="Shape 10"/>
          <p:cNvSpPr/>
          <p:nvPr/>
        </p:nvSpPr>
        <p:spPr>
          <a:xfrm>
            <a:off x="548640" y="3840480"/>
            <a:ext cx="2606040" cy="2331720"/>
          </a:xfrm>
          <a:prstGeom prst="roundRect">
            <a:avLst>
              <a:gd name="adj" fmla="val 4706"/>
            </a:avLst>
          </a:prstGeom>
          <a:solidFill>
            <a:srgbClr val="FFFFFF"/>
          </a:solidFill>
          <a:ln w="25400">
            <a:solidFill>
              <a:srgbClr val="1F3A5F"/>
            </a:solidFill>
            <a:prstDash val="solid"/>
          </a:ln>
        </p:spPr>
      </p:sp>
      <p:pic>
        <p:nvPicPr>
          <p:cNvPr id="14" name="Image 0" descr="preencoded.png">    </p:cNvPr>
          <p:cNvPicPr>
            <a:picLocks noChangeAspect="1"/>
          </p:cNvPicPr>
          <p:nvPr/>
        </p:nvPicPr>
        <p:blipFill>
          <a:blip r:embed="rId1"/>
          <a:stretch>
            <a:fillRect/>
          </a:stretch>
        </p:blipFill>
        <p:spPr>
          <a:xfrm>
            <a:off x="1600200" y="3977640"/>
            <a:ext cx="502920" cy="502920"/>
          </a:xfrm>
          <a:prstGeom prst="rect">
            <a:avLst/>
          </a:prstGeom>
        </p:spPr>
      </p:pic>
      <p:sp>
        <p:nvSpPr>
          <p:cNvPr id="15" name="Text 11"/>
          <p:cNvSpPr txBox="1"/>
          <p:nvPr/>
        </p:nvSpPr>
        <p:spPr>
          <a:xfrm>
            <a:off x="640080" y="4572000"/>
            <a:ext cx="2423160" cy="502920"/>
          </a:xfrm>
          <a:prstGeom prst="rect">
            <a:avLst/>
          </a:prstGeom>
          <a:noFill/>
          <a:ln/>
        </p:spPr>
        <p:txBody>
          <a:bodyPr wrap="square" lIns="0" tIns="0" rIns="0" bIns="0" rtlCol="0" anchor="ctr"/>
          <a:lstStyle/>
          <a:p>
            <a:pPr algn="ctr" indent="0" marL="0">
              <a:buNone/>
            </a:pPr>
            <a:r>
              <a:rPr lang="en-US" sz="2100" b="1" dirty="0">
                <a:solidFill>
                  <a:srgbClr val="1F3A5F"/>
                </a:solidFill>
                <a:latin typeface="맑은 고딕" pitchFamily="34" charset="0"/>
                <a:ea typeface="맑은 고딕" pitchFamily="34" charset="-122"/>
                <a:cs typeface="맑은 고딕" pitchFamily="34" charset="-120"/>
              </a:rPr>
              <a:t>Cowork 대화</a:t>
            </a:r>
            <a:endParaRPr lang="en-US" sz="2100" dirty="0"/>
          </a:p>
        </p:txBody>
      </p:sp>
      <p:sp>
        <p:nvSpPr>
          <p:cNvPr id="16" name="Text 12"/>
          <p:cNvSpPr txBox="1"/>
          <p:nvPr/>
        </p:nvSpPr>
        <p:spPr>
          <a:xfrm>
            <a:off x="685800" y="5074920"/>
            <a:ext cx="2331720" cy="1005840"/>
          </a:xfrm>
          <a:prstGeom prst="rect">
            <a:avLst/>
          </a:prstGeom>
          <a:noFill/>
          <a:ln/>
        </p:spPr>
        <p:txBody>
          <a:bodyPr wrap="square" lIns="0" tIns="0" rIns="0" bIns="0" rtlCol="0" anchor="t"/>
          <a:lstStyle/>
          <a:p>
            <a:pPr algn="ctr" indent="0" marL="0">
              <a:buNone/>
            </a:pPr>
            <a:r>
              <a:rPr lang="en-US" sz="1500" dirty="0">
                <a:solidFill>
                  <a:srgbClr val="1F2937"/>
                </a:solidFill>
                <a:latin typeface="맑은 고딕" pitchFamily="34" charset="0"/>
                <a:ea typeface="맑은 고딕" pitchFamily="34" charset="-122"/>
                <a:cs typeface="맑은 고딕" pitchFamily="34" charset="-120"/>
              </a:rPr>
              <a:t>예) 이 기사 요약해줘</a:t>
            </a:r>
            <a:endParaRPr lang="en-US" sz="1500" dirty="0"/>
          </a:p>
          <a:p>
            <a:pPr algn="ctr" indent="0" marL="0">
              <a:buNone/>
            </a:pPr>
            <a:r>
              <a:rPr lang="en-US" sz="1500" dirty="0">
                <a:solidFill>
                  <a:srgbClr val="1F2937"/>
                </a:solidFill>
                <a:latin typeface="맑은 고딕" pitchFamily="34" charset="0"/>
                <a:ea typeface="맑은 고딕" pitchFamily="34" charset="-122"/>
                <a:cs typeface="맑은 고딕" pitchFamily="34" charset="-120"/>
              </a:rPr>
              <a:t>휴대폰으로 묻기</a:t>
            </a:r>
            <a:endParaRPr lang="en-US" sz="1500" dirty="0"/>
          </a:p>
        </p:txBody>
      </p:sp>
      <p:sp>
        <p:nvSpPr>
          <p:cNvPr id="17" name="Text 13"/>
          <p:cNvSpPr txBox="1"/>
          <p:nvPr/>
        </p:nvSpPr>
        <p:spPr>
          <a:xfrm>
            <a:off x="3337560" y="3474720"/>
            <a:ext cx="2606040" cy="320040"/>
          </a:xfrm>
          <a:prstGeom prst="rect">
            <a:avLst/>
          </a:prstGeom>
          <a:noFill/>
          <a:ln/>
        </p:spPr>
        <p:txBody>
          <a:bodyPr wrap="square" lIns="0" tIns="0" rIns="0" bIns="0" rtlCol="0" anchor="ctr"/>
          <a:lstStyle/>
          <a:p>
            <a:pPr algn="ctr" indent="0" marL="0">
              <a:buNone/>
            </a:pPr>
            <a:r>
              <a:rPr lang="en-US" sz="1600" b="1" dirty="0">
                <a:solidFill>
                  <a:srgbClr val="6B7280"/>
                </a:solidFill>
                <a:latin typeface="맑은 고딕" pitchFamily="34" charset="0"/>
                <a:ea typeface="맑은 고딕" pitchFamily="34" charset="-122"/>
                <a:cs typeface="맑은 고딕" pitchFamily="34" charset="-120"/>
              </a:rPr>
              <a:t>예</a:t>
            </a:r>
            <a:endParaRPr lang="en-US" sz="1600" dirty="0"/>
          </a:p>
        </p:txBody>
      </p:sp>
      <p:sp>
        <p:nvSpPr>
          <p:cNvPr id="18" name="Shape 14"/>
          <p:cNvSpPr/>
          <p:nvPr/>
        </p:nvSpPr>
        <p:spPr>
          <a:xfrm>
            <a:off x="3337560" y="3840480"/>
            <a:ext cx="2606040" cy="2331720"/>
          </a:xfrm>
          <a:prstGeom prst="roundRect">
            <a:avLst>
              <a:gd name="adj" fmla="val 4706"/>
            </a:avLst>
          </a:prstGeom>
          <a:solidFill>
            <a:srgbClr val="EEF2F7"/>
          </a:solidFill>
          <a:ln w="25400">
            <a:solidFill>
              <a:srgbClr val="1F3A5F"/>
            </a:solidFill>
            <a:prstDash val="solid"/>
          </a:ln>
        </p:spPr>
      </p:sp>
      <p:pic>
        <p:nvPicPr>
          <p:cNvPr id="19" name="Image 1" descr="preencoded.png">    </p:cNvPr>
          <p:cNvPicPr>
            <a:picLocks noChangeAspect="1"/>
          </p:cNvPicPr>
          <p:nvPr/>
        </p:nvPicPr>
        <p:blipFill>
          <a:blip r:embed="rId2"/>
          <a:stretch>
            <a:fillRect/>
          </a:stretch>
        </p:blipFill>
        <p:spPr>
          <a:xfrm>
            <a:off x="4389120" y="3977640"/>
            <a:ext cx="502920" cy="502920"/>
          </a:xfrm>
          <a:prstGeom prst="rect">
            <a:avLst/>
          </a:prstGeom>
        </p:spPr>
      </p:pic>
      <p:sp>
        <p:nvSpPr>
          <p:cNvPr id="20" name="Text 15"/>
          <p:cNvSpPr txBox="1"/>
          <p:nvPr/>
        </p:nvSpPr>
        <p:spPr>
          <a:xfrm>
            <a:off x="3429000" y="4572000"/>
            <a:ext cx="2423160" cy="502920"/>
          </a:xfrm>
          <a:prstGeom prst="rect">
            <a:avLst/>
          </a:prstGeom>
          <a:noFill/>
          <a:ln/>
        </p:spPr>
        <p:txBody>
          <a:bodyPr wrap="square" lIns="0" tIns="0" rIns="0" bIns="0" rtlCol="0" anchor="ctr"/>
          <a:lstStyle/>
          <a:p>
            <a:pPr algn="ctr" indent="0" marL="0">
              <a:buNone/>
            </a:pPr>
            <a:r>
              <a:rPr lang="en-US" sz="2100" b="1" dirty="0">
                <a:solidFill>
                  <a:srgbClr val="1F3A5F"/>
                </a:solidFill>
                <a:latin typeface="맑은 고딕" pitchFamily="34" charset="0"/>
                <a:ea typeface="맑은 고딕" pitchFamily="34" charset="-122"/>
                <a:cs typeface="맑은 고딕" pitchFamily="34" charset="-120"/>
              </a:rPr>
              <a:t>Cowork 예약</a:t>
            </a:r>
            <a:endParaRPr lang="en-US" sz="2100" dirty="0"/>
          </a:p>
        </p:txBody>
      </p:sp>
      <p:sp>
        <p:nvSpPr>
          <p:cNvPr id="21" name="Text 16"/>
          <p:cNvSpPr txBox="1"/>
          <p:nvPr/>
        </p:nvSpPr>
        <p:spPr>
          <a:xfrm>
            <a:off x="3474720" y="5074920"/>
            <a:ext cx="2331720" cy="1005840"/>
          </a:xfrm>
          <a:prstGeom prst="rect">
            <a:avLst/>
          </a:prstGeom>
          <a:noFill/>
          <a:ln/>
        </p:spPr>
        <p:txBody>
          <a:bodyPr wrap="square" lIns="0" tIns="0" rIns="0" bIns="0" rtlCol="0" anchor="t"/>
          <a:lstStyle/>
          <a:p>
            <a:pPr algn="ctr" indent="0" marL="0">
              <a:buNone/>
            </a:pPr>
            <a:r>
              <a:rPr lang="en-US" sz="1500" dirty="0">
                <a:solidFill>
                  <a:srgbClr val="1F2937"/>
                </a:solidFill>
                <a:latin typeface="맑은 고딕" pitchFamily="34" charset="0"/>
                <a:ea typeface="맑은 고딕" pitchFamily="34" charset="-122"/>
                <a:cs typeface="맑은 고딕" pitchFamily="34" charset="-120"/>
              </a:rPr>
              <a:t>예) 매일 아침</a:t>
            </a:r>
            <a:endParaRPr lang="en-US" sz="1500" dirty="0"/>
          </a:p>
          <a:p>
            <a:pPr algn="ctr" indent="0" marL="0">
              <a:buNone/>
            </a:pPr>
            <a:r>
              <a:rPr lang="en-US" sz="1500" dirty="0">
                <a:solidFill>
                  <a:srgbClr val="1F2937"/>
                </a:solidFill>
                <a:latin typeface="맑은 고딕" pitchFamily="34" charset="0"/>
                <a:ea typeface="맑은 고딕" pitchFamily="34" charset="-122"/>
                <a:cs typeface="맑은 고딕" pitchFamily="34" charset="-120"/>
              </a:rPr>
              <a:t>뉴스 요약 받기</a:t>
            </a:r>
            <a:endParaRPr lang="en-US" sz="1500" dirty="0"/>
          </a:p>
        </p:txBody>
      </p:sp>
      <p:sp>
        <p:nvSpPr>
          <p:cNvPr id="22" name="Text 17"/>
          <p:cNvSpPr txBox="1"/>
          <p:nvPr/>
        </p:nvSpPr>
        <p:spPr>
          <a:xfrm>
            <a:off x="6217920" y="2788920"/>
            <a:ext cx="5394960" cy="594360"/>
          </a:xfrm>
          <a:prstGeom prst="roundRect">
            <a:avLst>
              <a:gd name="adj" fmla="val 15385"/>
            </a:avLst>
          </a:prstGeom>
          <a:solidFill>
            <a:srgbClr val="FDF0E8"/>
          </a:solidFill>
          <a:ln w="19050">
            <a:solidFill>
              <a:srgbClr val="E8590C"/>
            </a:solidFill>
          </a:ln>
        </p:spPr>
        <p:txBody>
          <a:bodyPr wrap="square" lIns="25400" tIns="25400" rIns="25400" bIns="25400" rtlCol="0" anchor="ctr"/>
          <a:lstStyle/>
          <a:p>
            <a:pPr algn="ctr" indent="0" marL="0">
              <a:buNone/>
            </a:pPr>
            <a:r>
              <a:rPr lang="en-US" sz="1800" b="1" dirty="0">
                <a:solidFill>
                  <a:srgbClr val="E8590C"/>
                </a:solidFill>
                <a:latin typeface="맑은 고딕" pitchFamily="34" charset="0"/>
                <a:ea typeface="맑은 고딕" pitchFamily="34" charset="-122"/>
                <a:cs typeface="맑은 고딕" pitchFamily="34" charset="-120"/>
              </a:rPr>
              <a:t>Q2. 정해진 시간에 반복하나요?</a:t>
            </a:r>
            <a:endParaRPr lang="en-US" sz="1800" dirty="0"/>
          </a:p>
        </p:txBody>
      </p:sp>
      <p:sp>
        <p:nvSpPr>
          <p:cNvPr id="23" name="Text 18"/>
          <p:cNvSpPr txBox="1"/>
          <p:nvPr/>
        </p:nvSpPr>
        <p:spPr>
          <a:xfrm>
            <a:off x="6217920" y="3474720"/>
            <a:ext cx="2606040" cy="320040"/>
          </a:xfrm>
          <a:prstGeom prst="rect">
            <a:avLst/>
          </a:prstGeom>
          <a:noFill/>
          <a:ln/>
        </p:spPr>
        <p:txBody>
          <a:bodyPr wrap="square" lIns="0" tIns="0" rIns="0" bIns="0" rtlCol="0" anchor="ctr"/>
          <a:lstStyle/>
          <a:p>
            <a:pPr algn="ctr" indent="0" marL="0">
              <a:buNone/>
            </a:pPr>
            <a:r>
              <a:rPr lang="en-US" sz="1600" b="1" dirty="0">
                <a:solidFill>
                  <a:srgbClr val="6B7280"/>
                </a:solidFill>
                <a:latin typeface="맑은 고딕" pitchFamily="34" charset="0"/>
                <a:ea typeface="맑은 고딕" pitchFamily="34" charset="-122"/>
                <a:cs typeface="맑은 고딕" pitchFamily="34" charset="-120"/>
              </a:rPr>
              <a:t>아니요</a:t>
            </a:r>
            <a:endParaRPr lang="en-US" sz="1600" dirty="0"/>
          </a:p>
        </p:txBody>
      </p:sp>
      <p:sp>
        <p:nvSpPr>
          <p:cNvPr id="24" name="Shape 19"/>
          <p:cNvSpPr/>
          <p:nvPr/>
        </p:nvSpPr>
        <p:spPr>
          <a:xfrm>
            <a:off x="6217920" y="3840480"/>
            <a:ext cx="2606040" cy="2331720"/>
          </a:xfrm>
          <a:prstGeom prst="roundRect">
            <a:avLst>
              <a:gd name="adj" fmla="val 4706"/>
            </a:avLst>
          </a:prstGeom>
          <a:solidFill>
            <a:srgbClr val="FFFFFF"/>
          </a:solidFill>
          <a:ln w="25400">
            <a:solidFill>
              <a:srgbClr val="E8590C"/>
            </a:solidFill>
            <a:prstDash val="solid"/>
          </a:ln>
        </p:spPr>
      </p:sp>
      <p:pic>
        <p:nvPicPr>
          <p:cNvPr id="25" name="Image 2" descr="preencoded.png">    </p:cNvPr>
          <p:cNvPicPr>
            <a:picLocks noChangeAspect="1"/>
          </p:cNvPicPr>
          <p:nvPr/>
        </p:nvPicPr>
        <p:blipFill>
          <a:blip r:embed="rId3"/>
          <a:stretch>
            <a:fillRect/>
          </a:stretch>
        </p:blipFill>
        <p:spPr>
          <a:xfrm>
            <a:off x="7269480" y="3977640"/>
            <a:ext cx="502920" cy="502920"/>
          </a:xfrm>
          <a:prstGeom prst="rect">
            <a:avLst/>
          </a:prstGeom>
        </p:spPr>
      </p:pic>
      <p:sp>
        <p:nvSpPr>
          <p:cNvPr id="26" name="Text 20"/>
          <p:cNvSpPr txBox="1"/>
          <p:nvPr/>
        </p:nvSpPr>
        <p:spPr>
          <a:xfrm>
            <a:off x="6309360" y="4572000"/>
            <a:ext cx="2423160" cy="502920"/>
          </a:xfrm>
          <a:prstGeom prst="rect">
            <a:avLst/>
          </a:prstGeom>
          <a:noFill/>
          <a:ln/>
        </p:spPr>
        <p:txBody>
          <a:bodyPr wrap="square" lIns="0" tIns="0" rIns="0" bIns="0" rtlCol="0" anchor="ctr"/>
          <a:lstStyle/>
          <a:p>
            <a:pPr algn="ctr" indent="0" marL="0">
              <a:buNone/>
            </a:pPr>
            <a:r>
              <a:rPr lang="en-US" sz="2100" b="1" dirty="0">
                <a:solidFill>
                  <a:srgbClr val="E8590C"/>
                </a:solidFill>
                <a:latin typeface="맑은 고딕" pitchFamily="34" charset="0"/>
                <a:ea typeface="맑은 고딕" pitchFamily="34" charset="-122"/>
                <a:cs typeface="맑은 고딕" pitchFamily="34" charset="-120"/>
              </a:rPr>
              <a:t>Code 탭</a:t>
            </a:r>
            <a:endParaRPr lang="en-US" sz="2100" dirty="0"/>
          </a:p>
        </p:txBody>
      </p:sp>
      <p:sp>
        <p:nvSpPr>
          <p:cNvPr id="27" name="Text 21"/>
          <p:cNvSpPr txBox="1"/>
          <p:nvPr/>
        </p:nvSpPr>
        <p:spPr>
          <a:xfrm>
            <a:off x="6355080" y="5074920"/>
            <a:ext cx="2331720" cy="1005840"/>
          </a:xfrm>
          <a:prstGeom prst="rect">
            <a:avLst/>
          </a:prstGeom>
          <a:noFill/>
          <a:ln/>
        </p:spPr>
        <p:txBody>
          <a:bodyPr wrap="square" lIns="0" tIns="0" rIns="0" bIns="0" rtlCol="0" anchor="t"/>
          <a:lstStyle/>
          <a:p>
            <a:pPr algn="ctr" indent="0" marL="0">
              <a:buNone/>
            </a:pPr>
            <a:r>
              <a:rPr lang="en-US" sz="1500" dirty="0">
                <a:solidFill>
                  <a:srgbClr val="1F2937"/>
                </a:solidFill>
                <a:latin typeface="맑은 고딕" pitchFamily="34" charset="0"/>
                <a:ea typeface="맑은 고딕" pitchFamily="34" charset="-122"/>
                <a:cs typeface="맑은 고딕" pitchFamily="34" charset="-120"/>
              </a:rPr>
              <a:t>예) 이 폴더 서류로</a:t>
            </a:r>
            <a:endParaRPr lang="en-US" sz="1500" dirty="0"/>
          </a:p>
          <a:p>
            <a:pPr algn="ctr" indent="0" marL="0">
              <a:buNone/>
            </a:pPr>
            <a:r>
              <a:rPr lang="en-US" sz="1500" dirty="0">
                <a:solidFill>
                  <a:srgbClr val="1F2937"/>
                </a:solidFill>
                <a:latin typeface="맑은 고딕" pitchFamily="34" charset="0"/>
                <a:ea typeface="맑은 고딕" pitchFamily="34" charset="-122"/>
                <a:cs typeface="맑은 고딕" pitchFamily="34" charset="-120"/>
              </a:rPr>
              <a:t>물건카드 PPTX 만들어줘</a:t>
            </a:r>
            <a:endParaRPr lang="en-US" sz="1500" dirty="0"/>
          </a:p>
        </p:txBody>
      </p:sp>
      <p:sp>
        <p:nvSpPr>
          <p:cNvPr id="28" name="Text 22"/>
          <p:cNvSpPr txBox="1"/>
          <p:nvPr/>
        </p:nvSpPr>
        <p:spPr>
          <a:xfrm>
            <a:off x="9006840" y="3474720"/>
            <a:ext cx="2606040" cy="320040"/>
          </a:xfrm>
          <a:prstGeom prst="rect">
            <a:avLst/>
          </a:prstGeom>
          <a:noFill/>
          <a:ln/>
        </p:spPr>
        <p:txBody>
          <a:bodyPr wrap="square" lIns="0" tIns="0" rIns="0" bIns="0" rtlCol="0" anchor="ctr"/>
          <a:lstStyle/>
          <a:p>
            <a:pPr algn="ctr" indent="0" marL="0">
              <a:buNone/>
            </a:pPr>
            <a:r>
              <a:rPr lang="en-US" sz="1600" b="1" dirty="0">
                <a:solidFill>
                  <a:srgbClr val="6B7280"/>
                </a:solidFill>
                <a:latin typeface="맑은 고딕" pitchFamily="34" charset="0"/>
                <a:ea typeface="맑은 고딕" pitchFamily="34" charset="-122"/>
                <a:cs typeface="맑은 고딕" pitchFamily="34" charset="-120"/>
              </a:rPr>
              <a:t>예</a:t>
            </a:r>
            <a:endParaRPr lang="en-US" sz="1600" dirty="0"/>
          </a:p>
        </p:txBody>
      </p:sp>
      <p:sp>
        <p:nvSpPr>
          <p:cNvPr id="29" name="Shape 23"/>
          <p:cNvSpPr/>
          <p:nvPr/>
        </p:nvSpPr>
        <p:spPr>
          <a:xfrm>
            <a:off x="9006840" y="3840480"/>
            <a:ext cx="2606040" cy="2331720"/>
          </a:xfrm>
          <a:prstGeom prst="roundRect">
            <a:avLst>
              <a:gd name="adj" fmla="val 4706"/>
            </a:avLst>
          </a:prstGeom>
          <a:solidFill>
            <a:srgbClr val="FDF0E8"/>
          </a:solidFill>
          <a:ln w="25400">
            <a:solidFill>
              <a:srgbClr val="E8590C"/>
            </a:solidFill>
            <a:prstDash val="solid"/>
          </a:ln>
        </p:spPr>
      </p:sp>
      <p:pic>
        <p:nvPicPr>
          <p:cNvPr id="30" name="Image 3" descr="preencoded.png">    </p:cNvPr>
          <p:cNvPicPr>
            <a:picLocks noChangeAspect="1"/>
          </p:cNvPicPr>
          <p:nvPr/>
        </p:nvPicPr>
        <p:blipFill>
          <a:blip r:embed="rId4"/>
          <a:stretch>
            <a:fillRect/>
          </a:stretch>
        </p:blipFill>
        <p:spPr>
          <a:xfrm>
            <a:off x="10058400" y="3977640"/>
            <a:ext cx="502920" cy="502920"/>
          </a:xfrm>
          <a:prstGeom prst="rect">
            <a:avLst/>
          </a:prstGeom>
        </p:spPr>
      </p:pic>
      <p:sp>
        <p:nvSpPr>
          <p:cNvPr id="31" name="Text 24"/>
          <p:cNvSpPr txBox="1"/>
          <p:nvPr/>
        </p:nvSpPr>
        <p:spPr>
          <a:xfrm>
            <a:off x="9098280" y="4572000"/>
            <a:ext cx="2423160" cy="502920"/>
          </a:xfrm>
          <a:prstGeom prst="rect">
            <a:avLst/>
          </a:prstGeom>
          <a:noFill/>
          <a:ln/>
        </p:spPr>
        <p:txBody>
          <a:bodyPr wrap="square" lIns="0" tIns="0" rIns="0" bIns="0" rtlCol="0" anchor="ctr"/>
          <a:lstStyle/>
          <a:p>
            <a:pPr algn="ctr" indent="0" marL="0">
              <a:buNone/>
            </a:pPr>
            <a:r>
              <a:rPr lang="en-US" sz="2100" b="1" dirty="0">
                <a:solidFill>
                  <a:srgbClr val="E8590C"/>
                </a:solidFill>
                <a:latin typeface="맑은 고딕" pitchFamily="34" charset="0"/>
                <a:ea typeface="맑은 고딕" pitchFamily="34" charset="-122"/>
                <a:cs typeface="맑은 고딕" pitchFamily="34" charset="-120"/>
              </a:rPr>
              <a:t>Code 루틴</a:t>
            </a:r>
            <a:endParaRPr lang="en-US" sz="2100" dirty="0"/>
          </a:p>
        </p:txBody>
      </p:sp>
      <p:sp>
        <p:nvSpPr>
          <p:cNvPr id="32" name="Text 25"/>
          <p:cNvSpPr txBox="1"/>
          <p:nvPr/>
        </p:nvSpPr>
        <p:spPr>
          <a:xfrm>
            <a:off x="9144000" y="5074920"/>
            <a:ext cx="2331720" cy="1005840"/>
          </a:xfrm>
          <a:prstGeom prst="rect">
            <a:avLst/>
          </a:prstGeom>
          <a:noFill/>
          <a:ln/>
        </p:spPr>
        <p:txBody>
          <a:bodyPr wrap="square" lIns="0" tIns="0" rIns="0" bIns="0" rtlCol="0" anchor="t"/>
          <a:lstStyle/>
          <a:p>
            <a:pPr algn="ctr" indent="0" marL="0">
              <a:buNone/>
            </a:pPr>
            <a:r>
              <a:rPr lang="en-US" sz="1500" dirty="0">
                <a:solidFill>
                  <a:srgbClr val="1F2937"/>
                </a:solidFill>
                <a:latin typeface="맑은 고딕" pitchFamily="34" charset="0"/>
                <a:ea typeface="맑은 고딕" pitchFamily="34" charset="-122"/>
                <a:cs typeface="맑은 고딕" pitchFamily="34" charset="-120"/>
              </a:rPr>
              <a:t>예) 매주 월요일 신건</a:t>
            </a:r>
            <a:endParaRPr lang="en-US" sz="1500" dirty="0"/>
          </a:p>
          <a:p>
            <a:pPr algn="ctr" indent="0" marL="0">
              <a:buNone/>
            </a:pPr>
            <a:r>
              <a:rPr lang="en-US" sz="1500" dirty="0">
                <a:solidFill>
                  <a:srgbClr val="1F2937"/>
                </a:solidFill>
                <a:latin typeface="맑은 고딕" pitchFamily="34" charset="0"/>
                <a:ea typeface="맑은 고딕" pitchFamily="34" charset="-122"/>
                <a:cs typeface="맑은 고딕" pitchFamily="34" charset="-120"/>
              </a:rPr>
              <a:t>모아 엑셀로 저장</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01168"/>
            <a:ext cx="1143000" cy="329184"/>
          </a:xfrm>
          <a:prstGeom prst="roundRect">
            <a:avLst>
              <a:gd name="adj" fmla="val 27778"/>
            </a:avLst>
          </a:prstGeom>
          <a:solidFill>
            <a:srgbClr val="1F3A5F"/>
          </a:solidFill>
          <a:ln/>
        </p:spPr>
        <p:txBody>
          <a:bodyPr wrap="square" lIns="25400" tIns="25400" rIns="25400" bIns="2540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정리</a:t>
            </a:r>
            <a:endParaRPr lang="en-US" sz="1300" dirty="0"/>
          </a:p>
        </p:txBody>
      </p:sp>
      <p:sp>
        <p:nvSpPr>
          <p:cNvPr id="3" name="Text 1"/>
          <p:cNvSpPr txBox="1"/>
          <p:nvPr/>
        </p:nvSpPr>
        <p:spPr>
          <a:xfrm>
            <a:off x="10607040" y="6400800"/>
            <a:ext cx="1005840" cy="274320"/>
          </a:xfrm>
          <a:prstGeom prst="rect">
            <a:avLst/>
          </a:prstGeom>
          <a:noFill/>
          <a:ln/>
        </p:spPr>
        <p:txBody>
          <a:bodyPr wrap="square" lIns="0" tIns="0" rIns="0" bIns="0" rtlCol="0" anchor="ctr"/>
          <a:lstStyle/>
          <a:p>
            <a:pPr algn="r" indent="0" marL="0">
              <a:buNone/>
            </a:pPr>
            <a:r>
              <a:rPr lang="en-US" sz="1200" dirty="0">
                <a:solidFill>
                  <a:srgbClr val="6B7280"/>
                </a:solidFill>
                <a:latin typeface="맑은 고딕" pitchFamily="34" charset="0"/>
                <a:ea typeface="맑은 고딕" pitchFamily="34" charset="-122"/>
                <a:cs typeface="맑은 고딕" pitchFamily="34" charset="-120"/>
              </a:rPr>
              <a:t>14 / 14</a:t>
            </a:r>
            <a:endParaRPr lang="en-US" sz="1200" dirty="0"/>
          </a:p>
        </p:txBody>
      </p:sp>
      <p:sp>
        <p:nvSpPr>
          <p:cNvPr id="4"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000" b="1" dirty="0">
                <a:solidFill>
                  <a:srgbClr val="1F3A5F"/>
                </a:solidFill>
                <a:latin typeface="맑은 고딕" pitchFamily="34" charset="0"/>
                <a:ea typeface="맑은 고딕" pitchFamily="34" charset="-122"/>
                <a:cs typeface="맑은 고딕" pitchFamily="34" charset="-120"/>
              </a:rPr>
              <a:t>여기서 많이 막힙니다 — 증상별로 먼저 볼 곳</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4023360"/>
                <a:gridCol w="7040880"/>
              </a:tblGrid>
              <a:tr h="411480">
                <a:tc>
                  <a:txBody>
                    <a:bodyP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증상</a:t>
                      </a:r>
                      <a:endParaRPr lang="en-US" sz="1600" dirty="0">
                        <a:latin typeface="맑은 고딕" charset="0"/>
                        <a:ea typeface="맑은 고딕" charset="0"/>
                        <a:cs typeface="맑은 고딕" charset="0"/>
                      </a:endParaRPr>
                    </a:p>
                  </a:txBody>
                  <a:tcPr marL="101600" marR="101600" marT="38100" marB="381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먼저 볼 곳</a:t>
                      </a:r>
                      <a:endParaRPr lang="en-US" sz="1600" dirty="0">
                        <a:latin typeface="맑은 고딕" charset="0"/>
                        <a:ea typeface="맑은 고딕" charset="0"/>
                        <a:cs typeface="맑은 고딕" charset="0"/>
                      </a:endParaRPr>
                    </a:p>
                  </a:txBody>
                  <a:tcPr marL="101600" marR="101600" marT="38100" marB="381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F3A5F"/>
                    </a:solidFill>
                  </a:tcPr>
                </a:tc>
              </a:tr>
              <a:tr h="658368">
                <a:tc>
                  <a:txBody>
                    <a:bodyPr/>
                    <a:lstStyle/>
                    <a:p>
                      <a:pPr indent="0" marL="0">
                        <a:buNone/>
                      </a:pPr>
                      <a:r>
                        <a:rPr lang="en-US" sz="1600" dirty="0">
                          <a:solidFill>
                            <a:srgbClr val="1F2937"/>
                          </a:solidFill>
                          <a:latin typeface="맑은 고딕" pitchFamily="34" charset="0"/>
                          <a:ea typeface="맑은 고딕" pitchFamily="34" charset="-122"/>
                          <a:cs typeface="맑은 고딕" pitchFamily="34" charset="-120"/>
                        </a:rPr>
                        <a:t>숫자가 이상하다 · 도구가 없다</a:t>
                      </a:r>
                      <a:endParaRPr lang="en-US" sz="1600" dirty="0">
                        <a:latin typeface="맑은 고딕" charset="0"/>
                        <a:ea typeface="맑은 고딕" charset="0"/>
                        <a:cs typeface="맑은 고딕" charset="0"/>
                      </a:endParaRPr>
                    </a:p>
                  </a:txBody>
                  <a:tcPr marL="101600" marR="101600" marT="38100" marB="381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600" dirty="0">
                          <a:solidFill>
                            <a:srgbClr val="1F2937"/>
                          </a:solidFill>
                          <a:latin typeface="맑은 고딕" pitchFamily="34" charset="0"/>
                          <a:ea typeface="맑은 고딕" pitchFamily="34" charset="-122"/>
                          <a:cs typeface="맑은 고딕" pitchFamily="34" charset="-120"/>
                        </a:rPr>
                        <a:t>Cowork: + → Connectors / Code 탭: /mcp</a:t>
                      </a:r>
                      <a:endParaRPr lang="en-US" sz="1600" dirty="0">
                        <a:latin typeface="맑은 고딕" charset="0"/>
                        <a:ea typeface="맑은 고딕" charset="0"/>
                        <a:cs typeface="맑은 고딕" charset="0"/>
                      </a:endParaRPr>
                    </a:p>
                    <a:p>
                      <a:pPr indent="0" marL="0">
                        <a:buNone/>
                      </a:pPr>
                      <a:r>
                        <a:rPr lang="en-US" sz="1600" dirty="0">
                          <a:solidFill>
                            <a:srgbClr val="1F2937"/>
                          </a:solidFill>
                          <a:latin typeface="맑은 고딕" pitchFamily="34" charset="0"/>
                          <a:ea typeface="맑은 고딕" pitchFamily="34" charset="-122"/>
                          <a:cs typeface="맑은 고딕" pitchFamily="34" charset="-120"/>
                        </a:rPr>
                        <a:t>앱이 켜져 있는지, PC가 깨어 있는지</a:t>
                      </a:r>
                      <a:endParaRPr lang="en-US" sz="1600" dirty="0">
                        <a:latin typeface="맑은 고딕" charset="0"/>
                        <a:ea typeface="맑은 고딕" charset="0"/>
                        <a:cs typeface="맑은 고딕" charset="0"/>
                      </a:endParaRPr>
                    </a:p>
                  </a:txBody>
                  <a:tcPr marL="101600" marR="101600" marT="38100" marB="381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58368">
                <a:tc>
                  <a:txBody>
                    <a:bodyPr/>
                    <a:lstStyle/>
                    <a:p>
                      <a:pPr indent="0" marL="0">
                        <a:buNone/>
                      </a:pPr>
                      <a:r>
                        <a:rPr lang="en-US" sz="1600" dirty="0">
                          <a:solidFill>
                            <a:srgbClr val="1F2937"/>
                          </a:solidFill>
                          <a:latin typeface="맑은 고딕" pitchFamily="34" charset="0"/>
                          <a:ea typeface="맑은 고딕" pitchFamily="34" charset="-122"/>
                          <a:cs typeface="맑은 고딕" pitchFamily="34" charset="-120"/>
                        </a:rPr>
                        <a:t>예약이 「성공」인데 파일이 없다</a:t>
                      </a:r>
                      <a:endParaRPr lang="en-US" sz="1600" dirty="0">
                        <a:latin typeface="맑은 고딕" charset="0"/>
                        <a:ea typeface="맑은 고딕" charset="0"/>
                        <a:cs typeface="맑은 고딕" charset="0"/>
                      </a:endParaRPr>
                    </a:p>
                  </a:txBody>
                  <a:tcPr marL="101600" marR="101600" marT="38100" marB="381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600" dirty="0">
                          <a:solidFill>
                            <a:srgbClr val="1F2937"/>
                          </a:solidFill>
                          <a:latin typeface="맑은 고딕" pitchFamily="34" charset="0"/>
                          <a:ea typeface="맑은 고딕" pitchFamily="34" charset="-122"/>
                          <a:cs typeface="맑은 고딕" pitchFamily="34" charset="-120"/>
                        </a:rPr>
                        <a:t>폴더를 열어 파일·수정 시각 확인</a:t>
                      </a:r>
                      <a:endParaRPr lang="en-US" sz="1600" dirty="0">
                        <a:latin typeface="맑은 고딕" charset="0"/>
                        <a:ea typeface="맑은 고딕" charset="0"/>
                        <a:cs typeface="맑은 고딕" charset="0"/>
                      </a:endParaRPr>
                    </a:p>
                    <a:p>
                      <a:pPr indent="0" marL="0">
                        <a:buNone/>
                      </a:pPr>
                      <a:r>
                        <a:rPr lang="en-US" sz="1600" dirty="0">
                          <a:solidFill>
                            <a:srgbClr val="1F2937"/>
                          </a:solidFill>
                          <a:latin typeface="맑은 고딕" pitchFamily="34" charset="0"/>
                          <a:ea typeface="맑은 고딕" pitchFamily="34" charset="-122"/>
                          <a:cs typeface="맑은 고딕" pitchFamily="34" charset="-120"/>
                        </a:rPr>
                        <a:t>PC 파일 일이면 Code 루틴으로 옮기기</a:t>
                      </a:r>
                      <a:endParaRPr lang="en-US" sz="1600" dirty="0">
                        <a:latin typeface="맑은 고딕" charset="0"/>
                        <a:ea typeface="맑은 고딕" charset="0"/>
                        <a:cs typeface="맑은 고딕" charset="0"/>
                      </a:endParaRPr>
                    </a:p>
                  </a:txBody>
                  <a:tcPr marL="101600" marR="101600" marT="38100" marB="381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58368">
                <a:tc>
                  <a:txBody>
                    <a:bodyPr/>
                    <a:lstStyle/>
                    <a:p>
                      <a:pPr indent="0" marL="0">
                        <a:buNone/>
                      </a:pPr>
                      <a:r>
                        <a:rPr lang="en-US" sz="1600" dirty="0">
                          <a:solidFill>
                            <a:srgbClr val="1F2937"/>
                          </a:solidFill>
                          <a:latin typeface="맑은 고딕" pitchFamily="34" charset="0"/>
                          <a:ea typeface="맑은 고딕" pitchFamily="34" charset="-122"/>
                          <a:cs typeface="맑은 고딕" pitchFamily="34" charset="-120"/>
                        </a:rPr>
                        <a:t>Code 루틴이 안 돌았다</a:t>
                      </a:r>
                      <a:endParaRPr lang="en-US" sz="1600" dirty="0">
                        <a:latin typeface="맑은 고딕" charset="0"/>
                        <a:ea typeface="맑은 고딕" charset="0"/>
                        <a:cs typeface="맑은 고딕" charset="0"/>
                      </a:endParaRPr>
                    </a:p>
                  </a:txBody>
                  <a:tcPr marL="101600" marR="101600" marT="38100" marB="381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600" dirty="0">
                          <a:solidFill>
                            <a:srgbClr val="1F2937"/>
                          </a:solidFill>
                          <a:latin typeface="맑은 고딕" pitchFamily="34" charset="0"/>
                          <a:ea typeface="맑은 고딕" pitchFamily="34" charset="-122"/>
                          <a:cs typeface="맑은 고딕" pitchFamily="34" charset="-120"/>
                        </a:rPr>
                        <a:t>루틴 기록에서 건너뛴 이유 보기</a:t>
                      </a:r>
                      <a:endParaRPr lang="en-US" sz="1600" dirty="0">
                        <a:latin typeface="맑은 고딕" charset="0"/>
                        <a:ea typeface="맑은 고딕" charset="0"/>
                        <a:cs typeface="맑은 고딕" charset="0"/>
                      </a:endParaRPr>
                    </a:p>
                    <a:p>
                      <a:pPr indent="0" marL="0">
                        <a:buNone/>
                      </a:pPr>
                      <a:r>
                        <a:rPr lang="en-US" sz="1600" dirty="0">
                          <a:solidFill>
                            <a:srgbClr val="1F2937"/>
                          </a:solidFill>
                          <a:latin typeface="맑은 고딕" pitchFamily="34" charset="0"/>
                          <a:ea typeface="맑은 고딕" pitchFamily="34" charset="-122"/>
                          <a:cs typeface="맑은 고딕" pitchFamily="34" charset="-120"/>
                        </a:rPr>
                        <a:t>Keep computer awake 켜기 (덮개 닫으면 잠듦)</a:t>
                      </a:r>
                      <a:endParaRPr lang="en-US" sz="1600" dirty="0">
                        <a:latin typeface="맑은 고딕" charset="0"/>
                        <a:ea typeface="맑은 고딕" charset="0"/>
                        <a:cs typeface="맑은 고딕" charset="0"/>
                      </a:endParaRPr>
                    </a:p>
                  </a:txBody>
                  <a:tcPr marL="101600" marR="101600" marT="38100" marB="381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58368">
                <a:tc>
                  <a:txBody>
                    <a:bodyPr/>
                    <a:lstStyle/>
                    <a:p>
                      <a:pPr indent="0" marL="0">
                        <a:buNone/>
                      </a:pPr>
                      <a:r>
                        <a:rPr lang="en-US" sz="1600" dirty="0">
                          <a:solidFill>
                            <a:srgbClr val="1F2937"/>
                          </a:solidFill>
                          <a:latin typeface="맑은 고딕" pitchFamily="34" charset="0"/>
                          <a:ea typeface="맑은 고딕" pitchFamily="34" charset="-122"/>
                          <a:cs typeface="맑은 고딕" pitchFamily="34" charset="-120"/>
                        </a:rPr>
                        <a:t>Code 루틴이 멈춰 있다</a:t>
                      </a:r>
                      <a:endParaRPr lang="en-US" sz="1600" dirty="0">
                        <a:latin typeface="맑은 고딕" charset="0"/>
                        <a:ea typeface="맑은 고딕" charset="0"/>
                        <a:cs typeface="맑은 고딕" charset="0"/>
                      </a:endParaRPr>
                    </a:p>
                  </a:txBody>
                  <a:tcPr marL="101600" marR="101600" marT="38100" marB="381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600" dirty="0">
                          <a:solidFill>
                            <a:srgbClr val="1F2937"/>
                          </a:solidFill>
                          <a:latin typeface="맑은 고딕" pitchFamily="34" charset="0"/>
                          <a:ea typeface="맑은 고딕" pitchFamily="34" charset="-122"/>
                          <a:cs typeface="맑은 고딕" pitchFamily="34" charset="-120"/>
                        </a:rPr>
                        <a:t>권한을 묻는 중 → 실행 세션 열어 답하기</a:t>
                      </a:r>
                      <a:endParaRPr lang="en-US" sz="1600" dirty="0">
                        <a:latin typeface="맑은 고딕" charset="0"/>
                        <a:ea typeface="맑은 고딕" charset="0"/>
                        <a:cs typeface="맑은 고딕" charset="0"/>
                      </a:endParaRPr>
                    </a:p>
                    <a:p>
                      <a:pPr indent="0" marL="0">
                        <a:buNone/>
                      </a:pPr>
                      <a:r>
                        <a:rPr lang="en-US" sz="1600" dirty="0">
                          <a:solidFill>
                            <a:srgbClr val="1F2937"/>
                          </a:solidFill>
                          <a:latin typeface="맑은 고딕" pitchFamily="34" charset="0"/>
                          <a:ea typeface="맑은 고딕" pitchFamily="34" charset="-122"/>
                          <a:cs typeface="맑은 고딕" pitchFamily="34" charset="-120"/>
                        </a:rPr>
                        <a:t>처음에 Run now로 「항상 허용」</a:t>
                      </a:r>
                      <a:endParaRPr lang="en-US" sz="1600" dirty="0">
                        <a:latin typeface="맑은 고딕" charset="0"/>
                        <a:ea typeface="맑은 고딕" charset="0"/>
                        <a:cs typeface="맑은 고딕" charset="0"/>
                      </a:endParaRPr>
                    </a:p>
                  </a:txBody>
                  <a:tcPr marL="101600" marR="101600" marT="38100" marB="381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58368">
                <a:tc>
                  <a:txBody>
                    <a:bodyPr/>
                    <a:lstStyle/>
                    <a:p>
                      <a:pPr indent="0" marL="0">
                        <a:buNone/>
                      </a:pPr>
                      <a:r>
                        <a:rPr lang="en-US" sz="1600" dirty="0">
                          <a:solidFill>
                            <a:srgbClr val="1F2937"/>
                          </a:solidFill>
                          <a:latin typeface="맑은 고딕" pitchFamily="34" charset="0"/>
                          <a:ea typeface="맑은 고딕" pitchFamily="34" charset="-122"/>
                          <a:cs typeface="맑은 고딕" pitchFamily="34" charset="-120"/>
                        </a:rPr>
                        <a:t>엑셀 파일이 「사용 중」으로 안 열린다</a:t>
                      </a:r>
                      <a:endParaRPr lang="en-US" sz="1600" dirty="0">
                        <a:latin typeface="맑은 고딕" charset="0"/>
                        <a:ea typeface="맑은 고딕" charset="0"/>
                        <a:cs typeface="맑은 고딕" charset="0"/>
                      </a:endParaRPr>
                    </a:p>
                  </a:txBody>
                  <a:tcPr marL="101600" marR="101600" marT="38100" marB="381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600" dirty="0">
                          <a:solidFill>
                            <a:srgbClr val="1F2937"/>
                          </a:solidFill>
                          <a:latin typeface="맑은 고딕" pitchFamily="34" charset="0"/>
                          <a:ea typeface="맑은 고딕" pitchFamily="34" charset="-122"/>
                          <a:cs typeface="맑은 고딕" pitchFamily="34" charset="-120"/>
                        </a:rPr>
                        <a:t>작업 관리자에서 Excel 끝내기</a:t>
                      </a:r>
                      <a:endParaRPr lang="en-US" sz="1600" dirty="0">
                        <a:latin typeface="맑은 고딕" charset="0"/>
                        <a:ea typeface="맑은 고딕" charset="0"/>
                        <a:cs typeface="맑은 고딕" charset="0"/>
                      </a:endParaRPr>
                    </a:p>
                    <a:p>
                      <a:pPr indent="0" marL="0">
                        <a:buNone/>
                      </a:pPr>
                      <a:r>
                        <a:rPr lang="en-US" sz="1600" dirty="0">
                          <a:solidFill>
                            <a:srgbClr val="1F2937"/>
                          </a:solidFill>
                          <a:latin typeface="맑은 고딕" pitchFamily="34" charset="0"/>
                          <a:ea typeface="맑은 고딕" pitchFamily="34" charset="-122"/>
                          <a:cs typeface="맑은 고딕" pitchFamily="34" charset="-120"/>
                        </a:rPr>
                        <a:t>폴더의 ~$ 로 시작하는 파일 지우기</a:t>
                      </a:r>
                      <a:endParaRPr lang="en-US" sz="1600" dirty="0">
                        <a:latin typeface="맑은 고딕" charset="0"/>
                        <a:ea typeface="맑은 고딕" charset="0"/>
                        <a:cs typeface="맑은 고딕" charset="0"/>
                      </a:endParaRPr>
                    </a:p>
                  </a:txBody>
                  <a:tcPr marL="101600" marR="101600" marT="38100" marB="3810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
        <p:nvSpPr>
          <p:cNvPr id="7" name="Shape 3"/>
          <p:cNvSpPr/>
          <p:nvPr/>
        </p:nvSpPr>
        <p:spPr>
          <a:xfrm>
            <a:off x="548640" y="5577840"/>
            <a:ext cx="11064240" cy="777240"/>
          </a:xfrm>
          <a:prstGeom prst="roundRect">
            <a:avLst>
              <a:gd name="adj" fmla="val 14118"/>
            </a:avLst>
          </a:prstGeom>
          <a:solidFill>
            <a:srgbClr val="FDF0E8"/>
          </a:solidFill>
          <a:ln w="31750">
            <a:solidFill>
              <a:srgbClr val="E8590C"/>
            </a:solidFill>
            <a:prstDash val="solid"/>
          </a:ln>
        </p:spPr>
      </p:sp>
      <p:sp>
        <p:nvSpPr>
          <p:cNvPr id="8" name="Text 4"/>
          <p:cNvSpPr txBox="1"/>
          <p:nvPr/>
        </p:nvSpPr>
        <p:spPr>
          <a:xfrm>
            <a:off x="822960" y="5577840"/>
            <a:ext cx="10607040" cy="777240"/>
          </a:xfrm>
          <a:prstGeom prst="rect">
            <a:avLst/>
          </a:prstGeom>
          <a:noFill/>
          <a:ln/>
        </p:spPr>
        <p:txBody>
          <a:bodyPr wrap="square" lIns="0" tIns="0" rIns="0" bIns="0" rtlCol="0" anchor="ctr"/>
          <a:lstStyle/>
          <a:p>
            <a:pPr indent="0" marL="0">
              <a:buNone/>
            </a:pPr>
            <a:r>
              <a:rPr lang="en-US" sz="1800" b="1" dirty="0">
                <a:solidFill>
                  <a:srgbClr val="E8590C"/>
                </a:solidFill>
                <a:latin typeface="맑은 고딕" pitchFamily="34" charset="0"/>
                <a:ea typeface="맑은 고딕" pitchFamily="34" charset="-122"/>
                <a:cs typeface="맑은 고딕" pitchFamily="34" charset="-120"/>
              </a:rPr>
              <a:t>① 앱이 켜져 있고 PC가 깨어 있어야 Cowork에서 PC의 MCP를 쓴다</a:t>
            </a:r>
            <a:endParaRPr lang="en-US" sz="1800" dirty="0"/>
          </a:p>
          <a:p>
            <a:pPr indent="0" marL="0">
              <a:buNone/>
            </a:pPr>
            <a:r>
              <a:rPr lang="en-US" sz="1800" b="1" dirty="0">
                <a:solidFill>
                  <a:srgbClr val="E8590C"/>
                </a:solidFill>
                <a:latin typeface="맑은 고딕" pitchFamily="34" charset="0"/>
                <a:ea typeface="맑은 고딕" pitchFamily="34" charset="-122"/>
                <a:cs typeface="맑은 고딕" pitchFamily="34" charset="-120"/>
              </a:rPr>
              <a:t>② 예약 실행이 「성공」으로 찍혀도 결과물을 열어 확인한다</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 탭을 쓰는 이유</dc:title>
  <dc:subject>PptxGenJS Presentation</dc:subject>
  <dc:creator>PptxGenJS</dc:creator>
  <cp:lastModifiedBy>PptxGenJS</cp:lastModifiedBy>
  <cp:revision>1</cp:revision>
  <dcterms:created xsi:type="dcterms:W3CDTF">2026-10-15T03:27:49Z</dcterms:created>
  <dcterms:modified xsi:type="dcterms:W3CDTF">2026-10-15T03:27:49Z</dcterms:modified>
</cp:coreProperties>
</file>